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1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2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slides/charts/chart3.xml" ContentType="application/vnd.openxmlformats-officedocument.drawingml.chart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slides/charts/chart4.xml" ContentType="application/vnd.openxmlformats-officedocument.drawingml.chart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0afe10a01b845cd" /><Relationship Type="http://schemas.openxmlformats.org/officeDocument/2006/relationships/extended-properties" Target="/docProps/app.xml" Id="Rf0e016d764d148d8" /><Relationship Type="http://schemas.openxmlformats.org/officeDocument/2006/relationships/officeDocument" Target="/ppt/presentation.xml" Id="R25d4f8824485483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91c6effddd84d3a"/>
  </p:sldMasterIdLst>
  <p:notesMasterIdLst>
    <p:notesMasterId xmlns:r="http://schemas.openxmlformats.org/officeDocument/2006/relationships" r:id="Rcbd16b249d1b4b8f"/>
  </p:notesMasterIdLst>
  <p:sldIdLst>
    <p:sldId xmlns:r="http://schemas.openxmlformats.org/officeDocument/2006/relationships" id="256" r:id="R51f71fd57d6d4231"/>
    <p:sldId xmlns:r="http://schemas.openxmlformats.org/officeDocument/2006/relationships" id="257" r:id="R73ab344c3cc34e41"/>
    <p:sldId xmlns:r="http://schemas.openxmlformats.org/officeDocument/2006/relationships" id="258" r:id="R3d551f3e1cc54829"/>
    <p:sldId xmlns:r="http://schemas.openxmlformats.org/officeDocument/2006/relationships" id="259" r:id="R5da2a1d9a6e74ca4"/>
    <p:sldId xmlns:r="http://schemas.openxmlformats.org/officeDocument/2006/relationships" id="260" r:id="Rafe0d2c6c3c4486c"/>
    <p:sldId xmlns:r="http://schemas.openxmlformats.org/officeDocument/2006/relationships" id="261" r:id="R42395087bbdd430a"/>
    <p:sldId xmlns:r="http://schemas.openxmlformats.org/officeDocument/2006/relationships" id="262" r:id="Rc97ce07efc214e11"/>
    <p:sldId xmlns:r="http://schemas.openxmlformats.org/officeDocument/2006/relationships" id="263" r:id="Rd805e14b9c564225"/>
    <p:sldId xmlns:r="http://schemas.openxmlformats.org/officeDocument/2006/relationships" id="264" r:id="R2732098524974684"/>
    <p:sldId xmlns:r="http://schemas.openxmlformats.org/officeDocument/2006/relationships" id="265" r:id="R09360d79175a4416"/>
    <p:sldId xmlns:r="http://schemas.openxmlformats.org/officeDocument/2006/relationships" id="266" r:id="R66354a9a422240a9"/>
    <p:sldId xmlns:r="http://schemas.openxmlformats.org/officeDocument/2006/relationships" id="267" r:id="R0cbad78559ec46da"/>
    <p:sldId xmlns:r="http://schemas.openxmlformats.org/officeDocument/2006/relationships" id="268" r:id="Rc61419b53a3b4aa1"/>
    <p:sldId xmlns:r="http://schemas.openxmlformats.org/officeDocument/2006/relationships" id="269" r:id="R68f7a16256544840"/>
    <p:sldId xmlns:r="http://schemas.openxmlformats.org/officeDocument/2006/relationships" id="270" r:id="R6da48bfc2b584a5a"/>
    <p:sldId xmlns:r="http://schemas.openxmlformats.org/officeDocument/2006/relationships" id="271" r:id="Rb2294b409fb44c0f"/>
    <p:sldId xmlns:r="http://schemas.openxmlformats.org/officeDocument/2006/relationships" id="272" r:id="Rdfe394f112d34323"/>
    <p:sldId xmlns:r="http://schemas.openxmlformats.org/officeDocument/2006/relationships" id="273" r:id="R19f254e3cc2b45fe"/>
    <p:sldId xmlns:r="http://schemas.openxmlformats.org/officeDocument/2006/relationships" id="274" r:id="R83f7dc24bfc849b5"/>
    <p:sldId xmlns:r="http://schemas.openxmlformats.org/officeDocument/2006/relationships" id="275" r:id="R30b58607b2c44bc6"/>
    <p:sldId xmlns:r="http://schemas.openxmlformats.org/officeDocument/2006/relationships" id="276" r:id="Re61339d938334c67"/>
    <p:sldId xmlns:r="http://schemas.openxmlformats.org/officeDocument/2006/relationships" id="277" r:id="Ra0129abaf8ae46a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98a80f88de44243" /><Relationship Type="http://schemas.openxmlformats.org/officeDocument/2006/relationships/slideMaster" Target="/ppt/slideMasters/slideMaster1.xml" Id="R691c6effddd84d3a" /><Relationship Type="http://schemas.openxmlformats.org/officeDocument/2006/relationships/notesMaster" Target="/ppt/notesMasters/notesMaster1.xml" Id="Rcbd16b249d1b4b8f" /><Relationship Type="http://schemas.openxmlformats.org/officeDocument/2006/relationships/presProps" Target="/ppt/presProps.xml" Id="R8cd832b17077445f" /><Relationship Type="http://schemas.openxmlformats.org/officeDocument/2006/relationships/tableStyles" Target="/ppt/tableStyles.xml" Id="R22699e8aa0de45e6" /><Relationship Type="http://schemas.openxmlformats.org/officeDocument/2006/relationships/slide" Target="/ppt/slides/slide1.xml" Id="R51f71fd57d6d4231" /><Relationship Type="http://schemas.openxmlformats.org/officeDocument/2006/relationships/slide" Target="/ppt/slides/slide2.xml" Id="R73ab344c3cc34e41" /><Relationship Type="http://schemas.openxmlformats.org/officeDocument/2006/relationships/slide" Target="/ppt/slides/slide3.xml" Id="R3d551f3e1cc54829" /><Relationship Type="http://schemas.openxmlformats.org/officeDocument/2006/relationships/slide" Target="/ppt/slides/slide4.xml" Id="R5da2a1d9a6e74ca4" /><Relationship Type="http://schemas.openxmlformats.org/officeDocument/2006/relationships/slide" Target="/ppt/slides/slide5.xml" Id="Rafe0d2c6c3c4486c" /><Relationship Type="http://schemas.openxmlformats.org/officeDocument/2006/relationships/slide" Target="/ppt/slides/slide6.xml" Id="R42395087bbdd430a" /><Relationship Type="http://schemas.openxmlformats.org/officeDocument/2006/relationships/slide" Target="/ppt/slides/slide7.xml" Id="Rc97ce07efc214e11" /><Relationship Type="http://schemas.openxmlformats.org/officeDocument/2006/relationships/slide" Target="/ppt/slides/slide8.xml" Id="Rd805e14b9c564225" /><Relationship Type="http://schemas.openxmlformats.org/officeDocument/2006/relationships/slide" Target="/ppt/slides/slide9.xml" Id="R2732098524974684" /><Relationship Type="http://schemas.openxmlformats.org/officeDocument/2006/relationships/slide" Target="/ppt/slides/slide10.xml" Id="R09360d79175a4416" /><Relationship Type="http://schemas.openxmlformats.org/officeDocument/2006/relationships/slide" Target="/ppt/slides/slide11.xml" Id="R66354a9a422240a9" /><Relationship Type="http://schemas.openxmlformats.org/officeDocument/2006/relationships/slide" Target="/ppt/slides/slide12.xml" Id="R0cbad78559ec46da" /><Relationship Type="http://schemas.openxmlformats.org/officeDocument/2006/relationships/slide" Target="/ppt/slides/slide13.xml" Id="Rc61419b53a3b4aa1" /><Relationship Type="http://schemas.openxmlformats.org/officeDocument/2006/relationships/slide" Target="/ppt/slides/slide14.xml" Id="R68f7a16256544840" /><Relationship Type="http://schemas.openxmlformats.org/officeDocument/2006/relationships/slide" Target="/ppt/slides/slide15.xml" Id="R6da48bfc2b584a5a" /><Relationship Type="http://schemas.openxmlformats.org/officeDocument/2006/relationships/slide" Target="/ppt/slides/slide16.xml" Id="Rb2294b409fb44c0f" /><Relationship Type="http://schemas.openxmlformats.org/officeDocument/2006/relationships/slide" Target="/ppt/slides/slide17.xml" Id="Rdfe394f112d34323" /><Relationship Type="http://schemas.openxmlformats.org/officeDocument/2006/relationships/slide" Target="/ppt/slides/slide18.xml" Id="R19f254e3cc2b45fe" /><Relationship Type="http://schemas.openxmlformats.org/officeDocument/2006/relationships/slide" Target="/ppt/slides/slide19.xml" Id="R83f7dc24bfc849b5" /><Relationship Type="http://schemas.openxmlformats.org/officeDocument/2006/relationships/slide" Target="/ppt/slides/slide20.xml" Id="R30b58607b2c44bc6" /><Relationship Type="http://schemas.openxmlformats.org/officeDocument/2006/relationships/slide" Target="/ppt/slides/slide21.xml" Id="Re61339d938334c67" /><Relationship Type="http://schemas.openxmlformats.org/officeDocument/2006/relationships/slide" Target="/ppt/slides/slide22.xml" Id="Ra0129abaf8ae46a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b356b0e7b234de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29819c5f12c4106" /><Relationship Type="http://schemas.openxmlformats.org/officeDocument/2006/relationships/notesMaster" Target="/ppt/notesMasters/notesMaster1.xml" Id="Rb2d3d467196f4bb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3e4b4274b484f8f" /><Relationship Type="http://schemas.openxmlformats.org/officeDocument/2006/relationships/notesMaster" Target="/ppt/notesMasters/notesMaster1.xml" Id="Ra7896856292646b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d98f5f76a824559" /><Relationship Type="http://schemas.openxmlformats.org/officeDocument/2006/relationships/notesMaster" Target="/ppt/notesMasters/notesMaster1.xml" Id="Rd8ffafb1a5d3474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9cfe2e2ae7d4506" /><Relationship Type="http://schemas.openxmlformats.org/officeDocument/2006/relationships/notesMaster" Target="/ppt/notesMasters/notesMaster1.xml" Id="Rc413a0f1e8c340c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2f47f709439429a" /><Relationship Type="http://schemas.openxmlformats.org/officeDocument/2006/relationships/notesMaster" Target="/ppt/notesMasters/notesMaster1.xml" Id="R8da660db6df145d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cbd4c9abbf74ecd" /><Relationship Type="http://schemas.openxmlformats.org/officeDocument/2006/relationships/notesMaster" Target="/ppt/notesMasters/notesMaster1.xml" Id="Rfba384813ea7427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efe265de2b94f74" /><Relationship Type="http://schemas.openxmlformats.org/officeDocument/2006/relationships/notesMaster" Target="/ppt/notesMasters/notesMaster1.xml" Id="R59b6fc75202e4f4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fbba9271b654d8e" /><Relationship Type="http://schemas.openxmlformats.org/officeDocument/2006/relationships/notesMaster" Target="/ppt/notesMasters/notesMaster1.xml" Id="R75798ff70b52464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a82596cad5a432c" /><Relationship Type="http://schemas.openxmlformats.org/officeDocument/2006/relationships/notesMaster" Target="/ppt/notesMasters/notesMaster1.xml" Id="R51e3aabe58dd462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87596025a6c4568" /><Relationship Type="http://schemas.openxmlformats.org/officeDocument/2006/relationships/notesMaster" Target="/ppt/notesMasters/notesMaster1.xml" Id="Rf1cad586927641d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fc206c7e5b14637" /><Relationship Type="http://schemas.openxmlformats.org/officeDocument/2006/relationships/notesMaster" Target="/ppt/notesMasters/notesMaster1.xml" Id="R2c5f44a59708490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554c5e988794b77" /><Relationship Type="http://schemas.openxmlformats.org/officeDocument/2006/relationships/notesMaster" Target="/ppt/notesMasters/notesMaster1.xml" Id="Rb1bf3e2358d34b8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c0a3a3f17f44fa5" /><Relationship Type="http://schemas.openxmlformats.org/officeDocument/2006/relationships/notesMaster" Target="/ppt/notesMasters/notesMaster1.xml" Id="R0f77745777834af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79a956ac50c4ca2" /><Relationship Type="http://schemas.openxmlformats.org/officeDocument/2006/relationships/notesMaster" Target="/ppt/notesMasters/notesMaster1.xml" Id="R829dc6503a574a9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c5dfe95071144a1" /><Relationship Type="http://schemas.openxmlformats.org/officeDocument/2006/relationships/notesMaster" Target="/ppt/notesMasters/notesMaster1.xml" Id="R98413e2e623e45f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8a796a9820f4009" /><Relationship Type="http://schemas.openxmlformats.org/officeDocument/2006/relationships/notesMaster" Target="/ppt/notesMasters/notesMaster1.xml" Id="R4ffacaf30ed1454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16af53124d44e27" /><Relationship Type="http://schemas.openxmlformats.org/officeDocument/2006/relationships/notesMaster" Target="/ppt/notesMasters/notesMaster1.xml" Id="R51239ccb0a57447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5761d5f067a4a77" /><Relationship Type="http://schemas.openxmlformats.org/officeDocument/2006/relationships/notesMaster" Target="/ppt/notesMasters/notesMaster1.xml" Id="R29e6b8d48e4e4ca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17d18799cad438e" /><Relationship Type="http://schemas.openxmlformats.org/officeDocument/2006/relationships/notesMaster" Target="/ppt/notesMasters/notesMaster1.xml" Id="Rec939b875e4b4a0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f59299c88c245c4" /><Relationship Type="http://schemas.openxmlformats.org/officeDocument/2006/relationships/notesMaster" Target="/ppt/notesMasters/notesMaster1.xml" Id="R06d8a275dd134da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0a65092a8cb4408" /><Relationship Type="http://schemas.openxmlformats.org/officeDocument/2006/relationships/notesMaster" Target="/ppt/notesMasters/notesMaster1.xml" Id="R57d69550e69340c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8a027a6ace44a95" /><Relationship Type="http://schemas.openxmlformats.org/officeDocument/2006/relationships/notesMaster" Target="/ppt/notesMasters/notesMaster1.xml" Id="R35a6970f25694c0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source: /Users/chingli/Desktop/IN.</a:t>
            </a:r>
          </a:p>
          <a:p xmlns:a="http://schemas.openxmlformats.org/drawingml/2006/main">
            <a:r>
              <a:t>All metrics use current output artifacts from run 20260922_232204.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logs/data_quality_report.json, outputs/clustering/k_metrics.csv, outputs/evaluation/model_comparison.csv.</a:t>
            </a:r>
          </a:p>
          <a:p xmlns:a="http://schemas.openxmlformats.org/drawingml/2006/main">
            <a:r>
              <a:t>Current test RMSE for Persistence baseline is 0.0172258.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config/project_config.yaml and reports/model_card/model_card.md.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logs/data_provenance.json and logs/cleaning_audit.json.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outputs/eda/full_distributions.png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outputs/eda/zero_outlier_profile.png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outputs/eda/full_correlation.png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outputs/eda/yearly_trends.png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outputs/eda/insurer_concentration.png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logs/data_quality_report.json and logs/cleaning_audit.json.</a:t>
            </a:r>
          </a:p>
          <a:p xmlns:a="http://schemas.openxmlformats.org/drawingml/2006/main">
            <a:r>
              <a:t>Older final_report mentions 8 inconsistencies; latest run reports 3 recalculated mismatches.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outputs/clustering/k_metrics.csv.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outputs/clustering/clustering_candidates.csv.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outputs/clustering/cluster_sizes.png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outputs/clustering/profile_heatmap.png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outputs/clustering/pca_map_3d.png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outputs/evaluation/split_summary.json and outputs/evaluation/leakage_audit.json.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outputs/evaluation/model_comparison.csv.</a:t>
            </a:r>
          </a:p>
          <a:p xmlns:a="http://schemas.openxmlformats.org/drawingml/2006/main">
            <a:r>
              <a:t>The current artifact differs from older report values and is treated as the source of truth.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outputs/evaluation/ablation_study.png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outputs/evaluation/actual_vs_predicted.png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outputs/evaluation/feature_importance.png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outputs/fairness/fairness_audit.csv.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outputs/monitoring/psi_summary.csv, logs/monitoring_psi.json, logs/deployment_log.json.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f8d165bb94428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5c3d6cfa370413d" /><Relationship Type="http://schemas.openxmlformats.org/officeDocument/2006/relationships/slideLayout" Target="/ppt/slideLayouts/slideLayout1.xml" Id="Rb30a0fa358a24ad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30a0fa358a24ad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f20c39b89d448d" /><Relationship Type="http://schemas.openxmlformats.org/officeDocument/2006/relationships/notesSlide" Target="/ppt/notesSlides/notesSlide1.xml" Id="R93818376eb2f48a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77df56c7a949aa" /><Relationship Type="http://schemas.openxmlformats.org/officeDocument/2006/relationships/notesSlide" Target="/ppt/notesSlides/notesSlide2.xml" Id="Re57a0a3dccb74c1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3a9ee4f97c4e10" /><Relationship Type="http://schemas.openxmlformats.org/officeDocument/2006/relationships/notesSlide" Target="/ppt/notesSlides/notesSlide3.xml" Id="R815f936397f14b6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bd68bdde6045c4" /><Relationship Type="http://schemas.openxmlformats.org/officeDocument/2006/relationships/notesSlide" Target="/ppt/notesSlides/notesSlide4.xml" Id="Rde6123e71d5b453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0e4d81f5174033" /><Relationship Type="http://schemas.openxmlformats.org/officeDocument/2006/relationships/image" Target="/ppt/media/image.png" Id="R5d12f62bd5ff4232" /><Relationship Type="http://schemas.openxmlformats.org/officeDocument/2006/relationships/notesSlide" Target="/ppt/notesSlides/notesSlide5.xml" Id="R257b431c48ba407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79eff5ade64338" /><Relationship Type="http://schemas.openxmlformats.org/officeDocument/2006/relationships/image" Target="/ppt/media/image2.png" Id="R1348941e8ac542de" /><Relationship Type="http://schemas.openxmlformats.org/officeDocument/2006/relationships/notesSlide" Target="/ppt/notesSlides/notesSlide6.xml" Id="Rc87750626b6447e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3a6c95455849a1" /><Relationship Type="http://schemas.openxmlformats.org/officeDocument/2006/relationships/image" Target="/ppt/media/image3.png" Id="Rc5b7e0a541f7444a" /><Relationship Type="http://schemas.openxmlformats.org/officeDocument/2006/relationships/notesSlide" Target="/ppt/notesSlides/notesSlide7.xml" Id="R4860e7a12c624db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b872d945bb4942" /><Relationship Type="http://schemas.openxmlformats.org/officeDocument/2006/relationships/image" Target="/ppt/media/image4.png" Id="R8aa13829ed5d4826" /><Relationship Type="http://schemas.openxmlformats.org/officeDocument/2006/relationships/notesSlide" Target="/ppt/notesSlides/notesSlide8.xml" Id="R1658f4b86c8a4eb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776bd4b23f43e8" /><Relationship Type="http://schemas.openxmlformats.org/officeDocument/2006/relationships/image" Target="/ppt/media/image5.png" Id="Rce509f4de02645ac" /><Relationship Type="http://schemas.openxmlformats.org/officeDocument/2006/relationships/notesSlide" Target="/ppt/notesSlides/notesSlide9.xml" Id="R024e756eb90a44a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59bcc25d5543ce" /><Relationship Type="http://schemas.openxmlformats.org/officeDocument/2006/relationships/notesSlide" Target="/ppt/notesSlides/notesSlide10.xml" Id="Rc4e0fdc29cb84c7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1a2c8271f14830" /><Relationship Type="http://schemas.openxmlformats.org/officeDocument/2006/relationships/chart" Target="/ppt/slides/charts/chart1.xml" Id="Rd8b45ee7015245de" /><Relationship Type="http://schemas.openxmlformats.org/officeDocument/2006/relationships/notesSlide" Target="/ppt/notesSlides/notesSlide11.xml" Id="R534f1cd8f33341d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1244fd3b7143dc" /><Relationship Type="http://schemas.openxmlformats.org/officeDocument/2006/relationships/chart" Target="/ppt/slides/charts/chart2.xml" Id="Rb5888e5ee52f4620" /><Relationship Type="http://schemas.openxmlformats.org/officeDocument/2006/relationships/notesSlide" Target="/ppt/notesSlides/notesSlide12.xml" Id="Re52bf9e289eb47f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49f225ca474c9b" /><Relationship Type="http://schemas.openxmlformats.org/officeDocument/2006/relationships/image" Target="/ppt/media/image6.png" Id="R2e4e725111bb49b7" /><Relationship Type="http://schemas.openxmlformats.org/officeDocument/2006/relationships/notesSlide" Target="/ppt/notesSlides/notesSlide13.xml" Id="Rde8837962af34fc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81e0095e904b57" /><Relationship Type="http://schemas.openxmlformats.org/officeDocument/2006/relationships/image" Target="/ppt/media/image7.png" Id="Rdbdaff2890ce49d7" /><Relationship Type="http://schemas.openxmlformats.org/officeDocument/2006/relationships/notesSlide" Target="/ppt/notesSlides/notesSlide14.xml" Id="Rbe1624cc45f4488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70b7b76b004b41" /><Relationship Type="http://schemas.openxmlformats.org/officeDocument/2006/relationships/image" Target="/ppt/media/image8.png" Id="R1adbd2c94ec14ad3" /><Relationship Type="http://schemas.openxmlformats.org/officeDocument/2006/relationships/notesSlide" Target="/ppt/notesSlides/notesSlide15.xml" Id="R0bbf902cedaf454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52ae536ce949e4" /><Relationship Type="http://schemas.openxmlformats.org/officeDocument/2006/relationships/notesSlide" Target="/ppt/notesSlides/notesSlide16.xml" Id="R61e3cc099d46473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f6e02688d24c03" /><Relationship Type="http://schemas.openxmlformats.org/officeDocument/2006/relationships/chart" Target="/ppt/slides/charts/chart3.xml" Id="R987d189efff54de8" /><Relationship Type="http://schemas.openxmlformats.org/officeDocument/2006/relationships/notesSlide" Target="/ppt/notesSlides/notesSlide17.xml" Id="Rc79a706da8e4461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294bd8a9c44ccc" /><Relationship Type="http://schemas.openxmlformats.org/officeDocument/2006/relationships/image" Target="/ppt/media/image9.png" Id="R26c3b261c2a84a2a" /><Relationship Type="http://schemas.openxmlformats.org/officeDocument/2006/relationships/notesSlide" Target="/ppt/notesSlides/notesSlide18.xml" Id="R06b13bc67d5f41d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22091daf8b4d3b" /><Relationship Type="http://schemas.openxmlformats.org/officeDocument/2006/relationships/image" Target="/ppt/media/image10.png" Id="R278860b82797448e" /><Relationship Type="http://schemas.openxmlformats.org/officeDocument/2006/relationships/notesSlide" Target="/ppt/notesSlides/notesSlide19.xml" Id="R8fafa9c311f141f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281a70bb90498b" /><Relationship Type="http://schemas.openxmlformats.org/officeDocument/2006/relationships/image" Target="/ppt/media/image11.png" Id="R0e3341dc943f4dbd" /><Relationship Type="http://schemas.openxmlformats.org/officeDocument/2006/relationships/notesSlide" Target="/ppt/notesSlides/notesSlide20.xml" Id="R592eb5cc0f2c471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cc405db6a64703" /><Relationship Type="http://schemas.openxmlformats.org/officeDocument/2006/relationships/notesSlide" Target="/ppt/notesSlides/notesSlide21.xml" Id="Rdc1c6a0ed7564dd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90739765064ade" /><Relationship Type="http://schemas.openxmlformats.org/officeDocument/2006/relationships/chart" Target="/ppt/slides/charts/chart4.xml" Id="R31373ed1377d4f7b" /><Relationship Type="http://schemas.openxmlformats.org/officeDocument/2006/relationships/notesSlide" Target="/ppt/notesSlides/notesSlide22.xml" Id="R27c0db8d1e8649da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Silhouette</c:v>
          </c:tx>
          <c:spPr>
            <a:ln xmlns:a="http://schemas.openxmlformats.org/drawingml/2006/main" w="28575">
              <a:solidFill>
                <a:srgbClr val="2E6487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2E6487"/>
              </a:solidFill>
            </c:spPr>
          </c:marker>
          <c:cat>
            <c:numLit>
              <c:formatCode>General</c:formatCode>
              <c:ptCount val="5"/>
              <c:pt idx="0">
                <c:v>2</c:v>
              </c:pt>
              <c:pt idx="1">
                <c:v>3</c:v>
              </c:pt>
              <c:pt idx="2">
                <c:v>4</c:v>
              </c:pt>
              <c:pt idx="3">
                <c:v>5</c:v>
              </c:pt>
              <c:pt idx="4">
                <c:v>6</c:v>
              </c:pt>
            </c:numLit>
          </c:cat>
          <c:val>
            <c:numLit>
              <c:formatCode>0.0</c:formatCode>
              <c:ptCount val="5"/>
              <c:pt idx="0">
                <c:v>0.4197</c:v>
              </c:pt>
              <c:pt idx="1">
                <c:v>0.3864</c:v>
              </c:pt>
              <c:pt idx="2">
                <c:v>0.273</c:v>
              </c:pt>
              <c:pt idx="3">
                <c:v>0.3088</c:v>
              </c:pt>
              <c:pt idx="4">
                <c:v>0.3333</c:v>
              </c:pt>
            </c:numLit>
          </c:val>
        </c:ser>
        <c:ser>
          <c:idx val="1"/>
          <c:order val="1"/>
          <c:tx>
            <c:v>Resample ARI</c:v>
          </c:tx>
          <c:spPr>
            <a:ln xmlns:a="http://schemas.openxmlformats.org/drawingml/2006/main" w="28575">
              <a:solidFill>
                <a:srgbClr val="D6A63C"/>
              </a:solidFill>
              <a:prstDash val="solid"/>
            </a:ln>
          </c:spPr>
          <c:marker>
            <c:symbol val="diamond"/>
            <c:size val="7"/>
            <c:spPr>
              <a:solidFill xmlns:a="http://schemas.openxmlformats.org/drawingml/2006/main">
                <a:srgbClr val="D6A63C"/>
              </a:solidFill>
            </c:spPr>
          </c:marker>
          <c:cat>
            <c:numLit>
              <c:formatCode>General</c:formatCode>
              <c:ptCount val="5"/>
              <c:pt idx="0">
                <c:v>2</c:v>
              </c:pt>
              <c:pt idx="1">
                <c:v>3</c:v>
              </c:pt>
              <c:pt idx="2">
                <c:v>4</c:v>
              </c:pt>
              <c:pt idx="3">
                <c:v>5</c:v>
              </c:pt>
              <c:pt idx="4">
                <c:v>6</c:v>
              </c:pt>
            </c:numLit>
          </c:cat>
          <c:val>
            <c:numLit>
              <c:formatCode>0.0</c:formatCode>
              <c:ptCount val="5"/>
              <c:pt idx="0">
                <c:v>0.7465</c:v>
              </c:pt>
              <c:pt idx="1">
                <c:v>0.9151</c:v>
              </c:pt>
              <c:pt idx="2">
                <c:v>0.781</c:v>
              </c:pt>
              <c:pt idx="3">
                <c:v>0.8161</c:v>
              </c:pt>
              <c:pt idx="4">
                <c:v>0.8934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 Unicode MS"/>
                  <a:ea typeface="Arial Unicode MS"/>
                  <a:cs typeface="Arial Unicode M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 Unicode MS"/>
                    <a:ea typeface="Arial Unicode MS"/>
                    <a:cs typeface="Arial Unicode MS"/>
                  </a:rPr>
                  <a:t>จำนวนกลุ่ม K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6DEE3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2"/>
      </c:valAx>
      <c:spPr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Silhouette</c:v>
          </c:tx>
          <c:spPr>
            <a:solidFill xmlns:a="http://schemas.openxmlformats.org/drawingml/2006/main">
              <a:srgbClr val="2E6487"/>
            </a:solidFill>
          </c:spPr>
          <c:cat>
            <c:strLit>
              <c:ptCount val="3"/>
              <c:pt idx="0">
                <c:v>K-Means</c:v>
              </c:pt>
              <c:pt idx="1">
                <c:v>Gaussian Mixture</c:v>
              </c:pt>
              <c:pt idx="2">
                <c:v>Agglomerative</c:v>
              </c:pt>
            </c:strLit>
          </c:cat>
          <c:val>
            <c:numLit>
              <c:formatCode>0.0</c:formatCode>
              <c:ptCount val="3"/>
              <c:pt idx="0">
                <c:v>0.3864</c:v>
              </c:pt>
              <c:pt idx="1">
                <c:v>0.1734</c:v>
              </c:pt>
              <c:pt idx="2">
                <c:v>0.2635</c:v>
              </c:pt>
            </c:numLit>
          </c:val>
        </c:ser>
        <c:ser>
          <c:idx val="1"/>
          <c:order val="1"/>
          <c:tx>
            <c:v>Davies-Bouldin</c:v>
          </c:tx>
          <c:spPr>
            <a:solidFill xmlns:a="http://schemas.openxmlformats.org/drawingml/2006/main">
              <a:srgbClr val="D6A63C"/>
            </a:solidFill>
          </c:spPr>
          <c:cat>
            <c:strLit>
              <c:ptCount val="3"/>
              <c:pt idx="0">
                <c:v>K-Means</c:v>
              </c:pt>
              <c:pt idx="1">
                <c:v>Gaussian Mixture</c:v>
              </c:pt>
              <c:pt idx="2">
                <c:v>Agglomerative</c:v>
              </c:pt>
            </c:strLit>
          </c:cat>
          <c:val>
            <c:numLit>
              <c:formatCode>0.0</c:formatCode>
              <c:ptCount val="3"/>
              <c:pt idx="0">
                <c:v>1.0557</c:v>
              </c:pt>
              <c:pt idx="1">
                <c:v>2.1275</c:v>
              </c:pt>
              <c:pt idx="2">
                <c:v>0.9782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 Unicode MS"/>
                  <a:ea typeface="Arial Unicode MS"/>
                  <a:cs typeface="Arial Unicode M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2.4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6DEE3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4"/>
      </c:valAx>
      <c:spPr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Test RMSE</c:v>
          </c:tx>
          <c:spPr>
            <a:solidFill xmlns:a="http://schemas.openxmlformats.org/drawingml/2006/main">
              <a:srgbClr val="2E6487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D6A63C"/>
              </a:solidFill>
            </c:spPr>
          </c:dPt>
          <c:cat>
            <c:strLit>
              <c:ptCount val="6"/>
              <c:pt idx="0">
                <c:v>Persistence</c:v>
              </c:pt>
              <c:pt idx="1">
                <c:v>Gradient Boosting</c:v>
              </c:pt>
              <c:pt idx="2">
                <c:v>Ridge</c:v>
              </c:pt>
              <c:pt idx="3">
                <c:v>ElasticNet</c:v>
              </c:pt>
              <c:pt idx="4">
                <c:v>Random Forest</c:v>
              </c:pt>
              <c:pt idx="5">
                <c:v>Mean baseline</c:v>
              </c:pt>
            </c:strLit>
          </c:cat>
          <c:val>
            <c:numLit>
              <c:formatCode>0.000</c:formatCode>
              <c:ptCount val="6"/>
              <c:pt idx="0">
                <c:v>0.01723</c:v>
              </c:pt>
              <c:pt idx="1">
                <c:v>0.05488</c:v>
              </c:pt>
              <c:pt idx="2">
                <c:v>0.05914</c:v>
              </c:pt>
              <c:pt idx="3">
                <c:v>0.0612</c:v>
              </c:pt>
              <c:pt idx="4">
                <c:v>0.11155</c:v>
              </c:pt>
              <c:pt idx="5">
                <c:v>0.1907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1C2B36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0.2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6DEE3"/>
              </a:solidFill>
              <a:prstDash val="solid"/>
            </a:ln>
          </c:spPr>
        </c:majorGridlines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03"/>
      </c:valAx>
      <c:spPr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PSI</c:v>
          </c:tx>
          <c:spPr>
            <a:solidFill xmlns:a="http://schemas.openxmlformats.org/drawingml/2006/main">
              <a:srgbClr val="2E6487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B94A48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B94A48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D6A63C"/>
              </a:solidFill>
            </c:spPr>
          </c:dPt>
          <c:cat>
            <c:strLit>
              <c:ptCount val="5"/>
              <c:pt idx="0">
                <c:v>Intimated no</c:v>
              </c:pt>
              <c:pt idx="1">
                <c:v>Intimated amt</c:v>
              </c:pt>
              <c:pt idx="2">
                <c:v>Pending end no</c:v>
              </c:pt>
              <c:pt idx="3">
                <c:v>Paid ratio</c:v>
              </c:pt>
              <c:pt idx="4">
                <c:v>Pending ratio</c:v>
              </c:pt>
            </c:strLit>
          </c:cat>
          <c:val>
            <c:numLit>
              <c:formatCode>General</c:formatCode>
              <c:ptCount val="5"/>
              <c:pt idx="0">
                <c:v>0.3158</c:v>
              </c:pt>
              <c:pt idx="1">
                <c:v>0.2944</c:v>
              </c:pt>
              <c:pt idx="2">
                <c:v>0.0127</c:v>
              </c:pt>
              <c:pt idx="3">
                <c:v>0.0359</c:v>
              </c:pt>
              <c:pt idx="4">
                <c:v>0.1022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1C2B36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6DEE3"/>
              </a:solidFill>
              <a:prstDash val="solid"/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</c:valAx>
      <c:spPr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28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E06B02-B182-42AA-95B9-8B5B73035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63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74DCAF-D0B7-4D10-8F98-D2E3BFA25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0"/>
            <a:ext cx="385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84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8F5FF6-2DDE-48E6-87DA-BA8DA4A55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7C6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E7C66F"/>
                </a:solidFill>
                <a:latin typeface="Arial Unicode MS"/>
                <a:ea typeface="Arial Unicode MS"/>
                <a:cs typeface="Arial Unicode MS"/>
              </a:rPr>
              <a:t>INSURANCE CLAIMS INTELLIGENCE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55A65B-E742-4C4F-8F7F-917890CE2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953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การวิเคราะห์การชำระเคลม</a:t>
            </a:r>
          </a:p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ประกันชีวิต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E62746-DEEA-499A-88D7-BCBE34B0C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43250"/>
            <a:ext cx="7000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7E3E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D7E3E9"/>
                </a:solidFill>
                <a:latin typeface="Arial Unicode MS"/>
                <a:ea typeface="Arial Unicode MS"/>
                <a:cs typeface="Arial Unicode MS"/>
              </a:rPr>
              <a:t>KPI Audit, Insurer Segmentation and Next-Year Forecasting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0B1A6E-EA4E-4402-8786-ECFFB6E36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00500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ข้อมูลเปิดเผยตามกฎหมาย IRDAI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9BA919-B8D4-4E7A-9470-777E09698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005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E3E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D7E3E9"/>
                </a:solidFill>
                <a:latin typeface="Arial Unicode MS"/>
                <a:ea typeface="Arial Unicode MS"/>
                <a:cs typeface="Arial Unicode MS"/>
              </a:rPr>
              <a:t>149 ระเบียนบริษัทประกัน–ปี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D28758-CC23-4781-992E-4377923BD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571625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สามเส้นทางการวิเคราะห์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5A8D7F-6340-44F8-8626-3F69EB6A0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143125"/>
            <a:ext cx="242887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28516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5B81CD-BAF5-4F22-BD82-9E65DD4F4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2574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KPI QUALITY AUDIT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D8F551-3A60-4B55-B463-8D39785FA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828925"/>
            <a:ext cx="242887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28516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8A5413-24E7-4D4E-BD1F-C1886B933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9432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CLUSTERING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C37D0D-952A-4121-8C6F-42D2513ED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514725"/>
            <a:ext cx="242887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6A63C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25ABB1-7C68-40CC-BBBA-0470172C4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6290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28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2283A"/>
                </a:solidFill>
                <a:latin typeface="Arial Unicode MS"/>
                <a:ea typeface="Arial Unicode MS"/>
                <a:cs typeface="Arial Unicode MS"/>
              </a:rPr>
              <a:t>FORECASTING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D6FCE9-EAD0-4799-AB18-21A9F4D37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200525"/>
            <a:ext cx="242887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28516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63C05A-7C3D-492B-8E20-C4E7E49A3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3148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MONITORING</a:t>
            </a:r>
          </a:p>
        </p:txBody>
      </p:sp>
    </p:spTree>
    <p:extLst>
      <p:ext uri="{BB962C8B-B14F-4D97-AF65-F5344CB8AC3E}">
        <p14:creationId xmlns:p14="http://schemas.microsoft.com/office/powerpoint/2010/main" val="3936175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3383C7-8951-4182-9AE7-DFAC57510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63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F06FB3-9C31-4A7E-AC1D-B9D05D421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64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2E6487"/>
                </a:solidFill>
                <a:latin typeface="Arial Unicode MS"/>
                <a:ea typeface="Arial Unicode MS"/>
                <a:cs typeface="Arial Unicode MS"/>
              </a:rPr>
              <a:t>EXECUTIVE SUMMARY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E23156-A8C7-4C5E-93F5-01CC68A96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28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2283A"/>
                </a:solidFill>
                <a:latin typeface="Arial Unicode MS"/>
                <a:ea typeface="Arial Unicode MS"/>
                <a:cs typeface="Arial Unicode MS"/>
              </a:rPr>
              <a:t>ผลสรุปสำหรับการตัดสินใจ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F7B525-4173-4E3A-AB22-64ECB4AE3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3AD7CB-9F69-408B-BB7D-3E386BE99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17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62717D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48E8EA-F8BC-4909-8C28-731F96E85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E64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2E6487"/>
                </a:solidFill>
                <a:latin typeface="Arial Unicode MS"/>
                <a:ea typeface="Arial Unicode MS"/>
                <a:cs typeface="Arial Unicode MS"/>
              </a:rPr>
              <a:t>คุณภาพข้อมูล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29D3D4-4A41-4D9A-873F-F51C4BC6C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079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228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2283A"/>
                </a:solidFill>
                <a:latin typeface="Arial Unicode MS"/>
                <a:ea typeface="Arial Unicode MS"/>
                <a:cs typeface="Arial Unicode MS"/>
              </a:rPr>
              <a:t>99.17%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AD7461-09DB-42B6-A4FD-4CB110F43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C2B3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C2B36"/>
                </a:solidFill>
                <a:latin typeface="Arial Unicode MS"/>
                <a:ea typeface="Arial Unicode MS"/>
                <a:cs typeface="Arial Unicode MS"/>
              </a:rPr>
              <a:t>พบ ratio mismatch 3 ระเบียนในรอบล่าสุด</a:t>
            </a:r>
          </a:p>
          <a:p xmlns:a="http://schemas.openxmlformats.org/drawingml/2006/main">
            <a:pPr algn="l">
              <a:defRPr sz="1350" b="0">
                <a:solidFill>
                  <a:srgbClr val="1C2B3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C2B36"/>
                </a:solidFill>
                <a:latin typeface="Arial Unicode MS"/>
                <a:ea typeface="Arial Unicode MS"/>
                <a:cs typeface="Arial Unicode MS"/>
              </a:rPr>
              <a:t>และค่าติดลบตาม domain audit 37 จุด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BC5242-1BD7-4D80-9D45-5AA0AA78A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6687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E64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2E6487"/>
                </a:solidFill>
                <a:latin typeface="Arial Unicode MS"/>
                <a:ea typeface="Arial Unicode MS"/>
                <a:cs typeface="Arial Unicode MS"/>
              </a:rPr>
              <a:t>การแบ่งกลุ่ม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C1CB0D-E8A1-49C8-B51C-54FCE9B3F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4787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079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228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2283A"/>
                </a:solidFill>
                <a:latin typeface="Arial Unicode MS"/>
                <a:ea typeface="Arial Unicode MS"/>
                <a:cs typeface="Arial Unicode MS"/>
              </a:rPr>
              <a:t>K = 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E9B5BD-5D8E-4912-83A7-F8311EBD4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667000"/>
            <a:ext cx="3000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C2B3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C2B36"/>
                </a:solidFill>
                <a:latin typeface="Arial Unicode MS"/>
                <a:ea typeface="Arial Unicode MS"/>
                <a:cs typeface="Arial Unicode MS"/>
              </a:rPr>
              <a:t>K-Means ให้ Silhouette 0.386</a:t>
            </a:r>
          </a:p>
          <a:p xmlns:a="http://schemas.openxmlformats.org/drawingml/2006/main">
            <a:pPr algn="l">
              <a:defRPr sz="1350" b="0">
                <a:solidFill>
                  <a:srgbClr val="1C2B3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C2B36"/>
                </a:solidFill>
                <a:latin typeface="Arial Unicode MS"/>
                <a:ea typeface="Arial Unicode MS"/>
                <a:cs typeface="Arial Unicode MS"/>
              </a:rPr>
              <a:t>Resample ARI ของ K=3 เท่ากับ 0.915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1DCF67-D155-4861-9356-A504C6DB3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6687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E64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2E6487"/>
                </a:solidFill>
                <a:latin typeface="Arial Unicode MS"/>
                <a:ea typeface="Arial Unicode MS"/>
                <a:cs typeface="Arial Unicode MS"/>
              </a:rPr>
              <a:t>การพยากรณ์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A2D751-D684-4769-BE60-98463A38B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47875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079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228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2283A"/>
                </a:solidFill>
                <a:latin typeface="Arial Unicode MS"/>
                <a:ea typeface="Arial Unicode MS"/>
                <a:cs typeface="Arial Unicode MS"/>
              </a:rPr>
              <a:t>RMSE 0.0172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14B767-B5A1-43AE-9DB3-52A72C0D5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67000"/>
            <a:ext cx="295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C2B3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C2B36"/>
                </a:solidFill>
                <a:latin typeface="Arial Unicode MS"/>
                <a:ea typeface="Arial Unicode MS"/>
                <a:cs typeface="Arial Unicode MS"/>
              </a:rPr>
              <a:t>Persistence baseline ชนะโมเดล ML</a:t>
            </a:r>
          </a:p>
          <a:p xmlns:a="http://schemas.openxmlformats.org/drawingml/2006/main">
            <a:pPr algn="l">
              <a:defRPr sz="1350" b="0">
                <a:solidFill>
                  <a:srgbClr val="1C2B3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C2B36"/>
                </a:solidFill>
                <a:latin typeface="Arial Unicode MS"/>
                <a:ea typeface="Arial Unicode MS"/>
                <a:cs typeface="Arial Unicode MS"/>
              </a:rPr>
              <a:t>บนข้อมูลปีเป้าหมาย 2021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EC15DE-05BC-4B8B-8477-E80E90642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0287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5E8C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92D3E2-59FD-45FD-A80E-417075D47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148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6A6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D6A63C"/>
                </a:solidFill>
                <a:latin typeface="Arial Unicode MS"/>
                <a:ea typeface="Arial Unicode MS"/>
                <a:cs typeface="Arial Unicode MS"/>
              </a:rPr>
              <a:t>ข้อสรุปด้าน governance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A0ED68-3650-49DA-B849-3CE519406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57675"/>
            <a:ext cx="695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312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C2B3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1C2B36"/>
                </a:solidFill>
                <a:latin typeface="Arial Unicode MS"/>
                <a:ea typeface="Arial Unicode MS"/>
                <a:cs typeface="Arial Unicode MS"/>
              </a:rPr>
              <a:t>อนุมัติ Persistence baseline เป็น champion และเก็บ Gradient Boosting เป็น experimental challenger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615199-FB18-49E6-8247-0F9DB9225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76925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17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17D"/>
                </a:solidFill>
                <a:latin typeface="Arial Unicode MS"/>
                <a:ea typeface="Arial Unicode MS"/>
                <a:cs typeface="Arial Unicode MS"/>
              </a:rPr>
              <a:t>เอกสาร final_report และ model_card บางส่วนยังแสดง RMSE รุ่นเก่า สไลด์ชุดนี้ยึด model_comparison.csv และ log รอบล่าสุด</a:t>
            </a:r>
          </a:p>
        </p:txBody>
      </p:sp>
    </p:spTree>
    <p:extLst>
      <p:ext uri="{BB962C8B-B14F-4D97-AF65-F5344CB8AC3E}">
        <p14:creationId xmlns:p14="http://schemas.microsoft.com/office/powerpoint/2010/main" val="12330932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6F81C3-6386-4BE5-BD1B-E7FC8E4A7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63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7EFD56-BEF3-49CE-B7C8-95CF50DCE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64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2E6487"/>
                </a:solidFill>
                <a:latin typeface="Arial Unicode MS"/>
                <a:ea typeface="Arial Unicode MS"/>
                <a:cs typeface="Arial Unicode MS"/>
              </a:rPr>
              <a:t>PROBLEM AND GOVERNANCE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09BEFA-1D8D-453B-8763-3D306B8F8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28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2283A"/>
                </a:solidFill>
                <a:latin typeface="Arial Unicode MS"/>
                <a:ea typeface="Arial Unicode MS"/>
                <a:cs typeface="Arial Unicode MS"/>
              </a:rPr>
              <a:t>โจทย์วิจัยและขอบเขตการใช้งาน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286345-AC29-41E5-9F17-04EEC4B6E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1C5408-1C19-44D7-A26E-CD91AC894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17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62717D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83F51B-FEBD-43D7-80AF-53A44459B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64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2E6487"/>
                </a:solidFill>
                <a:latin typeface="Arial Unicode MS"/>
                <a:ea typeface="Arial Unicode MS"/>
                <a:cs typeface="Arial Unicode MS"/>
              </a:rPr>
              <a:t>หน่วยวิเคราะห์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9BA8E1-9908-4A4E-B905-887F127ED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28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2283A"/>
                </a:solidFill>
                <a:latin typeface="Arial Unicode MS"/>
                <a:ea typeface="Arial Unicode MS"/>
                <a:cs typeface="Arial Unicode MS"/>
              </a:rPr>
              <a:t>1 ระเบียน = บริษัทประกัน × ประเภท × ปี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242BA4-CFA3-4F36-9B81-0595DA09F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64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2E6487"/>
                </a:solidFill>
                <a:latin typeface="Arial Unicode MS"/>
                <a:ea typeface="Arial Unicode MS"/>
                <a:cs typeface="Arial Unicode MS"/>
              </a:rPr>
              <a:t>เป้าหมายการพยากรณ์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1B0AFB-3A67-435A-9026-359970826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C2B3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1C2B36"/>
                </a:solidFill>
                <a:latin typeface="Arial Unicode MS"/>
                <a:ea typeface="Arial Unicode MS"/>
                <a:cs typeface="Arial Unicode MS"/>
              </a:rPr>
              <a:t>claims_paid_ratio_no ของปีถัดไป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EC2BE1-3FCD-4E3D-9DBA-035CAD7C3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1925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64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2E6487"/>
                </a:solidFill>
                <a:latin typeface="Arial Unicode MS"/>
                <a:ea typeface="Arial Unicode MS"/>
                <a:cs typeface="Arial Unicode MS"/>
              </a:rPr>
              <a:t>การใช้งานที่เหมาะสม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89ED8B-98EE-472D-9E0D-B42120579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00250"/>
            <a:ext cx="4000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C2B3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C2B36"/>
                </a:solidFill>
                <a:latin typeface="Arial Unicode MS"/>
                <a:ea typeface="Arial Unicode MS"/>
                <a:cs typeface="Arial Unicode MS"/>
              </a:rPr>
              <a:t>ตรวจสอบข้อมูลระดับบริษัท</a:t>
            </a:r>
          </a:p>
          <a:p xmlns:a="http://schemas.openxmlformats.org/drawingml/2006/main">
            <a:pPr algn="l">
              <a:defRPr sz="1500" b="0">
                <a:solidFill>
                  <a:srgbClr val="1C2B3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C2B36"/>
                </a:solidFill>
                <a:latin typeface="Arial Unicode MS"/>
                <a:ea typeface="Arial Unicode MS"/>
                <a:cs typeface="Arial Unicode MS"/>
              </a:rPr>
              <a:t>เปรียบเทียบโครงสร้างการดำเนินงาน</a:t>
            </a:r>
          </a:p>
          <a:p xmlns:a="http://schemas.openxmlformats.org/drawingml/2006/main">
            <a:pPr algn="l">
              <a:defRPr sz="1500" b="0">
                <a:solidFill>
                  <a:srgbClr val="1C2B3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C2B36"/>
                </a:solidFill>
                <a:latin typeface="Arial Unicode MS"/>
                <a:ea typeface="Arial Unicode MS"/>
                <a:cs typeface="Arial Unicode MS"/>
              </a:rPr>
              <a:t>ทำ benchmark การพยากรณ์รายปี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0A5A38-CE0A-46C5-B816-D0B9A9178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2425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94A4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B94A48"/>
                </a:solidFill>
                <a:latin typeface="Arial Unicode MS"/>
                <a:ea typeface="Arial Unicode MS"/>
                <a:cs typeface="Arial Unicode MS"/>
              </a:rPr>
              <a:t>ไม่ครอบคลุม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2D4276-316B-4514-A019-47369F2CB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05250"/>
            <a:ext cx="4000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C2B3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C2B36"/>
                </a:solidFill>
                <a:latin typeface="Arial Unicode MS"/>
                <a:ea typeface="Arial Unicode MS"/>
                <a:cs typeface="Arial Unicode MS"/>
              </a:rPr>
              <a:t>การอนุมัติเคลมรายบุคคล</a:t>
            </a:r>
          </a:p>
          <a:p xmlns:a="http://schemas.openxmlformats.org/drawingml/2006/main">
            <a:pPr algn="l">
              <a:defRPr sz="1500" b="0">
                <a:solidFill>
                  <a:srgbClr val="1C2B3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C2B36"/>
                </a:solidFill>
                <a:latin typeface="Arial Unicode MS"/>
                <a:ea typeface="Arial Unicode MS"/>
                <a:cs typeface="Arial Unicode MS"/>
              </a:rPr>
              <a:t>การปฏิเสธกรมธรรม์</a:t>
            </a:r>
          </a:p>
          <a:p xmlns:a="http://schemas.openxmlformats.org/drawingml/2006/main">
            <a:pPr algn="l">
              <a:defRPr sz="1500" b="0">
                <a:solidFill>
                  <a:srgbClr val="1C2B3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C2B36"/>
                </a:solidFill>
                <a:latin typeface="Arial Unicode MS"/>
                <a:ea typeface="Arial Unicode MS"/>
                <a:cs typeface="Arial Unicode MS"/>
              </a:rPr>
              <a:t>การตัดสินใจ underwriting อัตโนมัติ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0D67FB-6F0E-4C5F-8F30-21B5E74B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76925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17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17D"/>
                </a:solidFill>
                <a:latin typeface="Arial Unicode MS"/>
                <a:ea typeface="Arial Unicode MS"/>
                <a:cs typeface="Arial Unicode MS"/>
              </a:rPr>
              <a:t>ข้อมูลเป็นสถิติรวมที่เผยแพร่สาธารณะ ไม่มีข้อมูลส่วนบุคคล และใช้เพื่อการกำกับดูแลกับการวิเคราะห์ระดับบริษัท</a:t>
            </a:r>
          </a:p>
        </p:txBody>
      </p:sp>
    </p:spTree>
    <p:extLst>
      <p:ext uri="{BB962C8B-B14F-4D97-AF65-F5344CB8AC3E}">
        <p14:creationId xmlns:p14="http://schemas.microsoft.com/office/powerpoint/2010/main" val="1283130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9DC369-DEEA-47BF-8FB7-5AB556A78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63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F9C936-EF4B-4A0D-9B75-37D7369DC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64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2E6487"/>
                </a:solidFill>
                <a:latin typeface="Arial Unicode MS"/>
                <a:ea typeface="Arial Unicode MS"/>
                <a:cs typeface="Arial Unicode MS"/>
              </a:rPr>
              <a:t>DATA FOUNDATION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63625E-2FCF-44C8-9C43-0F68EE727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28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2283A"/>
                </a:solidFill>
                <a:latin typeface="Arial Unicode MS"/>
                <a:ea typeface="Arial Unicode MS"/>
                <a:cs typeface="Arial Unicode MS"/>
              </a:rPr>
              <a:t>แหล่งข้อมูลและการควบคุมคุณภาพ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CF932D-DDAA-4E62-96A2-55A18690B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83B6EC-BAF4-4262-A3D0-74C70E29B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17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62717D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904875" y="1666875"/>
          <a:ext xmlns:a="http://schemas.openxmlformats.org/drawingml/2006/main" cx="1038225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4762500"/>
                <a:gridCol w="2952750"/>
              </a:tblGrid>
              <a:tr h="5238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รายการ</a:t>
                      </a:r>
                    </a:p>
                  </a:txBody>
                  <a:tcPr marL="91440" marR="91440" marT="45720" marB="45720">
                    <a:solidFill>
                      <a:srgbClr val="12283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ค่าจริง</a:t>
                      </a:r>
                    </a:p>
                  </a:txBody>
                  <a:tcPr marL="91440" marR="91440" marT="45720" marB="45720">
                    <a:solidFill>
                      <a:srgbClr val="12283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สถานะ</a:t>
                      </a:r>
                    </a:p>
                  </a:txBody>
                  <a:tcPr marL="91440" marR="91440" marT="45720" marB="45720">
                    <a:solidFill>
                      <a:srgbClr val="12283A"/>
                    </a:solidFill>
                  </a:tcPr>
                </a:tc>
              </a:tr>
              <a:tr h="5238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C2B3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แหล่งข้อมูล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C2B3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IRDAI statutory disclosures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C2B3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Public regulatory data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C2B3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ขนาดข้อมูล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C2B3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149 แถว × 25 คอลัมน์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C2B3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ครบตาม provenance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</a:tr>
              <a:tr h="5238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C2B3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ช่วงข้อมูล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C2B3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5 ปีงบประมาณ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C2B3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Small annual panel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C2B3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SHA-256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C2B3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a25b28ae…dfa01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C2B3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บันทึกแล้ว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</a:tr>
              <a:tr h="5238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C2B3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Target isolation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C2B3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149 ระเบียน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C2B3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Enforced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9BDF3B-6653-462C-BD89-7BE1CA4FC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76925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17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17D"/>
                </a:solidFill>
                <a:latin typeface="Arial Unicode MS"/>
                <a:ea typeface="Arial Unicode MS"/>
                <a:cs typeface="Arial Unicode MS"/>
              </a:rPr>
              <a:t>ข้อจำกัดหลักคือจำนวนช่วงเวลาสั้นและความแตกต่างด้านขนาดบริษัทสูงมาก จึงต้องใช้ temporal split และ baseline ที่เหมาะกับข้อมูลรายปี</a:t>
            </a:r>
          </a:p>
        </p:txBody>
      </p:sp>
    </p:spTree>
    <p:extLst>
      <p:ext uri="{BB962C8B-B14F-4D97-AF65-F5344CB8AC3E}">
        <p14:creationId xmlns:p14="http://schemas.microsoft.com/office/powerpoint/2010/main" val="11365560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3926CF-9E08-4F13-9340-5FF4E104E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63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8CD27B-E2A7-418E-9FC3-326835E1B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64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2E6487"/>
                </a:solidFill>
                <a:latin typeface="Arial Unicode MS"/>
                <a:ea typeface="Arial Unicode MS"/>
                <a:cs typeface="Arial Unicode MS"/>
              </a:rPr>
              <a:t>EXPLORATORY DATA ANALYSIS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9BDEDF-2239-454A-A5EB-5A308315B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28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2283A"/>
                </a:solidFill>
                <a:latin typeface="Arial Unicode MS"/>
                <a:ea typeface="Arial Unicode MS"/>
                <a:cs typeface="Arial Unicode MS"/>
              </a:rPr>
              <a:t>EDA: การกระจายของตัวแปรทั้งหมด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512D11-781D-4A96-9329-9BAB67A58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29BD67-6826-47AC-955F-BC46C41A4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17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62717D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12f62bd5ff4232"/>
          <a:stretch xmlns:a="http://schemas.openxmlformats.org/drawingml/2006/main"/>
        </p:blipFill>
        <p:spPr>
          <a:xfrm xmlns:a="http://schemas.openxmlformats.org/drawingml/2006/main">
            <a:off x="4486522" y="1428750"/>
            <a:ext cx="3218956" cy="42386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33896D-1DB4-42C1-A2E0-648AA6FC8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76925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17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17D"/>
                </a:solidFill>
                <a:latin typeface="Arial Unicode MS"/>
                <a:ea typeface="Arial Unicode MS"/>
                <a:cs typeface="Arial Unicode MS"/>
              </a:rPr>
              <a:t>ตัวแปรด้านปริมาณเคลมมีหางขวายาวมาก ค่าเฉลี่ยจึงได้รับอิทธิพลจากบริษัทขนาดใหญ่และ aggregate rows</a:t>
            </a:r>
          </a:p>
        </p:txBody>
      </p:sp>
    </p:spTree>
    <p:extLst>
      <p:ext uri="{BB962C8B-B14F-4D97-AF65-F5344CB8AC3E}">
        <p14:creationId xmlns:p14="http://schemas.microsoft.com/office/powerpoint/2010/main" val="19774623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F915AB-42B7-409A-AFCD-EE5D0B541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63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C1DD31-1429-4D8E-B46E-845A5AE77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64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2E6487"/>
                </a:solidFill>
                <a:latin typeface="Arial Unicode MS"/>
                <a:ea typeface="Arial Unicode MS"/>
                <a:cs typeface="Arial Unicode MS"/>
              </a:rPr>
              <a:t>EXPLORATORY DATA ANALYSIS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E7EE03-45D3-45B5-B0CA-B0E3D7B52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28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2283A"/>
                </a:solidFill>
                <a:latin typeface="Arial Unicode MS"/>
                <a:ea typeface="Arial Unicode MS"/>
                <a:cs typeface="Arial Unicode MS"/>
              </a:rPr>
              <a:t>EDA: ค่าศูนย์และ Outliers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4AAC69-2F3F-4790-9CC8-528F99486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35D8BB-A45F-4DEE-9D38-FA08F3190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17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62717D"/>
                </a:solidFill>
                <a:latin typeface="Arial Unicode MS"/>
                <a:ea typeface="Arial Unicode MS"/>
                <a:cs typeface="Arial Unicode MS"/>
              </a:rPr>
              <a:t>06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48941e8ac542de"/>
          <a:stretch xmlns:a="http://schemas.openxmlformats.org/drawingml/2006/main"/>
        </p:blipFill>
        <p:spPr>
          <a:xfrm xmlns:a="http://schemas.openxmlformats.org/drawingml/2006/main">
            <a:off x="1563693" y="1428750"/>
            <a:ext cx="9064614" cy="42386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DF50AA-CCC7-4406-B40D-019F86895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76925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17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17D"/>
                </a:solidFill>
                <a:latin typeface="Arial Unicode MS"/>
                <a:ea typeface="Arial Unicode MS"/>
                <a:cs typeface="Arial Unicode MS"/>
              </a:rPr>
              <a:t>claims_unclaimed_no มีค่าศูนย์ 69.1% และ claims_rejected_no มีค่าศูนย์ 65.1% หลายตัวแปรมี skewness สูงกว่า 3</a:t>
            </a:r>
          </a:p>
        </p:txBody>
      </p:sp>
    </p:spTree>
    <p:extLst>
      <p:ext uri="{BB962C8B-B14F-4D97-AF65-F5344CB8AC3E}">
        <p14:creationId xmlns:p14="http://schemas.microsoft.com/office/powerpoint/2010/main" val="170564931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19A3EF-F086-46DA-BD58-EB6796F51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63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C36682-2C6C-4B83-9444-1D9E7BB49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64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2E6487"/>
                </a:solidFill>
                <a:latin typeface="Arial Unicode MS"/>
                <a:ea typeface="Arial Unicode MS"/>
                <a:cs typeface="Arial Unicode MS"/>
              </a:rPr>
              <a:t>EXPLORATORY DATA ANALYSIS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7D78D7-1AC1-4CDA-A5D5-CC54C8D21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28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2283A"/>
                </a:solidFill>
                <a:latin typeface="Arial Unicode MS"/>
                <a:ea typeface="Arial Unicode MS"/>
                <a:cs typeface="Arial Unicode MS"/>
              </a:rPr>
              <a:t>EDA: Correlation Matrix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1E55DD-E40F-49AC-82CA-E951A35B9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5506E6-B038-433A-B400-F42C183AE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17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62717D"/>
                </a:solidFill>
                <a:latin typeface="Arial Unicode MS"/>
                <a:ea typeface="Arial Unicode MS"/>
                <a:cs typeface="Arial Unicode MS"/>
              </a:rPr>
              <a:t>07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b7e0a541f7444a"/>
          <a:stretch xmlns:a="http://schemas.openxmlformats.org/drawingml/2006/main"/>
        </p:blipFill>
        <p:spPr>
          <a:xfrm xmlns:a="http://schemas.openxmlformats.org/drawingml/2006/main">
            <a:off x="3650569" y="1428750"/>
            <a:ext cx="4890862" cy="42386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D1201D-8F96-4196-93FF-DD03DCFD3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76925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17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17D"/>
                </a:solidFill>
                <a:latin typeface="Arial Unicode MS"/>
                <a:ea typeface="Arial Unicode MS"/>
                <a:cs typeface="Arial Unicode MS"/>
              </a:rPr>
              <a:t>ตัวแปรยอดเคลมและจำนวนเคลมมีความสัมพันธ์สูง จึงต้องระวัง multicollinearity และการให้ขนาดบริษัทครอบงำโมเดล</a:t>
            </a:r>
          </a:p>
        </p:txBody>
      </p:sp>
    </p:spTree>
    <p:extLst>
      <p:ext uri="{BB962C8B-B14F-4D97-AF65-F5344CB8AC3E}">
        <p14:creationId xmlns:p14="http://schemas.microsoft.com/office/powerpoint/2010/main" val="18350502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F839CE-D1B6-465E-9E6C-82B15EA57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63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9CD613-54F5-4ACB-B0AE-56A7CE686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64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2E6487"/>
                </a:solidFill>
                <a:latin typeface="Arial Unicode MS"/>
                <a:ea typeface="Arial Unicode MS"/>
                <a:cs typeface="Arial Unicode MS"/>
              </a:rPr>
              <a:t>EXPLORATORY DATA ANALYSIS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AF5011-D220-4B49-9439-C2BC76763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28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2283A"/>
                </a:solidFill>
                <a:latin typeface="Arial Unicode MS"/>
                <a:ea typeface="Arial Unicode MS"/>
                <a:cs typeface="Arial Unicode MS"/>
              </a:rPr>
              <a:t>แนวโน้มรายปีของตัวชี้วัดหลัก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B858B6-B8D5-4EC8-9F03-182E2D978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E32491-FC7A-4B48-A591-20B382C42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17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62717D"/>
                </a:solidFill>
                <a:latin typeface="Arial Unicode MS"/>
                <a:ea typeface="Arial Unicode MS"/>
                <a:cs typeface="Arial Unicode MS"/>
              </a:rPr>
              <a:t>08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a13829ed5d4826"/>
          <a:stretch xmlns:a="http://schemas.openxmlformats.org/drawingml/2006/main"/>
        </p:blipFill>
        <p:spPr>
          <a:xfrm xmlns:a="http://schemas.openxmlformats.org/drawingml/2006/main">
            <a:off x="904875" y="2254105"/>
            <a:ext cx="10382250" cy="258791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F0AB0B-9833-4CC2-B66F-5878A72F7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76925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17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17D"/>
                </a:solidFill>
                <a:latin typeface="Arial Unicode MS"/>
                <a:ea typeface="Arial Unicode MS"/>
                <a:cs typeface="Arial Unicode MS"/>
              </a:rPr>
              <a:t>ค่ามัธยฐาน claims intimated เพิ่มจาก 4,765.5 ในปี 2017 เป็น 19,490 ในปี 2021 ขณะที่ pending ratio ลดลง</a:t>
            </a:r>
          </a:p>
        </p:txBody>
      </p:sp>
    </p:spTree>
    <p:extLst>
      <p:ext uri="{BB962C8B-B14F-4D97-AF65-F5344CB8AC3E}">
        <p14:creationId xmlns:p14="http://schemas.microsoft.com/office/powerpoint/2010/main" val="142824850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3607C8-7668-441C-9BDE-6FA47EF68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63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BCD3CF-59DE-4F9B-996D-C31F232E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64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2E6487"/>
                </a:solidFill>
                <a:latin typeface="Arial Unicode MS"/>
                <a:ea typeface="Arial Unicode MS"/>
                <a:cs typeface="Arial Unicode MS"/>
              </a:rPr>
              <a:t>EXPLORATORY DATA ANALYSIS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482EBE-CDF6-480D-BCD2-F45CF6A52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28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2283A"/>
                </a:solidFill>
                <a:latin typeface="Arial Unicode MS"/>
                <a:ea typeface="Arial Unicode MS"/>
                <a:cs typeface="Arial Unicode MS"/>
              </a:rPr>
              <a:t>ความกระจุกตัวของบริษัทประกัน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3874D8-73AC-48DB-9716-B0F0CB036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B65FF4-0645-484C-B96B-17D02FE93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17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62717D"/>
                </a:solidFill>
                <a:latin typeface="Arial Unicode MS"/>
                <a:ea typeface="Arial Unicode MS"/>
                <a:cs typeface="Arial Unicode MS"/>
              </a:rPr>
              <a:t>09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509f4de02645ac"/>
          <a:stretch xmlns:a="http://schemas.openxmlformats.org/drawingml/2006/main"/>
        </p:blipFill>
        <p:spPr>
          <a:xfrm xmlns:a="http://schemas.openxmlformats.org/drawingml/2006/main">
            <a:off x="904875" y="1428906"/>
            <a:ext cx="10382250" cy="423831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9AE1EB-65A0-41EC-96D3-8F8BC37F9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76925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17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17D"/>
                </a:solidFill>
                <a:latin typeface="Arial Unicode MS"/>
                <a:ea typeface="Arial Unicode MS"/>
                <a:cs typeface="Arial Unicode MS"/>
              </a:rPr>
              <a:t>ข้อมูลมีทั้ง aggregate rows และชื่อบริษัทหลายรูปแบบ จึงต้องตีความ concentration อย่างระมัดระวังและแยก LIC จาก private sector</a:t>
            </a:r>
          </a:p>
        </p:txBody>
      </p:sp>
    </p:spTree>
    <p:extLst>
      <p:ext uri="{BB962C8B-B14F-4D97-AF65-F5344CB8AC3E}">
        <p14:creationId xmlns:p14="http://schemas.microsoft.com/office/powerpoint/2010/main" val="86259637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9F0267-D500-406D-B146-1D1EEB84E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63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486A48-FB89-4E7D-BEEE-BA7E49A87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64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2E6487"/>
                </a:solidFill>
                <a:latin typeface="Arial Unicode MS"/>
                <a:ea typeface="Arial Unicode MS"/>
                <a:cs typeface="Arial Unicode MS"/>
              </a:rPr>
              <a:t>AUDIT TRACK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0CEA1E-1310-43BC-A5E2-738B54448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28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2283A"/>
                </a:solidFill>
                <a:latin typeface="Arial Unicode MS"/>
                <a:ea typeface="Arial Unicode MS"/>
                <a:cs typeface="Arial Unicode MS"/>
              </a:rPr>
              <a:t>KPI Quality Audit และรายการผิดปกติ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EC21D5-CE0F-4217-A275-8D725DC0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74F52D-1CDA-4312-BAED-3B986EED9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17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62717D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904875" y="1619250"/>
          <a:ext xmlns:a="http://schemas.openxmlformats.org/drawingml/2006/main" cx="1038225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2381250"/>
                <a:gridCol w="4286250"/>
              </a:tblGrid>
              <a:tr h="5238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กฎตรวจสอบ</a:t>
                      </a:r>
                    </a:p>
                  </a:txBody>
                  <a:tcPr marL="91440" marR="91440" marT="45720" marB="45720">
                    <a:solidFill>
                      <a:srgbClr val="12283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จำนวนที่พบ</a:t>
                      </a:r>
                    </a:p>
                  </a:txBody>
                  <a:tcPr marL="91440" marR="91440" marT="45720" marB="45720">
                    <a:solidFill>
                      <a:srgbClr val="12283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การจัดการ</a:t>
                      </a:r>
                    </a:p>
                  </a:txBody>
                  <a:tcPr marL="91440" marR="91440" marT="45720" marB="45720">
                    <a:solidFill>
                      <a:srgbClr val="12283A"/>
                    </a:solidFill>
                  </a:tcPr>
                </a:tc>
              </a:tr>
              <a:tr h="5238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C2B3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ค่าติดลบตาม domain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C2B3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37 จุด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C2B3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Flag ใน audit log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C2B3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Ratio recalculation mismatch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C2B3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3 ระเบียน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C2B3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ส่งตรวจสอบแหล่งข้อมูล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</a:tr>
              <a:tr h="5238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C2B3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บริษัทที่พบมากที่สุด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C2B3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Sahara Life: 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C2B3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ติดตามเฉพาะบริษัท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C2B3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Duplicate เต็มแถว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C2B3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C2B3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ผ่าน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</a:tr>
              <a:tr h="5238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C2B3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Target isolation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C2B3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149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C2B3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แยกเก็บครบ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907676-7B57-4A74-9547-7A1DD2B38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76925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17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17D"/>
                </a:solidFill>
                <a:latin typeface="Arial Unicode MS"/>
                <a:ea typeface="Arial Unicode MS"/>
                <a:cs typeface="Arial Unicode MS"/>
              </a:rPr>
              <a:t>ระบบเก็บ raw data ไว้เหมือนเดิมและบันทึกข้อผิดปกติใน audit log แทนการแก้ตัวเลขต้นทางแบบเงียบ ๆ</a:t>
            </a:r>
          </a:p>
        </p:txBody>
      </p:sp>
    </p:spTree>
    <p:extLst>
      <p:ext uri="{BB962C8B-B14F-4D97-AF65-F5344CB8AC3E}">
        <p14:creationId xmlns:p14="http://schemas.microsoft.com/office/powerpoint/2010/main" val="3971883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902243-A058-4F05-9468-7D6832F76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63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7C18A0-3C12-4847-AF1B-ACAA4408B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64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2E6487"/>
                </a:solidFill>
                <a:latin typeface="Arial Unicode MS"/>
                <a:ea typeface="Arial Unicode MS"/>
                <a:cs typeface="Arial Unicode MS"/>
              </a:rPr>
              <a:t>CLUSTERING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41063B-0C30-4ABB-A966-44BF08F06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28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2283A"/>
                </a:solidFill>
                <a:latin typeface="Arial Unicode MS"/>
                <a:ea typeface="Arial Unicode MS"/>
                <a:cs typeface="Arial Unicode MS"/>
              </a:rPr>
              <a:t>การเลือกจำนวนกลุ่มด้วยหลายตัวชี้วัด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43264E-AECA-4495-BE9E-288DBA02A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74A5EF-1566-4C21-A2CB-0909FBFAC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17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62717D"/>
                </a:solidFill>
                <a:latin typeface="Arial Unicode MS"/>
                <a:ea typeface="Arial Unicode MS"/>
                <a:cs typeface="Arial Unicode MS"/>
              </a:rPr>
              <a:t>11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66750" y="1476375"/>
          <a:ext xmlns:a="http://schemas.openxmlformats.org/drawingml/2006/main" cx="8572500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8b45ee7015245de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DA8AE9-9CF3-484A-979C-BDF99FB88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7621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E64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2E6487"/>
                </a:solidFill>
                <a:latin typeface="Arial Unicode MS"/>
                <a:ea typeface="Arial Unicode MS"/>
                <a:cs typeface="Arial Unicode MS"/>
              </a:rPr>
              <a:t>เหตุผลที่ใช้ K=3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B5BE09-8F23-4C68-AA39-27D3A77A1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190750"/>
            <a:ext cx="17621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C2B3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C2B36"/>
                </a:solidFill>
                <a:latin typeface="Arial Unicode MS"/>
                <a:ea typeface="Arial Unicode MS"/>
                <a:cs typeface="Arial Unicode MS"/>
              </a:rPr>
              <a:t>ARI สูงสุด 0.915</a:t>
            </a:r>
          </a:p>
          <a:p xmlns:a="http://schemas.openxmlformats.org/drawingml/2006/main">
            <a:pPr algn="l">
              <a:defRPr sz="1350" b="0">
                <a:solidFill>
                  <a:srgbClr val="1C2B3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C2B36"/>
                </a:solidFill>
                <a:latin typeface="Arial Unicode MS"/>
                <a:ea typeface="Arial Unicode MS"/>
                <a:cs typeface="Arial Unicode MS"/>
              </a:rPr>
              <a:t>กลุ่มเล็กสุด 9.40%</a:t>
            </a:r>
          </a:p>
          <a:p xmlns:a="http://schemas.openxmlformats.org/drawingml/2006/main">
            <a:pPr algn="l">
              <a:defRPr sz="1350" b="0">
                <a:solidFill>
                  <a:srgbClr val="1C2B3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C2B36"/>
                </a:solidFill>
                <a:latin typeface="Arial Unicode MS"/>
                <a:ea typeface="Arial Unicode MS"/>
                <a:cs typeface="Arial Unicode MS"/>
              </a:rPr>
              <a:t>ผ่านเกณฑ์ขั้นต่ำ 5%</a:t>
            </a:r>
          </a:p>
          <a:p xmlns:a="http://schemas.openxmlformats.org/drawingml/2006/main">
            <a:pPr algn="l">
              <a:defRPr sz="1350" b="0">
                <a:solidFill>
                  <a:srgbClr val="1C2B3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C2B36"/>
                </a:solidFill>
                <a:latin typeface="Arial Unicode MS"/>
                <a:ea typeface="Arial Unicode MS"/>
                <a:cs typeface="Arial Unicode MS"/>
              </a:rPr>
              <a:t>โครงสร้างตีความได้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9AAD28-8A14-446D-88A3-04F9FB144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76925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17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17D"/>
                </a:solidFill>
                <a:latin typeface="Arial Unicode MS"/>
                <a:ea typeface="Arial Unicode MS"/>
                <a:cs typeface="Arial Unicode MS"/>
              </a:rPr>
              <a:t>K=2 ให้ Silhouette สูงกว่า แต่ K=3 ให้ความเสถียรหลายตัวอย่างสูงกว่าและยังรักษาขนาดกลุ่มขั้นต่ำตาม governance rule</a:t>
            </a:r>
          </a:p>
        </p:txBody>
      </p:sp>
    </p:spTree>
    <p:extLst>
      <p:ext uri="{BB962C8B-B14F-4D97-AF65-F5344CB8AC3E}">
        <p14:creationId xmlns:p14="http://schemas.microsoft.com/office/powerpoint/2010/main" val="116831123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E0DC8F-F033-4039-A96E-74E1E1EE3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63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0D7859-F9F9-4CAB-87A4-B28C5F90A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64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2E6487"/>
                </a:solidFill>
                <a:latin typeface="Arial Unicode MS"/>
                <a:ea typeface="Arial Unicode MS"/>
                <a:cs typeface="Arial Unicode MS"/>
              </a:rPr>
              <a:t>CLUSTERING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FFE631-4017-4157-BFE2-5EB990DAA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28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2283A"/>
                </a:solidFill>
                <a:latin typeface="Arial Unicode MS"/>
                <a:ea typeface="Arial Unicode MS"/>
                <a:cs typeface="Arial Unicode MS"/>
              </a:rPr>
              <a:t>เปรียบเทียบอัลกอริทึม Clustering ที่ K=3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D5F62D-E771-4258-A7C3-20DAC7468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F84A17-38C4-457A-A91A-7C97AEA26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17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62717D"/>
                </a:solidFill>
                <a:latin typeface="Arial Unicode MS"/>
                <a:ea typeface="Arial Unicode MS"/>
                <a:cs typeface="Arial Unicode MS"/>
              </a:rPr>
              <a:t>12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857250" y="1571625"/>
          <a:ext xmlns:a="http://schemas.openxmlformats.org/drawingml/2006/main" cx="10001250" cy="3667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5888e5ee52f4620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67410B-64AF-479B-AD97-31FD8F1F9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76925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17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17D"/>
                </a:solidFill>
                <a:latin typeface="Arial Unicode MS"/>
                <a:ea typeface="Arial Unicode MS"/>
                <a:cs typeface="Arial Unicode MS"/>
              </a:rPr>
              <a:t>K-Means มี Silhouette สูงสุด ขณะที่ Agglomerative มี Davies-Bouldin ต่ำกว่าเล็กน้อย การเลือก K-Means จึงอาศัยภาพรวมหลาย metric และความง่ายในการใช้งาน</a:t>
            </a:r>
          </a:p>
        </p:txBody>
      </p:sp>
    </p:spTree>
    <p:extLst>
      <p:ext uri="{BB962C8B-B14F-4D97-AF65-F5344CB8AC3E}">
        <p14:creationId xmlns:p14="http://schemas.microsoft.com/office/powerpoint/2010/main" val="41016078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2A0B84-A40F-4655-94CB-9BB6F65A2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63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9B3E3F-1F4E-454E-A390-5937B8DC5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64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2E6487"/>
                </a:solidFill>
                <a:latin typeface="Arial Unicode MS"/>
                <a:ea typeface="Arial Unicode MS"/>
                <a:cs typeface="Arial Unicode MS"/>
              </a:rPr>
              <a:t>CLUSTERING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234509-3C6C-4023-8486-4572A14D1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28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2283A"/>
                </a:solidFill>
                <a:latin typeface="Arial Unicode MS"/>
                <a:ea typeface="Arial Unicode MS"/>
                <a:cs typeface="Arial Unicode MS"/>
              </a:rPr>
              <a:t>ขนาดกลุ่มบริษัทประกัน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0B1581-C0FA-4778-9597-2DC528524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509184-694D-4924-9527-794FFADFE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17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62717D"/>
                </a:solidFill>
                <a:latin typeface="Arial Unicode MS"/>
                <a:ea typeface="Arial Unicode MS"/>
                <a:cs typeface="Arial Unicode MS"/>
              </a:rPr>
              <a:t>13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4e725111bb49b7"/>
          <a:stretch xmlns:a="http://schemas.openxmlformats.org/drawingml/2006/main"/>
        </p:blipFill>
        <p:spPr>
          <a:xfrm xmlns:a="http://schemas.openxmlformats.org/drawingml/2006/main">
            <a:off x="2676200" y="1428750"/>
            <a:ext cx="6839599" cy="42386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7E0AA5-1CCD-4101-A096-B580C1C7E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76925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17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17D"/>
                </a:solidFill>
                <a:latin typeface="Arial Unicode MS"/>
                <a:ea typeface="Arial Unicode MS"/>
                <a:cs typeface="Arial Unicode MS"/>
              </a:rPr>
              <a:t>Cluster 0 มี 91 ระเบียน Cluster 1 มี 14 ระเบียน และ Cluster 2 มี 44 ระเบียน สัดส่วนกลุ่มเล็กสุดเท่ากับ 9.40%</a:t>
            </a:r>
          </a:p>
        </p:txBody>
      </p:sp>
    </p:spTree>
    <p:extLst>
      <p:ext uri="{BB962C8B-B14F-4D97-AF65-F5344CB8AC3E}">
        <p14:creationId xmlns:p14="http://schemas.microsoft.com/office/powerpoint/2010/main" val="23878160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057B0B-C8CC-4AFA-B94A-831256BF3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63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D1C25D-03B7-4B9A-A875-49ED829B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64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2E6487"/>
                </a:solidFill>
                <a:latin typeface="Arial Unicode MS"/>
                <a:ea typeface="Arial Unicode MS"/>
                <a:cs typeface="Arial Unicode MS"/>
              </a:rPr>
              <a:t>CLUSTERING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3AF1B7-595A-4130-8190-779D49585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28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2283A"/>
                </a:solidFill>
                <a:latin typeface="Arial Unicode MS"/>
                <a:ea typeface="Arial Unicode MS"/>
                <a:cs typeface="Arial Unicode MS"/>
              </a:rPr>
              <a:t>โปรไฟล์เชิงปฏิบัติการของแต่ละกลุ่ม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D2B7D1-7412-4FF9-9871-744751007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E167D0-611F-47CE-9E21-B7CE384CC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17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62717D"/>
                </a:solidFill>
                <a:latin typeface="Arial Unicode MS"/>
                <a:ea typeface="Arial Unicode MS"/>
                <a:cs typeface="Arial Unicode MS"/>
              </a:rPr>
              <a:t>14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daff2890ce49d7"/>
          <a:stretch xmlns:a="http://schemas.openxmlformats.org/drawingml/2006/main"/>
        </p:blipFill>
        <p:spPr>
          <a:xfrm xmlns:a="http://schemas.openxmlformats.org/drawingml/2006/main">
            <a:off x="904875" y="1519181"/>
            <a:ext cx="10382250" cy="405776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08EC54-0B8E-4606-A261-1450EC68D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76925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17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17D"/>
                </a:solidFill>
                <a:latin typeface="Arial Unicode MS"/>
                <a:ea typeface="Arial Unicode MS"/>
                <a:cs typeface="Arial Unicode MS"/>
              </a:rPr>
              <a:t>Cluster 1 มีขนาดเคลมสูงกว่ากลุ่มอื่นมาก ส่วน Cluster 0 มีปริมาณต่ำกว่าและ Cluster 2 อยู่ระดับกลาง</a:t>
            </a:r>
          </a:p>
        </p:txBody>
      </p:sp>
    </p:spTree>
    <p:extLst>
      <p:ext uri="{BB962C8B-B14F-4D97-AF65-F5344CB8AC3E}">
        <p14:creationId xmlns:p14="http://schemas.microsoft.com/office/powerpoint/2010/main" val="20318085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A503BA-9209-47FA-8084-8EF4C9C6C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63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9E115B-23A3-4748-A3AC-950D6FBA5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64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2E6487"/>
                </a:solidFill>
                <a:latin typeface="Arial Unicode MS"/>
                <a:ea typeface="Arial Unicode MS"/>
                <a:cs typeface="Arial Unicode MS"/>
              </a:rPr>
              <a:t>CLUSTERING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524F66-43EB-45A6-A0B6-C4D181A00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28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2283A"/>
                </a:solidFill>
                <a:latin typeface="Arial Unicode MS"/>
                <a:ea typeface="Arial Unicode MS"/>
                <a:cs typeface="Arial Unicode MS"/>
              </a:rPr>
              <a:t>PCA 3D ของโครงสร้างบริษัทประกัน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C116F3-7809-433A-B413-0DE836636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AB9556-D8D3-4BB6-97A7-1F23E610A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17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62717D"/>
                </a:solidFill>
                <a:latin typeface="Arial Unicode MS"/>
                <a:ea typeface="Arial Unicode MS"/>
                <a:cs typeface="Arial Unicode MS"/>
              </a:rPr>
              <a:t>15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dbd2c94ec14ad3"/>
          <a:stretch xmlns:a="http://schemas.openxmlformats.org/drawingml/2006/main"/>
        </p:blipFill>
        <p:spPr>
          <a:xfrm xmlns:a="http://schemas.openxmlformats.org/drawingml/2006/main">
            <a:off x="3652006" y="1428750"/>
            <a:ext cx="4887988" cy="42386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C6DF36-1A95-4D7C-A8A2-39C20BC70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76925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17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17D"/>
                </a:solidFill>
                <a:latin typeface="Arial Unicode MS"/>
                <a:ea typeface="Arial Unicode MS"/>
                <a:cs typeface="Arial Unicode MS"/>
              </a:rPr>
              <a:t>แผนภาพลดมิติช่วยตรวจการแยกตัวของกลุ่ม แต่ไม่ใช้แทน metric การเลือก K หรือการตรวจความเสถียร</a:t>
            </a:r>
          </a:p>
        </p:txBody>
      </p:sp>
    </p:spTree>
    <p:extLst>
      <p:ext uri="{BB962C8B-B14F-4D97-AF65-F5344CB8AC3E}">
        <p14:creationId xmlns:p14="http://schemas.microsoft.com/office/powerpoint/2010/main" val="48040607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1511C5-4D4A-4007-A990-859186DA1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63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62C3FE-D23A-40E9-96CD-1E20DD4EA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64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2E6487"/>
                </a:solidFill>
                <a:latin typeface="Arial Unicode MS"/>
                <a:ea typeface="Arial Unicode MS"/>
                <a:cs typeface="Arial Unicode MS"/>
              </a:rPr>
              <a:t>FORECASTING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477679-E7D7-4E3D-91D1-E4B5C6EAB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28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2283A"/>
                </a:solidFill>
                <a:latin typeface="Arial Unicode MS"/>
                <a:ea typeface="Arial Unicode MS"/>
                <a:cs typeface="Arial Unicode MS"/>
              </a:rPr>
              <a:t>การออกแบบชุดข้อมูลพยากรณ์แบบตามเวลา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9B38DD-CB8E-415F-8C37-E465F61CE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85CB7A-FD43-4382-AF6A-FE72A3861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17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62717D"/>
                </a:solidFill>
                <a:latin typeface="Arial Unicode MS"/>
                <a:ea typeface="Arial Unicode MS"/>
                <a:cs typeface="Arial Unicode MS"/>
              </a:rPr>
              <a:t>16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1047750" y="1762125"/>
          <a:ext xmlns:a="http://schemas.openxmlformats.org/drawingml/2006/main" cx="10096500" cy="247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2476500"/>
                <a:gridCol w="2476500"/>
                <a:gridCol w="3048000"/>
              </a:tblGrid>
              <a:tr h="61912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ชุดข้อมูล</a:t>
                      </a:r>
                    </a:p>
                  </a:txBody>
                  <a:tcPr marL="91440" marR="91440" marT="45720" marB="45720">
                    <a:solidFill>
                      <a:srgbClr val="12283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ปีเป้าหมาย</a:t>
                      </a:r>
                    </a:p>
                  </a:txBody>
                  <a:tcPr marL="91440" marR="91440" marT="45720" marB="45720">
                    <a:solidFill>
                      <a:srgbClr val="12283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จำนวนคู่บริษัท–ปี</a:t>
                      </a:r>
                    </a:p>
                  </a:txBody>
                  <a:tcPr marL="91440" marR="91440" marT="45720" marB="45720">
                    <a:solidFill>
                      <a:srgbClr val="12283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บทบาท</a:t>
                      </a:r>
                    </a:p>
                  </a:txBody>
                  <a:tcPr marL="91440" marR="91440" marT="45720" marB="45720">
                    <a:solidFill>
                      <a:srgbClr val="12283A"/>
                    </a:solidFill>
                  </a:tcPr>
                </a:tc>
              </a:tr>
              <a:tr h="61912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C2B3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Train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C2B3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2018–2019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C2B3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52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C2B3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เรียนรู้พารามิเตอร์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C2B3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Validation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C2B3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2020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C2B3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26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C2B3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เลือกโมเดลและ threshold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</a:tr>
              <a:tr h="61912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C2B3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Test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C2B3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2021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C2B3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C2B3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ประเมินครั้งสุดท้าย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0AB38A-12F6-4FF9-ACA8-9AB5F408F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19625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D7A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2D7A66"/>
                </a:solidFill>
                <a:latin typeface="Arial Unicode MS"/>
                <a:ea typeface="Arial Unicode MS"/>
                <a:cs typeface="Arial Unicode MS"/>
              </a:rPr>
              <a:t>Leakage audit: ผ่าน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EF672A-BB3F-4A9B-A451-552BCB910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591050"/>
            <a:ext cx="647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881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C2B3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C2B36"/>
                </a:solidFill>
                <a:latin typeface="Arial Unicode MS"/>
                <a:ea typeface="Arial Unicode MS"/>
                <a:cs typeface="Arial Unicode MS"/>
              </a:rPr>
              <a:t>อนุญาต claims_paid_ratio_no ที่เวลา t และห้ามข้อมูลผลลัพธ์ของ t+1 เข้าสู่ feature matrix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BC9809-4227-428D-9A74-669709803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76925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17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17D"/>
                </a:solidFill>
                <a:latin typeface="Arial Unicode MS"/>
                <a:ea typeface="Arial Unicode MS"/>
                <a:cs typeface="Arial Unicode MS"/>
              </a:rPr>
              <a:t>การสุ่มแบ่งข้อมูลจะทำให้บริษัทเดียวกันข้ามช่วงเวลาและทำให้ผลประเมินดีเกินจริง จึงใช้ contiguous temporal split</a:t>
            </a:r>
          </a:p>
        </p:txBody>
      </p:sp>
    </p:spTree>
    <p:extLst>
      <p:ext uri="{BB962C8B-B14F-4D97-AF65-F5344CB8AC3E}">
        <p14:creationId xmlns:p14="http://schemas.microsoft.com/office/powerpoint/2010/main" val="103710152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D8F710-540C-434A-9E2C-41BE32DB1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63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C37BB9-5CFE-4220-A42A-EC765EAFD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64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2E6487"/>
                </a:solidFill>
                <a:latin typeface="Arial Unicode MS"/>
                <a:ea typeface="Arial Unicode MS"/>
                <a:cs typeface="Arial Unicode MS"/>
              </a:rPr>
              <a:t>FORECASTING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36EE3F-025A-4B48-ADB6-143A502FB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28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2283A"/>
                </a:solidFill>
                <a:latin typeface="Arial Unicode MS"/>
                <a:ea typeface="Arial Unicode MS"/>
                <a:cs typeface="Arial Unicode MS"/>
              </a:rPr>
              <a:t>ผลเปรียบเทียบโมเดลบนข้อมูลปี 2021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7B4D8A-D8FA-4D2B-A408-B20751139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63AC15-32C1-4AF6-81DE-74471795A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17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62717D"/>
                </a:solidFill>
                <a:latin typeface="Arial Unicode MS"/>
                <a:ea typeface="Arial Unicode MS"/>
                <a:cs typeface="Arial Unicode MS"/>
              </a:rPr>
              <a:t>17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714375" y="1524000"/>
          <a:ext xmlns:a="http://schemas.openxmlformats.org/drawingml/2006/main" cx="10668000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87d189efff54de8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06FA14-5C01-466F-84A0-CED1346ED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76925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17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17D"/>
                </a:solidFill>
                <a:latin typeface="Arial Unicode MS"/>
                <a:ea typeface="Arial Unicode MS"/>
                <a:cs typeface="Arial Unicode MS"/>
              </a:rPr>
              <a:t>Persistence baseline มี RMSE ต่ำสุด 0.0172 และชนะ fitted models ทุกตัว จึงได้รับสถานะ champion ส่วน Gradient Boosting เป็น challenger ที่ดีที่สุด</a:t>
            </a:r>
          </a:p>
        </p:txBody>
      </p:sp>
    </p:spTree>
    <p:extLst>
      <p:ext uri="{BB962C8B-B14F-4D97-AF65-F5344CB8AC3E}">
        <p14:creationId xmlns:p14="http://schemas.microsoft.com/office/powerpoint/2010/main" val="150030324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29E898-FD0B-4C3A-BD27-7DFCC6E3E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63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9304FE-D189-4CBA-9BE6-DAFEB471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64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2E6487"/>
                </a:solidFill>
                <a:latin typeface="Arial Unicode MS"/>
                <a:ea typeface="Arial Unicode MS"/>
                <a:cs typeface="Arial Unicode MS"/>
              </a:rPr>
              <a:t>FORECASTING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ADCC9C-C0C7-41CD-8286-36C660CCC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28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2283A"/>
                </a:solidFill>
                <a:latin typeface="Arial Unicode MS"/>
                <a:ea typeface="Arial Unicode MS"/>
                <a:cs typeface="Arial Unicode MS"/>
              </a:rPr>
              <a:t>Ablation Study ของชุดคุณลักษณะ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DBC6AA-A6D6-4CAF-AA63-F4A6C20AF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FC0CDF-97EA-48A8-A37C-8B0BBEB14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17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62717D"/>
                </a:solidFill>
                <a:latin typeface="Arial Unicode MS"/>
                <a:ea typeface="Arial Unicode MS"/>
                <a:cs typeface="Arial Unicode MS"/>
              </a:rPr>
              <a:t>18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c3b261c2a84a2a"/>
          <a:stretch xmlns:a="http://schemas.openxmlformats.org/drawingml/2006/main"/>
        </p:blipFill>
        <p:spPr>
          <a:xfrm xmlns:a="http://schemas.openxmlformats.org/drawingml/2006/main">
            <a:off x="1857375" y="1428750"/>
            <a:ext cx="8477250" cy="42386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36E89B-16D3-4BF1-82EF-528CA8A70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76925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17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17D"/>
                </a:solidFill>
                <a:latin typeface="Arial Unicode MS"/>
                <a:ea typeface="Arial Unicode MS"/>
                <a:cs typeface="Arial Unicode MS"/>
              </a:rPr>
              <a:t>ชุด Claims Volumes and Amounts ให้ Test RMSE 0.0239 ส่วน Full Governed Set เพิ่มเป็น 0.0628 แสดงว่าการเพิ่ม feature ไม่ได้ช่วยเสมอไป</a:t>
            </a:r>
          </a:p>
        </p:txBody>
      </p:sp>
    </p:spTree>
    <p:extLst>
      <p:ext uri="{BB962C8B-B14F-4D97-AF65-F5344CB8AC3E}">
        <p14:creationId xmlns:p14="http://schemas.microsoft.com/office/powerpoint/2010/main" val="18549295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177129-7B92-4FF6-B234-9D8206382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63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0F3F6D-9375-4ACC-9CDF-E4BDA9DCC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64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2E6487"/>
                </a:solidFill>
                <a:latin typeface="Arial Unicode MS"/>
                <a:ea typeface="Arial Unicode MS"/>
                <a:cs typeface="Arial Unicode MS"/>
              </a:rPr>
              <a:t>FORECASTING ERROR ANALYSIS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AB4446-6CF3-4C6F-9BB7-68C5E5208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28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2283A"/>
                </a:solidFill>
                <a:latin typeface="Arial Unicode MS"/>
                <a:ea typeface="Arial Unicode MS"/>
                <a:cs typeface="Arial Unicode MS"/>
              </a:rPr>
              <a:t>ค่าจริงเทียบค่าพยากรณ์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37F6C7-D733-4C82-A279-6567B1352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5F90FC-FEC7-4A52-BFE1-51ADD074E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17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62717D"/>
                </a:solidFill>
                <a:latin typeface="Arial Unicode MS"/>
                <a:ea typeface="Arial Unicode MS"/>
                <a:cs typeface="Arial Unicode MS"/>
              </a:rPr>
              <a:t>19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8860b82797448e"/>
          <a:stretch xmlns:a="http://schemas.openxmlformats.org/drawingml/2006/main"/>
        </p:blipFill>
        <p:spPr>
          <a:xfrm xmlns:a="http://schemas.openxmlformats.org/drawingml/2006/main">
            <a:off x="3623469" y="1428750"/>
            <a:ext cx="4945063" cy="42386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705B93-4C85-4B9B-BCC5-955308511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76925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17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17D"/>
                </a:solidFill>
                <a:latin typeface="Arial Unicode MS"/>
                <a:ea typeface="Arial Unicode MS"/>
                <a:cs typeface="Arial Unicode MS"/>
              </a:rPr>
              <a:t>ตรวจจุดที่เบี่ยงจากเส้นทแยงเพื่อค้นหาบริษัทและปีที่โมเดลพลาดมาก โดยเฉพาะช่วงที่ข้อมูลเปลี่ยนจาก COVID-19</a:t>
            </a:r>
          </a:p>
        </p:txBody>
      </p:sp>
    </p:spTree>
    <p:extLst>
      <p:ext uri="{BB962C8B-B14F-4D97-AF65-F5344CB8AC3E}">
        <p14:creationId xmlns:p14="http://schemas.microsoft.com/office/powerpoint/2010/main" val="208951407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9836AB-27C2-4C8E-8C1A-DEF2D5482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63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180F72-182C-4566-8915-D9113DB96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64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2E6487"/>
                </a:solidFill>
                <a:latin typeface="Arial Unicode MS"/>
                <a:ea typeface="Arial Unicode MS"/>
                <a:cs typeface="Arial Unicode MS"/>
              </a:rPr>
              <a:t>EXPLAINABILITY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18DD3C-47BD-4D91-8786-31079AB96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28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2283A"/>
                </a:solidFill>
                <a:latin typeface="Arial Unicode MS"/>
                <a:ea typeface="Arial Unicode MS"/>
                <a:cs typeface="Arial Unicode MS"/>
              </a:rPr>
              <a:t>ความสำคัญของตัวแปร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2B310F-085D-49E6-A24E-334FA295C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783EF0-4C79-40BE-84D3-FEFCEFC83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17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62717D"/>
                </a:solidFill>
                <a:latin typeface="Arial Unicode MS"/>
                <a:ea typeface="Arial Unicode MS"/>
                <a:cs typeface="Arial Unicode MS"/>
              </a:rPr>
              <a:t>20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3341dc943f4dbd"/>
          <a:stretch xmlns:a="http://schemas.openxmlformats.org/drawingml/2006/main"/>
        </p:blipFill>
        <p:spPr>
          <a:xfrm xmlns:a="http://schemas.openxmlformats.org/drawingml/2006/main">
            <a:off x="2917031" y="1428750"/>
            <a:ext cx="6357938" cy="42386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867521-4CDB-4AF5-871D-5C3E69939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76925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17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17D"/>
                </a:solidFill>
                <a:latin typeface="Arial Unicode MS"/>
                <a:ea typeface="Arial Unicode MS"/>
                <a:cs typeface="Arial Unicode MS"/>
              </a:rPr>
              <a:t>claims_paid_ratio_no ของปีก่อนหน้าเป็นตัวแปรสำคัญที่สุด รองลงมาคือจำนวนและมูลค่า claims intimated</a:t>
            </a:r>
          </a:p>
        </p:txBody>
      </p:sp>
    </p:spTree>
    <p:extLst>
      <p:ext uri="{BB962C8B-B14F-4D97-AF65-F5344CB8AC3E}">
        <p14:creationId xmlns:p14="http://schemas.microsoft.com/office/powerpoint/2010/main" val="13180668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6ABD5D-0D21-47A4-BA23-4359F2F4C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63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50C85D-D300-45F9-BFDE-8E8601AC1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64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2E6487"/>
                </a:solidFill>
                <a:latin typeface="Arial Unicode MS"/>
                <a:ea typeface="Arial Unicode MS"/>
                <a:cs typeface="Arial Unicode MS"/>
              </a:rPr>
              <a:t>FAIRNESS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58FE99-B459-4CBD-8B4A-3829B8A83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28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2283A"/>
                </a:solidFill>
                <a:latin typeface="Arial Unicode MS"/>
                <a:ea typeface="Arial Unicode MS"/>
                <a:cs typeface="Arial Unicode MS"/>
              </a:rPr>
              <a:t>Fairness Audit ระหว่างภาครัฐและเอกชน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D6ABAD-D038-4892-B068-7898EC07F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9F4643-2D69-448A-BAC2-1892785E5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17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62717D"/>
                </a:solidFill>
                <a:latin typeface="Arial Unicode MS"/>
                <a:ea typeface="Arial Unicode MS"/>
                <a:cs typeface="Arial Unicode MS"/>
              </a:rPr>
              <a:t>21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19125" y="1857375"/>
          <a:ext xmlns:a="http://schemas.openxmlformats.org/drawingml/2006/main" cx="10953750" cy="209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952500"/>
                <a:gridCol w="1905000"/>
                <a:gridCol w="2000250"/>
                <a:gridCol w="1524000"/>
                <a:gridCol w="2000250"/>
              </a:tblGrid>
              <a:tr h="698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กลุ่ม</a:t>
                      </a:r>
                    </a:p>
                  </a:txBody>
                  <a:tcPr marL="91440" marR="91440" marT="45720" marB="45720">
                    <a:solidFill>
                      <a:srgbClr val="12283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N</a:t>
                      </a:r>
                    </a:p>
                  </a:txBody>
                  <a:tcPr marL="91440" marR="91440" marT="45720" marB="45720">
                    <a:solidFill>
                      <a:srgbClr val="12283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Actual mean</a:t>
                      </a:r>
                    </a:p>
                  </a:txBody>
                  <a:tcPr marL="91440" marR="91440" marT="45720" marB="45720">
                    <a:solidFill>
                      <a:srgbClr val="12283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Predicted mean</a:t>
                      </a:r>
                    </a:p>
                  </a:txBody>
                  <a:tcPr marL="91440" marR="91440" marT="45720" marB="45720">
                    <a:solidFill>
                      <a:srgbClr val="12283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RMSE</a:t>
                      </a:r>
                    </a:p>
                  </a:txBody>
                  <a:tcPr marL="91440" marR="91440" marT="45720" marB="45720">
                    <a:solidFill>
                      <a:srgbClr val="12283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Mean bias</a:t>
                      </a:r>
                    </a:p>
                  </a:txBody>
                  <a:tcPr marL="91440" marR="91440" marT="45720" marB="45720">
                    <a:solidFill>
                      <a:srgbClr val="12283A"/>
                    </a:solidFill>
                  </a:tcPr>
                </a:tc>
              </a:tr>
              <a:tr h="698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C2B3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Private Sector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C2B3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C2B3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0.9469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C2B3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0.9548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C2B3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0.0559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C2B3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-0.0079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8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C2B3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Public Sector (LIC)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C2B3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C2B3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0.9708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C2B3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0.9532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C2B3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0.0176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C2B3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0.0176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B63359-F460-4731-B63D-D435F6366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76925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17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17D"/>
                </a:solidFill>
                <a:latin typeface="Arial Unicode MS"/>
                <a:ea typeface="Arial Unicode MS"/>
                <a:cs typeface="Arial Unicode MS"/>
              </a:rPr>
              <a:t>กลุ่ม LIC มีเพียงหนึ่งตัวอย่างใน test set จึงยังสรุป fairness เชิงประชากรไม่ได้ ต้องสะสมข้อมูลหลายปีและรายงานช่วงความไม่แน่นอน</a:t>
            </a:r>
          </a:p>
        </p:txBody>
      </p:sp>
    </p:spTree>
    <p:extLst>
      <p:ext uri="{BB962C8B-B14F-4D97-AF65-F5344CB8AC3E}">
        <p14:creationId xmlns:p14="http://schemas.microsoft.com/office/powerpoint/2010/main" val="207626009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F85E25-54E1-4F62-9D21-CF2912C48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63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1CA778-B08A-43B4-BAC6-E8FC206B3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64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2E6487"/>
                </a:solidFill>
                <a:latin typeface="Arial Unicode MS"/>
                <a:ea typeface="Arial Unicode MS"/>
                <a:cs typeface="Arial Unicode MS"/>
              </a:rPr>
              <a:t>DECISION AND MAINTENANCE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B52F45-C648-4841-BD9F-B8F5ACF44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28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2283A"/>
                </a:solidFill>
                <a:latin typeface="Arial Unicode MS"/>
                <a:ea typeface="Arial Unicode MS"/>
                <a:cs typeface="Arial Unicode MS"/>
              </a:rPr>
              <a:t>Monitoring, Deployment และข้อเสนอแนะ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911168-58F4-4C0D-BBA6-44E9722C8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E377DB-28CB-449C-ADBD-4D8D7248D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17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62717D"/>
                </a:solidFill>
                <a:latin typeface="Arial Unicode MS"/>
                <a:ea typeface="Arial Unicode MS"/>
                <a:cs typeface="Arial Unicode MS"/>
              </a:rPr>
              <a:t>22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66750" y="1476375"/>
          <a:ext xmlns:a="http://schemas.openxmlformats.org/drawingml/2006/main" cx="69532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1373ed1377d4f7b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ACF5A3-2ACB-4B6A-AB09-0E9CC99B3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668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E64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2E6487"/>
                </a:solidFill>
                <a:latin typeface="Arial Unicode MS"/>
                <a:ea typeface="Arial Unicode MS"/>
                <a:cs typeface="Arial Unicode MS"/>
              </a:rPr>
              <a:t>สถานะใช้งาน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7B21D7-030F-434F-AC89-86BB72A9D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95500"/>
            <a:ext cx="28575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C2B3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C2B36"/>
                </a:solidFill>
                <a:latin typeface="Arial Unicode MS"/>
                <a:ea typeface="Arial Unicode MS"/>
                <a:cs typeface="Arial Unicode MS"/>
              </a:rPr>
              <a:t>Champion</a:t>
            </a:r>
          </a:p>
          <a:p xmlns:a="http://schemas.openxmlformats.org/drawingml/2006/main">
            <a:pPr algn="l">
              <a:defRPr sz="1575" b="1">
                <a:solidFill>
                  <a:srgbClr val="1C2B3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C2B36"/>
                </a:solidFill>
                <a:latin typeface="Arial Unicode MS"/>
                <a:ea typeface="Arial Unicode MS"/>
                <a:cs typeface="Arial Unicode MS"/>
              </a:rPr>
              <a:t>Persistence baseline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1">
                <a:solidFill>
                  <a:srgbClr val="1C2B3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C2B36"/>
                </a:solidFill>
                <a:latin typeface="Arial Unicode MS"/>
                <a:ea typeface="Arial Unicode MS"/>
                <a:cs typeface="Arial Unicode MS"/>
              </a:rPr>
              <a:t>ML challenger</a:t>
            </a:r>
          </a:p>
          <a:p xmlns:a="http://schemas.openxmlformats.org/drawingml/2006/main">
            <a:pPr algn="l">
              <a:defRPr sz="1575" b="1">
                <a:solidFill>
                  <a:srgbClr val="1C2B3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C2B36"/>
                </a:solidFill>
                <a:latin typeface="Arial Unicode MS"/>
                <a:ea typeface="Arial Unicode MS"/>
                <a:cs typeface="Arial Unicode MS"/>
              </a:rPr>
              <a:t>Gradient Boosting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1">
                <a:solidFill>
                  <a:srgbClr val="1C2B3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C2B36"/>
                </a:solidFill>
                <a:latin typeface="Arial Unicode MS"/>
                <a:ea typeface="Arial Unicode MS"/>
                <a:cs typeface="Arial Unicode MS"/>
              </a:rPr>
              <a:t>Latency</a:t>
            </a:r>
          </a:p>
          <a:p xmlns:a="http://schemas.openxmlformats.org/drawingml/2006/main">
            <a:pPr algn="l">
              <a:defRPr sz="1575" b="1">
                <a:solidFill>
                  <a:srgbClr val="1C2B3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C2B36"/>
                </a:solidFill>
                <a:latin typeface="Arial Unicode MS"/>
                <a:ea typeface="Arial Unicode MS"/>
                <a:cs typeface="Arial Unicode MS"/>
              </a:rPr>
              <a:t>1.44 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96630A-ED50-41BB-85E4-2DB170D03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76925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17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17D"/>
                </a:solidFill>
                <a:latin typeface="Arial Unicode MS"/>
                <a:ea typeface="Arial Unicode MS"/>
                <a:cs typeface="Arial Unicode MS"/>
              </a:rPr>
              <a:t>PSI ของ claims intimated ทั้งจำนวนและมูลค่าสูงกว่า 0.25 จึงควรทบทวนข้อมูลทุกปี ส่วน cluster distribution PSI เท่ากับ 0.0012</a:t>
            </a:r>
          </a:p>
        </p:txBody>
      </p:sp>
    </p:spTree>
    <p:extLst>
      <p:ext uri="{BB962C8B-B14F-4D97-AF65-F5344CB8AC3E}">
        <p14:creationId xmlns:p14="http://schemas.microsoft.com/office/powerpoint/2010/main" val="18496435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2026-09-24T06:57:55.0100000Z</dcterms:created>
  <dcterms:modified xsi:type="dcterms:W3CDTF">2026-09-24T06:57:55.0100000Z</dcterms:modified>
</coreProperties>
</file>