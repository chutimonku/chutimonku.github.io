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9" r:id="rId13"/>
    <p:sldId id="295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1" r:id="rId35"/>
    <p:sldId id="292" r:id="rId36"/>
  </p:sldIdLst>
  <p:sldSz cx="12192000" cy="6858000"/>
  <p:notesSz cx="6858000" cy="9144000"/>
  <p:defaultTextStyle>
    <a:defPPr>
      <a:defRPr lang="en-T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3B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31"/>
  </p:normalViewPr>
  <p:slideViewPr>
    <p:cSldViewPr snapToGrid="0">
      <p:cViewPr>
        <p:scale>
          <a:sx n="95" d="100"/>
          <a:sy n="95" d="100"/>
        </p:scale>
        <p:origin x="1240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งานนี้มี Workflow ต้นฉบับและ Workflow กลางที่ปรับปรุงแล้ว ส่วน CLI1 และ CLI2 เป็นการนำ Workflow กลางไปใช้กับโครงการเดียวกัน ไม่ใช่ Workflow คนละเวอร์ชัน ความต่างเกิดจากการทำให้ agy_workflow โค้ด หลักฐาน และ Dashboard สอดคล้องกันมากขึ้นใน CLI2</a:t>
            </a:r>
          </a:p>
          <a:p>
            <a:endParaRPr/>
          </a:p>
          <a:p>
            <a:r>
              <a:t>แหล่งข้อมูล:</a:t>
            </a:r>
          </a:p>
          <a:p>
            <a:r>
              <a:t>Mooc_CLI_Ori/Workflow.md</a:t>
            </a:r>
          </a:p>
          <a:p>
            <a:r>
              <a:t>Mooc_CLI_1/Workflow.md</a:t>
            </a:r>
          </a:p>
          <a:p>
            <a:r>
              <a:t>Mooc_CLI_2/Workflow.md</a:t>
            </a:r>
          </a:p>
          <a:p>
            <a:r>
              <a:t>Mooc_CLI_1/agy_workflow.md</a:t>
            </a:r>
          </a:p>
          <a:p>
            <a:r>
              <a:t>Mooc_CLI_2/agy_workflow.md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ให้แยกคำสามคำออกจากกัน Workflow ต้นฉบับคือข้อกำหนด 10 ขั้น Workflow กลางคือกระบวนการ 11 ขั้นที่ใช้ได้หลายโจทย์ และ agy_workflow คือข้อกำหนดเฉพาะ Student Segmentation ส่วน CLI1 กับ CLI2 เป็นผลการนำกระบวนการเดียวกันไปใช้สองรอบ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สไลด์นี้ตอบคำถามว่าทำไมต้องแก้ Steps 1 ถึง 4 จุดสำคัญคือเพิ่มหน่วยวิเคราะห์และการตรวจ provenance แยก Cleaning ออกมา และป้องกัน outcome leakage ก่อนเริ่มวิเคราะห์</a:t>
            </a:r>
          </a:p>
          <a:p>
            <a:endParaRPr/>
          </a:p>
          <a:p>
            <a:r>
              <a:t>แหล่งข้อมูล:</a:t>
            </a:r>
          </a:p>
          <a:p>
            <a:r>
              <a:t>Precision_Student_Segmentation_Blueprint.pdf หน้า 4–7</a:t>
            </a:r>
          </a:p>
          <a:p>
            <a:r>
              <a:t>data/processed/data_provenance.json</a:t>
            </a:r>
          </a:p>
          <a:p>
            <a:r>
              <a:t>data/processed/cleaning_audit.json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สไลด์นี้ตอบคำถามว่าทำไมต้องแก้ Steps 1 ถึง 4 จุดสำคัญคือเพิ่มหน่วยวิเคราะห์และการตรวจ provenance แยก Cleaning ออกมา และป้องกัน outcome leakage ก่อนเริ่มวิเคราะห์</a:t>
            </a:r>
          </a:p>
          <a:p>
            <a:endParaRPr/>
          </a:p>
          <a:p>
            <a:r>
              <a:t>แหล่งข้อมูล:</a:t>
            </a:r>
          </a:p>
          <a:p>
            <a:r>
              <a:t>Precision_Student_Segmentation_Blueprint.pdf หน้า 4–7</a:t>
            </a:r>
          </a:p>
          <a:p>
            <a:r>
              <a:t>data/processed/data_provenance.json</a:t>
            </a:r>
          </a:p>
          <a:p>
            <a:r>
              <a:t>data/processed/cleaning_audit.json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เน้นว่างานต้นฉบับมีทิศทางที่ดี แต่ยังขาดขั้นตอนและกฎตัดสินใจที่จำเป็นต่อการใช้งานจริง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สไลด์นี้ตอบคำถามว่าทำไมต้องแก้ Steps 1 ถึง 4 จุดสำคัญคือเพิ่มหน่วยวิเคราะห์และการตรวจ provenance แยก Cleaning ออกมา และป้องกัน outcome leakage ก่อนเริ่มวิเคราะห์</a:t>
            </a:r>
          </a:p>
          <a:p>
            <a:endParaRPr/>
          </a:p>
          <a:p>
            <a:r>
              <a:t>แหล่งข้อมูล:</a:t>
            </a:r>
          </a:p>
          <a:p>
            <a:r>
              <a:t>Precision_Student_Segmentation_Blueprint.pdf หน้า 4–7</a:t>
            </a:r>
          </a:p>
          <a:p>
            <a:r>
              <a:t>data/processed/data_provenance.json</a:t>
            </a:r>
          </a:p>
          <a:p>
            <a:r>
              <a:t>data/processed/cleaning_audit.json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ส่วนนี้แก้ความไม่ตรงระหว่าง classification กับ segmentation และสร้าง Model Optimization Cycle ที่ชัดเจน ผลคือเปรียบเทียบ 29 configurations จาก 6 families แล้วล็อก K-Means k เท่ากับ 4 จากหลักฐานภายในเท่านั้น</a:t>
            </a:r>
          </a:p>
          <a:p>
            <a:endParaRPr/>
          </a:p>
          <a:p>
            <a:r>
              <a:t>แหล่งข้อมูล:</a:t>
            </a:r>
          </a:p>
          <a:p>
            <a:r>
              <a:t>Precision_Student_Segmentation_Blueprint.pdf หน้า 7–10</a:t>
            </a:r>
          </a:p>
          <a:p>
            <a:r>
              <a:t>outputs/research/model_selection_rationale.md</a:t>
            </a:r>
          </a:p>
          <a:p>
            <a:r>
              <a:t>outputs/tables/model_comparison.csv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Workflow ต้นฉบับไม่มีขั้น Deployment จึงเพิ่ม Model Deployment เป็น Step 9 ส่วน Revise and adjust ถูกเปลี่ยนเป็นวงจร Model Optimization ใน Steps 5–8 แล้ว การแยกสองส่วนนี้ทำให้ลำดับงานไม่ขัดกัน และช่วยให้ใช้ preprocessing กับโมเดลเดียวกันกับข้อมูลใหม่ได้</a:t>
            </a:r>
          </a:p>
          <a:p>
            <a:endParaRPr/>
          </a:p>
          <a:p>
            <a:r>
              <a:t>แหล่งข้อมูล:</a:t>
            </a:r>
          </a:p>
          <a:p>
            <a:r>
              <a:t>Workflow.md</a:t>
            </a:r>
          </a:p>
          <a:p>
            <a:r>
              <a:t>agy_workflow.md</a:t>
            </a:r>
          </a:p>
          <a:p>
            <a:r>
              <a:t>models/final/model_card.md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จุดต่างจาก Workflow เดิมคือการมองกระบวนการเป็นวงจร Steps 5 ถึง 8 ทำซ้ำเพื่อปรับโมเดล และ Monitoring สามารถพากลับไปเก็บข้อมูลใหม่ที่ Step 2</a:t>
            </a:r>
          </a:p>
          <a:p>
            <a:endParaRPr/>
          </a:p>
          <a:p>
            <a:r>
              <a:t>แหล่งข้อมูล:</a:t>
            </a:r>
          </a:p>
          <a:p>
            <a:r>
              <a:t>Workflow.md</a:t>
            </a:r>
          </a:p>
          <a:p>
            <a:r>
              <a:t>agy_workflow.md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agy_workflow ไม่ใช่ Workflow กลางฉบับใหม่ แต่เป็นการแปลง 11 ขั้นให้เป็นสัญญาการทำงานของ Student Segmentation โดยระบุหนึ่งแถวต่อนักศึกษา Outcome Quarantine วิธีประเมิน clustering การล็อกโมเดล และไฟล์ผลลัพธ์เฉพาะโครงการ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การตรวจ CLI1 พบปัญหาเชิงการปฏิบัติ ได้แก่กฎวันที่ไม่ถูกใช้ครบตอน aggregate การเลือกผู้ชนะก่อน pre-lock review การตรวจ deployment และ monitoring ไม่ครบ และ Dashboard อธิบายการเลือกโมเดลกับกลุ่มย่อยได้ไม่ชัด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CLI2 แก้ทั้งข้อมูล การเลือกโมเดล Deployment Monitoring การทำซ้ำ และ Dashboard การปรับ Dashboard ไม่ใช่เพียงเปลี่ยนสี แต่ทำให้ค่ามาจาก artifacts ล่าสุด ตารางอ่านได้ เมนูค้างขณะเลื่อนและซ่อนได้บนจอเล็ก และ Scenario Explorer สร้างค่าที่สอดคล้องกับ preprocessing มากขึ้น</a:t>
            </a:r>
          </a:p>
          <a:p>
            <a:endParaRPr/>
          </a:p>
          <a:p>
            <a:r>
              <a:t>แหล่งข้อมูล:</a:t>
            </a:r>
          </a:p>
          <a:p>
            <a:r>
              <a:t>Mooc_CLI_2/CHANGELOG.md</a:t>
            </a:r>
          </a:p>
          <a:p>
            <a:r>
              <a:t>Mooc_CLI_2/src/generate_report.py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B3DEA-F8E8-3EA8-F468-4D262B2CA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38F4D7-B900-9696-877E-7A9EF8E56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DB363B-1AF1-F87C-C0C1-1955788C62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CLI2 แก้ทั้งข้อมูล การเลือกโมเดล Deployment Monitoring การทำซ้ำ และ Dashboard การปรับ Dashboard ไม่ใช่เพียงเปลี่ยนสี แต่ทำให้ค่ามาจาก artifacts ล่าสุด ตารางอ่านได้ เมนูค้างขณะเลื่อนและซ่อนได้บนจอเล็ก และ Scenario Explorer สร้างค่าที่สอดคล้องกับ preprocessing มากขึ้น</a:t>
            </a:r>
          </a:p>
          <a:p>
            <a:endParaRPr/>
          </a:p>
          <a:p>
            <a:r>
              <a:t>แหล่งข้อมูล:</a:t>
            </a:r>
          </a:p>
          <a:p>
            <a:r>
              <a:t>Mooc_CLI_2/CHANGELOG.md</a:t>
            </a:r>
          </a:p>
          <a:p>
            <a:r>
              <a:t>Mooc_CLI_2/src/generate_report.py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ACD35-C261-BE45-DF34-7B53B75028F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144303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ประโยคสำคัญสำหรับพูดคือ CLI1 และ CLI2 ไม่ใช่ Workflow คนละแบบ ทั้งสองใช้โครง 11 ขั้นเดียวกัน ความต่างคือ CLI2 ปรับ agy_workflow ให้ลดความกำกวม และแก้ code, evidence และ Dashboard ให้ทำงานตรงกับข้อกำหนดมากขึ้น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หากเวลานำเสนอน้อย สามารถใช้สไลด์ส่วนนี้เป็นจุดเปลี่ยนและเลือกเล่าเฉพาะผลสำคัญหลังจากนี้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เริ่มด้วยภาพรวมของข้อมูลและผลลัพธ์สำคัญ งานนี้เป็น unsupervised learning จึงไม่มี target label สำหรับฝึกและไม่ใช้ accuracy เป็นเกณฑ์หลัก</a:t>
            </a:r>
          </a:p>
          <a:p>
            <a:endParaRPr/>
          </a:p>
          <a:p>
            <a:r>
              <a:t>แหล่งข้อมูล:</a:t>
            </a:r>
          </a:p>
          <a:p>
            <a:r>
              <a:t>data/processed/data_provenance.json</a:t>
            </a:r>
          </a:p>
          <a:p>
            <a:r>
              <a:t>models/final/model_lock.json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Problem Definition ที่ชัดช่วยให้ทุกขั้นไปในทิศทางเดียวกัน เกณฑ์ความสำเร็จของ clustering ต้องดูหลายมิติและไม่มี accuracy เพราะไม่มี true cluster label</a:t>
            </a:r>
          </a:p>
          <a:p>
            <a:endParaRPr/>
          </a:p>
          <a:p>
            <a:r>
              <a:t>แหล่งข้อมูล:</a:t>
            </a:r>
          </a:p>
          <a:p>
            <a:r>
              <a:t>data/processed/problem_definition.json</a:t>
            </a:r>
          </a:p>
          <a:p>
            <a:r>
              <a:t>agy_workflow.md Step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ตัวเลขประมาณ 500,000 จากหน้า dataset เป็นเพียงข้อมูลตั้งต้น เมื่อตรวจไฟล์จริงพบ 416,921 records และ 335,650 นักศึกษา การลดจำนวนแถวเกิดจาก aggregation ไม่ใช่การลบนักศึกษา</a:t>
            </a:r>
          </a:p>
          <a:p>
            <a:endParaRPr/>
          </a:p>
          <a:p>
            <a:r>
              <a:t>แหล่งข้อมูล:</a:t>
            </a:r>
          </a:p>
          <a:p>
            <a:r>
              <a:t>data/processed/data_provenance.json</a:t>
            </a:r>
          </a:p>
          <a:p>
            <a:r>
              <a:t>data/processed/cleaning_audit.json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Outcome quarantine เป็น guardrail สำคัญ ผลลัพธ์การเรียนไม่เกี่ยวข้องกับการสุ่มตัวอย่าง การสร้าง feature การเลือกโมเดล การ tune หรือการเลือกจำนวนกลุ่ม เมื่อโมเดลถูกล็อกแล้วจึงตรวจความแตกต่างของ outcome ระหว่างกลุ่ม</a:t>
            </a:r>
          </a:p>
          <a:p>
            <a:endParaRPr/>
          </a:p>
          <a:p>
            <a:r>
              <a:t>แหล่งข้อมูล:</a:t>
            </a:r>
          </a:p>
          <a:p>
            <a:r>
              <a:t>data/quarantine/quarantine_manifest.json</a:t>
            </a:r>
          </a:p>
          <a:p>
            <a:r>
              <a:t>models/final/model_lock.json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กฎ cleaning ต้องสอดคล้องกับสิ่งที่โค้ดใช้จริง ประเด็นสำคัญคือวันที่กลับด้านจะไม่ถูกบังคับเป็น span เท่ากับศูนย์ การ aggregate ยังรักษาจำนวนนักศึกษาครบ 335,650 คน</a:t>
            </a:r>
          </a:p>
          <a:p>
            <a:endParaRPr/>
          </a:p>
          <a:p>
            <a:r>
              <a:t>แหล่งข้อมูล:</a:t>
            </a:r>
          </a:p>
          <a:p>
            <a:r>
              <a:t>data/processed/cleaning_rules.json</a:t>
            </a:r>
          </a:p>
          <a:p>
            <a:r>
              <a:t>data/processed/cleaning_audit.json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EDA ใช้นักศึกษาทั้งหมด 335,650 คน จึงไม่ต้องอธิบาย sampling ในขั้นนี้ ผลตรวจใช้กำหนดวิธี transform และ feature set โดยยังไม่ดู outcome</a:t>
            </a:r>
          </a:p>
          <a:p>
            <a:endParaRPr/>
          </a:p>
          <a:p>
            <a:r>
              <a:t>แหล่งข้อมูล:</a:t>
            </a:r>
          </a:p>
          <a:p>
            <a:r>
              <a:t>data/processed/sampling_report.json</a:t>
            </a:r>
          </a:p>
          <a:p>
            <a:r>
              <a:t>outputs/figures/eda/missingness_and_sparsity.png</a:t>
            </a:r>
          </a:p>
          <a:p>
            <a:r>
              <a:t>outputs/figures/eda/behavioral_distributions.png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Features ทุกตัวมาจากพฤติกรรมและไม่มี outcome ข้อมูล video มี missing สูง จึงไม่นำเข้าชุดหลัก แต่ทดสอบแยกเพื่อดู sensitivity ผล core feature set ให้คุณภาพดีกว่า</a:t>
            </a:r>
          </a:p>
          <a:p>
            <a:endParaRPr/>
          </a:p>
          <a:p>
            <a:r>
              <a:t>แหล่งข้อมูล:</a:t>
            </a:r>
          </a:p>
          <a:p>
            <a:r>
              <a:t>data/processed/feature_definitions.csv</a:t>
            </a:r>
          </a:p>
          <a:p>
            <a:r>
              <a:t>outputs/tables/feature_engineering_comparison.csv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การเลือกโมเดลอ้างอิงทั้งงานวิจัยและคุณสมบัติข้อมูล ไม่ได้นับ MiniBatch K-Means เป็น family ใหม่ เพราะเป็น scalability variant ของ centroid family จำนวน k มาจาก probe ของข้อมูลจริง</a:t>
            </a:r>
          </a:p>
          <a:p>
            <a:endParaRPr/>
          </a:p>
          <a:p>
            <a:r>
              <a:t>แหล่งข้อมูล:</a:t>
            </a:r>
          </a:p>
          <a:p>
            <a:r>
              <a:t>outputs/research/literature_review.md</a:t>
            </a:r>
          </a:p>
          <a:p>
            <a:r>
              <a:t>outputs/research/model_selection_rationale.md</a:t>
            </a:r>
          </a:p>
          <a:p>
            <a:r>
              <a:t>outputs/tables/candidate_models.csv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EDA ใช้ข้อมูลทั้งหมด ส่วน training และ evaluation ใช้ sample ที่แยกจากกันเพื่อควบคุม memory และให้การเปรียบเทียบเป็นธรรม หลังเลือกโมเดลแล้วจึง fit ใหม่กับประชากรทั้งหมด</a:t>
            </a:r>
          </a:p>
          <a:p>
            <a:endParaRPr/>
          </a:p>
          <a:p>
            <a:r>
              <a:t>แหล่งข้อมูล:</a:t>
            </a:r>
          </a:p>
          <a:p>
            <a:r>
              <a:t>outputs/reproducibility/training_config.json</a:t>
            </a:r>
          </a:p>
          <a:p>
            <a:r>
              <a:t>data/processed/sampling_report.json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เริ่มจากทดลองจำนวนกลุ่ม 2 ถึง 13 แล้วคัดจำนวนกลุ่ม 4, 5, 6 และ 12 ไปทดลองต่อ รวมทั้งหมด 29 configurations จาก 6 model families จากนั้นจัดอันดับด้วย Silhouette, Davies–Bouldin, Calinski–Harabasz และ Resample ARI โดยให้น้ำหนักเท่ากัน K-Means k=4 ได้ mean internal rank 3.00 ดีที่สุด จึงเลือกเป็นโมเดลสุดท้าย</a:t>
            </a:r>
          </a:p>
          <a:p>
            <a:endParaRPr/>
          </a:p>
          <a:p>
            <a:r>
              <a:t>แหล่งข้อมูล:</a:t>
            </a:r>
          </a:p>
          <a:p>
            <a:r>
              <a:t>outputs/tables/k_probe_results.csv</a:t>
            </a:r>
          </a:p>
          <a:p>
            <a:r>
              <a:t>outputs/tables/model_tuning_results.csv</a:t>
            </a:r>
          </a:p>
          <a:p>
            <a:r>
              <a:t>outputs/reproducibility/provisional_selection.json</a:t>
            </a:r>
          </a:p>
          <a:p>
            <a:r>
              <a:t>models/final/model_lock.json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อธิบาย metric ด้วยภาษาง่ายก่อนพูดตัวเลข Silhouette, Davies–Bouldin และ Calinski–Harabasz วัดโครงสร้างของกลุ่ม ส่วน Resample ARI วัดความคงที่เมื่อทดลองซ้ำ Mean internal rank คืออันดับรวมของสี่คะแนนแรก คะแนนคำนวณบน evaluation sample 5,792 คน ส่วนโมเดลสุดท้าย fit กับนักศึกษาทั้งหมด 335,650 คน</a:t>
            </a:r>
          </a:p>
          <a:p>
            <a:endParaRPr/>
          </a:p>
          <a:p>
            <a:r>
              <a:t>แหล่งข้อมูล:</a:t>
            </a:r>
          </a:p>
          <a:p>
            <a:r>
              <a:t>outputs/tables/model_comparison.csv</a:t>
            </a:r>
          </a:p>
          <a:p>
            <a:r>
              <a:t>models/final/model_lock.json</a:t>
            </a:r>
          </a:p>
          <a:p>
            <a:r>
              <a:t>data/processed/sampling_report.json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ตารางนี้เลือก configuration ที่เป็นตัวแทนของแต่ละ family เพื่อให้เห็นความหลากหลายจริง GMM มี Silhouette สูงกว่าเล็กน้อย แต่กฎเลือกไม่ได้ดู metric เดียว K-Means ให้สมดุลที่ดีที่สุดจาก Silhouette, DB, CH และ stability</a:t>
            </a:r>
          </a:p>
          <a:p>
            <a:endParaRPr/>
          </a:p>
          <a:p>
            <a:r>
              <a:t>แหล่งข้อมูล:</a:t>
            </a:r>
          </a:p>
          <a:p>
            <a:r>
              <a:t>outputs/tables/model_comparison.csv</a:t>
            </a:r>
          </a:p>
          <a:p>
            <a:r>
              <a:t>outputs/reproducibility/provisional_selection.json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ใช้ชื่อ Cluster 0 ถึง 3 และคำอธิบายที่เป็นกลาง ไม่ตั้ง persona ที่อาจตีตรา Cluster 3 มีเพียง 1.56 เปอร์เซ็นต์ จึงต้องติดตามความเสถียรใน cohort ใหม่</a:t>
            </a:r>
          </a:p>
          <a:p>
            <a:endParaRPr/>
          </a:p>
          <a:p>
            <a:r>
              <a:t>แหล่งข้อมูล:</a:t>
            </a:r>
          </a:p>
          <a:p>
            <a:r>
              <a:t>outputs/tables/cluster_profiles.csv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ภาพ projection ช่วยให้เห็นการกระจาย แต่ไม่ใช่พื้นที่ feature เต็มทั้งหมด Error analysis พบ Cluster 1 มีสมาชิกบางส่วนใกล้กลุ่มอื่น จึงต้องใช้ผลระดับกลุ่มและหลีกเลี่ยงการตัดสินรายบุคคล</a:t>
            </a:r>
          </a:p>
          <a:p>
            <a:endParaRPr/>
          </a:p>
          <a:p>
            <a:r>
              <a:t>แหล่งข้อมูล:</a:t>
            </a:r>
          </a:p>
          <a:p>
            <a:r>
              <a:t>outputs/figures/evaluation/cluster_projection.png</a:t>
            </a:r>
          </a:p>
          <a:p>
            <a:r>
              <a:t>outputs/tables/model_diagnostics.csv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หลังล็อกโมเดลแล้ว outcome แสดงความแตกต่างระหว่างกลุ่ม แต่ผลนี้ไม่ได้พิสูจน์เหตุและผล การตรวจ permutation importance, ablation และ fairness ช่วยอธิบายความไวของกลุ่มและความเสี่ยงในการนำไปใช้</a:t>
            </a:r>
          </a:p>
          <a:p>
            <a:endParaRPr/>
          </a:p>
          <a:p>
            <a:r>
              <a:t>แหล่งข้อมูล:</a:t>
            </a:r>
          </a:p>
          <a:p>
            <a:r>
              <a:t>outputs/tables/posthoc_validation.csv</a:t>
            </a:r>
          </a:p>
          <a:p>
            <a:r>
              <a:t>outputs/tables/feature_importance.csv</a:t>
            </a:r>
          </a:p>
          <a:p>
            <a:r>
              <a:t>outputs/tables/feature_group_ablation.csv</a:t>
            </a:r>
          </a:p>
          <a:p>
            <a:r>
              <a:t>outputs/tables/fairness_diagnostics.csv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หลัง model lock จึงเปิดผลการเรียนและตรวจว่ากลุ่มพฤติกรรมมีความแตกต่างด้าน outcome หรือไม่ Any explored มี Cramér’s V 0.4884 และ mean grade มี Epsilon-squared 0.3790 ค่าทั้งหมดใช้เพื่อบรรยาย educational relevance เท่านั้น ไม่ได้ใช้เลือกหรือปรับ clustering และไม่ใช่หลักฐานเชิงเหตุและผล</a:t>
            </a:r>
          </a:p>
          <a:p>
            <a:endParaRPr/>
          </a:p>
          <a:p>
            <a:r>
              <a:t>แหล่งข้อมูล:</a:t>
            </a:r>
          </a:p>
          <a:p>
            <a:r>
              <a:t>Mooc_CLI_2/outputs/tables/posthoc_validation.csv</a:t>
            </a:r>
          </a:p>
          <a:p>
            <a:r>
              <a:t>Mooc_CLI_2/outputs/tables/posthoc_cluster_summary.csv</a:t>
            </a:r>
          </a:p>
          <a:p>
            <a:r>
              <a:t>Mooc_CLI_2/models/final/model_lock.json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โมเดลพร้อมใช้งานแบบ batch และมี input validation Dashboard เป็นผลส่งมอบสำหรับสื่อสาร ส่วน monitoring สร้าง baseline ไว้แล้วแต่ยังไม่อ้างผล drift เพราะไม่มีข้อมูลอนาคตจริง</a:t>
            </a:r>
          </a:p>
          <a:p>
            <a:endParaRPr/>
          </a:p>
          <a:p>
            <a:r>
              <a:t>แหล่งข้อมูล:</a:t>
            </a:r>
          </a:p>
          <a:p>
            <a:r>
              <a:t>models/final/clustering_pipeline.joblib</a:t>
            </a:r>
          </a:p>
          <a:p>
            <a:r>
              <a:t>tests/test_pipeline.py</a:t>
            </a:r>
          </a:p>
          <a:p>
            <a:r>
              <a:t>reports/student_segmentation_report.html</a:t>
            </a:r>
          </a:p>
          <a:p>
            <a:r>
              <a:t>monitoring/retraining_decision.json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ข้อสรุปหลักคือ Workflow ที่เหมาะสมช่วยลดความผิดพลาด ทำให้ตรวจสอบย้อนกลับได้ และสนับสนุนการนำผลไปใช้อย่างระมัดระวัง อย่างไรก็ตาม Workflow ไม่ได้รับประกันว่าผลลัพธ์จะถูกต้องสมบูรณ์ จึงยังต้องทบทวนข้อจำกัดและติดตามข้อมูลใหม่</a:t>
            </a:r>
          </a:p>
          <a:p>
            <a:endParaRPr/>
          </a:p>
          <a:p>
            <a:r>
              <a:t>แหล่งข้อมูล:</a:t>
            </a:r>
          </a:p>
          <a:p>
            <a:r>
              <a:t>Workflow.md</a:t>
            </a:r>
          </a:p>
          <a:p>
            <a:r>
              <a:t>agy_workflow.md</a:t>
            </a:r>
          </a:p>
          <a:p>
            <a:r>
              <a:t>PRESENTATION_GUIDE_TH.md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งานนี้เริ่มจากการปรับ Workflow ต้นฉบับให้เหมาะกับโจทย์ Student Segmentation จากนั้นจึงพัฒนาและตรวจสอบ pipeline ครบทุกขั้น ผลสุดท้ายคือโมเดล clustering 4 กลุ่มที่ใช้ข้อมูลพฤติกรรมเท่านั้นและมีหลักฐานตรวจสอบย้อนกลับได้</a:t>
            </a:r>
          </a:p>
          <a:p>
            <a:endParaRPr/>
          </a:p>
          <a:p>
            <a:r>
              <a:t>แหล่งข้อมูล:</a:t>
            </a:r>
          </a:p>
          <a:p>
            <a:r>
              <a:t>PRESENTATION_GUIDE_TH.md</a:t>
            </a:r>
          </a:p>
          <a:p>
            <a:r>
              <a:t>models/final/model_lock.json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D7156AC-FC2C-4A77-A4B1-3097108D6ABE}"/>
              </a:ext>
            </a:extLst>
          </p:cNvPr>
          <p:cNvSpPr>
            <a:spLocks noGrp="1"/>
          </p:cNvSpPr>
          <p:nvPr/>
        </p:nvSpPr>
        <p:spPr>
          <a:xfrm>
            <a:off x="473813" y="1389335"/>
            <a:ext cx="5986573" cy="4286251"/>
          </a:xfrm>
          <a:prstGeom prst="roundRect">
            <a:avLst>
              <a:gd name="adj" fmla="val 4800"/>
            </a:avLst>
          </a:prstGeom>
          <a:solidFill>
            <a:srgbClr val="F7FAFF"/>
          </a:solidFill>
          <a:ln w="9525">
            <a:solidFill>
              <a:srgbClr val="D8E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552D19-C136-4974-A1BA-078C8E98B4F9}"/>
              </a:ext>
            </a:extLst>
          </p:cNvPr>
          <p:cNvSpPr>
            <a:spLocks noGrp="1"/>
          </p:cNvSpPr>
          <p:nvPr/>
        </p:nvSpPr>
        <p:spPr>
          <a:xfrm rot="16200000">
            <a:off x="438149" y="2480410"/>
            <a:ext cx="857250" cy="57150"/>
          </a:xfrm>
          <a:prstGeom prst="rect">
            <a:avLst/>
          </a:prstGeom>
          <a:solidFill>
            <a:srgbClr val="7566B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504FBB-FAD8-421B-87B7-E80D05E59654}"/>
              </a:ext>
            </a:extLst>
          </p:cNvPr>
          <p:cNvSpPr>
            <a:spLocks noGrp="1"/>
          </p:cNvSpPr>
          <p:nvPr/>
        </p:nvSpPr>
        <p:spPr>
          <a:xfrm>
            <a:off x="838199" y="1909896"/>
            <a:ext cx="52578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2313"/>
          </a:bodyPr>
          <a:lstStyle/>
          <a:p>
            <a:pPr algn="l">
              <a:buNone/>
              <a:defRPr sz="3450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3600" b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การพัฒนาและประยุกต์ใช้</a:t>
            </a:r>
          </a:p>
          <a:p>
            <a:pPr algn="l">
              <a:buNone/>
              <a:defRPr sz="3450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3600" b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Data Science Workflow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6F7331-CC2C-4E61-8E77-416A22F6BCB4}"/>
              </a:ext>
            </a:extLst>
          </p:cNvPr>
          <p:cNvSpPr>
            <a:spLocks noGrp="1"/>
          </p:cNvSpPr>
          <p:nvPr/>
        </p:nvSpPr>
        <p:spPr>
          <a:xfrm>
            <a:off x="838200" y="4245178"/>
            <a:ext cx="4762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2325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r>
              <a:rPr sz="2325" b="1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กรณีศึกษา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9B1E47-B377-433F-9AB6-2253DA24E7C7}"/>
              </a:ext>
            </a:extLst>
          </p:cNvPr>
          <p:cNvSpPr>
            <a:spLocks noGrp="1"/>
          </p:cNvSpPr>
          <p:nvPr/>
        </p:nvSpPr>
        <p:spPr>
          <a:xfrm>
            <a:off x="838200" y="4630464"/>
            <a:ext cx="4762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575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575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จาก Workflow ต้นฉบับสู่การแบ่งกลุ่มนักศึกษา</a:t>
            </a:r>
          </a:p>
          <a:p>
            <a:pPr algn="l">
              <a:buNone/>
              <a:defRPr sz="1575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575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และการปรับปรุงการทำงานจาก CLI1 สู่ CLI2</a:t>
            </a:r>
          </a:p>
        </p:txBody>
      </p:sp>
    </p:spTree>
    <p:extLst>
      <p:ext uri="{BB962C8B-B14F-4D97-AF65-F5344CB8AC3E}">
        <p14:creationId xmlns:p14="http://schemas.microsoft.com/office/powerpoint/2010/main" val="486335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042CF3B-6B85-4264-BC0C-CE49EE2AE4B5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9525000" cy="68580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2850" b="1">
                <a:solidFill>
                  <a:srgbClr val="1E4477"/>
                </a:solidFill>
                <a:latin typeface="Thonburi"/>
                <a:ea typeface="Thonburi"/>
                <a:cs typeface="Thonburi"/>
              </a:defRPr>
            </a:pPr>
            <a:r>
              <a:rPr sz="2850" b="1">
                <a:solidFill>
                  <a:srgbClr val="1E4477"/>
                </a:solidFill>
                <a:latin typeface="Thonburi"/>
                <a:ea typeface="Thonburi"/>
                <a:cs typeface="Thonburi"/>
              </a:rPr>
              <a:t>Workflow ต้นฉบับและการนำไปใช้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0B9667-E3A5-4BA0-8160-26DC9DDF3A4E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143000" cy="47625"/>
          </a:xfrm>
          <a:prstGeom prst="rect">
            <a:avLst/>
          </a:prstGeom>
          <a:solidFill>
            <a:srgbClr val="52C3E6"/>
          </a:solidFill>
          <a:ln w="0">
            <a:solidFill>
              <a:srgbClr val="52C3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5B99C8-A4E4-43E9-928A-DA1281914245}"/>
              </a:ext>
            </a:extLst>
          </p:cNvPr>
          <p:cNvSpPr>
            <a:spLocks noGrp="1"/>
          </p:cNvSpPr>
          <p:nvPr/>
        </p:nvSpPr>
        <p:spPr>
          <a:xfrm>
            <a:off x="9810750" y="457200"/>
            <a:ext cx="1714500" cy="34290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r">
              <a:buNone/>
              <a:defRPr sz="1125" b="1">
                <a:solidFill>
                  <a:srgbClr val="7664C5"/>
                </a:solidFill>
                <a:latin typeface="Thonburi"/>
                <a:ea typeface="Thonburi"/>
                <a:cs typeface="Thonburi"/>
              </a:defRPr>
            </a:pPr>
            <a:r>
              <a:rPr sz="1125" b="1">
                <a:solidFill>
                  <a:srgbClr val="7664C5"/>
                </a:solidFill>
                <a:latin typeface="Thonburi"/>
                <a:ea typeface="Thonburi"/>
                <a:cs typeface="Thonburi"/>
              </a:rPr>
              <a:t>ภาพรวม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05B7B8-6ECC-445A-9568-49881882F97C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95750" cy="2095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975" b="0">
                <a:solidFill>
                  <a:srgbClr val="8090AA"/>
                </a:solidFill>
                <a:latin typeface="Thonburi"/>
                <a:ea typeface="Thonburi"/>
                <a:cs typeface="Thonburi"/>
              </a:defRPr>
            </a:pPr>
            <a:r>
              <a:rPr sz="975" b="0">
                <a:solidFill>
                  <a:srgbClr val="8090AA"/>
                </a:solidFill>
                <a:latin typeface="Thonburi"/>
                <a:ea typeface="Thonburi"/>
                <a:cs typeface="Thonburi"/>
              </a:rPr>
              <a:t>การพัฒนา Data Science Workflow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C008F6-AD2F-49CF-971B-9B0131AE3FFD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 fontScale="95238"/>
          </a:bodyPr>
          <a:lstStyle/>
          <a:p>
            <a:pPr algn="r">
              <a:buNone/>
              <a:defRPr sz="1050" b="0">
                <a:solidFill>
                  <a:srgbClr val="4E7FB6"/>
                </a:solidFill>
                <a:latin typeface="Thonburi"/>
                <a:ea typeface="Thonburi"/>
                <a:cs typeface="Thonburi"/>
              </a:defRPr>
            </a:pPr>
            <a:r>
              <a:rPr sz="1050" b="0">
                <a:solidFill>
                  <a:srgbClr val="4E7FB6"/>
                </a:solidFill>
                <a:latin typeface="Thonburi"/>
                <a:ea typeface="Thonburi"/>
                <a:cs typeface="Thonburi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9870E6-65FC-4CE5-8ED5-456DFD6977F2}"/>
              </a:ext>
            </a:extLst>
          </p:cNvPr>
          <p:cNvSpPr>
            <a:spLocks noGrp="1"/>
          </p:cNvSpPr>
          <p:nvPr/>
        </p:nvSpPr>
        <p:spPr>
          <a:xfrm>
            <a:off x="1752600" y="1152525"/>
            <a:ext cx="8522074" cy="4000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 fontScale="99674"/>
          </a:bodyPr>
          <a:lstStyle/>
          <a:p>
            <a:pPr algn="l">
              <a:buNone/>
              <a:defRPr sz="1575" b="0">
                <a:solidFill>
                  <a:srgbClr val="6F809B"/>
                </a:solidFill>
                <a:latin typeface="Thonburi"/>
                <a:ea typeface="Thonburi"/>
                <a:cs typeface="Thonburi"/>
              </a:defRPr>
            </a:pPr>
            <a:r>
              <a:rPr sz="1575" b="0" dirty="0">
                <a:solidFill>
                  <a:srgbClr val="6F809B"/>
                </a:solidFill>
                <a:latin typeface="Thonburi"/>
                <a:ea typeface="Thonburi"/>
                <a:cs typeface="Thonburi"/>
              </a:rPr>
              <a:t>CLI1 </a:t>
            </a:r>
            <a:r>
              <a:rPr sz="1575" b="0" dirty="0" err="1">
                <a:solidFill>
                  <a:srgbClr val="6F809B"/>
                </a:solidFill>
                <a:latin typeface="Thonburi"/>
                <a:ea typeface="Thonburi"/>
                <a:cs typeface="Thonburi"/>
              </a:rPr>
              <a:t>และ</a:t>
            </a:r>
            <a:r>
              <a:rPr sz="1575" b="0" dirty="0">
                <a:solidFill>
                  <a:srgbClr val="6F809B"/>
                </a:solidFill>
                <a:latin typeface="Thonburi"/>
                <a:ea typeface="Thonburi"/>
                <a:cs typeface="Thonburi"/>
              </a:rPr>
              <a:t> CLI2 </a:t>
            </a:r>
            <a:r>
              <a:rPr sz="1575" b="0" dirty="0" err="1">
                <a:solidFill>
                  <a:srgbClr val="6F809B"/>
                </a:solidFill>
                <a:latin typeface="Thonburi"/>
                <a:ea typeface="Thonburi"/>
                <a:cs typeface="Thonburi"/>
              </a:rPr>
              <a:t>ใช้</a:t>
            </a:r>
            <a:r>
              <a:rPr sz="1575" b="0" dirty="0">
                <a:solidFill>
                  <a:srgbClr val="6F809B"/>
                </a:solidFill>
                <a:latin typeface="Thonburi"/>
                <a:ea typeface="Thonburi"/>
                <a:cs typeface="Thonburi"/>
              </a:rPr>
              <a:t> Workflow </a:t>
            </a:r>
            <a:r>
              <a:rPr sz="1575" b="0" dirty="0" err="1">
                <a:solidFill>
                  <a:srgbClr val="6F809B"/>
                </a:solidFill>
                <a:latin typeface="Thonburi"/>
                <a:ea typeface="Thonburi"/>
                <a:cs typeface="Thonburi"/>
              </a:rPr>
              <a:t>กลาง</a:t>
            </a:r>
            <a:r>
              <a:rPr sz="1575" b="0" dirty="0">
                <a:solidFill>
                  <a:srgbClr val="6F809B"/>
                </a:solidFill>
                <a:latin typeface="Thonburi"/>
                <a:ea typeface="Thonburi"/>
                <a:cs typeface="Thonburi"/>
              </a:rPr>
              <a:t> 11 </a:t>
            </a:r>
            <a:r>
              <a:rPr sz="1575" b="0" dirty="0" err="1">
                <a:solidFill>
                  <a:srgbClr val="6F809B"/>
                </a:solidFill>
                <a:latin typeface="Thonburi"/>
                <a:ea typeface="Thonburi"/>
                <a:cs typeface="Thonburi"/>
              </a:rPr>
              <a:t>ขั้นเดียวกัน</a:t>
            </a:r>
            <a:r>
              <a:rPr sz="1575" b="0" dirty="0">
                <a:solidFill>
                  <a:srgbClr val="6F809B"/>
                </a:solidFill>
                <a:latin typeface="Thonburi"/>
                <a:ea typeface="Thonburi"/>
                <a:cs typeface="Thonburi"/>
              </a:rPr>
              <a:t> </a:t>
            </a:r>
            <a:r>
              <a:rPr sz="1575" b="0" dirty="0" err="1">
                <a:solidFill>
                  <a:srgbClr val="6F809B"/>
                </a:solidFill>
                <a:latin typeface="Thonburi"/>
                <a:ea typeface="Thonburi"/>
                <a:cs typeface="Thonburi"/>
              </a:rPr>
              <a:t>แต่ปรับรายละเอียดและการทำงานจริงต่างกัน</a:t>
            </a:r>
            <a:endParaRPr sz="1575" b="0" dirty="0">
              <a:solidFill>
                <a:srgbClr val="6F809B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B059FF95-2632-4851-89B5-E70CEAE1D236}"/>
              </a:ext>
            </a:extLst>
          </p:cNvPr>
          <p:cNvSpPr>
            <a:spLocks noGrp="1"/>
          </p:cNvSpPr>
          <p:nvPr/>
        </p:nvSpPr>
        <p:spPr>
          <a:xfrm>
            <a:off x="1619250" y="2762250"/>
            <a:ext cx="8953500" cy="0"/>
          </a:xfrm>
          <a:prstGeom prst="line">
            <a:avLst/>
          </a:prstGeom>
          <a:noFill/>
          <a:ln w="38100">
            <a:solidFill>
              <a:srgbClr val="D7E3F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09AAFF3-6F4D-47DC-BFD4-09FB6CD6DF01}"/>
              </a:ext>
            </a:extLst>
          </p:cNvPr>
          <p:cNvSpPr>
            <a:spLocks noGrp="1"/>
          </p:cNvSpPr>
          <p:nvPr/>
        </p:nvSpPr>
        <p:spPr>
          <a:xfrm>
            <a:off x="3276600" y="2505075"/>
            <a:ext cx="495300" cy="495300"/>
          </a:xfrm>
          <a:prstGeom prst="ellipse">
            <a:avLst/>
          </a:prstGeom>
          <a:solidFill>
            <a:srgbClr val="4E7FB6"/>
          </a:solidFill>
          <a:ln w="0">
            <a:solidFill>
              <a:srgbClr val="4E7FB6"/>
            </a:solidFill>
          </a:ln>
        </p:spPr>
        <p:txBody>
          <a:bodyPr lIns="47625" tIns="28575" rIns="47625" bIns="28575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5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837F6A-43E2-4F1B-B1FF-CBF65CAD56D2}"/>
              </a:ext>
            </a:extLst>
          </p:cNvPr>
          <p:cNvSpPr>
            <a:spLocks noGrp="1"/>
          </p:cNvSpPr>
          <p:nvPr/>
        </p:nvSpPr>
        <p:spPr>
          <a:xfrm>
            <a:off x="2133600" y="3181350"/>
            <a:ext cx="2781300" cy="49530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ctr">
              <a:buNone/>
              <a:defRPr sz="1800" b="1">
                <a:solidFill>
                  <a:srgbClr val="4E7FB6"/>
                </a:solidFill>
                <a:latin typeface="Thonburi"/>
                <a:ea typeface="Thonburi"/>
                <a:cs typeface="Thonburi"/>
              </a:defRPr>
            </a:pPr>
            <a:r>
              <a:rPr sz="1800" b="1">
                <a:solidFill>
                  <a:srgbClr val="4E7FB6"/>
                </a:solidFill>
                <a:latin typeface="Thonburi"/>
                <a:ea typeface="Thonburi"/>
                <a:cs typeface="Thonburi"/>
              </a:rPr>
              <a:t>Workflow ต้นฉบับ 10 ขั้น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57C7E9-FD97-48CA-9355-7F0CFA14FC20}"/>
              </a:ext>
            </a:extLst>
          </p:cNvPr>
          <p:cNvSpPr>
            <a:spLocks noGrp="1"/>
          </p:cNvSpPr>
          <p:nvPr/>
        </p:nvSpPr>
        <p:spPr>
          <a:xfrm>
            <a:off x="2133600" y="3705225"/>
            <a:ext cx="2781300" cy="125730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ctr">
              <a:buNone/>
              <a:defRPr sz="1275" b="0">
                <a:solidFill>
                  <a:srgbClr val="233450"/>
                </a:solidFill>
                <a:latin typeface="Thonburi"/>
                <a:ea typeface="Thonburi"/>
                <a:cs typeface="Thonburi"/>
              </a:defRPr>
            </a:pPr>
            <a:r>
              <a:rPr sz="1275" b="0" dirty="0" err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กำหนดลำดับงานกว้าง</a:t>
            </a:r>
            <a:r>
              <a:rPr sz="1275" b="0" dirty="0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 </a:t>
            </a:r>
            <a:r>
              <a:rPr sz="1275" b="0" dirty="0" err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ตั้งแต่การตั้งโจทย์จนถึงรายงาน</a:t>
            </a:r>
            <a:r>
              <a:rPr sz="1275" b="0" dirty="0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 HTML</a:t>
            </a:r>
          </a:p>
          <a:p>
            <a:pPr algn="ctr">
              <a:buNone/>
              <a:defRPr sz="1275" b="0">
                <a:solidFill>
                  <a:srgbClr val="233450"/>
                </a:solidFill>
                <a:latin typeface="Thonburi"/>
                <a:ea typeface="Thonburi"/>
                <a:cs typeface="Thonburi"/>
              </a:defRPr>
            </a:pPr>
            <a:r>
              <a:rPr sz="1275" b="0" dirty="0" err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ยังไม่แยกบางขั้น</a:t>
            </a:r>
            <a:r>
              <a:rPr sz="1275" b="0" dirty="0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 </a:t>
            </a:r>
            <a:r>
              <a:rPr sz="1275" b="0" dirty="0" err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และกำหนดบางวิธีตายตัวกับทุกประเภทงาน</a:t>
            </a:r>
            <a:endParaRPr sz="1275" b="0" dirty="0">
              <a:solidFill>
                <a:srgbClr val="233450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1D90E55-266D-4E3B-AAD4-530BBD396B76}"/>
              </a:ext>
            </a:extLst>
          </p:cNvPr>
          <p:cNvSpPr>
            <a:spLocks noGrp="1"/>
          </p:cNvSpPr>
          <p:nvPr/>
        </p:nvSpPr>
        <p:spPr>
          <a:xfrm>
            <a:off x="7894864" y="2514600"/>
            <a:ext cx="495300" cy="495300"/>
          </a:xfrm>
          <a:prstGeom prst="ellipse">
            <a:avLst/>
          </a:prstGeom>
          <a:solidFill>
            <a:srgbClr val="7664C5"/>
          </a:solidFill>
          <a:ln w="0">
            <a:solidFill>
              <a:srgbClr val="7664C5"/>
            </a:solidFill>
          </a:ln>
        </p:spPr>
        <p:txBody>
          <a:bodyPr lIns="47625" tIns="28575" rIns="47625" bIns="28575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5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45CEA1-8F9E-4860-93B3-10EE0704D967}"/>
              </a:ext>
            </a:extLst>
          </p:cNvPr>
          <p:cNvSpPr>
            <a:spLocks noGrp="1"/>
          </p:cNvSpPr>
          <p:nvPr/>
        </p:nvSpPr>
        <p:spPr>
          <a:xfrm>
            <a:off x="6751864" y="3219450"/>
            <a:ext cx="2781300" cy="49530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ctr">
              <a:buNone/>
              <a:defRPr sz="1800" b="1">
                <a:solidFill>
                  <a:srgbClr val="7664C5"/>
                </a:solidFill>
                <a:latin typeface="Thonburi"/>
                <a:ea typeface="Thonburi"/>
                <a:cs typeface="Thonburi"/>
              </a:defRPr>
            </a:pPr>
            <a:r>
              <a:rPr sz="1800" b="1">
                <a:solidFill>
                  <a:srgbClr val="7664C5"/>
                </a:solidFill>
                <a:latin typeface="Thonburi"/>
                <a:ea typeface="Thonburi"/>
                <a:cs typeface="Thonburi"/>
              </a:rPr>
              <a:t>Workflow กลาง 11 ขั้น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9C3BFE-D545-437E-919D-03F5B7ED5270}"/>
              </a:ext>
            </a:extLst>
          </p:cNvPr>
          <p:cNvSpPr>
            <a:spLocks noGrp="1"/>
          </p:cNvSpPr>
          <p:nvPr/>
        </p:nvSpPr>
        <p:spPr>
          <a:xfrm>
            <a:off x="6751864" y="3743325"/>
            <a:ext cx="2781300" cy="125730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ctr">
              <a:buNone/>
              <a:defRPr sz="1275" b="0">
                <a:solidFill>
                  <a:srgbClr val="233450"/>
                </a:solidFill>
                <a:latin typeface="Thonburi"/>
                <a:ea typeface="Thonburi"/>
                <a:cs typeface="Thonburi"/>
              </a:defRPr>
            </a:pPr>
            <a:r>
              <a:rPr sz="1275" b="0" dirty="0" err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ใช้เป็นโ</a:t>
            </a:r>
            <a:r>
              <a:rPr lang="th-TH" sz="1275" b="0" dirty="0" err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ครง</a:t>
            </a:r>
            <a:r>
              <a:rPr sz="1275" b="0" dirty="0" err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ร่วมของ</a:t>
            </a:r>
            <a:r>
              <a:rPr sz="1275" b="0" dirty="0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 CLI1 </a:t>
            </a:r>
            <a:r>
              <a:rPr sz="1275" b="0" dirty="0" err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และ</a:t>
            </a:r>
            <a:r>
              <a:rPr sz="1275" b="0" dirty="0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 CLI2</a:t>
            </a:r>
          </a:p>
          <a:p>
            <a:pPr algn="ctr">
              <a:buNone/>
              <a:defRPr sz="1275" b="0">
                <a:solidFill>
                  <a:srgbClr val="233450"/>
                </a:solidFill>
                <a:latin typeface="Thonburi"/>
                <a:ea typeface="Thonburi"/>
                <a:cs typeface="Thonburi"/>
              </a:defRPr>
            </a:pPr>
            <a:r>
              <a:rPr sz="1275" b="0" dirty="0" err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agy_workflow.md</a:t>
            </a:r>
            <a:r>
              <a:rPr sz="1275" b="0" dirty="0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 </a:t>
            </a:r>
            <a:r>
              <a:rPr sz="1275" b="0" dirty="0" err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เพิ่มข้อกำหนดของ</a:t>
            </a:r>
            <a:r>
              <a:rPr sz="1275" b="0" dirty="0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 Student Segmentation</a:t>
            </a:r>
          </a:p>
          <a:p>
            <a:pPr algn="ctr">
              <a:buNone/>
              <a:defRPr sz="1275" b="0">
                <a:solidFill>
                  <a:srgbClr val="233450"/>
                </a:solidFill>
                <a:latin typeface="Thonburi"/>
                <a:ea typeface="Thonburi"/>
                <a:cs typeface="Thonburi"/>
              </a:defRPr>
            </a:pPr>
            <a:r>
              <a:rPr sz="1275" dirty="0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CLI2 </a:t>
            </a:r>
            <a:r>
              <a:rPr sz="1275" dirty="0" err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แก้โค้ด</a:t>
            </a:r>
            <a:r>
              <a:rPr sz="1275" dirty="0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 </a:t>
            </a:r>
            <a:r>
              <a:rPr sz="1275" dirty="0" err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หลักฐาน</a:t>
            </a:r>
            <a:r>
              <a:rPr sz="1275" dirty="0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 </a:t>
            </a:r>
            <a:r>
              <a:rPr sz="1275" dirty="0" err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และ</a:t>
            </a:r>
            <a:r>
              <a:rPr sz="1275" dirty="0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 Dashboard </a:t>
            </a:r>
            <a:r>
              <a:rPr sz="1275" dirty="0" err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หลังตรวจพบช่องว่างใน</a:t>
            </a:r>
            <a:r>
              <a:rPr sz="1275" dirty="0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 CLI1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4C20D2-4F32-4D4A-8DDE-6FAD1611757A}"/>
              </a:ext>
            </a:extLst>
          </p:cNvPr>
          <p:cNvSpPr>
            <a:spLocks noGrp="1"/>
          </p:cNvSpPr>
          <p:nvPr/>
        </p:nvSpPr>
        <p:spPr>
          <a:xfrm>
            <a:off x="7886700" y="3714750"/>
            <a:ext cx="2781300" cy="125730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ctr">
              <a:buNone/>
              <a:defRPr sz="1275" b="0">
                <a:solidFill>
                  <a:srgbClr val="233450"/>
                </a:solidFill>
                <a:latin typeface="Thonburi"/>
                <a:ea typeface="Thonburi"/>
                <a:cs typeface="Thonburi"/>
              </a:defRPr>
            </a:pPr>
            <a:endParaRPr sz="1275" b="0">
              <a:solidFill>
                <a:srgbClr val="233450"/>
              </a:solidFill>
              <a:latin typeface="Thonburi"/>
              <a:ea typeface="Thonburi"/>
              <a:cs typeface="Thonburi"/>
            </a:endParaRPr>
          </a:p>
        </p:txBody>
      </p:sp>
    </p:spTree>
    <p:extLst>
      <p:ext uri="{BB962C8B-B14F-4D97-AF65-F5344CB8AC3E}">
        <p14:creationId xmlns:p14="http://schemas.microsoft.com/office/powerpoint/2010/main" val="1203919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97E4E3CE-FDF6-40AD-82AD-058A5508F00B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933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buNone/>
              <a:defRPr sz="2850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2800" b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Workflow ต้นฉบับ 10 ขั้นตอน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67C581-6093-435F-9CDB-BCB6CE6E3F40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104900" cy="47625"/>
          </a:xfrm>
          <a:prstGeom prst="rect">
            <a:avLst/>
          </a:prstGeom>
          <a:solidFill>
            <a:srgbClr val="54C6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98BB47-1543-4162-AA83-DD1E9A47257D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1667" lnSpcReduction="20000"/>
          </a:bodyPr>
          <a:lstStyle/>
          <a:p>
            <a:pPr algn="l">
              <a:buNone/>
              <a:defRPr sz="975" b="0">
                <a:solidFill>
                  <a:srgbClr val="8190A8"/>
                </a:solidFill>
                <a:latin typeface="Thonburi"/>
                <a:ea typeface="Thonburi"/>
                <a:cs typeface="Thonburi"/>
              </a:defRPr>
            </a:pPr>
            <a:r>
              <a:rPr sz="975" b="0">
                <a:solidFill>
                  <a:srgbClr val="8190A8"/>
                </a:solidFill>
                <a:latin typeface="Thonburi"/>
                <a:ea typeface="Thonburi"/>
                <a:cs typeface="Thonburi"/>
              </a:rPr>
              <a:t>การพัฒนา Data Science Workflow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C0A8DE-3A55-48C1-B8CF-5CCC656F38C2}"/>
              </a:ext>
            </a:extLst>
          </p:cNvPr>
          <p:cNvSpPr>
            <a:spLocks noGrp="1"/>
          </p:cNvSpPr>
          <p:nvPr/>
        </p:nvSpPr>
        <p:spPr>
          <a:xfrm>
            <a:off x="677636" y="1304926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275" b="1">
                <a:solidFill>
                  <a:srgbClr val="60708C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60708C"/>
                </a:solidFill>
                <a:latin typeface="Thonburi"/>
                <a:ea typeface="Thonburi"/>
                <a:cs typeface="Thonburi"/>
              </a:rPr>
              <a:t>ขั้นตอน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78254D-7E90-4808-8E50-E5F96D7A3A3C}"/>
              </a:ext>
            </a:extLst>
          </p:cNvPr>
          <p:cNvSpPr>
            <a:spLocks noGrp="1"/>
          </p:cNvSpPr>
          <p:nvPr/>
        </p:nvSpPr>
        <p:spPr>
          <a:xfrm>
            <a:off x="6416448" y="1247632"/>
            <a:ext cx="1471083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275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ความหมาย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52EE562-A04B-47E7-9A8E-157563E8622B}"/>
              </a:ext>
            </a:extLst>
          </p:cNvPr>
          <p:cNvSpPr>
            <a:spLocks noGrp="1"/>
          </p:cNvSpPr>
          <p:nvPr/>
        </p:nvSpPr>
        <p:spPr>
          <a:xfrm>
            <a:off x="723900" y="1859390"/>
            <a:ext cx="419100" cy="419100"/>
          </a:xfrm>
          <a:prstGeom prst="ellipse">
            <a:avLst/>
          </a:prstGeom>
          <a:solidFill>
            <a:srgbClr val="4F7CA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AA3585-1170-43CB-BB1D-7B9CDA714579}"/>
              </a:ext>
            </a:extLst>
          </p:cNvPr>
          <p:cNvSpPr>
            <a:spLocks noGrp="1"/>
          </p:cNvSpPr>
          <p:nvPr/>
        </p:nvSpPr>
        <p:spPr>
          <a:xfrm>
            <a:off x="723900" y="1907015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EAC776-B3E6-43C9-BCDD-E52B0CAA6C23}"/>
              </a:ext>
            </a:extLst>
          </p:cNvPr>
          <p:cNvSpPr>
            <a:spLocks noGrp="1"/>
          </p:cNvSpPr>
          <p:nvPr/>
        </p:nvSpPr>
        <p:spPr>
          <a:xfrm>
            <a:off x="1619250" y="1936299"/>
            <a:ext cx="4476750" cy="39828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</a:pPr>
            <a:r>
              <a:rPr sz="1400">
                <a:latin typeface="Thonburi"/>
                <a:ea typeface="Thonburi"/>
                <a:cs typeface="Thonburi"/>
              </a:rPr>
              <a:t>Define problem and create problem statement</a:t>
            </a:r>
            <a:br/>
            <a:endParaRPr sz="1400">
              <a:latin typeface="Thonburi"/>
              <a:ea typeface="Thonburi"/>
              <a:cs typeface="Thonburi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121F5A-A562-45DF-BB5D-C53B117528C8}"/>
              </a:ext>
            </a:extLst>
          </p:cNvPr>
          <p:cNvSpPr>
            <a:spLocks noGrp="1"/>
          </p:cNvSpPr>
          <p:nvPr/>
        </p:nvSpPr>
        <p:spPr>
          <a:xfrm>
            <a:off x="1571625" y="2447822"/>
            <a:ext cx="9667875" cy="9525"/>
          </a:xfrm>
          <a:prstGeom prst="rect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ACDDE07-115A-4E4D-B3A6-CA6C4E67F173}"/>
              </a:ext>
            </a:extLst>
          </p:cNvPr>
          <p:cNvSpPr>
            <a:spLocks noGrp="1"/>
          </p:cNvSpPr>
          <p:nvPr/>
        </p:nvSpPr>
        <p:spPr>
          <a:xfrm>
            <a:off x="723900" y="2658784"/>
            <a:ext cx="419100" cy="419100"/>
          </a:xfrm>
          <a:prstGeom prst="ellipse">
            <a:avLst/>
          </a:prstGeom>
          <a:solidFill>
            <a:srgbClr val="4F7CA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268B2C-C62C-470E-A8C5-1ACBAB25C3F5}"/>
              </a:ext>
            </a:extLst>
          </p:cNvPr>
          <p:cNvSpPr>
            <a:spLocks noGrp="1"/>
          </p:cNvSpPr>
          <p:nvPr/>
        </p:nvSpPr>
        <p:spPr>
          <a:xfrm>
            <a:off x="723900" y="2706409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22A70E-1B71-4AB6-91BE-7EEF1578A128}"/>
              </a:ext>
            </a:extLst>
          </p:cNvPr>
          <p:cNvSpPr>
            <a:spLocks noGrp="1"/>
          </p:cNvSpPr>
          <p:nvPr/>
        </p:nvSpPr>
        <p:spPr>
          <a:xfrm>
            <a:off x="1619250" y="2699338"/>
            <a:ext cx="4205817" cy="3524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</a:pPr>
            <a:r>
              <a:rPr sz="1400">
                <a:latin typeface="Thonburi"/>
                <a:ea typeface="Thonburi"/>
                <a:cs typeface="Thonburi"/>
              </a:rPr>
              <a:t>Find data and load targeted data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3AEBC5F-6704-4671-91D1-7D76C8BF8099}"/>
              </a:ext>
            </a:extLst>
          </p:cNvPr>
          <p:cNvSpPr>
            <a:spLocks noGrp="1"/>
          </p:cNvSpPr>
          <p:nvPr/>
        </p:nvSpPr>
        <p:spPr>
          <a:xfrm>
            <a:off x="1571624" y="3293047"/>
            <a:ext cx="9667875" cy="9525"/>
          </a:xfrm>
          <a:prstGeom prst="rect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D2AA835-971A-4CD0-90AB-501A8947AEF4}"/>
              </a:ext>
            </a:extLst>
          </p:cNvPr>
          <p:cNvSpPr>
            <a:spLocks noGrp="1"/>
          </p:cNvSpPr>
          <p:nvPr/>
        </p:nvSpPr>
        <p:spPr>
          <a:xfrm>
            <a:off x="723900" y="3446887"/>
            <a:ext cx="419100" cy="419100"/>
          </a:xfrm>
          <a:prstGeom prst="ellipse">
            <a:avLst/>
          </a:prstGeom>
          <a:solidFill>
            <a:srgbClr val="7566B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45809E-3164-4427-B88F-7646B25CBE3E}"/>
              </a:ext>
            </a:extLst>
          </p:cNvPr>
          <p:cNvSpPr>
            <a:spLocks noGrp="1"/>
          </p:cNvSpPr>
          <p:nvPr/>
        </p:nvSpPr>
        <p:spPr>
          <a:xfrm>
            <a:off x="723900" y="3494512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F9006E-2C2E-49B8-858A-C8CE55FF5E46}"/>
              </a:ext>
            </a:extLst>
          </p:cNvPr>
          <p:cNvSpPr>
            <a:spLocks noGrp="1"/>
          </p:cNvSpPr>
          <p:nvPr/>
        </p:nvSpPr>
        <p:spPr>
          <a:xfrm>
            <a:off x="1619250" y="3509836"/>
            <a:ext cx="2571750" cy="369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</a:pPr>
            <a:r>
              <a:rPr sz="1400">
                <a:latin typeface="Thonburi"/>
                <a:ea typeface="Thonburi"/>
                <a:cs typeface="Thonburi"/>
              </a:rPr>
              <a:t>Exploratory Data Analysis</a:t>
            </a:r>
            <a:br/>
            <a:endParaRPr sz="1400">
              <a:latin typeface="Thonburi"/>
              <a:ea typeface="Thonburi"/>
              <a:cs typeface="Thonburi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1B2FC2D-8F05-4090-BCB0-22E9F46C8B30}"/>
              </a:ext>
            </a:extLst>
          </p:cNvPr>
          <p:cNvSpPr>
            <a:spLocks noGrp="1"/>
          </p:cNvSpPr>
          <p:nvPr/>
        </p:nvSpPr>
        <p:spPr>
          <a:xfrm>
            <a:off x="1571624" y="4068162"/>
            <a:ext cx="9667875" cy="9525"/>
          </a:xfrm>
          <a:prstGeom prst="rect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D27E919-AF68-473E-B856-934BF52B0869}"/>
              </a:ext>
            </a:extLst>
          </p:cNvPr>
          <p:cNvSpPr>
            <a:spLocks noGrp="1"/>
          </p:cNvSpPr>
          <p:nvPr/>
        </p:nvSpPr>
        <p:spPr>
          <a:xfrm>
            <a:off x="723900" y="4308030"/>
            <a:ext cx="419100" cy="419100"/>
          </a:xfrm>
          <a:prstGeom prst="ellipse">
            <a:avLst/>
          </a:prstGeom>
          <a:solidFill>
            <a:srgbClr val="7566B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7454AE1-69E9-4AC6-8177-00CB0DEE0C5A}"/>
              </a:ext>
            </a:extLst>
          </p:cNvPr>
          <p:cNvSpPr>
            <a:spLocks noGrp="1"/>
          </p:cNvSpPr>
          <p:nvPr/>
        </p:nvSpPr>
        <p:spPr>
          <a:xfrm>
            <a:off x="723900" y="4355655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3EA7B89-85B0-4939-BC59-D87102C0A458}"/>
              </a:ext>
            </a:extLst>
          </p:cNvPr>
          <p:cNvSpPr>
            <a:spLocks noGrp="1"/>
          </p:cNvSpPr>
          <p:nvPr/>
        </p:nvSpPr>
        <p:spPr>
          <a:xfrm>
            <a:off x="1619250" y="4350185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/>
              <a:t>Literature review</a:t>
            </a:r>
            <a:br/>
            <a:endParaRPr sz="1350" b="0">
              <a:solidFill>
                <a:srgbClr val="1C2B49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1BB2550-5A7F-4235-BDCB-4D4886F6C078}"/>
              </a:ext>
            </a:extLst>
          </p:cNvPr>
          <p:cNvSpPr>
            <a:spLocks noGrp="1"/>
          </p:cNvSpPr>
          <p:nvPr/>
        </p:nvSpPr>
        <p:spPr>
          <a:xfrm>
            <a:off x="6310489" y="4311197"/>
            <a:ext cx="5262386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400"/>
              <a:t>ศึกษางานที่เกี่ยวข้องเพื่อหาเทคนิค Machine Learning ที่เหมาะสม</a:t>
            </a:r>
            <a:endParaRPr sz="1400" b="0">
              <a:solidFill>
                <a:srgbClr val="1C2B49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2AAAD58-EA60-12DF-5915-97880A9949E3}"/>
              </a:ext>
            </a:extLst>
          </p:cNvPr>
          <p:cNvSpPr>
            <a:spLocks noGrp="1"/>
          </p:cNvSpPr>
          <p:nvPr/>
        </p:nvSpPr>
        <p:spPr>
          <a:xfrm>
            <a:off x="6310489" y="189805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Thonburi"/>
                <a:ea typeface="Thonburi"/>
                <a:cs typeface="Thonburi"/>
              </a:rPr>
              <a:t>กำหนดปัญหาและสร้างข้อความปัญหา</a:t>
            </a:r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FA86E35-F67B-E41B-E509-9581CF378C41}"/>
              </a:ext>
            </a:extLst>
          </p:cNvPr>
          <p:cNvSpPr>
            <a:spLocks noGrp="1"/>
          </p:cNvSpPr>
          <p:nvPr/>
        </p:nvSpPr>
        <p:spPr>
          <a:xfrm>
            <a:off x="6310489" y="2658784"/>
            <a:ext cx="2994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Thonburi"/>
                <a:ea typeface="Thonburi"/>
                <a:cs typeface="Thonburi"/>
              </a:rPr>
              <a:t>ค้นหาและโหลดข้อมูลเป้าหมาย</a:t>
            </a:r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1C019FE-C3F7-19F0-7D24-77B707B02156}"/>
              </a:ext>
            </a:extLst>
          </p:cNvPr>
          <p:cNvSpPr>
            <a:spLocks noGrp="1"/>
          </p:cNvSpPr>
          <p:nvPr/>
        </p:nvSpPr>
        <p:spPr>
          <a:xfrm>
            <a:off x="6297155" y="3397285"/>
            <a:ext cx="45143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Thonburi"/>
                <a:ea typeface="Thonburi"/>
                <a:cs typeface="Thonburi"/>
              </a:rPr>
              <a:t>ตรวจ missing value, outlier, pattern, correlation </a:t>
            </a:r>
          </a:p>
          <a:p>
            <a:r>
              <a:rPr sz="1400">
                <a:latin typeface="Thonburi"/>
                <a:ea typeface="Thonburi"/>
                <a:cs typeface="Thonburi"/>
              </a:rPr>
              <a:t>และ important features</a:t>
            </a:r>
            <a:endParaRPr>
              <a:latin typeface="Thonburi"/>
              <a:ea typeface="Thonburi"/>
              <a:cs typeface="Thonburi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CA4FE0F-CB8B-F5E0-C4B6-13674A025B97}"/>
              </a:ext>
            </a:extLst>
          </p:cNvPr>
          <p:cNvSpPr>
            <a:spLocks noGrp="1"/>
          </p:cNvSpPr>
          <p:nvPr/>
        </p:nvSpPr>
        <p:spPr>
          <a:xfrm>
            <a:off x="1571624" y="4879496"/>
            <a:ext cx="9667875" cy="9525"/>
          </a:xfrm>
          <a:prstGeom prst="rect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0A79BB9-FC6F-9813-C265-965E2B6D5F66}"/>
              </a:ext>
            </a:extLst>
          </p:cNvPr>
          <p:cNvSpPr>
            <a:spLocks noGrp="1"/>
          </p:cNvSpPr>
          <p:nvPr/>
        </p:nvSpPr>
        <p:spPr>
          <a:xfrm>
            <a:off x="723900" y="5101070"/>
            <a:ext cx="419100" cy="419100"/>
          </a:xfrm>
          <a:prstGeom prst="ellipse">
            <a:avLst/>
          </a:prstGeom>
          <a:solidFill>
            <a:srgbClr val="7566B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4FD475C-0136-040B-C73F-071BF630F3BF}"/>
              </a:ext>
            </a:extLst>
          </p:cNvPr>
          <p:cNvSpPr>
            <a:spLocks noGrp="1"/>
          </p:cNvSpPr>
          <p:nvPr/>
        </p:nvSpPr>
        <p:spPr>
          <a:xfrm>
            <a:off x="723900" y="5148695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5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43B9E51-12C4-A46B-A1B9-8B64A8936968}"/>
              </a:ext>
            </a:extLst>
          </p:cNvPr>
          <p:cNvSpPr>
            <a:spLocks noGrp="1"/>
          </p:cNvSpPr>
          <p:nvPr/>
        </p:nvSpPr>
        <p:spPr>
          <a:xfrm>
            <a:off x="1619250" y="5164019"/>
            <a:ext cx="2571750" cy="2667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</a:pPr>
            <a:r>
              <a:rPr sz="1400">
                <a:latin typeface="Thonburi"/>
                <a:ea typeface="Thonburi"/>
                <a:cs typeface="Thonburi"/>
              </a:rPr>
              <a:t>Feature engineering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31C6800-2181-AEA5-3E2F-EBB0EAA20E00}"/>
              </a:ext>
            </a:extLst>
          </p:cNvPr>
          <p:cNvSpPr>
            <a:spLocks noGrp="1"/>
          </p:cNvSpPr>
          <p:nvPr/>
        </p:nvSpPr>
        <p:spPr>
          <a:xfrm>
            <a:off x="1571624" y="5699767"/>
            <a:ext cx="9667875" cy="9525"/>
          </a:xfrm>
          <a:prstGeom prst="rect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70FE39E-1D0F-A1AC-3ED3-9863CC1438C7}"/>
              </a:ext>
            </a:extLst>
          </p:cNvPr>
          <p:cNvSpPr>
            <a:spLocks noGrp="1"/>
          </p:cNvSpPr>
          <p:nvPr/>
        </p:nvSpPr>
        <p:spPr>
          <a:xfrm>
            <a:off x="6310489" y="5156422"/>
            <a:ext cx="45143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Thonburi"/>
                <a:ea typeface="Thonburi"/>
                <a:cs typeface="Thonburi"/>
              </a:rPr>
              <a:t>สร้างตัวแปรใหม่และลดตัวแปรที่ไม่จำเป็น</a:t>
            </a:r>
            <a:endParaRPr>
              <a:latin typeface="Thonburi"/>
              <a:ea typeface="Thonburi"/>
              <a:cs typeface="Thonbu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EA6162-0A1D-91AA-0D9D-F39AC6E199A3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 fontScale="95238"/>
          </a:bodyPr>
          <a:lstStyle/>
          <a:p>
            <a:pPr algn="r">
              <a:buNone/>
              <a:defRPr sz="1050" b="0">
                <a:solidFill>
                  <a:srgbClr val="4E7FB6"/>
                </a:solidFill>
                <a:latin typeface="Thonburi"/>
                <a:ea typeface="Thonburi"/>
                <a:cs typeface="Thonburi"/>
              </a:defRPr>
            </a:pPr>
            <a:r>
              <a:rPr lang="en-US" sz="1050" dirty="0">
                <a:solidFill>
                  <a:srgbClr val="4E7FB6"/>
                </a:solidFill>
                <a:latin typeface="Thonburi"/>
                <a:ea typeface="Thonburi"/>
                <a:cs typeface="Thonburi"/>
              </a:rPr>
              <a:t>0</a:t>
            </a:r>
            <a:r>
              <a:rPr lang="en-US" sz="1050" b="0" dirty="0">
                <a:solidFill>
                  <a:srgbClr val="4E7FB6"/>
                </a:solidFill>
                <a:latin typeface="Thonburi"/>
                <a:ea typeface="Thonburi"/>
                <a:cs typeface="Thonburi"/>
              </a:rPr>
              <a:t>3</a:t>
            </a:r>
            <a:endParaRPr sz="1050" b="0" dirty="0">
              <a:solidFill>
                <a:srgbClr val="4E7FB6"/>
              </a:solidFill>
              <a:latin typeface="Thonburi"/>
              <a:ea typeface="Thonburi"/>
              <a:cs typeface="Thonburi"/>
            </a:endParaRPr>
          </a:p>
        </p:txBody>
      </p:sp>
    </p:spTree>
    <p:extLst>
      <p:ext uri="{BB962C8B-B14F-4D97-AF65-F5344CB8AC3E}">
        <p14:creationId xmlns:p14="http://schemas.microsoft.com/office/powerpoint/2010/main" val="1784046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20651614-6064-3D2C-36BC-8B70F09F646A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933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2850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2800" b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Workflow ต้นฉบับ 10 ขั้นตอน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940F4A-969A-7915-7207-75F0E62D764B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104900" cy="47625"/>
          </a:xfrm>
          <a:prstGeom prst="rect">
            <a:avLst/>
          </a:prstGeom>
          <a:solidFill>
            <a:srgbClr val="54C6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B9340A-29E5-6E0D-A66E-B68F3606D309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1667" lnSpcReduction="20000"/>
          </a:bodyPr>
          <a:lstStyle/>
          <a:p>
            <a:pPr algn="l">
              <a:buNone/>
              <a:defRPr sz="975" b="0">
                <a:solidFill>
                  <a:srgbClr val="8190A8"/>
                </a:solidFill>
                <a:latin typeface="Thonburi"/>
                <a:ea typeface="Thonburi"/>
                <a:cs typeface="Thonburi"/>
              </a:defRPr>
            </a:pPr>
            <a:r>
              <a:rPr sz="975" b="0">
                <a:solidFill>
                  <a:srgbClr val="8190A8"/>
                </a:solidFill>
                <a:latin typeface="Thonburi"/>
                <a:ea typeface="Thonburi"/>
                <a:cs typeface="Thonburi"/>
              </a:rPr>
              <a:t>การพัฒนา Data Science Workflow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A21DF2-EEB8-40E8-3B39-6FE4F47F3D11}"/>
              </a:ext>
            </a:extLst>
          </p:cNvPr>
          <p:cNvSpPr>
            <a:spLocks noGrp="1"/>
          </p:cNvSpPr>
          <p:nvPr/>
        </p:nvSpPr>
        <p:spPr>
          <a:xfrm>
            <a:off x="677636" y="1304926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275" b="1">
                <a:solidFill>
                  <a:srgbClr val="60708C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60708C"/>
                </a:solidFill>
                <a:latin typeface="Thonburi"/>
                <a:ea typeface="Thonburi"/>
                <a:cs typeface="Thonburi"/>
              </a:rPr>
              <a:t>ขั้นตอน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D3B513-A866-F39B-AD13-D06CF2BE5FBB}"/>
              </a:ext>
            </a:extLst>
          </p:cNvPr>
          <p:cNvSpPr>
            <a:spLocks noGrp="1"/>
          </p:cNvSpPr>
          <p:nvPr/>
        </p:nvSpPr>
        <p:spPr>
          <a:xfrm>
            <a:off x="6416448" y="1247632"/>
            <a:ext cx="1471083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275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ความหมาย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F07D0DE-6BE2-1027-81E0-E03258D35AE9}"/>
              </a:ext>
            </a:extLst>
          </p:cNvPr>
          <p:cNvSpPr>
            <a:spLocks noGrp="1"/>
          </p:cNvSpPr>
          <p:nvPr/>
        </p:nvSpPr>
        <p:spPr>
          <a:xfrm>
            <a:off x="723900" y="1859390"/>
            <a:ext cx="419100" cy="419100"/>
          </a:xfrm>
          <a:prstGeom prst="ellipse">
            <a:avLst/>
          </a:prstGeom>
          <a:solidFill>
            <a:srgbClr val="4F7CA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BF52FE-0DC5-EF2D-9A96-A2B4F5C61B40}"/>
              </a:ext>
            </a:extLst>
          </p:cNvPr>
          <p:cNvSpPr>
            <a:spLocks noGrp="1"/>
          </p:cNvSpPr>
          <p:nvPr/>
        </p:nvSpPr>
        <p:spPr>
          <a:xfrm>
            <a:off x="723900" y="1907015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ABB520-BBA3-6C66-557F-A0C4C399E4E3}"/>
              </a:ext>
            </a:extLst>
          </p:cNvPr>
          <p:cNvSpPr>
            <a:spLocks noGrp="1"/>
          </p:cNvSpPr>
          <p:nvPr/>
        </p:nvSpPr>
        <p:spPr>
          <a:xfrm>
            <a:off x="1619250" y="1936299"/>
            <a:ext cx="4476750" cy="39828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</a:pPr>
            <a:r>
              <a:rPr sz="1400">
                <a:latin typeface="Thonburi"/>
                <a:ea typeface="Thonburi"/>
                <a:cs typeface="Thonburi"/>
              </a:rPr>
              <a:t>Model selection</a:t>
            </a:r>
            <a:br/>
            <a:endParaRPr sz="1400">
              <a:latin typeface="Thonburi"/>
              <a:ea typeface="Thonburi"/>
              <a:cs typeface="Thonburi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5B3AEE-DF47-F756-3EBF-E218BBA47633}"/>
              </a:ext>
            </a:extLst>
          </p:cNvPr>
          <p:cNvSpPr>
            <a:spLocks noGrp="1"/>
          </p:cNvSpPr>
          <p:nvPr/>
        </p:nvSpPr>
        <p:spPr>
          <a:xfrm>
            <a:off x="1571625" y="2447822"/>
            <a:ext cx="9667875" cy="9525"/>
          </a:xfrm>
          <a:prstGeom prst="rect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CE8C19-C37E-E164-CA78-9755D3B70236}"/>
              </a:ext>
            </a:extLst>
          </p:cNvPr>
          <p:cNvSpPr>
            <a:spLocks noGrp="1"/>
          </p:cNvSpPr>
          <p:nvPr/>
        </p:nvSpPr>
        <p:spPr>
          <a:xfrm>
            <a:off x="723900" y="2658784"/>
            <a:ext cx="419100" cy="419100"/>
          </a:xfrm>
          <a:prstGeom prst="ellipse">
            <a:avLst/>
          </a:prstGeom>
          <a:solidFill>
            <a:srgbClr val="4F7CA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5B0F14-07E3-2F28-F6A2-05E91586C178}"/>
              </a:ext>
            </a:extLst>
          </p:cNvPr>
          <p:cNvSpPr>
            <a:spLocks noGrp="1"/>
          </p:cNvSpPr>
          <p:nvPr/>
        </p:nvSpPr>
        <p:spPr>
          <a:xfrm>
            <a:off x="723900" y="2706409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7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AA2292-D917-2122-6F6B-C997803D397A}"/>
              </a:ext>
            </a:extLst>
          </p:cNvPr>
          <p:cNvSpPr>
            <a:spLocks noGrp="1"/>
          </p:cNvSpPr>
          <p:nvPr/>
        </p:nvSpPr>
        <p:spPr>
          <a:xfrm>
            <a:off x="1619250" y="2699338"/>
            <a:ext cx="4205817" cy="3524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</a:pPr>
            <a:r>
              <a:rPr sz="1400">
                <a:latin typeface="Thonburi"/>
                <a:ea typeface="Thonburi"/>
                <a:cs typeface="Thonburi"/>
              </a:rPr>
              <a:t>Model evaluation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769DBF5-4524-6BFA-4BE6-EDB88B29388A}"/>
              </a:ext>
            </a:extLst>
          </p:cNvPr>
          <p:cNvSpPr>
            <a:spLocks noGrp="1"/>
          </p:cNvSpPr>
          <p:nvPr/>
        </p:nvSpPr>
        <p:spPr>
          <a:xfrm>
            <a:off x="1571624" y="3293047"/>
            <a:ext cx="9667875" cy="9525"/>
          </a:xfrm>
          <a:prstGeom prst="rect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6382052-394E-88AF-29F0-76B05B4B29B2}"/>
              </a:ext>
            </a:extLst>
          </p:cNvPr>
          <p:cNvSpPr>
            <a:spLocks noGrp="1"/>
          </p:cNvSpPr>
          <p:nvPr/>
        </p:nvSpPr>
        <p:spPr>
          <a:xfrm>
            <a:off x="723900" y="3446887"/>
            <a:ext cx="419100" cy="419100"/>
          </a:xfrm>
          <a:prstGeom prst="ellipse">
            <a:avLst/>
          </a:prstGeom>
          <a:solidFill>
            <a:srgbClr val="7566B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269D2E-BBFA-E024-A786-9CAA496B711E}"/>
              </a:ext>
            </a:extLst>
          </p:cNvPr>
          <p:cNvSpPr>
            <a:spLocks noGrp="1"/>
          </p:cNvSpPr>
          <p:nvPr/>
        </p:nvSpPr>
        <p:spPr>
          <a:xfrm>
            <a:off x="723900" y="3494512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8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9D015B2-FA04-0325-26E1-510007FC5D8F}"/>
              </a:ext>
            </a:extLst>
          </p:cNvPr>
          <p:cNvSpPr>
            <a:spLocks noGrp="1"/>
          </p:cNvSpPr>
          <p:nvPr/>
        </p:nvSpPr>
        <p:spPr>
          <a:xfrm>
            <a:off x="1619249" y="3509836"/>
            <a:ext cx="3605893" cy="3693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</a:pPr>
            <a:r>
              <a:rPr sz="1400">
                <a:latin typeface="Thonburi"/>
                <a:ea typeface="Thonburi"/>
                <a:cs typeface="Thonburi"/>
              </a:rPr>
              <a:t>Summarize results and error analysis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51F8A8B-E290-2B40-FD55-0601100111D5}"/>
              </a:ext>
            </a:extLst>
          </p:cNvPr>
          <p:cNvSpPr>
            <a:spLocks noGrp="1"/>
          </p:cNvSpPr>
          <p:nvPr/>
        </p:nvSpPr>
        <p:spPr>
          <a:xfrm>
            <a:off x="1571624" y="4068162"/>
            <a:ext cx="9667875" cy="9525"/>
          </a:xfrm>
          <a:prstGeom prst="rect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2E0FCA2-B1F3-A5CC-A508-929B4F345F0C}"/>
              </a:ext>
            </a:extLst>
          </p:cNvPr>
          <p:cNvSpPr>
            <a:spLocks noGrp="1"/>
          </p:cNvSpPr>
          <p:nvPr/>
        </p:nvSpPr>
        <p:spPr>
          <a:xfrm>
            <a:off x="723900" y="4308030"/>
            <a:ext cx="419100" cy="419100"/>
          </a:xfrm>
          <a:prstGeom prst="ellipse">
            <a:avLst/>
          </a:prstGeom>
          <a:solidFill>
            <a:srgbClr val="7566B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8AF911-672D-72E5-9734-004083CF9540}"/>
              </a:ext>
            </a:extLst>
          </p:cNvPr>
          <p:cNvSpPr>
            <a:spLocks noGrp="1"/>
          </p:cNvSpPr>
          <p:nvPr/>
        </p:nvSpPr>
        <p:spPr>
          <a:xfrm>
            <a:off x="723900" y="4355655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9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56580E4-2131-D359-9F79-8B275D734A8D}"/>
              </a:ext>
            </a:extLst>
          </p:cNvPr>
          <p:cNvSpPr>
            <a:spLocks noGrp="1"/>
          </p:cNvSpPr>
          <p:nvPr/>
        </p:nvSpPr>
        <p:spPr>
          <a:xfrm>
            <a:off x="1619250" y="4350185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</a:pPr>
            <a:r>
              <a:rPr sz="1400">
                <a:latin typeface="Thonburi"/>
                <a:ea typeface="Thonburi"/>
                <a:cs typeface="Thonburi"/>
              </a:rPr>
              <a:t>Revise and adjust all tasks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6E4F6DF-848C-97DB-91AC-F820CDB0779D}"/>
              </a:ext>
            </a:extLst>
          </p:cNvPr>
          <p:cNvSpPr>
            <a:spLocks noGrp="1"/>
          </p:cNvSpPr>
          <p:nvPr/>
        </p:nvSpPr>
        <p:spPr>
          <a:xfrm>
            <a:off x="6310489" y="4311197"/>
            <a:ext cx="5262386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</a:pPr>
            <a:r>
              <a:rPr sz="1400">
                <a:latin typeface="Thonburi"/>
                <a:ea typeface="Thonburi"/>
                <a:cs typeface="Thonburi"/>
              </a:rPr>
              <a:t>ทบทวนและปรับปรุงทุกขั้นตอน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2CF9107-2915-C6E8-4B7F-045FCCE419A5}"/>
              </a:ext>
            </a:extLst>
          </p:cNvPr>
          <p:cNvSpPr>
            <a:spLocks noGrp="1"/>
          </p:cNvSpPr>
          <p:nvPr/>
        </p:nvSpPr>
        <p:spPr>
          <a:xfrm>
            <a:off x="6310489" y="189805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 err="1">
                <a:latin typeface="Thonburi"/>
                <a:ea typeface="Thonburi"/>
                <a:cs typeface="Thonburi"/>
              </a:rPr>
              <a:t>เลือก</a:t>
            </a:r>
            <a:r>
              <a:rPr sz="1400" dirty="0">
                <a:latin typeface="Thonburi"/>
                <a:ea typeface="Thonburi"/>
                <a:cs typeface="Thonburi"/>
              </a:rPr>
              <a:t> clustering </a:t>
            </a:r>
            <a:r>
              <a:rPr sz="1400" dirty="0" err="1">
                <a:latin typeface="Thonburi"/>
                <a:ea typeface="Thonburi"/>
                <a:cs typeface="Thonburi"/>
              </a:rPr>
              <a:t>อย่างน้อย</a:t>
            </a:r>
            <a:r>
              <a:rPr sz="1400" dirty="0">
                <a:latin typeface="Thonburi"/>
                <a:ea typeface="Thonburi"/>
                <a:cs typeface="Thonburi"/>
              </a:rPr>
              <a:t> 5 </a:t>
            </a:r>
            <a:r>
              <a:rPr sz="1400" dirty="0" err="1">
                <a:latin typeface="Thonburi"/>
                <a:ea typeface="Thonburi"/>
                <a:cs typeface="Thonburi"/>
              </a:rPr>
              <a:t>และ</a:t>
            </a:r>
            <a:r>
              <a:rPr sz="1400" dirty="0">
                <a:latin typeface="Thonburi"/>
                <a:ea typeface="Thonburi"/>
                <a:cs typeface="Thonburi"/>
              </a:rPr>
              <a:t> classification </a:t>
            </a:r>
            <a:r>
              <a:rPr sz="1400" dirty="0" err="1">
                <a:latin typeface="Thonburi"/>
                <a:ea typeface="Thonburi"/>
                <a:cs typeface="Thonburi"/>
              </a:rPr>
              <a:t>อย่างน้อย</a:t>
            </a:r>
            <a:r>
              <a:rPr sz="1400" dirty="0">
                <a:latin typeface="Thonburi"/>
                <a:ea typeface="Thonburi"/>
                <a:cs typeface="Thonburi"/>
              </a:rPr>
              <a:t> 5 </a:t>
            </a:r>
            <a:r>
              <a:rPr sz="1400" dirty="0" err="1">
                <a:latin typeface="Thonburi"/>
                <a:ea typeface="Thonburi"/>
                <a:cs typeface="Thonburi"/>
              </a:rPr>
              <a:t>เทคนิค</a:t>
            </a:r>
            <a:endParaRPr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5E4F45B-C8D6-2464-87E1-0EE9F4032C26}"/>
              </a:ext>
            </a:extLst>
          </p:cNvPr>
          <p:cNvSpPr>
            <a:spLocks noGrp="1"/>
          </p:cNvSpPr>
          <p:nvPr/>
        </p:nvSpPr>
        <p:spPr>
          <a:xfrm>
            <a:off x="6310488" y="2744627"/>
            <a:ext cx="45009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Thonburi"/>
                <a:ea typeface="Thonburi"/>
                <a:cs typeface="Thonburi"/>
              </a:rPr>
              <a:t>เปรียบเทียบเทคนิคและสร้าง confusion matrix</a:t>
            </a:r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063D227-5DE2-D0A6-5979-AF54B0BBA72D}"/>
              </a:ext>
            </a:extLst>
          </p:cNvPr>
          <p:cNvSpPr>
            <a:spLocks noGrp="1"/>
          </p:cNvSpPr>
          <p:nvPr/>
        </p:nvSpPr>
        <p:spPr>
          <a:xfrm>
            <a:off x="6297154" y="3528214"/>
            <a:ext cx="45143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Thonburi"/>
                <a:ea typeface="Thonburi"/>
                <a:cs typeface="Thonburi"/>
              </a:rPr>
              <a:t>สรุปผลและวิเคราะห์ข้อผิดพลาด</a:t>
            </a:r>
            <a:endParaRPr>
              <a:latin typeface="Thonburi"/>
              <a:ea typeface="Thonburi"/>
              <a:cs typeface="Thonburi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E1BE9AE-AA21-65D4-CDC5-85383B416B20}"/>
              </a:ext>
            </a:extLst>
          </p:cNvPr>
          <p:cNvSpPr>
            <a:spLocks noGrp="1"/>
          </p:cNvSpPr>
          <p:nvPr/>
        </p:nvSpPr>
        <p:spPr>
          <a:xfrm>
            <a:off x="1571624" y="4879496"/>
            <a:ext cx="9667875" cy="9525"/>
          </a:xfrm>
          <a:prstGeom prst="rect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54CF35EE-C552-249F-9B5F-201084CF9DAF}"/>
              </a:ext>
            </a:extLst>
          </p:cNvPr>
          <p:cNvSpPr>
            <a:spLocks noGrp="1"/>
          </p:cNvSpPr>
          <p:nvPr/>
        </p:nvSpPr>
        <p:spPr>
          <a:xfrm>
            <a:off x="723900" y="5101070"/>
            <a:ext cx="419100" cy="419100"/>
          </a:xfrm>
          <a:prstGeom prst="ellipse">
            <a:avLst/>
          </a:prstGeom>
          <a:solidFill>
            <a:srgbClr val="7566B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4F45702-CF63-C85D-2B89-27075A5ECE38}"/>
              </a:ext>
            </a:extLst>
          </p:cNvPr>
          <p:cNvSpPr>
            <a:spLocks noGrp="1"/>
          </p:cNvSpPr>
          <p:nvPr/>
        </p:nvSpPr>
        <p:spPr>
          <a:xfrm>
            <a:off x="723900" y="5148695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10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A41449D-A50E-68B1-9C82-5D4050A4CFF2}"/>
              </a:ext>
            </a:extLst>
          </p:cNvPr>
          <p:cNvSpPr>
            <a:spLocks noGrp="1"/>
          </p:cNvSpPr>
          <p:nvPr/>
        </p:nvSpPr>
        <p:spPr>
          <a:xfrm>
            <a:off x="1619250" y="5164019"/>
            <a:ext cx="3725636" cy="2667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</a:pPr>
            <a:r>
              <a:rPr sz="1400">
                <a:latin typeface="Thonburi"/>
                <a:ea typeface="Thonburi"/>
                <a:cs typeface="Thonburi"/>
              </a:rPr>
              <a:t>Create visualization and HTML summary</a:t>
            </a:r>
            <a:br/>
            <a:endParaRPr sz="1400">
              <a:latin typeface="Thonburi"/>
              <a:ea typeface="Thonburi"/>
              <a:cs typeface="Thonburi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98ED9C9-F6E6-FD5C-A11F-7597636D8942}"/>
              </a:ext>
            </a:extLst>
          </p:cNvPr>
          <p:cNvSpPr>
            <a:spLocks noGrp="1"/>
          </p:cNvSpPr>
          <p:nvPr/>
        </p:nvSpPr>
        <p:spPr>
          <a:xfrm>
            <a:off x="1571624" y="5699767"/>
            <a:ext cx="9667875" cy="9525"/>
          </a:xfrm>
          <a:prstGeom prst="rect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C6AB8A3-DB79-E269-D734-87BC879106C5}"/>
              </a:ext>
            </a:extLst>
          </p:cNvPr>
          <p:cNvSpPr>
            <a:spLocks noGrp="1"/>
          </p:cNvSpPr>
          <p:nvPr/>
        </p:nvSpPr>
        <p:spPr>
          <a:xfrm>
            <a:off x="6310489" y="5156422"/>
            <a:ext cx="45143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Thonburi"/>
                <a:ea typeface="Thonburi"/>
                <a:cs typeface="Thonburi"/>
              </a:rPr>
              <a:t>สร้างกราฟและสรุปผลเป็น HTML</a:t>
            </a:r>
            <a:endParaRPr>
              <a:latin typeface="Thonburi"/>
              <a:ea typeface="Thonburi"/>
              <a:cs typeface="Thonbu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A9BEA1-C819-6D7A-CE44-A5A70E15DEF7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 fontScale="95238"/>
          </a:bodyPr>
          <a:lstStyle/>
          <a:p>
            <a:pPr algn="r">
              <a:buNone/>
              <a:defRPr sz="1050" b="0">
                <a:solidFill>
                  <a:srgbClr val="4E7FB6"/>
                </a:solidFill>
                <a:latin typeface="Thonburi"/>
                <a:ea typeface="Thonburi"/>
                <a:cs typeface="Thonburi"/>
              </a:defRPr>
            </a:pPr>
            <a:r>
              <a:rPr lang="en-US" sz="1050" dirty="0">
                <a:solidFill>
                  <a:srgbClr val="4E7FB6"/>
                </a:solidFill>
                <a:latin typeface="Thonburi"/>
                <a:ea typeface="Thonburi"/>
                <a:cs typeface="Thonburi"/>
              </a:rPr>
              <a:t>04</a:t>
            </a:r>
            <a:endParaRPr sz="1050" b="0" dirty="0">
              <a:solidFill>
                <a:srgbClr val="4E7FB6"/>
              </a:solidFill>
              <a:latin typeface="Thonburi"/>
              <a:ea typeface="Thonburi"/>
              <a:cs typeface="Thonburi"/>
            </a:endParaRPr>
          </a:p>
        </p:txBody>
      </p:sp>
    </p:spTree>
    <p:extLst>
      <p:ext uri="{BB962C8B-B14F-4D97-AF65-F5344CB8AC3E}">
        <p14:creationId xmlns:p14="http://schemas.microsoft.com/office/powerpoint/2010/main" val="1786876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BE161535-C8E9-4179-A824-69E148754C04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9525000" cy="68580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2850" b="1">
                <a:solidFill>
                  <a:srgbClr val="1E4477"/>
                </a:solidFill>
                <a:latin typeface="Thonburi"/>
                <a:ea typeface="Thonburi"/>
                <a:cs typeface="Thonburi"/>
              </a:defRPr>
            </a:pPr>
            <a:r>
              <a:rPr sz="2850" b="1">
                <a:solidFill>
                  <a:srgbClr val="1E4477"/>
                </a:solidFill>
                <a:latin typeface="Thonburi"/>
                <a:ea typeface="Thonburi"/>
                <a:cs typeface="Thonburi"/>
              </a:rPr>
              <a:t>สิ่งที่ขาดใน Workflow ต้นฉบับ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8E56FF-4AFF-4502-8198-CE76A575E4C8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143000" cy="47625"/>
          </a:xfrm>
          <a:prstGeom prst="rect">
            <a:avLst/>
          </a:prstGeom>
          <a:solidFill>
            <a:srgbClr val="52C3E6"/>
          </a:solidFill>
          <a:ln w="0">
            <a:solidFill>
              <a:srgbClr val="52C3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DEC67E-5769-4476-B3B1-74ABD804B940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95750" cy="2095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975" b="0">
                <a:solidFill>
                  <a:srgbClr val="8090AA"/>
                </a:solidFill>
                <a:latin typeface="Thonburi"/>
                <a:ea typeface="Thonburi"/>
                <a:cs typeface="Thonburi"/>
              </a:defRPr>
            </a:pPr>
            <a:r>
              <a:rPr sz="975" b="0">
                <a:solidFill>
                  <a:srgbClr val="8090AA"/>
                </a:solidFill>
                <a:latin typeface="Thonburi"/>
                <a:ea typeface="Thonburi"/>
                <a:cs typeface="Thonburi"/>
              </a:rPr>
              <a:t>การพัฒนา Data Science Workflow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8489A8-2758-49DA-BC91-93A812BA4B70}"/>
              </a:ext>
            </a:extLst>
          </p:cNvPr>
          <p:cNvSpPr>
            <a:spLocks noGrp="1"/>
          </p:cNvSpPr>
          <p:nvPr/>
        </p:nvSpPr>
        <p:spPr>
          <a:xfrm>
            <a:off x="838200" y="1381125"/>
            <a:ext cx="3714750" cy="3619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1500" b="1">
                <a:solidFill>
                  <a:srgbClr val="4E7FB6"/>
                </a:solidFill>
                <a:latin typeface="Thonburi"/>
                <a:ea typeface="Thonburi"/>
                <a:cs typeface="Thonburi"/>
              </a:defRPr>
            </a:pPr>
            <a:r>
              <a:rPr sz="1500" b="1">
                <a:solidFill>
                  <a:srgbClr val="4E7FB6"/>
                </a:solidFill>
                <a:latin typeface="Thonburi"/>
                <a:ea typeface="Thonburi"/>
                <a:cs typeface="Thonburi"/>
              </a:rPr>
              <a:t>จุดเดิม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3ABF95-4B4B-4704-B007-A4B50AA00741}"/>
              </a:ext>
            </a:extLst>
          </p:cNvPr>
          <p:cNvSpPr>
            <a:spLocks noGrp="1"/>
          </p:cNvSpPr>
          <p:nvPr/>
        </p:nvSpPr>
        <p:spPr>
          <a:xfrm>
            <a:off x="5810250" y="1381125"/>
            <a:ext cx="4762500" cy="3619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1500" b="1">
                <a:solidFill>
                  <a:srgbClr val="7664C5"/>
                </a:solidFill>
                <a:latin typeface="Thonburi"/>
                <a:ea typeface="Thonburi"/>
                <a:cs typeface="Thonburi"/>
              </a:defRPr>
            </a:pPr>
            <a:r>
              <a:rPr sz="1500" b="1">
                <a:solidFill>
                  <a:srgbClr val="7664C5"/>
                </a:solidFill>
                <a:latin typeface="Thonburi"/>
                <a:ea typeface="Thonburi"/>
                <a:cs typeface="Thonburi"/>
              </a:rPr>
              <a:t>ผลกระทบต่อกระบวนการ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AB42DC3-5EEF-4E2B-A8B7-957ED0290755}"/>
              </a:ext>
            </a:extLst>
          </p:cNvPr>
          <p:cNvSpPr>
            <a:spLocks noGrp="1"/>
          </p:cNvSpPr>
          <p:nvPr/>
        </p:nvSpPr>
        <p:spPr>
          <a:xfrm>
            <a:off x="838200" y="1895475"/>
            <a:ext cx="495300" cy="495300"/>
          </a:xfrm>
          <a:prstGeom prst="ellipse">
            <a:avLst/>
          </a:prstGeom>
          <a:solidFill>
            <a:srgbClr val="4E7FB6"/>
          </a:solidFill>
          <a:ln w="0">
            <a:solidFill>
              <a:srgbClr val="4E7FB6"/>
            </a:solidFill>
          </a:ln>
        </p:spPr>
        <p:txBody>
          <a:bodyPr lIns="47625" tIns="28575" rIns="47625" bIns="28575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5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B9D643-4AA7-45BC-A4E7-54E1F89BF947}"/>
              </a:ext>
            </a:extLst>
          </p:cNvPr>
          <p:cNvSpPr>
            <a:spLocks noGrp="1"/>
          </p:cNvSpPr>
          <p:nvPr/>
        </p:nvSpPr>
        <p:spPr>
          <a:xfrm>
            <a:off x="1524000" y="1828800"/>
            <a:ext cx="3619500" cy="5905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1350" b="1">
                <a:solidFill>
                  <a:srgbClr val="233450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Data Cleaning รวมอยู่ใน EDA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E4EB11AA-2DA3-4661-9FDE-17F62AC27709}"/>
              </a:ext>
            </a:extLst>
          </p:cNvPr>
          <p:cNvSpPr>
            <a:spLocks noGrp="1"/>
          </p:cNvSpPr>
          <p:nvPr/>
        </p:nvSpPr>
        <p:spPr>
          <a:xfrm>
            <a:off x="5334000" y="2124075"/>
            <a:ext cx="266700" cy="0"/>
          </a:xfrm>
          <a:prstGeom prst="line">
            <a:avLst/>
          </a:prstGeom>
          <a:noFill/>
          <a:ln w="28575">
            <a:solidFill>
              <a:srgbClr val="D7E3F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891DDA-CB37-4784-8CC0-5537D50BE7BD}"/>
              </a:ext>
            </a:extLst>
          </p:cNvPr>
          <p:cNvSpPr>
            <a:spLocks noGrp="1"/>
          </p:cNvSpPr>
          <p:nvPr/>
        </p:nvSpPr>
        <p:spPr>
          <a:xfrm>
            <a:off x="5810250" y="1828800"/>
            <a:ext cx="5334000" cy="5905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1275" b="0">
                <a:solidFill>
                  <a:srgbClr val="233450"/>
                </a:solidFill>
                <a:latin typeface="Thonburi"/>
                <a:ea typeface="Thonburi"/>
                <a:cs typeface="Thonburi"/>
              </a:defRPr>
            </a:pPr>
            <a:r>
              <a:rPr sz="1275" b="0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ไม่ชัดว่าต้องแก้คุณภาพข้อมูลก่อนเริ่มสำรวจ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11CE0A98-9D36-4A06-9F34-84CB6DEF33FF}"/>
              </a:ext>
            </a:extLst>
          </p:cNvPr>
          <p:cNvSpPr>
            <a:spLocks noGrp="1"/>
          </p:cNvSpPr>
          <p:nvPr/>
        </p:nvSpPr>
        <p:spPr>
          <a:xfrm>
            <a:off x="838200" y="2495550"/>
            <a:ext cx="10287000" cy="0"/>
          </a:xfrm>
          <a:prstGeom prst="line">
            <a:avLst/>
          </a:prstGeom>
          <a:noFill/>
          <a:ln w="9525">
            <a:solidFill>
              <a:srgbClr val="E8EE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3A44B5A-EBF1-49A0-BEA8-71C434F8BC25}"/>
              </a:ext>
            </a:extLst>
          </p:cNvPr>
          <p:cNvSpPr>
            <a:spLocks noGrp="1"/>
          </p:cNvSpPr>
          <p:nvPr/>
        </p:nvSpPr>
        <p:spPr>
          <a:xfrm>
            <a:off x="838200" y="2676525"/>
            <a:ext cx="495300" cy="495300"/>
          </a:xfrm>
          <a:prstGeom prst="ellipse">
            <a:avLst/>
          </a:prstGeom>
          <a:solidFill>
            <a:srgbClr val="4E7FB6"/>
          </a:solidFill>
          <a:ln w="0">
            <a:solidFill>
              <a:srgbClr val="4E7FB6"/>
            </a:solidFill>
          </a:ln>
        </p:spPr>
        <p:txBody>
          <a:bodyPr lIns="47625" tIns="28575" rIns="47625" bIns="28575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5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D02F83-6B34-474E-AB65-B5147F8E3EFE}"/>
              </a:ext>
            </a:extLst>
          </p:cNvPr>
          <p:cNvSpPr>
            <a:spLocks noGrp="1"/>
          </p:cNvSpPr>
          <p:nvPr/>
        </p:nvSpPr>
        <p:spPr>
          <a:xfrm>
            <a:off x="1524000" y="2609850"/>
            <a:ext cx="3619500" cy="5905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1350" b="1">
                <a:solidFill>
                  <a:srgbClr val="233450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ไม่มีขั้น Model Training แยก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C723DC5B-7EB2-4219-A3EE-0AB7B3893EB9}"/>
              </a:ext>
            </a:extLst>
          </p:cNvPr>
          <p:cNvSpPr>
            <a:spLocks noGrp="1"/>
          </p:cNvSpPr>
          <p:nvPr/>
        </p:nvSpPr>
        <p:spPr>
          <a:xfrm>
            <a:off x="5334000" y="2905125"/>
            <a:ext cx="266700" cy="0"/>
          </a:xfrm>
          <a:prstGeom prst="line">
            <a:avLst/>
          </a:prstGeom>
          <a:noFill/>
          <a:ln w="28575">
            <a:solidFill>
              <a:srgbClr val="D7E3F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331AA7-864C-4DE4-ADE1-C88CF97D866E}"/>
              </a:ext>
            </a:extLst>
          </p:cNvPr>
          <p:cNvSpPr>
            <a:spLocks noGrp="1"/>
          </p:cNvSpPr>
          <p:nvPr/>
        </p:nvSpPr>
        <p:spPr>
          <a:xfrm>
            <a:off x="5810250" y="2609850"/>
            <a:ext cx="5334000" cy="5905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1275" b="0">
                <a:solidFill>
                  <a:srgbClr val="233450"/>
                </a:solidFill>
                <a:latin typeface="Thonburi"/>
                <a:ea typeface="Thonburi"/>
                <a:cs typeface="Thonburi"/>
              </a:defRPr>
            </a:pPr>
            <a:r>
              <a:rPr sz="1275" b="0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การแบ่งข้อมูล การปรับค่า และการทำซ้ำไม่มีตำแหน่งชัดเจน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B2C020CB-AC3B-42B9-B347-DD45E8AA952E}"/>
              </a:ext>
            </a:extLst>
          </p:cNvPr>
          <p:cNvSpPr>
            <a:spLocks noGrp="1"/>
          </p:cNvSpPr>
          <p:nvPr/>
        </p:nvSpPr>
        <p:spPr>
          <a:xfrm>
            <a:off x="838200" y="3276600"/>
            <a:ext cx="10287000" cy="0"/>
          </a:xfrm>
          <a:prstGeom prst="line">
            <a:avLst/>
          </a:prstGeom>
          <a:noFill/>
          <a:ln w="9525">
            <a:solidFill>
              <a:srgbClr val="E8EE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42D48BF-5938-4203-BE0C-0F75AE46D542}"/>
              </a:ext>
            </a:extLst>
          </p:cNvPr>
          <p:cNvSpPr>
            <a:spLocks noGrp="1"/>
          </p:cNvSpPr>
          <p:nvPr/>
        </p:nvSpPr>
        <p:spPr>
          <a:xfrm>
            <a:off x="838200" y="3457575"/>
            <a:ext cx="495300" cy="495300"/>
          </a:xfrm>
          <a:prstGeom prst="ellipse">
            <a:avLst/>
          </a:prstGeom>
          <a:solidFill>
            <a:srgbClr val="7664C5"/>
          </a:solidFill>
          <a:ln w="0">
            <a:solidFill>
              <a:srgbClr val="7664C5"/>
            </a:solidFill>
          </a:ln>
        </p:spPr>
        <p:txBody>
          <a:bodyPr lIns="47625" tIns="28575" rIns="47625" bIns="28575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5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8FDDD7-07B1-42C7-B791-EC72E5D1E275}"/>
              </a:ext>
            </a:extLst>
          </p:cNvPr>
          <p:cNvSpPr>
            <a:spLocks noGrp="1"/>
          </p:cNvSpPr>
          <p:nvPr/>
        </p:nvSpPr>
        <p:spPr>
          <a:xfrm>
            <a:off x="1524000" y="3390900"/>
            <a:ext cx="3619500" cy="5905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1350" b="1">
                <a:solidFill>
                  <a:srgbClr val="233450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บังคับ Clustering 5+ และ Classification 5+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3B8DB23-5903-44FC-B31E-5E8BC9A6367C}"/>
              </a:ext>
            </a:extLst>
          </p:cNvPr>
          <p:cNvSpPr>
            <a:spLocks noGrp="1"/>
          </p:cNvSpPr>
          <p:nvPr/>
        </p:nvSpPr>
        <p:spPr>
          <a:xfrm>
            <a:off x="5334000" y="3686175"/>
            <a:ext cx="266700" cy="0"/>
          </a:xfrm>
          <a:prstGeom prst="line">
            <a:avLst/>
          </a:prstGeom>
          <a:noFill/>
          <a:ln w="28575">
            <a:solidFill>
              <a:srgbClr val="D7E3F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563EE93-E8F8-4D5C-9C09-457264F9B656}"/>
              </a:ext>
            </a:extLst>
          </p:cNvPr>
          <p:cNvSpPr>
            <a:spLocks noGrp="1"/>
          </p:cNvSpPr>
          <p:nvPr/>
        </p:nvSpPr>
        <p:spPr>
          <a:xfrm>
            <a:off x="5810250" y="3390900"/>
            <a:ext cx="5334000" cy="5905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1275" b="0">
                <a:solidFill>
                  <a:srgbClr val="233450"/>
                </a:solidFill>
                <a:latin typeface="Thonburi"/>
                <a:ea typeface="Thonburi"/>
                <a:cs typeface="Thonburi"/>
              </a:defRPr>
            </a:pPr>
            <a:r>
              <a:rPr sz="1275" b="0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อาจฝึกโมเดลที่ไม่ตรงกับประเภทงาน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4E65C5CE-C425-4D9A-98CB-8EBD97F18FD9}"/>
              </a:ext>
            </a:extLst>
          </p:cNvPr>
          <p:cNvSpPr>
            <a:spLocks noGrp="1"/>
          </p:cNvSpPr>
          <p:nvPr/>
        </p:nvSpPr>
        <p:spPr>
          <a:xfrm>
            <a:off x="838200" y="4057650"/>
            <a:ext cx="10287000" cy="0"/>
          </a:xfrm>
          <a:prstGeom prst="line">
            <a:avLst/>
          </a:prstGeom>
          <a:noFill/>
          <a:ln w="9525">
            <a:solidFill>
              <a:srgbClr val="E8EE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BB31689-DAED-4725-8DA4-DC704120DE29}"/>
              </a:ext>
            </a:extLst>
          </p:cNvPr>
          <p:cNvSpPr>
            <a:spLocks noGrp="1"/>
          </p:cNvSpPr>
          <p:nvPr/>
        </p:nvSpPr>
        <p:spPr>
          <a:xfrm>
            <a:off x="838200" y="4238625"/>
            <a:ext cx="495300" cy="495300"/>
          </a:xfrm>
          <a:prstGeom prst="ellipse">
            <a:avLst/>
          </a:prstGeom>
          <a:solidFill>
            <a:srgbClr val="7664C5"/>
          </a:solidFill>
          <a:ln w="0">
            <a:solidFill>
              <a:srgbClr val="7664C5"/>
            </a:solidFill>
          </a:ln>
        </p:spPr>
        <p:txBody>
          <a:bodyPr lIns="47625" tIns="28575" rIns="47625" bIns="28575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5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A83DC26-171A-4F19-B9B3-485065CD5D0D}"/>
              </a:ext>
            </a:extLst>
          </p:cNvPr>
          <p:cNvSpPr>
            <a:spLocks noGrp="1"/>
          </p:cNvSpPr>
          <p:nvPr/>
        </p:nvSpPr>
        <p:spPr>
          <a:xfrm>
            <a:off x="1524000" y="4171950"/>
            <a:ext cx="3619500" cy="5905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1350" b="1">
                <a:solidFill>
                  <a:srgbClr val="233450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กำหนด Confusion Matrix สำหรับทุกงาน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FFD5CB48-AED7-490C-9DE5-8ABF8FC715BF}"/>
              </a:ext>
            </a:extLst>
          </p:cNvPr>
          <p:cNvSpPr>
            <a:spLocks noGrp="1"/>
          </p:cNvSpPr>
          <p:nvPr/>
        </p:nvSpPr>
        <p:spPr>
          <a:xfrm>
            <a:off x="5334000" y="4467225"/>
            <a:ext cx="266700" cy="0"/>
          </a:xfrm>
          <a:prstGeom prst="line">
            <a:avLst/>
          </a:prstGeom>
          <a:noFill/>
          <a:ln w="28575">
            <a:solidFill>
              <a:srgbClr val="D7E3F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649810D-241F-416F-9EAA-DBC97E9F9677}"/>
              </a:ext>
            </a:extLst>
          </p:cNvPr>
          <p:cNvSpPr>
            <a:spLocks noGrp="1"/>
          </p:cNvSpPr>
          <p:nvPr/>
        </p:nvSpPr>
        <p:spPr>
          <a:xfrm>
            <a:off x="5810250" y="4171950"/>
            <a:ext cx="5334000" cy="5905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1275" b="0">
                <a:solidFill>
                  <a:srgbClr val="233450"/>
                </a:solidFill>
                <a:latin typeface="Thonburi"/>
                <a:ea typeface="Thonburi"/>
                <a:cs typeface="Thonburi"/>
              </a:defRPr>
            </a:pPr>
            <a:r>
              <a:rPr sz="1275" b="0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เหมาะกับ Classification ที่มีคำตอบจริง แต่ไม่ใช่เกณฑ์หลักของ Clustering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4786A43E-0014-4DFD-8E51-2C8DE432FACB}"/>
              </a:ext>
            </a:extLst>
          </p:cNvPr>
          <p:cNvSpPr>
            <a:spLocks noGrp="1"/>
          </p:cNvSpPr>
          <p:nvPr/>
        </p:nvSpPr>
        <p:spPr>
          <a:xfrm>
            <a:off x="838200" y="4838700"/>
            <a:ext cx="10287000" cy="0"/>
          </a:xfrm>
          <a:prstGeom prst="line">
            <a:avLst/>
          </a:prstGeom>
          <a:noFill/>
          <a:ln w="9525">
            <a:solidFill>
              <a:srgbClr val="E8EE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47F20E0-1ABA-4A83-9B98-DAC73D8C8232}"/>
              </a:ext>
            </a:extLst>
          </p:cNvPr>
          <p:cNvSpPr>
            <a:spLocks noGrp="1"/>
          </p:cNvSpPr>
          <p:nvPr/>
        </p:nvSpPr>
        <p:spPr>
          <a:xfrm>
            <a:off x="838200" y="5019675"/>
            <a:ext cx="495300" cy="495300"/>
          </a:xfrm>
          <a:prstGeom prst="ellipse">
            <a:avLst/>
          </a:prstGeom>
          <a:solidFill>
            <a:srgbClr val="7664C5"/>
          </a:solidFill>
          <a:ln w="0">
            <a:solidFill>
              <a:srgbClr val="7664C5"/>
            </a:solidFill>
          </a:ln>
        </p:spPr>
        <p:txBody>
          <a:bodyPr lIns="47625" tIns="28575" rIns="47625" bIns="28575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5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7CCF5F9-82C5-4253-817B-3BDFE8B9BBB3}"/>
              </a:ext>
            </a:extLst>
          </p:cNvPr>
          <p:cNvSpPr>
            <a:spLocks noGrp="1"/>
          </p:cNvSpPr>
          <p:nvPr/>
        </p:nvSpPr>
        <p:spPr>
          <a:xfrm>
            <a:off x="1524000" y="4953000"/>
            <a:ext cx="3619500" cy="5905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1350" b="1">
                <a:solidFill>
                  <a:srgbClr val="233450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Revise and adjust กว้าง และไม่มี Deployment หรือ Monitoring</a:t>
            </a:r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DEB58D97-E8EC-419A-8D78-C13A05AD589C}"/>
              </a:ext>
            </a:extLst>
          </p:cNvPr>
          <p:cNvSpPr>
            <a:spLocks noGrp="1"/>
          </p:cNvSpPr>
          <p:nvPr/>
        </p:nvSpPr>
        <p:spPr>
          <a:xfrm>
            <a:off x="5334000" y="5248275"/>
            <a:ext cx="266700" cy="0"/>
          </a:xfrm>
          <a:prstGeom prst="line">
            <a:avLst/>
          </a:prstGeom>
          <a:noFill/>
          <a:ln w="28575">
            <a:solidFill>
              <a:srgbClr val="D7E3F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10D4E68-9342-4DD5-B8FE-ADFB0FC3C401}"/>
              </a:ext>
            </a:extLst>
          </p:cNvPr>
          <p:cNvSpPr>
            <a:spLocks noGrp="1"/>
          </p:cNvSpPr>
          <p:nvPr/>
        </p:nvSpPr>
        <p:spPr>
          <a:xfrm>
            <a:off x="5810250" y="4953000"/>
            <a:ext cx="5334000" cy="5905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1275" b="0">
                <a:solidFill>
                  <a:srgbClr val="233450"/>
                </a:solidFill>
                <a:latin typeface="Thonburi"/>
                <a:ea typeface="Thonburi"/>
                <a:cs typeface="Thonburi"/>
              </a:defRPr>
            </a:pPr>
            <a:r>
              <a:rPr sz="1275" b="0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ไม่มีกติกาว่าปรับเมื่อใด หยุดเมื่อใด นำไปใช้และติดตามอย่างไร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D85523B-9F0D-F0A8-5D72-41062641C645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 fontScale="95238"/>
          </a:bodyPr>
          <a:lstStyle/>
          <a:p>
            <a:pPr algn="r">
              <a:buNone/>
              <a:defRPr sz="1050" b="0">
                <a:solidFill>
                  <a:srgbClr val="4E7FB6"/>
                </a:solidFill>
                <a:latin typeface="Thonburi"/>
                <a:ea typeface="Thonburi"/>
                <a:cs typeface="Thonburi"/>
              </a:defRPr>
            </a:pPr>
            <a:r>
              <a:rPr lang="en-US" sz="1050" dirty="0">
                <a:solidFill>
                  <a:srgbClr val="4E7FB6"/>
                </a:solidFill>
                <a:latin typeface="Thonburi"/>
                <a:ea typeface="Thonburi"/>
                <a:cs typeface="Thonburi"/>
              </a:rPr>
              <a:t>05</a:t>
            </a:r>
            <a:endParaRPr sz="1050" b="0" dirty="0">
              <a:solidFill>
                <a:srgbClr val="4E7FB6"/>
              </a:solidFill>
              <a:latin typeface="Thonburi"/>
              <a:ea typeface="Thonburi"/>
              <a:cs typeface="Thonburi"/>
            </a:endParaRPr>
          </a:p>
        </p:txBody>
      </p:sp>
    </p:spTree>
    <p:extLst>
      <p:ext uri="{BB962C8B-B14F-4D97-AF65-F5344CB8AC3E}">
        <p14:creationId xmlns:p14="http://schemas.microsoft.com/office/powerpoint/2010/main" val="538446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383E4B98-68D5-A0BF-5B87-A824EBF60891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550229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buNone/>
              <a:defRPr sz="2550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2550" b="1">
                <a:latin typeface="Thonburi"/>
                <a:ea typeface="Thonburi"/>
                <a:cs typeface="Thonburi"/>
              </a:rPr>
              <a:t>Workflow กลาง: ขั้นตอน 1–4</a:t>
            </a:r>
            <a:endParaRPr sz="2550" b="1">
              <a:solidFill>
                <a:srgbClr val="173B6C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88C695-0D1C-5A05-DDBC-8585E533EFDD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104900" cy="47625"/>
          </a:xfrm>
          <a:prstGeom prst="rect">
            <a:avLst/>
          </a:prstGeom>
          <a:solidFill>
            <a:srgbClr val="54C6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15F552-89CF-A220-2863-866D44442551}"/>
              </a:ext>
            </a:extLst>
          </p:cNvPr>
          <p:cNvSpPr>
            <a:spLocks noGrp="1"/>
          </p:cNvSpPr>
          <p:nvPr/>
        </p:nvSpPr>
        <p:spPr>
          <a:xfrm>
            <a:off x="8440356" y="457200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buNone/>
              <a:defRPr sz="1200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r>
              <a:rPr sz="1200" b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ขั้นตอน 1–4: กำหนดโจทย์และเตรียมข้อมูล</a:t>
            </a:r>
            <a:endParaRPr sz="1200" b="1">
              <a:solidFill>
                <a:srgbClr val="7566B7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B70990-48D0-FB5E-A7C1-EBDA58C53BC6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1667" lnSpcReduction="20000"/>
          </a:bodyPr>
          <a:lstStyle/>
          <a:p>
            <a:pPr algn="l">
              <a:buNone/>
              <a:defRPr sz="975" b="0">
                <a:solidFill>
                  <a:srgbClr val="8190A8"/>
                </a:solidFill>
                <a:latin typeface="Thonburi"/>
                <a:ea typeface="Thonburi"/>
                <a:cs typeface="Thonburi"/>
              </a:defRPr>
            </a:pPr>
            <a:r>
              <a:rPr sz="975" b="0">
                <a:solidFill>
                  <a:srgbClr val="8190A8"/>
                </a:solidFill>
                <a:latin typeface="Thonburi"/>
                <a:ea typeface="Thonburi"/>
                <a:cs typeface="Thonburi"/>
              </a:rPr>
              <a:t>การพัฒนา Data Science Workflow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EF0874-0F56-B939-2142-1CB2C7383231}"/>
              </a:ext>
            </a:extLst>
          </p:cNvPr>
          <p:cNvSpPr>
            <a:spLocks noGrp="1"/>
          </p:cNvSpPr>
          <p:nvPr/>
        </p:nvSpPr>
        <p:spPr>
          <a:xfrm>
            <a:off x="440267" y="1381125"/>
            <a:ext cx="988483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275" b="1">
                <a:solidFill>
                  <a:srgbClr val="60708C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60708C"/>
                </a:solidFill>
                <a:latin typeface="Thonburi"/>
                <a:ea typeface="Thonburi"/>
                <a:cs typeface="Thonburi"/>
              </a:rPr>
              <a:t>ขั้นตอนใหม่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E01C5B-CB08-FC6D-B67A-9B06469C747D}"/>
              </a:ext>
            </a:extLst>
          </p:cNvPr>
          <p:cNvSpPr>
            <a:spLocks noGrp="1"/>
          </p:cNvSpPr>
          <p:nvPr/>
        </p:nvSpPr>
        <p:spPr>
          <a:xfrm>
            <a:off x="1619250" y="1381125"/>
            <a:ext cx="2714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275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ของเดิม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169A33-212E-B592-D7F7-1D794F76BE6B}"/>
              </a:ext>
            </a:extLst>
          </p:cNvPr>
          <p:cNvSpPr>
            <a:spLocks noGrp="1"/>
          </p:cNvSpPr>
          <p:nvPr/>
        </p:nvSpPr>
        <p:spPr>
          <a:xfrm>
            <a:off x="4476750" y="1381125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275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สิ่งที่เพิ่มหรือแก้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71F6C0-D299-FF4F-B3CE-3EE6A0D94741}"/>
              </a:ext>
            </a:extLst>
          </p:cNvPr>
          <p:cNvSpPr>
            <a:spLocks noGrp="1"/>
          </p:cNvSpPr>
          <p:nvPr/>
        </p:nvSpPr>
        <p:spPr>
          <a:xfrm>
            <a:off x="8001000" y="1381125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275" b="1">
                <a:solidFill>
                  <a:srgbClr val="4B9C86"/>
                </a:solidFill>
                <a:latin typeface="Thonburi"/>
                <a:ea typeface="Thonburi"/>
                <a:cs typeface="Thonburi"/>
              </a:defRPr>
            </a:pPr>
            <a:r>
              <a:rPr sz="1275" b="1" dirty="0" err="1">
                <a:solidFill>
                  <a:srgbClr val="4B9C86"/>
                </a:solidFill>
                <a:latin typeface="Thonburi"/>
                <a:ea typeface="Thonburi"/>
                <a:cs typeface="Thonburi"/>
              </a:rPr>
              <a:t>ผลดีที่เกิดขึ้น</a:t>
            </a:r>
            <a:endParaRPr sz="1275" b="1" dirty="0">
              <a:solidFill>
                <a:srgbClr val="4B9C86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AE8BC33-5577-91EA-40ED-9954B1B26CA3}"/>
              </a:ext>
            </a:extLst>
          </p:cNvPr>
          <p:cNvSpPr>
            <a:spLocks noGrp="1"/>
          </p:cNvSpPr>
          <p:nvPr/>
        </p:nvSpPr>
        <p:spPr>
          <a:xfrm>
            <a:off x="723900" y="1933575"/>
            <a:ext cx="419100" cy="419100"/>
          </a:xfrm>
          <a:prstGeom prst="ellipse">
            <a:avLst/>
          </a:prstGeom>
          <a:solidFill>
            <a:srgbClr val="4F7CA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AF03C3-FCEF-8129-F61F-D858529E1A6C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E05F0E-1565-6E6A-B796-5956C651012C}"/>
              </a:ext>
            </a:extLst>
          </p:cNvPr>
          <p:cNvSpPr>
            <a:spLocks noGrp="1"/>
          </p:cNvSpPr>
          <p:nvPr/>
        </p:nvSpPr>
        <p:spPr>
          <a:xfrm>
            <a:off x="1619250" y="1762125"/>
            <a:ext cx="2571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</a:pPr>
            <a:r>
              <a:rPr sz="1300">
                <a:latin typeface="Thonburi"/>
                <a:ea typeface="Thonburi"/>
                <a:cs typeface="Thonburi"/>
              </a:rPr>
              <a:t>Define problem and create problem statement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A963D6-3FFC-81FD-7505-2E095CFF9043}"/>
              </a:ext>
            </a:extLst>
          </p:cNvPr>
          <p:cNvSpPr>
            <a:spLocks noGrp="1"/>
          </p:cNvSpPr>
          <p:nvPr/>
        </p:nvSpPr>
        <p:spPr>
          <a:xfrm>
            <a:off x="4476750" y="1762125"/>
            <a:ext cx="3238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40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- </a:t>
            </a:r>
            <a:r>
              <a:rPr sz="1400">
                <a:latin typeface="Thonburi"/>
                <a:ea typeface="Thonburi"/>
                <a:cs typeface="Thonburi"/>
              </a:rPr>
              <a:t>Problem Definition</a:t>
            </a:r>
            <a:endParaRPr sz="1400" b="0">
              <a:solidFill>
                <a:srgbClr val="1C2B49"/>
              </a:solidFill>
              <a:latin typeface="Thonburi"/>
              <a:ea typeface="Thonburi"/>
              <a:cs typeface="Thonburi"/>
            </a:endParaRPr>
          </a:p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40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เพิ่มวัตถุประสงค์ ผลลัพธ์เป้าหมาย ประเภทงาน และเกณฑ์ความสำเร็จ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65E6CF-DBB3-B057-2189-C1004C5A8FA0}"/>
              </a:ext>
            </a:extLst>
          </p:cNvPr>
          <p:cNvSpPr>
            <a:spLocks noGrp="1"/>
          </p:cNvSpPr>
          <p:nvPr/>
        </p:nvSpPr>
        <p:spPr>
          <a:xfrm>
            <a:off x="8001000" y="1762125"/>
            <a:ext cx="319087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ทุกขั้นตัดสินใจจากโจทย์และเกณฑ์เดียวกัน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92BE83-42AE-B092-B70C-1C884BC9CE44}"/>
              </a:ext>
            </a:extLst>
          </p:cNvPr>
          <p:cNvSpPr>
            <a:spLocks noGrp="1"/>
          </p:cNvSpPr>
          <p:nvPr/>
        </p:nvSpPr>
        <p:spPr>
          <a:xfrm>
            <a:off x="1571625" y="2657475"/>
            <a:ext cx="9667875" cy="9525"/>
          </a:xfrm>
          <a:prstGeom prst="rect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A2FFD5D-A1E6-3FE6-0728-4BABD056AAE5}"/>
              </a:ext>
            </a:extLst>
          </p:cNvPr>
          <p:cNvSpPr>
            <a:spLocks noGrp="1"/>
          </p:cNvSpPr>
          <p:nvPr/>
        </p:nvSpPr>
        <p:spPr>
          <a:xfrm>
            <a:off x="723900" y="2981325"/>
            <a:ext cx="419100" cy="419100"/>
          </a:xfrm>
          <a:prstGeom prst="ellipse">
            <a:avLst/>
          </a:prstGeom>
          <a:solidFill>
            <a:srgbClr val="4F7CA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AA9159-2557-1124-D236-E3E418EEDA5C}"/>
              </a:ext>
            </a:extLst>
          </p:cNvPr>
          <p:cNvSpPr>
            <a:spLocks noGrp="1"/>
          </p:cNvSpPr>
          <p:nvPr/>
        </p:nvSpPr>
        <p:spPr>
          <a:xfrm>
            <a:off x="723900" y="30289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95A4FB-42FB-EFB5-7C4C-87A6FA54A012}"/>
              </a:ext>
            </a:extLst>
          </p:cNvPr>
          <p:cNvSpPr>
            <a:spLocks noGrp="1"/>
          </p:cNvSpPr>
          <p:nvPr/>
        </p:nvSpPr>
        <p:spPr>
          <a:xfrm>
            <a:off x="1619249" y="2809875"/>
            <a:ext cx="271462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</a:pPr>
            <a:r>
              <a:rPr sz="1200">
                <a:latin typeface="Thonburi"/>
                <a:ea typeface="Thonburi"/>
                <a:cs typeface="Thonburi"/>
              </a:rPr>
              <a:t>Find data and load targeted data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1291E72-1EBE-8A52-A245-99D8A411B43E}"/>
              </a:ext>
            </a:extLst>
          </p:cNvPr>
          <p:cNvSpPr>
            <a:spLocks noGrp="1"/>
          </p:cNvSpPr>
          <p:nvPr/>
        </p:nvSpPr>
        <p:spPr>
          <a:xfrm>
            <a:off x="4476750" y="2809875"/>
            <a:ext cx="3381378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0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- </a:t>
            </a:r>
            <a:r>
              <a:rPr sz="1300">
                <a:latin typeface="Thonburi"/>
                <a:ea typeface="Thonburi"/>
                <a:cs typeface="Thonburi"/>
              </a:rPr>
              <a:t>Data Gathering</a:t>
            </a:r>
            <a:endParaRPr sz="1300" b="0">
              <a:solidFill>
                <a:srgbClr val="1C2B49"/>
              </a:solidFill>
              <a:latin typeface="Thonburi"/>
              <a:ea typeface="Thonburi"/>
              <a:cs typeface="Thonburi"/>
            </a:endParaRPr>
          </a:p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0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เพิ่มแหล่งที่มา ขอบเขต และข้อจำกัดของข้อมูล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D23CE2-2729-F5D2-6EAA-D4A8ECC9B9AD}"/>
              </a:ext>
            </a:extLst>
          </p:cNvPr>
          <p:cNvSpPr>
            <a:spLocks noGrp="1"/>
          </p:cNvSpPr>
          <p:nvPr/>
        </p:nvSpPr>
        <p:spPr>
          <a:xfrm>
            <a:off x="8001000" y="2809875"/>
            <a:ext cx="3677856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ตรวจสอบที่มาและทราบข้อจำกัดก่อนเริ่มวิเคราะห์</a:t>
            </a:r>
            <a:endParaRPr sz="1350" b="0" dirty="0">
              <a:solidFill>
                <a:srgbClr val="1C2B49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97FD2BC-4A8C-8B67-CFFA-AB560D7E0B74}"/>
              </a:ext>
            </a:extLst>
          </p:cNvPr>
          <p:cNvSpPr>
            <a:spLocks noGrp="1"/>
          </p:cNvSpPr>
          <p:nvPr/>
        </p:nvSpPr>
        <p:spPr>
          <a:xfrm>
            <a:off x="1571625" y="3705225"/>
            <a:ext cx="9667875" cy="9525"/>
          </a:xfrm>
          <a:prstGeom prst="rect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EF6B575-0C7A-88F7-81FB-11E08123655E}"/>
              </a:ext>
            </a:extLst>
          </p:cNvPr>
          <p:cNvSpPr>
            <a:spLocks noGrp="1"/>
          </p:cNvSpPr>
          <p:nvPr/>
        </p:nvSpPr>
        <p:spPr>
          <a:xfrm>
            <a:off x="723900" y="4029075"/>
            <a:ext cx="419100" cy="419100"/>
          </a:xfrm>
          <a:prstGeom prst="ellipse">
            <a:avLst/>
          </a:prstGeom>
          <a:solidFill>
            <a:srgbClr val="7566B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F8E682-F321-FF5F-DA04-328EEF12252C}"/>
              </a:ext>
            </a:extLst>
          </p:cNvPr>
          <p:cNvSpPr>
            <a:spLocks noGrp="1"/>
          </p:cNvSpPr>
          <p:nvPr/>
        </p:nvSpPr>
        <p:spPr>
          <a:xfrm>
            <a:off x="723900" y="407670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A28FF7-00C6-FCD8-7860-E3FF1068F681}"/>
              </a:ext>
            </a:extLst>
          </p:cNvPr>
          <p:cNvSpPr>
            <a:spLocks noGrp="1"/>
          </p:cNvSpPr>
          <p:nvPr/>
        </p:nvSpPr>
        <p:spPr>
          <a:xfrm>
            <a:off x="1619250" y="3857625"/>
            <a:ext cx="2571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buNone/>
            </a:pPr>
            <a:r>
              <a:rPr sz="1200">
                <a:latin typeface="Thonburi"/>
                <a:ea typeface="Thonburi"/>
                <a:cs typeface="Thonburi"/>
              </a:rPr>
              <a:t>ส่วน Cleaning ที่เดิมรวมอยู่ใน EDA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9A85A6D-8F4E-1FFC-0817-BE7A295BB06E}"/>
              </a:ext>
            </a:extLst>
          </p:cNvPr>
          <p:cNvSpPr>
            <a:spLocks noGrp="1"/>
          </p:cNvSpPr>
          <p:nvPr/>
        </p:nvSpPr>
        <p:spPr>
          <a:xfrm>
            <a:off x="4476749" y="3857625"/>
            <a:ext cx="360570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0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- </a:t>
            </a:r>
            <a:r>
              <a:rPr sz="1300">
                <a:latin typeface="Thonburi"/>
                <a:ea typeface="Thonburi"/>
                <a:cs typeface="Thonburi"/>
              </a:rPr>
              <a:t>Data Cleaning</a:t>
            </a:r>
            <a:endParaRPr sz="1300" b="0">
              <a:solidFill>
                <a:srgbClr val="1C2B49"/>
              </a:solidFill>
              <a:latin typeface="Thonburi"/>
              <a:ea typeface="Thonburi"/>
              <a:cs typeface="Thonburi"/>
            </a:endParaRPr>
          </a:p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0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แยกการทำความสะอาดข้อมูล</a:t>
            </a:r>
            <a:r>
              <a:rPr sz="130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 </a:t>
            </a:r>
            <a:r>
              <a:rPr sz="130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เป็นขั้นตอนเฉพาะ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E36EA11-3EAD-0F73-BB48-EB7D89680F8A}"/>
              </a:ext>
            </a:extLst>
          </p:cNvPr>
          <p:cNvSpPr>
            <a:spLocks noGrp="1"/>
          </p:cNvSpPr>
          <p:nvPr/>
        </p:nvSpPr>
        <p:spPr>
          <a:xfrm>
            <a:off x="8001000" y="3857625"/>
            <a:ext cx="319087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จัดการค่าสูญหาย ข้อมูลซ้ำ ชนิดข้อมูล และความไม่สอดคล้องก่อน EDA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0774F76-5EE9-E710-6CEE-9A76773C969F}"/>
              </a:ext>
            </a:extLst>
          </p:cNvPr>
          <p:cNvSpPr>
            <a:spLocks noGrp="1"/>
          </p:cNvSpPr>
          <p:nvPr/>
        </p:nvSpPr>
        <p:spPr>
          <a:xfrm>
            <a:off x="1571625" y="4752975"/>
            <a:ext cx="9667875" cy="9525"/>
          </a:xfrm>
          <a:prstGeom prst="rect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81520E6-770E-FA07-6D7C-F1FD13E52B2B}"/>
              </a:ext>
            </a:extLst>
          </p:cNvPr>
          <p:cNvSpPr>
            <a:spLocks noGrp="1"/>
          </p:cNvSpPr>
          <p:nvPr/>
        </p:nvSpPr>
        <p:spPr>
          <a:xfrm>
            <a:off x="723900" y="5076825"/>
            <a:ext cx="419100" cy="419100"/>
          </a:xfrm>
          <a:prstGeom prst="ellipse">
            <a:avLst/>
          </a:prstGeom>
          <a:solidFill>
            <a:srgbClr val="7566B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C293957-D5CF-1280-B073-96D493456DC7}"/>
              </a:ext>
            </a:extLst>
          </p:cNvPr>
          <p:cNvSpPr>
            <a:spLocks noGrp="1"/>
          </p:cNvSpPr>
          <p:nvPr/>
        </p:nvSpPr>
        <p:spPr>
          <a:xfrm>
            <a:off x="723900" y="51244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DB164B8-DD88-E1E9-3D26-534040706E19}"/>
              </a:ext>
            </a:extLst>
          </p:cNvPr>
          <p:cNvSpPr>
            <a:spLocks noGrp="1"/>
          </p:cNvSpPr>
          <p:nvPr/>
        </p:nvSpPr>
        <p:spPr>
          <a:xfrm>
            <a:off x="1619250" y="4905375"/>
            <a:ext cx="2571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200">
                <a:latin typeface="Thonburi"/>
                <a:ea typeface="Thonburi"/>
                <a:cs typeface="Thonburi"/>
              </a:rPr>
              <a:t>ส่วน Analysis ที่เดิมรวมอยู่ใน EDA</a:t>
            </a:r>
            <a:endParaRPr sz="1200">
              <a:solidFill>
                <a:srgbClr val="1C2B49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F92B3EF-2614-3D2F-2DF9-A3EA2A6837BD}"/>
              </a:ext>
            </a:extLst>
          </p:cNvPr>
          <p:cNvSpPr>
            <a:spLocks noGrp="1"/>
          </p:cNvSpPr>
          <p:nvPr/>
        </p:nvSpPr>
        <p:spPr>
          <a:xfrm>
            <a:off x="4476750" y="4905375"/>
            <a:ext cx="3238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0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- </a:t>
            </a:r>
            <a:r>
              <a:rPr sz="1300">
                <a:latin typeface="Thonburi"/>
                <a:ea typeface="Thonburi"/>
                <a:cs typeface="Thonburi"/>
              </a:rPr>
              <a:t>Exploratory Data Analysis</a:t>
            </a:r>
            <a:endParaRPr sz="1300" b="0">
              <a:solidFill>
                <a:srgbClr val="1C2B49"/>
              </a:solidFill>
              <a:latin typeface="Thonburi"/>
              <a:ea typeface="Thonburi"/>
              <a:cs typeface="Thonburi"/>
            </a:endParaRPr>
          </a:p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0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วิเคราะห์การกระจาย ค่าผิดปกติ รูปแบบ ความสัมพันธ์ และตัวแปรสำคัญหลัง Cleaning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4118DFD-4FA6-5E53-8F3D-A8C15E868183}"/>
              </a:ext>
            </a:extLst>
          </p:cNvPr>
          <p:cNvSpPr>
            <a:spLocks noGrp="1"/>
          </p:cNvSpPr>
          <p:nvPr/>
        </p:nvSpPr>
        <p:spPr>
          <a:xfrm>
            <a:off x="8001000" y="4905375"/>
            <a:ext cx="319087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เข้าใจข้อมูลจากชุดที่สะอาดขึ้นก่อนสร้างตัวแปรหรือเลือกโมเดล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D25D537-0B25-D2E8-7E56-8ED2B5797B9D}"/>
              </a:ext>
            </a:extLst>
          </p:cNvPr>
          <p:cNvSpPr>
            <a:spLocks noGrp="1"/>
          </p:cNvSpPr>
          <p:nvPr/>
        </p:nvSpPr>
        <p:spPr>
          <a:xfrm>
            <a:off x="1571625" y="5800725"/>
            <a:ext cx="9667875" cy="9525"/>
          </a:xfrm>
          <a:prstGeom prst="rect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C591AA-D144-E97A-1AE3-6428BF1EAE9A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 fontScale="95238"/>
          </a:bodyPr>
          <a:lstStyle/>
          <a:p>
            <a:pPr algn="r">
              <a:buNone/>
              <a:defRPr sz="1050" b="0">
                <a:solidFill>
                  <a:srgbClr val="4E7FB6"/>
                </a:solidFill>
                <a:latin typeface="Thonburi"/>
                <a:ea typeface="Thonburi"/>
                <a:cs typeface="Thonburi"/>
              </a:defRPr>
            </a:pPr>
            <a:r>
              <a:rPr lang="en-US" sz="1050" dirty="0">
                <a:solidFill>
                  <a:srgbClr val="4E7FB6"/>
                </a:solidFill>
                <a:latin typeface="Thonburi"/>
                <a:ea typeface="Thonburi"/>
                <a:cs typeface="Thonburi"/>
              </a:rPr>
              <a:t>06</a:t>
            </a:r>
            <a:endParaRPr sz="1050" b="0" dirty="0">
              <a:solidFill>
                <a:srgbClr val="4E7FB6"/>
              </a:solidFill>
              <a:latin typeface="Thonburi"/>
              <a:ea typeface="Thonburi"/>
              <a:cs typeface="Thonburi"/>
            </a:endParaRPr>
          </a:p>
        </p:txBody>
      </p:sp>
    </p:spTree>
    <p:extLst>
      <p:ext uri="{BB962C8B-B14F-4D97-AF65-F5344CB8AC3E}">
        <p14:creationId xmlns:p14="http://schemas.microsoft.com/office/powerpoint/2010/main" val="1533154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A403CAA-A8B5-436B-9991-2C10C1A316C9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104900" cy="47625"/>
          </a:xfrm>
          <a:prstGeom prst="rect">
            <a:avLst/>
          </a:prstGeom>
          <a:solidFill>
            <a:srgbClr val="54C6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0C6F84-1CE0-4367-AED7-00FDCDB77AB3}"/>
              </a:ext>
            </a:extLst>
          </p:cNvPr>
          <p:cNvSpPr>
            <a:spLocks noGrp="1"/>
          </p:cNvSpPr>
          <p:nvPr/>
        </p:nvSpPr>
        <p:spPr>
          <a:xfrm>
            <a:off x="8991600" y="457200"/>
            <a:ext cx="2438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3147"/>
          </a:bodyPr>
          <a:lstStyle/>
          <a:p>
            <a:pPr algn="r">
              <a:buNone/>
              <a:defRPr sz="1200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r>
              <a:rPr sz="1200" b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ขั้นตอน 5–8: พัฒนาและประเมินโมเดล</a:t>
            </a:r>
            <a:endParaRPr sz="1200" b="1">
              <a:solidFill>
                <a:srgbClr val="7566B7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C47B18-9C18-494B-9A6C-055715FD2AD9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1667" lnSpcReduction="20000"/>
          </a:bodyPr>
          <a:lstStyle/>
          <a:p>
            <a:pPr algn="l">
              <a:buNone/>
              <a:defRPr sz="975" b="0">
                <a:solidFill>
                  <a:srgbClr val="8190A8"/>
                </a:solidFill>
                <a:latin typeface="Thonburi"/>
                <a:ea typeface="Thonburi"/>
                <a:cs typeface="Thonburi"/>
              </a:defRPr>
            </a:pPr>
            <a:r>
              <a:rPr sz="975" b="0">
                <a:solidFill>
                  <a:srgbClr val="8190A8"/>
                </a:solidFill>
                <a:latin typeface="Thonburi"/>
                <a:ea typeface="Thonburi"/>
                <a:cs typeface="Thonburi"/>
              </a:rPr>
              <a:t>การพัฒนา Data Science Workflow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9A34EE-B05F-4D50-ADDC-DC4C7C42A16A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1050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sz="1050" b="1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07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B31E0E-2515-4621-8E87-2E357DCC3E2D}"/>
              </a:ext>
            </a:extLst>
          </p:cNvPr>
          <p:cNvSpPr>
            <a:spLocks noGrp="1"/>
          </p:cNvSpPr>
          <p:nvPr/>
        </p:nvSpPr>
        <p:spPr>
          <a:xfrm>
            <a:off x="1619250" y="1381125"/>
            <a:ext cx="2714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275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ของเดิม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66B327-DDD4-4B18-99BF-0BAA5839C831}"/>
              </a:ext>
            </a:extLst>
          </p:cNvPr>
          <p:cNvSpPr>
            <a:spLocks noGrp="1"/>
          </p:cNvSpPr>
          <p:nvPr/>
        </p:nvSpPr>
        <p:spPr>
          <a:xfrm>
            <a:off x="4476750" y="1381125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275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สิ่งที่เพิ่มหรือแก้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C7B7C8-90EC-4CA2-9D5F-D20925A80A07}"/>
              </a:ext>
            </a:extLst>
          </p:cNvPr>
          <p:cNvSpPr>
            <a:spLocks noGrp="1"/>
          </p:cNvSpPr>
          <p:nvPr/>
        </p:nvSpPr>
        <p:spPr>
          <a:xfrm>
            <a:off x="8001000" y="1381125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275" b="1">
                <a:solidFill>
                  <a:srgbClr val="4B9C86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4B9C86"/>
                </a:solidFill>
                <a:latin typeface="Thonburi"/>
                <a:ea typeface="Thonburi"/>
                <a:cs typeface="Thonburi"/>
              </a:rPr>
              <a:t>ผลดีที่เกิดขึ้น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CD89A18-41A4-4382-881F-514E744644E0}"/>
              </a:ext>
            </a:extLst>
          </p:cNvPr>
          <p:cNvSpPr>
            <a:spLocks noGrp="1"/>
          </p:cNvSpPr>
          <p:nvPr/>
        </p:nvSpPr>
        <p:spPr>
          <a:xfrm>
            <a:off x="723900" y="1933575"/>
            <a:ext cx="419100" cy="419100"/>
          </a:xfrm>
          <a:prstGeom prst="ellipse">
            <a:avLst/>
          </a:prstGeom>
          <a:solidFill>
            <a:srgbClr val="7566B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4BB818-8716-482B-9043-A8A825B5816E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55B3EA-2D2F-444F-B3AB-06A76B7668F9}"/>
              </a:ext>
            </a:extLst>
          </p:cNvPr>
          <p:cNvSpPr>
            <a:spLocks noGrp="1"/>
          </p:cNvSpPr>
          <p:nvPr/>
        </p:nvSpPr>
        <p:spPr>
          <a:xfrm>
            <a:off x="1619250" y="1762125"/>
            <a:ext cx="2571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สร้างและคัดเลือกตัวแปร (Feature Engineering)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0F7CF7-C06F-40DC-A3FE-CF2076FCDED5}"/>
              </a:ext>
            </a:extLst>
          </p:cNvPr>
          <p:cNvSpPr>
            <a:spLocks noGrp="1"/>
          </p:cNvSpPr>
          <p:nvPr/>
        </p:nvSpPr>
        <p:spPr>
          <a:xfrm>
            <a:off x="4476750" y="1762125"/>
            <a:ext cx="3238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00">
                <a:latin typeface="Thonburi"/>
                <a:ea typeface="Thonburi"/>
                <a:cs typeface="Thonburi"/>
              </a:rPr>
              <a:t>- Feature engineering</a:t>
            </a:r>
            <a:endParaRPr sz="1300" b="0">
              <a:solidFill>
                <a:srgbClr val="1C2B49"/>
              </a:solidFill>
              <a:latin typeface="Thonburi"/>
              <a:ea typeface="Thonburi"/>
              <a:cs typeface="Thonburi"/>
            </a:endParaRPr>
          </a:p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0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สร้าง แปลง และคัดเลือกตัวแปร รวมถึงเข้ารหัสหรือปรับมาตราส่วนเมื่อจำเป็น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9AA009-C15A-4F6F-81F8-60A6F120B0CC}"/>
              </a:ext>
            </a:extLst>
          </p:cNvPr>
          <p:cNvSpPr>
            <a:spLocks noGrp="1"/>
          </p:cNvSpPr>
          <p:nvPr/>
        </p:nvSpPr>
        <p:spPr>
          <a:xfrm>
            <a:off x="8001000" y="1762125"/>
            <a:ext cx="319087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ทำให้ข้อมูลเหมาะกับโมเดลและลดตัวแปรที่ไม่จำเป็น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692974-DE3A-40B8-A2D8-A7C820D838CB}"/>
              </a:ext>
            </a:extLst>
          </p:cNvPr>
          <p:cNvSpPr>
            <a:spLocks noGrp="1"/>
          </p:cNvSpPr>
          <p:nvPr/>
        </p:nvSpPr>
        <p:spPr>
          <a:xfrm>
            <a:off x="1571625" y="2657475"/>
            <a:ext cx="9667875" cy="9525"/>
          </a:xfrm>
          <a:prstGeom prst="rect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E7CD9DA-221B-4495-9F11-40BAF352A604}"/>
              </a:ext>
            </a:extLst>
          </p:cNvPr>
          <p:cNvSpPr>
            <a:spLocks noGrp="1"/>
          </p:cNvSpPr>
          <p:nvPr/>
        </p:nvSpPr>
        <p:spPr>
          <a:xfrm>
            <a:off x="723900" y="2981325"/>
            <a:ext cx="419100" cy="419100"/>
          </a:xfrm>
          <a:prstGeom prst="ellipse">
            <a:avLst/>
          </a:prstGeom>
          <a:solidFill>
            <a:srgbClr val="7566B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C96C21-4DBB-4702-BD1C-78D7A2889817}"/>
              </a:ext>
            </a:extLst>
          </p:cNvPr>
          <p:cNvSpPr>
            <a:spLocks noGrp="1"/>
          </p:cNvSpPr>
          <p:nvPr/>
        </p:nvSpPr>
        <p:spPr>
          <a:xfrm>
            <a:off x="723900" y="30289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EA3A22-E48B-4CF5-A837-73328D1E37D9}"/>
              </a:ext>
            </a:extLst>
          </p:cNvPr>
          <p:cNvSpPr>
            <a:spLocks noGrp="1"/>
          </p:cNvSpPr>
          <p:nvPr/>
        </p:nvSpPr>
        <p:spPr>
          <a:xfrm>
            <a:off x="1619250" y="2809875"/>
            <a:ext cx="2571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ต้นฉบับแยก Literature Review และบังคับเลือกโมเดล 5+5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462D14-6F6A-4575-8B69-DD34E10E31D1}"/>
              </a:ext>
            </a:extLst>
          </p:cNvPr>
          <p:cNvSpPr>
            <a:spLocks noGrp="1"/>
          </p:cNvSpPr>
          <p:nvPr/>
        </p:nvSpPr>
        <p:spPr>
          <a:xfrm>
            <a:off x="4476750" y="2809875"/>
            <a:ext cx="34480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00" b="0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- </a:t>
            </a:r>
            <a:r>
              <a:rPr sz="1300" dirty="0">
                <a:latin typeface="Thonburi"/>
                <a:ea typeface="Thonburi"/>
                <a:cs typeface="Thonburi"/>
              </a:rPr>
              <a:t>Model selection</a:t>
            </a:r>
            <a:endParaRPr sz="1300" b="0" dirty="0">
              <a:solidFill>
                <a:srgbClr val="1C2B49"/>
              </a:solidFill>
              <a:latin typeface="Thonburi"/>
              <a:ea typeface="Thonburi"/>
              <a:cs typeface="Thonburi"/>
            </a:endParaRPr>
          </a:p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00" b="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รวมการทบทวนวรรณกรรมไว้กับการเลือกโมเดล</a:t>
            </a:r>
            <a:r>
              <a:rPr sz="1300" b="0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 </a:t>
            </a:r>
            <a:r>
              <a:rPr sz="1300" b="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และเลือก</a:t>
            </a:r>
            <a:r>
              <a:rPr sz="1300" b="0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 Candidate </a:t>
            </a:r>
            <a:r>
              <a:rPr sz="1300" b="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ตามโจทย์</a:t>
            </a:r>
            <a:r>
              <a:rPr sz="1300" b="0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 </a:t>
            </a:r>
            <a:r>
              <a:rPr sz="1300" b="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ข้อมูล</a:t>
            </a:r>
            <a:r>
              <a:rPr sz="1300" b="0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 </a:t>
            </a:r>
          </a:p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00" b="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และงานที่ผ่านมา</a:t>
            </a:r>
            <a:endParaRPr sz="1300" b="0" dirty="0">
              <a:solidFill>
                <a:srgbClr val="1C2B49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FDC324-BF40-436A-ABDE-A4D3C7410FDA}"/>
              </a:ext>
            </a:extLst>
          </p:cNvPr>
          <p:cNvSpPr>
            <a:spLocks noGrp="1"/>
          </p:cNvSpPr>
          <p:nvPr/>
        </p:nvSpPr>
        <p:spPr>
          <a:xfrm>
            <a:off x="8001000" y="2809875"/>
            <a:ext cx="319087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เลือกเฉพาะโมเดลที่เหมาะกับประเภทงาน ไม่บังคับ Classification และ Clustering พร้อมกัน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6CF67C-A4A4-4D09-8472-4A8BA80573F1}"/>
              </a:ext>
            </a:extLst>
          </p:cNvPr>
          <p:cNvSpPr>
            <a:spLocks noGrp="1"/>
          </p:cNvSpPr>
          <p:nvPr/>
        </p:nvSpPr>
        <p:spPr>
          <a:xfrm>
            <a:off x="1571625" y="3705225"/>
            <a:ext cx="9667875" cy="9525"/>
          </a:xfrm>
          <a:prstGeom prst="rect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3BEF777-9713-49C1-B15F-B1BC6F7C3497}"/>
              </a:ext>
            </a:extLst>
          </p:cNvPr>
          <p:cNvSpPr>
            <a:spLocks noGrp="1"/>
          </p:cNvSpPr>
          <p:nvPr/>
        </p:nvSpPr>
        <p:spPr>
          <a:xfrm>
            <a:off x="723900" y="4029075"/>
            <a:ext cx="419100" cy="419100"/>
          </a:xfrm>
          <a:prstGeom prst="ellipse">
            <a:avLst/>
          </a:prstGeom>
          <a:solidFill>
            <a:srgbClr val="7566B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909695-DAA0-4474-B55C-B83CB0455FCA}"/>
              </a:ext>
            </a:extLst>
          </p:cNvPr>
          <p:cNvSpPr>
            <a:spLocks noGrp="1"/>
          </p:cNvSpPr>
          <p:nvPr/>
        </p:nvSpPr>
        <p:spPr>
          <a:xfrm>
            <a:off x="723900" y="407670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7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15A70CC-0A94-4E06-A32A-3B6BB561D629}"/>
              </a:ext>
            </a:extLst>
          </p:cNvPr>
          <p:cNvSpPr>
            <a:spLocks noGrp="1"/>
          </p:cNvSpPr>
          <p:nvPr/>
        </p:nvSpPr>
        <p:spPr>
          <a:xfrm>
            <a:off x="1619250" y="3857625"/>
            <a:ext cx="2571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ไม่มีขั้นฝึกโมเดล (Model Training) แยก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FB2C5B3-D553-43D2-A5F1-9688274F882F}"/>
              </a:ext>
            </a:extLst>
          </p:cNvPr>
          <p:cNvSpPr>
            <a:spLocks noGrp="1"/>
          </p:cNvSpPr>
          <p:nvPr/>
        </p:nvSpPr>
        <p:spPr>
          <a:xfrm>
            <a:off x="4476750" y="3857625"/>
            <a:ext cx="3238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0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- </a:t>
            </a:r>
            <a:r>
              <a:rPr sz="1300">
                <a:latin typeface="Thonburi"/>
                <a:ea typeface="Thonburi"/>
                <a:cs typeface="Thonburi"/>
              </a:rPr>
              <a:t>Model Training</a:t>
            </a:r>
            <a:endParaRPr sz="1300" b="0">
              <a:solidFill>
                <a:srgbClr val="1C2B49"/>
              </a:solidFill>
              <a:latin typeface="Thonburi"/>
              <a:ea typeface="Thonburi"/>
              <a:cs typeface="Thonburi"/>
            </a:endParaRPr>
          </a:p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0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แยกขั้นฝึกโมเดล แบ่งข้อมูลตามประเภทงาน แล้วฝึกและปรับค่าพารามิเตอร์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B230D51-C1CD-4406-9A47-4A73EE0C6C9E}"/>
              </a:ext>
            </a:extLst>
          </p:cNvPr>
          <p:cNvSpPr>
            <a:spLocks noGrp="1"/>
          </p:cNvSpPr>
          <p:nvPr/>
        </p:nvSpPr>
        <p:spPr>
          <a:xfrm>
            <a:off x="8001000" y="3857625"/>
            <a:ext cx="319087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ทำให้การฝึก การปรับค่า และการทำซ้ำมีหลักฐานชัดเจน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2E95B7-DB00-4692-995B-42A95C775CDA}"/>
              </a:ext>
            </a:extLst>
          </p:cNvPr>
          <p:cNvSpPr>
            <a:spLocks noGrp="1"/>
          </p:cNvSpPr>
          <p:nvPr/>
        </p:nvSpPr>
        <p:spPr>
          <a:xfrm>
            <a:off x="1571625" y="4752975"/>
            <a:ext cx="9667875" cy="9525"/>
          </a:xfrm>
          <a:prstGeom prst="rect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1CDAFC7-5563-4D62-9098-1B35767E5EA1}"/>
              </a:ext>
            </a:extLst>
          </p:cNvPr>
          <p:cNvSpPr>
            <a:spLocks noGrp="1"/>
          </p:cNvSpPr>
          <p:nvPr/>
        </p:nvSpPr>
        <p:spPr>
          <a:xfrm>
            <a:off x="723900" y="5076825"/>
            <a:ext cx="419100" cy="419100"/>
          </a:xfrm>
          <a:prstGeom prst="ellipse">
            <a:avLst/>
          </a:prstGeom>
          <a:solidFill>
            <a:srgbClr val="7566B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690ECA-0E9F-49E2-9396-0C002CAF6F84}"/>
              </a:ext>
            </a:extLst>
          </p:cNvPr>
          <p:cNvSpPr>
            <a:spLocks noGrp="1"/>
          </p:cNvSpPr>
          <p:nvPr/>
        </p:nvSpPr>
        <p:spPr>
          <a:xfrm>
            <a:off x="723900" y="51244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8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E80B02A-17A9-43C0-AC4B-0DE4C52F100A}"/>
              </a:ext>
            </a:extLst>
          </p:cNvPr>
          <p:cNvSpPr>
            <a:spLocks noGrp="1"/>
          </p:cNvSpPr>
          <p:nvPr/>
        </p:nvSpPr>
        <p:spPr>
          <a:xfrm>
            <a:off x="1619250" y="4905375"/>
            <a:ext cx="2571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ต้นฉบับกำหนด Model Evaluation และ Confusion Matrix แบบตายตัว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DD6FCC4-E546-4F0A-96F2-2D8DBD877932}"/>
              </a:ext>
            </a:extLst>
          </p:cNvPr>
          <p:cNvSpPr>
            <a:spLocks noGrp="1"/>
          </p:cNvSpPr>
          <p:nvPr/>
        </p:nvSpPr>
        <p:spPr>
          <a:xfrm>
            <a:off x="4476750" y="4905375"/>
            <a:ext cx="3238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0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- </a:t>
            </a:r>
            <a:r>
              <a:rPr sz="1300">
                <a:latin typeface="Thonburi"/>
                <a:ea typeface="Thonburi"/>
                <a:cs typeface="Thonburi"/>
              </a:rPr>
              <a:t>Model Evaluation</a:t>
            </a:r>
            <a:endParaRPr sz="1300" b="0">
              <a:solidFill>
                <a:srgbClr val="1C2B49"/>
              </a:solidFill>
              <a:latin typeface="Thonburi"/>
              <a:ea typeface="Thonburi"/>
              <a:cs typeface="Thonburi"/>
            </a:endParaRPr>
          </a:p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0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ใช้ Baseline ตัวชี้วัดที่เหมาะกับประเภทงาน และการวิเคราะห์ข้อผิดพลาด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3C075FE-9670-4B37-9180-C6F18E2E0DA0}"/>
              </a:ext>
            </a:extLst>
          </p:cNvPr>
          <p:cNvSpPr>
            <a:spLocks noGrp="1"/>
          </p:cNvSpPr>
          <p:nvPr/>
        </p:nvSpPr>
        <p:spPr>
          <a:xfrm>
            <a:off x="8001000" y="4905375"/>
            <a:ext cx="319087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Classification ใช้ Confusion Matrix ได้ ส่วน Clustering ใช้คุณภาพภายในและความคงที่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999C218-3C80-439C-87B0-F7620A4E4919}"/>
              </a:ext>
            </a:extLst>
          </p:cNvPr>
          <p:cNvSpPr>
            <a:spLocks noGrp="1"/>
          </p:cNvSpPr>
          <p:nvPr/>
        </p:nvSpPr>
        <p:spPr>
          <a:xfrm>
            <a:off x="1571625" y="5800725"/>
            <a:ext cx="9667875" cy="9525"/>
          </a:xfrm>
          <a:prstGeom prst="rect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A526B37-041D-4A21-8F4B-587743172A91}"/>
              </a:ext>
            </a:extLst>
          </p:cNvPr>
          <p:cNvSpPr>
            <a:spLocks noGrp="1"/>
          </p:cNvSpPr>
          <p:nvPr/>
        </p:nvSpPr>
        <p:spPr>
          <a:xfrm>
            <a:off x="2238375" y="5905499"/>
            <a:ext cx="7715250" cy="438149"/>
          </a:xfrm>
          <a:prstGeom prst="roundRect">
            <a:avLst>
              <a:gd name="adj" fmla="val 30000"/>
            </a:avLst>
          </a:prstGeom>
          <a:solidFill>
            <a:srgbClr val="F1EDFF"/>
          </a:solidFill>
          <a:ln w="9525">
            <a:solidFill>
              <a:srgbClr val="B9A7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AB8440E-7F60-49AF-AE6E-E2C556B7D3DF}"/>
              </a:ext>
            </a:extLst>
          </p:cNvPr>
          <p:cNvSpPr>
            <a:spLocks noGrp="1"/>
          </p:cNvSpPr>
          <p:nvPr/>
        </p:nvSpPr>
        <p:spPr>
          <a:xfrm>
            <a:off x="2381250" y="5981700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350" b="1">
                <a:solidFill>
                  <a:srgbClr val="51458B"/>
                </a:solidFill>
                <a:latin typeface="Thonburi"/>
                <a:ea typeface="Thonburi"/>
                <a:cs typeface="Thonburi"/>
              </a:defRPr>
            </a:pPr>
            <a:r>
              <a:rPr sz="1400" b="1">
                <a:solidFill>
                  <a:srgbClr val="51458B"/>
                </a:solidFill>
                <a:latin typeface="Thonburi"/>
                <a:ea typeface="Thonburi"/>
                <a:cs typeface="Thonburi"/>
              </a:rPr>
              <a:t>วงจรปรับปรุงโมเดล (Model Optimization Cycle): ทำขั้นตอน 5–8 ซ้ำจนผ่านเกณฑ์ความสำเร็จ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E5C262A-D86B-F5D9-DBE4-E90F5AADD4D0}"/>
              </a:ext>
            </a:extLst>
          </p:cNvPr>
          <p:cNvSpPr>
            <a:spLocks noGrp="1"/>
          </p:cNvSpPr>
          <p:nvPr/>
        </p:nvSpPr>
        <p:spPr>
          <a:xfrm>
            <a:off x="440267" y="1381125"/>
            <a:ext cx="988483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275" b="1">
                <a:solidFill>
                  <a:srgbClr val="60708C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60708C"/>
                </a:solidFill>
                <a:latin typeface="Thonburi"/>
                <a:ea typeface="Thonburi"/>
                <a:cs typeface="Thonburi"/>
              </a:rPr>
              <a:t>ขั้นตอนใหม่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0170E30-7088-4B86-90A7-AF0DC69CAB6C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191000" cy="60960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ctr">
            <a:normAutofit fontScale="83904" lnSpcReduction="10000"/>
          </a:bodyPr>
          <a:lstStyle/>
          <a:p>
            <a:pPr algn="l">
              <a:buNone/>
              <a:defRPr sz="3000" b="1">
                <a:solidFill>
                  <a:srgbClr val="183D70"/>
                </a:solidFill>
                <a:latin typeface="Thonburi"/>
                <a:ea typeface="Thonburi"/>
                <a:cs typeface="Thonburi"/>
              </a:defRPr>
            </a:pPr>
            <a:r>
              <a:rPr sz="3000" b="1">
                <a:solidFill>
                  <a:srgbClr val="183D70"/>
                </a:solidFill>
                <a:latin typeface="Thonburi"/>
                <a:ea typeface="Thonburi"/>
                <a:cs typeface="Thonburi"/>
              </a:rPr>
              <a:t>Workflow กลาง: ขั้นตอน 5–8</a:t>
            </a:r>
          </a:p>
        </p:txBody>
      </p:sp>
    </p:spTree>
    <p:extLst>
      <p:ext uri="{BB962C8B-B14F-4D97-AF65-F5344CB8AC3E}">
        <p14:creationId xmlns:p14="http://schemas.microsoft.com/office/powerpoint/2010/main" val="1492088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8DC5AB-F59B-4045-81A7-48012A9E1B7E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104900" cy="47625"/>
          </a:xfrm>
          <a:prstGeom prst="rect">
            <a:avLst/>
          </a:prstGeom>
          <a:solidFill>
            <a:srgbClr val="54C6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6F4B8E-BE0B-451E-9985-612F57E0BD6D}"/>
              </a:ext>
            </a:extLst>
          </p:cNvPr>
          <p:cNvSpPr>
            <a:spLocks noGrp="1"/>
          </p:cNvSpPr>
          <p:nvPr/>
        </p:nvSpPr>
        <p:spPr>
          <a:xfrm>
            <a:off x="8870731" y="457200"/>
            <a:ext cx="291229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5191"/>
          </a:bodyPr>
          <a:lstStyle/>
          <a:p>
            <a:pPr>
              <a:buNone/>
              <a:defRPr sz="2550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1200" b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ขั้นตอน 9–11: นำไปใช้ สื่อสาร และติดตาม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07EE52-1A1A-48C3-BB95-EE8154CBE56B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1667" lnSpcReduction="20000"/>
          </a:bodyPr>
          <a:lstStyle/>
          <a:p>
            <a:pPr algn="l">
              <a:buNone/>
              <a:defRPr sz="975" b="0">
                <a:solidFill>
                  <a:srgbClr val="8190A8"/>
                </a:solidFill>
                <a:latin typeface="Thonburi"/>
                <a:ea typeface="Thonburi"/>
                <a:cs typeface="Thonburi"/>
              </a:defRPr>
            </a:pPr>
            <a:r>
              <a:rPr sz="975" b="0">
                <a:solidFill>
                  <a:srgbClr val="8190A8"/>
                </a:solidFill>
                <a:latin typeface="Thonburi"/>
                <a:ea typeface="Thonburi"/>
                <a:cs typeface="Thonburi"/>
              </a:rPr>
              <a:t>การพัฒนา Data Science Workflow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57420F-8DE5-4795-B5C7-566310F3B201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1050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sz="1050" b="1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08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73F6736-0079-4FF2-B0AC-401AD0EF8712}"/>
              </a:ext>
            </a:extLst>
          </p:cNvPr>
          <p:cNvSpPr>
            <a:spLocks noGrp="1"/>
          </p:cNvSpPr>
          <p:nvPr/>
        </p:nvSpPr>
        <p:spPr>
          <a:xfrm>
            <a:off x="685800" y="1970593"/>
            <a:ext cx="419100" cy="419100"/>
          </a:xfrm>
          <a:prstGeom prst="ellipse">
            <a:avLst/>
          </a:prstGeom>
          <a:solidFill>
            <a:srgbClr val="54C6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19A68A-F7D5-4667-9268-EA3410502FCE}"/>
              </a:ext>
            </a:extLst>
          </p:cNvPr>
          <p:cNvSpPr>
            <a:spLocks noGrp="1"/>
          </p:cNvSpPr>
          <p:nvPr/>
        </p:nvSpPr>
        <p:spPr>
          <a:xfrm>
            <a:off x="685800" y="2018218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8B6EE8-031B-4202-824E-812206503A39}"/>
              </a:ext>
            </a:extLst>
          </p:cNvPr>
          <p:cNvSpPr>
            <a:spLocks noGrp="1"/>
          </p:cNvSpPr>
          <p:nvPr/>
        </p:nvSpPr>
        <p:spPr>
          <a:xfrm>
            <a:off x="1238250" y="1958264"/>
            <a:ext cx="2190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350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ไม่มีขั้นนำโมเดลไปใช้งาน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EADFB0-BA64-4303-9852-E439A4086FB4}"/>
              </a:ext>
            </a:extLst>
          </p:cNvPr>
          <p:cNvSpPr>
            <a:spLocks noGrp="1"/>
          </p:cNvSpPr>
          <p:nvPr/>
        </p:nvSpPr>
        <p:spPr>
          <a:xfrm>
            <a:off x="3667125" y="1799143"/>
            <a:ext cx="2428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575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r>
              <a:rPr sz="1575" b="1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เพิ่มการนำโมเดลไปใช้งาน (Model Deployment)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7D70A6-FF3F-4F30-B2C4-456815552EB9}"/>
              </a:ext>
            </a:extLst>
          </p:cNvPr>
          <p:cNvSpPr>
            <a:spLocks noGrp="1"/>
          </p:cNvSpPr>
          <p:nvPr/>
        </p:nvSpPr>
        <p:spPr>
          <a:xfrm>
            <a:off x="6334125" y="1799143"/>
            <a:ext cx="300037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นำโมเดลไปใช้ร่วมกับกระบวนการเตรียมข้อมูลและขั้นตอนสร้างผลลัพธ์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E01C4A-3A43-47A2-AF63-F013BD885C92}"/>
              </a:ext>
            </a:extLst>
          </p:cNvPr>
          <p:cNvSpPr>
            <a:spLocks noGrp="1"/>
          </p:cNvSpPr>
          <p:nvPr/>
        </p:nvSpPr>
        <p:spPr>
          <a:xfrm>
            <a:off x="9525000" y="1799143"/>
            <a:ext cx="2162503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ลดความต่างระหว่างขั้นฝึกโมเดลกับการใช้ข้อมูลใหม่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4A32F9-4737-4B3A-BACC-21717DC6504A}"/>
              </a:ext>
            </a:extLst>
          </p:cNvPr>
          <p:cNvSpPr>
            <a:spLocks noGrp="1"/>
          </p:cNvSpPr>
          <p:nvPr/>
        </p:nvSpPr>
        <p:spPr>
          <a:xfrm>
            <a:off x="1285875" y="2989768"/>
            <a:ext cx="10191750" cy="9525"/>
          </a:xfrm>
          <a:prstGeom prst="rect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1BF35BC-0C6E-4F37-AF41-E15528E549D0}"/>
              </a:ext>
            </a:extLst>
          </p:cNvPr>
          <p:cNvSpPr>
            <a:spLocks noGrp="1"/>
          </p:cNvSpPr>
          <p:nvPr/>
        </p:nvSpPr>
        <p:spPr>
          <a:xfrm>
            <a:off x="685800" y="3437443"/>
            <a:ext cx="419100" cy="419100"/>
          </a:xfrm>
          <a:prstGeom prst="ellipse">
            <a:avLst/>
          </a:prstGeom>
          <a:solidFill>
            <a:srgbClr val="54C6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31EAFC-94D0-4D69-83DE-F8E6BD2C2CEF}"/>
              </a:ext>
            </a:extLst>
          </p:cNvPr>
          <p:cNvSpPr>
            <a:spLocks noGrp="1"/>
          </p:cNvSpPr>
          <p:nvPr/>
        </p:nvSpPr>
        <p:spPr>
          <a:xfrm>
            <a:off x="685800" y="3485068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B882D1-BB63-4E11-985E-2316576DCC6D}"/>
              </a:ext>
            </a:extLst>
          </p:cNvPr>
          <p:cNvSpPr>
            <a:spLocks noGrp="1"/>
          </p:cNvSpPr>
          <p:nvPr/>
        </p:nvSpPr>
        <p:spPr>
          <a:xfrm>
            <a:off x="1285875" y="3265993"/>
            <a:ext cx="1940801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350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Create visualization and HTML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07439C-54AF-4EDC-BBB1-07D9A135412E}"/>
              </a:ext>
            </a:extLst>
          </p:cNvPr>
          <p:cNvSpPr>
            <a:spLocks noGrp="1"/>
          </p:cNvSpPr>
          <p:nvPr/>
        </p:nvSpPr>
        <p:spPr>
          <a:xfrm>
            <a:off x="3667125" y="3265993"/>
            <a:ext cx="2428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2317"/>
          </a:bodyPr>
          <a:lstStyle/>
          <a:p>
            <a:pPr algn="l">
              <a:buNone/>
              <a:defRPr sz="1575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r>
              <a:rPr sz="1575" b="1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ขยายเป็นการสื่อสารผลลัพธ์ (Communicate Results)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8B8CC5-C6E6-4993-9EDF-91F981225B51}"/>
              </a:ext>
            </a:extLst>
          </p:cNvPr>
          <p:cNvSpPr>
            <a:spLocks noGrp="1"/>
          </p:cNvSpPr>
          <p:nvPr/>
        </p:nvSpPr>
        <p:spPr>
          <a:xfrm>
            <a:off x="6334125" y="3265993"/>
            <a:ext cx="300037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สื่อสารผล ข้อจำกัด และข้อเสนอแนะผ่านบทสรุป กราฟ และรายงาน HTML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32D11C-8DD5-488C-884E-D684ADB99EB4}"/>
              </a:ext>
            </a:extLst>
          </p:cNvPr>
          <p:cNvSpPr>
            <a:spLocks noGrp="1"/>
          </p:cNvSpPr>
          <p:nvPr/>
        </p:nvSpPr>
        <p:spPr>
          <a:xfrm>
            <a:off x="9525000" y="3265993"/>
            <a:ext cx="1952625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ทำให้ผู้ฟังเข้าใจผลและตรวจสอบข้อจำกัดได้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FF7D97-493F-4200-A985-FF1F5A1D513C}"/>
              </a:ext>
            </a:extLst>
          </p:cNvPr>
          <p:cNvSpPr>
            <a:spLocks noGrp="1"/>
          </p:cNvSpPr>
          <p:nvPr/>
        </p:nvSpPr>
        <p:spPr>
          <a:xfrm>
            <a:off x="1285875" y="4456618"/>
            <a:ext cx="10191750" cy="9525"/>
          </a:xfrm>
          <a:prstGeom prst="rect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8F2EBE2-E2A2-4DA1-8A83-542D57ADB912}"/>
              </a:ext>
            </a:extLst>
          </p:cNvPr>
          <p:cNvSpPr>
            <a:spLocks noGrp="1"/>
          </p:cNvSpPr>
          <p:nvPr/>
        </p:nvSpPr>
        <p:spPr>
          <a:xfrm>
            <a:off x="685800" y="4904293"/>
            <a:ext cx="419100" cy="419100"/>
          </a:xfrm>
          <a:prstGeom prst="ellipse">
            <a:avLst/>
          </a:prstGeom>
          <a:solidFill>
            <a:srgbClr val="4B9C8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5E2280-5836-45DA-8C71-08A65A43C7C9}"/>
              </a:ext>
            </a:extLst>
          </p:cNvPr>
          <p:cNvSpPr>
            <a:spLocks noGrp="1"/>
          </p:cNvSpPr>
          <p:nvPr/>
        </p:nvSpPr>
        <p:spPr>
          <a:xfrm>
            <a:off x="685800" y="4951918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11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927363-5072-42D3-A0B2-82E371D4F27D}"/>
              </a:ext>
            </a:extLst>
          </p:cNvPr>
          <p:cNvSpPr>
            <a:spLocks noGrp="1"/>
          </p:cNvSpPr>
          <p:nvPr/>
        </p:nvSpPr>
        <p:spPr>
          <a:xfrm>
            <a:off x="1285875" y="4857209"/>
            <a:ext cx="2190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350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ไม่มีขั้นติดตามผล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7CF2E5-F38E-4D28-A29F-D849A0A95979}"/>
              </a:ext>
            </a:extLst>
          </p:cNvPr>
          <p:cNvSpPr>
            <a:spLocks noGrp="1"/>
          </p:cNvSpPr>
          <p:nvPr/>
        </p:nvSpPr>
        <p:spPr>
          <a:xfrm>
            <a:off x="3667125" y="4732843"/>
            <a:ext cx="2428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7850"/>
          </a:bodyPr>
          <a:lstStyle/>
          <a:p>
            <a:pPr algn="l">
              <a:buNone/>
              <a:defRPr sz="1575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r>
              <a:rPr sz="1575" b="1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เพิ่มการติดตามและบำรุงรักษา (Monitor and Maintain)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06450D-6CE2-4072-998D-202A633A8363}"/>
              </a:ext>
            </a:extLst>
          </p:cNvPr>
          <p:cNvSpPr>
            <a:spLocks noGrp="1"/>
          </p:cNvSpPr>
          <p:nvPr/>
        </p:nvSpPr>
        <p:spPr>
          <a:xfrm>
            <a:off x="6334125" y="4732843"/>
            <a:ext cx="300037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ติดตามประสิทธิภาพโมเดลและการเปลี่ยนแปลงของข้อมูล พร้อมฝึกใหม่เมื่อจำเป็น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B9ED63-8DD5-4CB1-9F5E-CBE90AC1D079}"/>
              </a:ext>
            </a:extLst>
          </p:cNvPr>
          <p:cNvSpPr>
            <a:spLocks noGrp="1"/>
          </p:cNvSpPr>
          <p:nvPr/>
        </p:nvSpPr>
        <p:spPr>
          <a:xfrm>
            <a:off x="9525000" y="4732843"/>
            <a:ext cx="2047875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เมื่อพบการเปลี่ยนแปลงสำคัญ ให้กลับไปขั้นตอน 2 และทำ Workflow ใหม่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AF5BCAC-A322-436B-A6A4-C0CF76D06950}"/>
              </a:ext>
            </a:extLst>
          </p:cNvPr>
          <p:cNvSpPr>
            <a:spLocks noGrp="1"/>
          </p:cNvSpPr>
          <p:nvPr/>
        </p:nvSpPr>
        <p:spPr>
          <a:xfrm>
            <a:off x="1285875" y="5923468"/>
            <a:ext cx="10191750" cy="9525"/>
          </a:xfrm>
          <a:prstGeom prst="rect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31FE854-74C7-B6E0-988C-FCB0AA41E554}"/>
              </a:ext>
            </a:extLst>
          </p:cNvPr>
          <p:cNvSpPr>
            <a:spLocks noGrp="1"/>
          </p:cNvSpPr>
          <p:nvPr/>
        </p:nvSpPr>
        <p:spPr>
          <a:xfrm>
            <a:off x="1619250" y="1381125"/>
            <a:ext cx="2714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275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ของเดิม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3429C62-38E9-B555-3886-B4256E65117A}"/>
              </a:ext>
            </a:extLst>
          </p:cNvPr>
          <p:cNvSpPr>
            <a:spLocks noGrp="1"/>
          </p:cNvSpPr>
          <p:nvPr/>
        </p:nvSpPr>
        <p:spPr>
          <a:xfrm>
            <a:off x="3667125" y="1345859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275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สิ่งที่เพิ่มหรือแก้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F73AC25-7E98-B532-F2E8-27DE72A66099}"/>
              </a:ext>
            </a:extLst>
          </p:cNvPr>
          <p:cNvSpPr>
            <a:spLocks noGrp="1"/>
          </p:cNvSpPr>
          <p:nvPr/>
        </p:nvSpPr>
        <p:spPr>
          <a:xfrm>
            <a:off x="9525000" y="1209675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275" b="1">
                <a:solidFill>
                  <a:srgbClr val="4B9C86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4B9C86"/>
                </a:solidFill>
                <a:latin typeface="Thonburi"/>
                <a:ea typeface="Thonburi"/>
                <a:cs typeface="Thonburi"/>
              </a:rPr>
              <a:t>ผลดีที่เกิดขึ้น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2C30185-09F1-EF70-17C4-9CA5A974212F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103914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1851" lnSpcReduction="10000"/>
          </a:bodyPr>
          <a:lstStyle/>
          <a:p>
            <a:pPr>
              <a:buNone/>
              <a:defRPr sz="2550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2550" b="1">
                <a:latin typeface="Thonburi"/>
                <a:ea typeface="Thonburi"/>
                <a:cs typeface="Thonburi"/>
              </a:rPr>
              <a:t>Workflow กลาง: ขั้นตอน 9–11</a:t>
            </a:r>
            <a:endParaRPr sz="2550" b="1">
              <a:solidFill>
                <a:srgbClr val="173B6C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C86CEDC-1B7E-3754-DAFD-18CCEB8B1550}"/>
              </a:ext>
            </a:extLst>
          </p:cNvPr>
          <p:cNvSpPr>
            <a:spLocks noGrp="1"/>
          </p:cNvSpPr>
          <p:nvPr/>
        </p:nvSpPr>
        <p:spPr>
          <a:xfrm>
            <a:off x="440267" y="1381125"/>
            <a:ext cx="988483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275" b="1">
                <a:solidFill>
                  <a:srgbClr val="60708C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60708C"/>
                </a:solidFill>
                <a:latin typeface="Thonburi"/>
                <a:ea typeface="Thonburi"/>
                <a:cs typeface="Thonburi"/>
              </a:rPr>
              <a:t>ขั้นตอนใหม่</a:t>
            </a:r>
          </a:p>
        </p:txBody>
      </p:sp>
    </p:spTree>
    <p:extLst>
      <p:ext uri="{BB962C8B-B14F-4D97-AF65-F5344CB8AC3E}">
        <p14:creationId xmlns:p14="http://schemas.microsoft.com/office/powerpoint/2010/main" val="94062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0DC55772-EE06-AC39-3E9A-83D36D279657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933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buNone/>
              <a:defRPr sz="2850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2850" b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สรุป Workflow กลาง 11 ขั้นแบบครบวงจร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D40742-986A-1B1F-D3BB-434EF1843588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104900" cy="47625"/>
          </a:xfrm>
          <a:prstGeom prst="rect">
            <a:avLst/>
          </a:prstGeom>
          <a:solidFill>
            <a:srgbClr val="54C6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F694F0-C367-5B17-A336-19DBE9EE103A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1667" lnSpcReduction="20000"/>
          </a:bodyPr>
          <a:lstStyle/>
          <a:p>
            <a:pPr algn="l">
              <a:buNone/>
              <a:defRPr sz="975" b="0">
                <a:solidFill>
                  <a:srgbClr val="8190A8"/>
                </a:solidFill>
                <a:latin typeface="Thonburi"/>
                <a:ea typeface="Thonburi"/>
                <a:cs typeface="Thonburi"/>
              </a:defRPr>
            </a:pPr>
            <a:r>
              <a:rPr sz="975" b="0">
                <a:solidFill>
                  <a:srgbClr val="8190A8"/>
                </a:solidFill>
                <a:latin typeface="Thonburi"/>
                <a:ea typeface="Thonburi"/>
                <a:cs typeface="Thonburi"/>
              </a:rPr>
              <a:t>การพัฒนา Data Science Workflow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6F3EB1-A7A6-66E0-F30F-3601FADBC860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1050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sz="1050" b="1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09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30CB1C6-F686-FBD9-0B40-7244F444CAF6}"/>
              </a:ext>
            </a:extLst>
          </p:cNvPr>
          <p:cNvSpPr>
            <a:spLocks noGrp="1"/>
          </p:cNvSpPr>
          <p:nvPr/>
        </p:nvSpPr>
        <p:spPr>
          <a:xfrm>
            <a:off x="1143000" y="1381125"/>
            <a:ext cx="419100" cy="419100"/>
          </a:xfrm>
          <a:prstGeom prst="ellipse">
            <a:avLst/>
          </a:prstGeom>
          <a:solidFill>
            <a:srgbClr val="4F7CA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35CF735-0007-5698-00EF-8EF1AF7F75A0}"/>
              </a:ext>
            </a:extLst>
          </p:cNvPr>
          <p:cNvSpPr>
            <a:spLocks noGrp="1"/>
          </p:cNvSpPr>
          <p:nvPr/>
        </p:nvSpPr>
        <p:spPr>
          <a:xfrm>
            <a:off x="1143000" y="14287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1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91E8C86-06DA-12C0-6B27-E714D73828F2}"/>
              </a:ext>
            </a:extLst>
          </p:cNvPr>
          <p:cNvSpPr>
            <a:spLocks noGrp="1"/>
          </p:cNvSpPr>
          <p:nvPr/>
        </p:nvSpPr>
        <p:spPr>
          <a:xfrm>
            <a:off x="552450" y="1781175"/>
            <a:ext cx="1543050" cy="876300"/>
          </a:xfrm>
          <a:prstGeom prst="roundRect">
            <a:avLst>
              <a:gd name="adj" fmla="val 13043"/>
            </a:avLst>
          </a:prstGeom>
          <a:solidFill>
            <a:srgbClr val="EAF5FF"/>
          </a:solidFill>
          <a:ln w="19050">
            <a:solidFill>
              <a:srgbClr val="4F7C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727DBD6-7F7E-2A6B-4C9C-8237E0A49C20}"/>
              </a:ext>
            </a:extLst>
          </p:cNvPr>
          <p:cNvSpPr>
            <a:spLocks noGrp="1"/>
          </p:cNvSpPr>
          <p:nvPr/>
        </p:nvSpPr>
        <p:spPr>
          <a:xfrm>
            <a:off x="647700" y="1971675"/>
            <a:ext cx="13525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350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Problem</a:t>
            </a:r>
          </a:p>
          <a:p>
            <a:pPr algn="ctr">
              <a:buNone/>
              <a:defRPr sz="1350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Definition</a:t>
            </a:r>
          </a:p>
        </p:txBody>
      </p:sp>
      <p:sp>
        <p:nvSpPr>
          <p:cNvPr id="40" name="Chevron 39">
            <a:extLst>
              <a:ext uri="{FF2B5EF4-FFF2-40B4-BE49-F238E27FC236}">
                <a16:creationId xmlns:a16="http://schemas.microsoft.com/office/drawing/2014/main" id="{6B2789D6-D324-ACCD-97ED-B2D8B9579DCA}"/>
              </a:ext>
            </a:extLst>
          </p:cNvPr>
          <p:cNvSpPr>
            <a:spLocks noGrp="1"/>
          </p:cNvSpPr>
          <p:nvPr/>
        </p:nvSpPr>
        <p:spPr>
          <a:xfrm>
            <a:off x="2133600" y="2028825"/>
            <a:ext cx="228600" cy="400050"/>
          </a:xfrm>
          <a:prstGeom prst="chevron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E9F999E-86F9-CC2A-D550-1379D45DF57E}"/>
              </a:ext>
            </a:extLst>
          </p:cNvPr>
          <p:cNvSpPr>
            <a:spLocks noGrp="1"/>
          </p:cNvSpPr>
          <p:nvPr/>
        </p:nvSpPr>
        <p:spPr>
          <a:xfrm>
            <a:off x="3009900" y="1381125"/>
            <a:ext cx="419100" cy="419100"/>
          </a:xfrm>
          <a:prstGeom prst="ellipse">
            <a:avLst/>
          </a:prstGeom>
          <a:solidFill>
            <a:srgbClr val="4F7CA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B97B44C-B023-51B1-6084-E718F8B1B7D6}"/>
              </a:ext>
            </a:extLst>
          </p:cNvPr>
          <p:cNvSpPr>
            <a:spLocks noGrp="1"/>
          </p:cNvSpPr>
          <p:nvPr/>
        </p:nvSpPr>
        <p:spPr>
          <a:xfrm>
            <a:off x="3009900" y="14287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2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05D874BE-8F6B-2051-D719-B028349A0CEB}"/>
              </a:ext>
            </a:extLst>
          </p:cNvPr>
          <p:cNvSpPr>
            <a:spLocks noGrp="1"/>
          </p:cNvSpPr>
          <p:nvPr/>
        </p:nvSpPr>
        <p:spPr>
          <a:xfrm>
            <a:off x="2419350" y="1781175"/>
            <a:ext cx="1543050" cy="876300"/>
          </a:xfrm>
          <a:prstGeom prst="roundRect">
            <a:avLst>
              <a:gd name="adj" fmla="val 13043"/>
            </a:avLst>
          </a:prstGeom>
          <a:solidFill>
            <a:srgbClr val="EAF5FF"/>
          </a:solidFill>
          <a:ln w="19050">
            <a:solidFill>
              <a:srgbClr val="4F7C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8C3A2D7-B040-AFCA-6F78-6B9CB90D9DDE}"/>
              </a:ext>
            </a:extLst>
          </p:cNvPr>
          <p:cNvSpPr>
            <a:spLocks noGrp="1"/>
          </p:cNvSpPr>
          <p:nvPr/>
        </p:nvSpPr>
        <p:spPr>
          <a:xfrm>
            <a:off x="2514600" y="1971675"/>
            <a:ext cx="13525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350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Data</a:t>
            </a:r>
          </a:p>
          <a:p>
            <a:pPr algn="ctr">
              <a:buNone/>
              <a:defRPr sz="1350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Gathering</a:t>
            </a:r>
          </a:p>
        </p:txBody>
      </p:sp>
      <p:sp>
        <p:nvSpPr>
          <p:cNvPr id="45" name="Chevron 44">
            <a:extLst>
              <a:ext uri="{FF2B5EF4-FFF2-40B4-BE49-F238E27FC236}">
                <a16:creationId xmlns:a16="http://schemas.microsoft.com/office/drawing/2014/main" id="{54890E30-F166-9435-157D-AFBE1EF9D85E}"/>
              </a:ext>
            </a:extLst>
          </p:cNvPr>
          <p:cNvSpPr>
            <a:spLocks noGrp="1"/>
          </p:cNvSpPr>
          <p:nvPr/>
        </p:nvSpPr>
        <p:spPr>
          <a:xfrm>
            <a:off x="4000500" y="2028825"/>
            <a:ext cx="228600" cy="400050"/>
          </a:xfrm>
          <a:prstGeom prst="chevron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D722071-A4FB-A6C0-8586-411D34083EFD}"/>
              </a:ext>
            </a:extLst>
          </p:cNvPr>
          <p:cNvSpPr>
            <a:spLocks noGrp="1"/>
          </p:cNvSpPr>
          <p:nvPr/>
        </p:nvSpPr>
        <p:spPr>
          <a:xfrm>
            <a:off x="4876800" y="1381125"/>
            <a:ext cx="419100" cy="419100"/>
          </a:xfrm>
          <a:prstGeom prst="ellipse">
            <a:avLst/>
          </a:prstGeom>
          <a:solidFill>
            <a:srgbClr val="4F7CA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DD6A45F-DC2D-C06B-1D96-C5AF124CB147}"/>
              </a:ext>
            </a:extLst>
          </p:cNvPr>
          <p:cNvSpPr>
            <a:spLocks noGrp="1"/>
          </p:cNvSpPr>
          <p:nvPr/>
        </p:nvSpPr>
        <p:spPr>
          <a:xfrm>
            <a:off x="4876800" y="14287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3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B115775A-0E81-7FAB-44E1-B46628C74A91}"/>
              </a:ext>
            </a:extLst>
          </p:cNvPr>
          <p:cNvSpPr>
            <a:spLocks noGrp="1"/>
          </p:cNvSpPr>
          <p:nvPr/>
        </p:nvSpPr>
        <p:spPr>
          <a:xfrm>
            <a:off x="4286250" y="1781175"/>
            <a:ext cx="1543050" cy="876300"/>
          </a:xfrm>
          <a:prstGeom prst="roundRect">
            <a:avLst>
              <a:gd name="adj" fmla="val 13043"/>
            </a:avLst>
          </a:prstGeom>
          <a:solidFill>
            <a:srgbClr val="EAF5FF"/>
          </a:solidFill>
          <a:ln w="19050">
            <a:solidFill>
              <a:srgbClr val="4F7C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6260CCD-242A-FBA7-1CA8-521518495530}"/>
              </a:ext>
            </a:extLst>
          </p:cNvPr>
          <p:cNvSpPr>
            <a:spLocks noGrp="1"/>
          </p:cNvSpPr>
          <p:nvPr/>
        </p:nvSpPr>
        <p:spPr>
          <a:xfrm>
            <a:off x="4381500" y="1971675"/>
            <a:ext cx="13525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350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Data</a:t>
            </a:r>
          </a:p>
          <a:p>
            <a:pPr algn="ctr">
              <a:buNone/>
              <a:defRPr sz="1350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Cleaning</a:t>
            </a:r>
          </a:p>
        </p:txBody>
      </p:sp>
      <p:sp>
        <p:nvSpPr>
          <p:cNvPr id="50" name="Chevron 49">
            <a:extLst>
              <a:ext uri="{FF2B5EF4-FFF2-40B4-BE49-F238E27FC236}">
                <a16:creationId xmlns:a16="http://schemas.microsoft.com/office/drawing/2014/main" id="{5C43FA91-E6FB-8F80-CF30-C17D612F046B}"/>
              </a:ext>
            </a:extLst>
          </p:cNvPr>
          <p:cNvSpPr>
            <a:spLocks noGrp="1"/>
          </p:cNvSpPr>
          <p:nvPr/>
        </p:nvSpPr>
        <p:spPr>
          <a:xfrm>
            <a:off x="5867400" y="2028825"/>
            <a:ext cx="228600" cy="400050"/>
          </a:xfrm>
          <a:prstGeom prst="chevron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3B3E26B7-627B-E39C-7DB5-14E4772C549F}"/>
              </a:ext>
            </a:extLst>
          </p:cNvPr>
          <p:cNvSpPr>
            <a:spLocks noGrp="1"/>
          </p:cNvSpPr>
          <p:nvPr/>
        </p:nvSpPr>
        <p:spPr>
          <a:xfrm>
            <a:off x="6743700" y="1381125"/>
            <a:ext cx="419100" cy="419100"/>
          </a:xfrm>
          <a:prstGeom prst="ellipse">
            <a:avLst/>
          </a:prstGeom>
          <a:solidFill>
            <a:srgbClr val="4F7CA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18E49BF-DFAE-ACE7-E139-EF45CB5D125C}"/>
              </a:ext>
            </a:extLst>
          </p:cNvPr>
          <p:cNvSpPr>
            <a:spLocks noGrp="1"/>
          </p:cNvSpPr>
          <p:nvPr/>
        </p:nvSpPr>
        <p:spPr>
          <a:xfrm>
            <a:off x="6743700" y="14287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4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1F5D3CB0-1212-CBA7-1724-F7DDA969FEB1}"/>
              </a:ext>
            </a:extLst>
          </p:cNvPr>
          <p:cNvSpPr>
            <a:spLocks noGrp="1"/>
          </p:cNvSpPr>
          <p:nvPr/>
        </p:nvSpPr>
        <p:spPr>
          <a:xfrm>
            <a:off x="6153150" y="1781175"/>
            <a:ext cx="1543050" cy="876300"/>
          </a:xfrm>
          <a:prstGeom prst="roundRect">
            <a:avLst>
              <a:gd name="adj" fmla="val 13043"/>
            </a:avLst>
          </a:prstGeom>
          <a:solidFill>
            <a:srgbClr val="EAF5FF"/>
          </a:solidFill>
          <a:ln w="19050">
            <a:solidFill>
              <a:srgbClr val="4F7C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C2FB6D4-7100-0308-DEB8-CC7681AF8B3E}"/>
              </a:ext>
            </a:extLst>
          </p:cNvPr>
          <p:cNvSpPr>
            <a:spLocks noGrp="1"/>
          </p:cNvSpPr>
          <p:nvPr/>
        </p:nvSpPr>
        <p:spPr>
          <a:xfrm>
            <a:off x="6248400" y="1971675"/>
            <a:ext cx="13525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350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EDA</a:t>
            </a:r>
          </a:p>
        </p:txBody>
      </p:sp>
      <p:sp>
        <p:nvSpPr>
          <p:cNvPr id="55" name="Chevron 54">
            <a:extLst>
              <a:ext uri="{FF2B5EF4-FFF2-40B4-BE49-F238E27FC236}">
                <a16:creationId xmlns:a16="http://schemas.microsoft.com/office/drawing/2014/main" id="{77AFCA34-2320-C5A4-FDA2-D03DD01C2AC3}"/>
              </a:ext>
            </a:extLst>
          </p:cNvPr>
          <p:cNvSpPr>
            <a:spLocks noGrp="1"/>
          </p:cNvSpPr>
          <p:nvPr/>
        </p:nvSpPr>
        <p:spPr>
          <a:xfrm>
            <a:off x="7734300" y="2028825"/>
            <a:ext cx="228600" cy="400050"/>
          </a:xfrm>
          <a:prstGeom prst="chevron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3D5D809F-1FE2-8BF4-A643-4340112CF05C}"/>
              </a:ext>
            </a:extLst>
          </p:cNvPr>
          <p:cNvSpPr>
            <a:spLocks noGrp="1"/>
          </p:cNvSpPr>
          <p:nvPr/>
        </p:nvSpPr>
        <p:spPr>
          <a:xfrm>
            <a:off x="8610600" y="1381125"/>
            <a:ext cx="419100" cy="419100"/>
          </a:xfrm>
          <a:prstGeom prst="ellipse">
            <a:avLst/>
          </a:prstGeom>
          <a:solidFill>
            <a:srgbClr val="7566B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BAD424B-2270-C5C3-8FF9-EF1DD03AC639}"/>
              </a:ext>
            </a:extLst>
          </p:cNvPr>
          <p:cNvSpPr>
            <a:spLocks noGrp="1"/>
          </p:cNvSpPr>
          <p:nvPr/>
        </p:nvSpPr>
        <p:spPr>
          <a:xfrm>
            <a:off x="8610600" y="14287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5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142B41D5-500E-1354-C305-6A7E51DC4812}"/>
              </a:ext>
            </a:extLst>
          </p:cNvPr>
          <p:cNvSpPr>
            <a:spLocks noGrp="1"/>
          </p:cNvSpPr>
          <p:nvPr/>
        </p:nvSpPr>
        <p:spPr>
          <a:xfrm>
            <a:off x="8020050" y="1781175"/>
            <a:ext cx="1543050" cy="876300"/>
          </a:xfrm>
          <a:prstGeom prst="roundRect">
            <a:avLst>
              <a:gd name="adj" fmla="val 13043"/>
            </a:avLst>
          </a:prstGeom>
          <a:solidFill>
            <a:srgbClr val="EAF5FF"/>
          </a:solidFill>
          <a:ln w="19050">
            <a:solidFill>
              <a:srgbClr val="7566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4E1417F-1AFA-8521-FD0C-10CBEC43BEA0}"/>
              </a:ext>
            </a:extLst>
          </p:cNvPr>
          <p:cNvSpPr>
            <a:spLocks noGrp="1"/>
          </p:cNvSpPr>
          <p:nvPr/>
        </p:nvSpPr>
        <p:spPr>
          <a:xfrm>
            <a:off x="8115300" y="1971675"/>
            <a:ext cx="13525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350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Feature</a:t>
            </a:r>
          </a:p>
          <a:p>
            <a:pPr algn="ctr">
              <a:buNone/>
              <a:defRPr sz="1350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Engineering</a:t>
            </a:r>
          </a:p>
        </p:txBody>
      </p:sp>
      <p:sp>
        <p:nvSpPr>
          <p:cNvPr id="83" name="Chevron 82">
            <a:extLst>
              <a:ext uri="{FF2B5EF4-FFF2-40B4-BE49-F238E27FC236}">
                <a16:creationId xmlns:a16="http://schemas.microsoft.com/office/drawing/2014/main" id="{0C8CFEFA-6FC3-404D-6DB4-F24911AE96E4}"/>
              </a:ext>
            </a:extLst>
          </p:cNvPr>
          <p:cNvSpPr>
            <a:spLocks noGrp="1"/>
          </p:cNvSpPr>
          <p:nvPr/>
        </p:nvSpPr>
        <p:spPr>
          <a:xfrm>
            <a:off x="9601200" y="2028825"/>
            <a:ext cx="228600" cy="400050"/>
          </a:xfrm>
          <a:prstGeom prst="chevron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2A99E4A5-3916-8F18-74D7-11E67907B78E}"/>
              </a:ext>
            </a:extLst>
          </p:cNvPr>
          <p:cNvSpPr>
            <a:spLocks noGrp="1"/>
          </p:cNvSpPr>
          <p:nvPr/>
        </p:nvSpPr>
        <p:spPr>
          <a:xfrm>
            <a:off x="10477500" y="1381125"/>
            <a:ext cx="419100" cy="419100"/>
          </a:xfrm>
          <a:prstGeom prst="ellipse">
            <a:avLst/>
          </a:prstGeom>
          <a:solidFill>
            <a:srgbClr val="7566B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75188DA-7A55-9625-5EED-CC3E8C538A5E}"/>
              </a:ext>
            </a:extLst>
          </p:cNvPr>
          <p:cNvSpPr>
            <a:spLocks noGrp="1"/>
          </p:cNvSpPr>
          <p:nvPr/>
        </p:nvSpPr>
        <p:spPr>
          <a:xfrm>
            <a:off x="10477500" y="14287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6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5A26093D-3CD3-B525-6D71-E930AC9BB00A}"/>
              </a:ext>
            </a:extLst>
          </p:cNvPr>
          <p:cNvSpPr>
            <a:spLocks noGrp="1"/>
          </p:cNvSpPr>
          <p:nvPr/>
        </p:nvSpPr>
        <p:spPr>
          <a:xfrm>
            <a:off x="9886950" y="1781175"/>
            <a:ext cx="1543050" cy="876300"/>
          </a:xfrm>
          <a:prstGeom prst="roundRect">
            <a:avLst>
              <a:gd name="adj" fmla="val 13043"/>
            </a:avLst>
          </a:prstGeom>
          <a:solidFill>
            <a:srgbClr val="EAF5FF"/>
          </a:solidFill>
          <a:ln w="19050">
            <a:solidFill>
              <a:srgbClr val="7566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34CFC758-7F27-7A00-9B97-CFF3066FC654}"/>
              </a:ext>
            </a:extLst>
          </p:cNvPr>
          <p:cNvSpPr>
            <a:spLocks noGrp="1"/>
          </p:cNvSpPr>
          <p:nvPr/>
        </p:nvSpPr>
        <p:spPr>
          <a:xfrm>
            <a:off x="9982200" y="1971675"/>
            <a:ext cx="13525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350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Model</a:t>
            </a:r>
          </a:p>
          <a:p>
            <a:pPr algn="ctr">
              <a:buNone/>
              <a:defRPr sz="1350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Selection</a:t>
            </a: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5D63A61D-25F5-49DA-B75F-BDF6222B8A2E}"/>
              </a:ext>
            </a:extLst>
          </p:cNvPr>
          <p:cNvSpPr>
            <a:spLocks noGrp="1"/>
          </p:cNvSpPr>
          <p:nvPr/>
        </p:nvSpPr>
        <p:spPr>
          <a:xfrm>
            <a:off x="8020050" y="2817019"/>
            <a:ext cx="2386012" cy="666750"/>
          </a:xfrm>
          <a:prstGeom prst="roundRect">
            <a:avLst>
              <a:gd name="adj" fmla="val 17143"/>
            </a:avLst>
          </a:prstGeom>
          <a:solidFill>
            <a:srgbClr val="F1EDFF"/>
          </a:solidFill>
          <a:ln w="9525">
            <a:solidFill>
              <a:srgbClr val="B9A7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60CD8E8B-E32B-4430-A22A-B3EE20CEBB15}"/>
              </a:ext>
            </a:extLst>
          </p:cNvPr>
          <p:cNvSpPr>
            <a:spLocks noGrp="1"/>
          </p:cNvSpPr>
          <p:nvPr/>
        </p:nvSpPr>
        <p:spPr>
          <a:xfrm>
            <a:off x="8116614" y="2909797"/>
            <a:ext cx="2197317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51458B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51458B"/>
                </a:solidFill>
                <a:latin typeface="Thonburi"/>
                <a:ea typeface="Thonburi"/>
                <a:cs typeface="Thonburi"/>
              </a:rPr>
              <a:t>Model Optimization </a:t>
            </a:r>
            <a:r>
              <a:rPr sz="1275" b="1"/>
              <a:t>Cycle</a:t>
            </a:r>
            <a:endParaRPr sz="1275" b="1">
              <a:solidFill>
                <a:srgbClr val="51458B"/>
              </a:solidFill>
              <a:latin typeface="Thonburi"/>
              <a:ea typeface="Thonburi"/>
              <a:cs typeface="Thonburi"/>
            </a:endParaRPr>
          </a:p>
          <a:p>
            <a:pPr algn="ctr">
              <a:buNone/>
              <a:defRPr sz="1275" b="1">
                <a:solidFill>
                  <a:srgbClr val="51458B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51458B"/>
                </a:solidFill>
                <a:latin typeface="Thonburi"/>
                <a:ea typeface="Thonburi"/>
                <a:cs typeface="Thonburi"/>
              </a:rPr>
              <a:t>Steps 5–8</a:t>
            </a: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C409A4AF-98A9-F883-19FE-9479C25750C4}"/>
              </a:ext>
            </a:extLst>
          </p:cNvPr>
          <p:cNvSpPr>
            <a:spLocks noGrp="1"/>
          </p:cNvSpPr>
          <p:nvPr/>
        </p:nvSpPr>
        <p:spPr>
          <a:xfrm>
            <a:off x="2141316" y="5422016"/>
            <a:ext cx="7448550" cy="514350"/>
          </a:xfrm>
          <a:prstGeom prst="roundRect">
            <a:avLst>
              <a:gd name="adj" fmla="val 22222"/>
            </a:avLst>
          </a:prstGeom>
          <a:solidFill>
            <a:srgbClr val="EAF5FF"/>
          </a:solidFill>
          <a:ln w="9525">
            <a:solidFill>
              <a:srgbClr val="8FD3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C079915-3AFC-68A9-BC12-3D23A9D0CAA7}"/>
              </a:ext>
            </a:extLst>
          </p:cNvPr>
          <p:cNvSpPr>
            <a:spLocks noGrp="1"/>
          </p:cNvSpPr>
          <p:nvPr/>
        </p:nvSpPr>
        <p:spPr>
          <a:xfrm>
            <a:off x="2312766" y="5555366"/>
            <a:ext cx="7105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350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Feedback Loop: เมื่อข้อมูลหรือประสิทธิภาพเปลี่ยน ให้กลับไป Step 2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233A9E76-9101-1944-FBC9-CCFEB5AFFD75}"/>
              </a:ext>
            </a:extLst>
          </p:cNvPr>
          <p:cNvSpPr>
            <a:spLocks noGrp="1"/>
          </p:cNvSpPr>
          <p:nvPr/>
        </p:nvSpPr>
        <p:spPr>
          <a:xfrm>
            <a:off x="10534650" y="3595688"/>
            <a:ext cx="419100" cy="419100"/>
          </a:xfrm>
          <a:prstGeom prst="ellipse">
            <a:avLst/>
          </a:prstGeom>
          <a:solidFill>
            <a:srgbClr val="7566B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F3C39EC0-31DA-1DC3-D232-C77F0FC738C0}"/>
              </a:ext>
            </a:extLst>
          </p:cNvPr>
          <p:cNvSpPr>
            <a:spLocks noGrp="1"/>
          </p:cNvSpPr>
          <p:nvPr/>
        </p:nvSpPr>
        <p:spPr>
          <a:xfrm>
            <a:off x="10534650" y="3643313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7</a:t>
            </a: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E99EF03F-B26C-E1DD-A269-CE0DC019791D}"/>
              </a:ext>
            </a:extLst>
          </p:cNvPr>
          <p:cNvSpPr>
            <a:spLocks noGrp="1"/>
          </p:cNvSpPr>
          <p:nvPr/>
        </p:nvSpPr>
        <p:spPr>
          <a:xfrm>
            <a:off x="9944100" y="3995738"/>
            <a:ext cx="1543050" cy="876300"/>
          </a:xfrm>
          <a:prstGeom prst="roundRect">
            <a:avLst>
              <a:gd name="adj" fmla="val 13043"/>
            </a:avLst>
          </a:prstGeom>
          <a:solidFill>
            <a:srgbClr val="F1EDFF"/>
          </a:solidFill>
          <a:ln w="19050">
            <a:solidFill>
              <a:srgbClr val="7566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DBA9A25-F3A2-19A0-82BA-5EB5679C364A}"/>
              </a:ext>
            </a:extLst>
          </p:cNvPr>
          <p:cNvSpPr>
            <a:spLocks noGrp="1"/>
          </p:cNvSpPr>
          <p:nvPr/>
        </p:nvSpPr>
        <p:spPr>
          <a:xfrm>
            <a:off x="10039350" y="4186238"/>
            <a:ext cx="13525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350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Model</a:t>
            </a:r>
          </a:p>
          <a:p>
            <a:pPr algn="ctr">
              <a:buNone/>
              <a:defRPr sz="1350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Training</a:t>
            </a:r>
          </a:p>
        </p:txBody>
      </p:sp>
      <p:sp>
        <p:nvSpPr>
          <p:cNvPr id="102" name="Chevron 101">
            <a:extLst>
              <a:ext uri="{FF2B5EF4-FFF2-40B4-BE49-F238E27FC236}">
                <a16:creationId xmlns:a16="http://schemas.microsoft.com/office/drawing/2014/main" id="{7B6E6CF0-951C-07A1-651B-F8F672C4F3D7}"/>
              </a:ext>
            </a:extLst>
          </p:cNvPr>
          <p:cNvSpPr>
            <a:spLocks noGrp="1"/>
          </p:cNvSpPr>
          <p:nvPr/>
        </p:nvSpPr>
        <p:spPr>
          <a:xfrm rot="10800000">
            <a:off x="9657691" y="4288547"/>
            <a:ext cx="228600" cy="400050"/>
          </a:xfrm>
          <a:prstGeom prst="chevron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409F2BBD-664E-C9B0-2D39-059DD152E931}"/>
              </a:ext>
            </a:extLst>
          </p:cNvPr>
          <p:cNvSpPr>
            <a:spLocks noGrp="1"/>
          </p:cNvSpPr>
          <p:nvPr/>
        </p:nvSpPr>
        <p:spPr>
          <a:xfrm>
            <a:off x="8688770" y="3650372"/>
            <a:ext cx="419100" cy="419100"/>
          </a:xfrm>
          <a:prstGeom prst="ellipse">
            <a:avLst/>
          </a:prstGeom>
          <a:solidFill>
            <a:srgbClr val="7566B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C64DF50F-B48B-A672-C1FA-7F5C92B1D7BA}"/>
              </a:ext>
            </a:extLst>
          </p:cNvPr>
          <p:cNvSpPr>
            <a:spLocks noGrp="1"/>
          </p:cNvSpPr>
          <p:nvPr/>
        </p:nvSpPr>
        <p:spPr>
          <a:xfrm>
            <a:off x="8688770" y="3697997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8</a:t>
            </a:r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4DBD151D-8D25-711B-A872-3A7910FBCC6E}"/>
              </a:ext>
            </a:extLst>
          </p:cNvPr>
          <p:cNvSpPr>
            <a:spLocks noGrp="1"/>
          </p:cNvSpPr>
          <p:nvPr/>
        </p:nvSpPr>
        <p:spPr>
          <a:xfrm>
            <a:off x="8098220" y="4050422"/>
            <a:ext cx="1543050" cy="876300"/>
          </a:xfrm>
          <a:prstGeom prst="roundRect">
            <a:avLst>
              <a:gd name="adj" fmla="val 13043"/>
            </a:avLst>
          </a:prstGeom>
          <a:solidFill>
            <a:srgbClr val="F1EDFF"/>
          </a:solidFill>
          <a:ln w="19050">
            <a:solidFill>
              <a:srgbClr val="7566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F5A142DF-B90C-E695-E53D-0199E9EE2D65}"/>
              </a:ext>
            </a:extLst>
          </p:cNvPr>
          <p:cNvSpPr>
            <a:spLocks noGrp="1"/>
          </p:cNvSpPr>
          <p:nvPr/>
        </p:nvSpPr>
        <p:spPr>
          <a:xfrm>
            <a:off x="8193470" y="4240922"/>
            <a:ext cx="13525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350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Model</a:t>
            </a:r>
          </a:p>
          <a:p>
            <a:pPr algn="ctr">
              <a:buNone/>
              <a:defRPr sz="1350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Evaluation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CA9CE60F-B172-9EB6-5E2E-8FDAB40693BF}"/>
              </a:ext>
            </a:extLst>
          </p:cNvPr>
          <p:cNvSpPr>
            <a:spLocks noGrp="1"/>
          </p:cNvSpPr>
          <p:nvPr/>
        </p:nvSpPr>
        <p:spPr>
          <a:xfrm>
            <a:off x="6778680" y="3634935"/>
            <a:ext cx="419100" cy="419100"/>
          </a:xfrm>
          <a:prstGeom prst="ellipse">
            <a:avLst/>
          </a:prstGeom>
          <a:solidFill>
            <a:srgbClr val="54C6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17CC5542-30A3-680F-A326-7BEB3864BE14}"/>
              </a:ext>
            </a:extLst>
          </p:cNvPr>
          <p:cNvSpPr>
            <a:spLocks noGrp="1"/>
          </p:cNvSpPr>
          <p:nvPr/>
        </p:nvSpPr>
        <p:spPr>
          <a:xfrm>
            <a:off x="6778680" y="368256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9</a:t>
            </a:r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E422D94B-717F-2DBE-116A-9DF7D70F2AB6}"/>
              </a:ext>
            </a:extLst>
          </p:cNvPr>
          <p:cNvSpPr>
            <a:spLocks noGrp="1"/>
          </p:cNvSpPr>
          <p:nvPr/>
        </p:nvSpPr>
        <p:spPr>
          <a:xfrm>
            <a:off x="6232635" y="4034985"/>
            <a:ext cx="1543050" cy="876300"/>
          </a:xfrm>
          <a:prstGeom prst="roundRect">
            <a:avLst>
              <a:gd name="adj" fmla="val 13043"/>
            </a:avLst>
          </a:prstGeom>
          <a:solidFill>
            <a:srgbClr val="F1EDFF"/>
          </a:solidFill>
          <a:ln w="19050">
            <a:solidFill>
              <a:srgbClr val="54C6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563F79B8-CE6C-1152-85B2-1A12D3FC8C72}"/>
              </a:ext>
            </a:extLst>
          </p:cNvPr>
          <p:cNvSpPr>
            <a:spLocks noGrp="1"/>
          </p:cNvSpPr>
          <p:nvPr/>
        </p:nvSpPr>
        <p:spPr>
          <a:xfrm>
            <a:off x="6327885" y="4225485"/>
            <a:ext cx="13525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350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Model</a:t>
            </a:r>
          </a:p>
          <a:p>
            <a:pPr algn="ctr">
              <a:buNone/>
              <a:defRPr sz="1350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Deployment</a:t>
            </a:r>
          </a:p>
        </p:txBody>
      </p:sp>
      <p:sp>
        <p:nvSpPr>
          <p:cNvPr id="111" name="Chevron 110">
            <a:extLst>
              <a:ext uri="{FF2B5EF4-FFF2-40B4-BE49-F238E27FC236}">
                <a16:creationId xmlns:a16="http://schemas.microsoft.com/office/drawing/2014/main" id="{690A4573-E17E-4037-3EE1-FD51C167B009}"/>
              </a:ext>
            </a:extLst>
          </p:cNvPr>
          <p:cNvSpPr>
            <a:spLocks noGrp="1"/>
          </p:cNvSpPr>
          <p:nvPr/>
        </p:nvSpPr>
        <p:spPr>
          <a:xfrm rot="10800000">
            <a:off x="7813785" y="4282635"/>
            <a:ext cx="228600" cy="400050"/>
          </a:xfrm>
          <a:prstGeom prst="chevron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F14EE493-DDD0-0B3B-64E3-FFC83C527E22}"/>
              </a:ext>
            </a:extLst>
          </p:cNvPr>
          <p:cNvSpPr>
            <a:spLocks noGrp="1"/>
          </p:cNvSpPr>
          <p:nvPr/>
        </p:nvSpPr>
        <p:spPr>
          <a:xfrm>
            <a:off x="4894287" y="3655956"/>
            <a:ext cx="419100" cy="419100"/>
          </a:xfrm>
          <a:prstGeom prst="ellipse">
            <a:avLst/>
          </a:prstGeom>
          <a:solidFill>
            <a:srgbClr val="54C6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6A6127C4-3417-9FC0-EA6E-9A6B330F64B5}"/>
              </a:ext>
            </a:extLst>
          </p:cNvPr>
          <p:cNvSpPr>
            <a:spLocks noGrp="1"/>
          </p:cNvSpPr>
          <p:nvPr/>
        </p:nvSpPr>
        <p:spPr>
          <a:xfrm>
            <a:off x="4894287" y="3703581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10</a:t>
            </a: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9B2E08C0-45E7-9893-14C1-5CABC0B5D0E0}"/>
              </a:ext>
            </a:extLst>
          </p:cNvPr>
          <p:cNvSpPr>
            <a:spLocks noGrp="1"/>
          </p:cNvSpPr>
          <p:nvPr/>
        </p:nvSpPr>
        <p:spPr>
          <a:xfrm>
            <a:off x="4356210" y="4045163"/>
            <a:ext cx="1543050" cy="876300"/>
          </a:xfrm>
          <a:prstGeom prst="roundRect">
            <a:avLst>
              <a:gd name="adj" fmla="val 13043"/>
            </a:avLst>
          </a:prstGeom>
          <a:solidFill>
            <a:srgbClr val="F1EDFF"/>
          </a:solidFill>
          <a:ln w="19050">
            <a:solidFill>
              <a:srgbClr val="54C6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ACD00A2A-E505-0FBE-5926-94AFA27EAF4C}"/>
              </a:ext>
            </a:extLst>
          </p:cNvPr>
          <p:cNvSpPr>
            <a:spLocks noGrp="1"/>
          </p:cNvSpPr>
          <p:nvPr/>
        </p:nvSpPr>
        <p:spPr>
          <a:xfrm>
            <a:off x="4451460" y="4235663"/>
            <a:ext cx="13525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350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Communicate</a:t>
            </a:r>
          </a:p>
          <a:p>
            <a:pPr algn="ctr">
              <a:buNone/>
              <a:defRPr sz="1350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Results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0BB22159-E7B8-E81A-FDA2-7950799E0ACD}"/>
              </a:ext>
            </a:extLst>
          </p:cNvPr>
          <p:cNvSpPr>
            <a:spLocks noGrp="1"/>
          </p:cNvSpPr>
          <p:nvPr/>
        </p:nvSpPr>
        <p:spPr>
          <a:xfrm>
            <a:off x="3044877" y="3630007"/>
            <a:ext cx="419100" cy="419100"/>
          </a:xfrm>
          <a:prstGeom prst="ellipse">
            <a:avLst/>
          </a:prstGeom>
          <a:solidFill>
            <a:srgbClr val="54C6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031CEA65-9284-6468-B184-54971E8DCC6C}"/>
              </a:ext>
            </a:extLst>
          </p:cNvPr>
          <p:cNvSpPr>
            <a:spLocks noGrp="1"/>
          </p:cNvSpPr>
          <p:nvPr/>
        </p:nvSpPr>
        <p:spPr>
          <a:xfrm>
            <a:off x="3044877" y="3677632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11</a:t>
            </a:r>
          </a:p>
        </p:txBody>
      </p: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id="{F7372128-094F-E6A2-B1EE-29EE219F0862}"/>
              </a:ext>
            </a:extLst>
          </p:cNvPr>
          <p:cNvSpPr>
            <a:spLocks noGrp="1"/>
          </p:cNvSpPr>
          <p:nvPr/>
        </p:nvSpPr>
        <p:spPr>
          <a:xfrm>
            <a:off x="2454327" y="4030057"/>
            <a:ext cx="1543050" cy="876300"/>
          </a:xfrm>
          <a:prstGeom prst="roundRect">
            <a:avLst>
              <a:gd name="adj" fmla="val 13043"/>
            </a:avLst>
          </a:prstGeom>
          <a:solidFill>
            <a:srgbClr val="F1EDFF"/>
          </a:solidFill>
          <a:ln w="19050">
            <a:solidFill>
              <a:srgbClr val="54C6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05D500A1-0538-217B-FDC9-878AED10414A}"/>
              </a:ext>
            </a:extLst>
          </p:cNvPr>
          <p:cNvSpPr>
            <a:spLocks noGrp="1"/>
          </p:cNvSpPr>
          <p:nvPr/>
        </p:nvSpPr>
        <p:spPr>
          <a:xfrm>
            <a:off x="2549577" y="4220557"/>
            <a:ext cx="13525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350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Monitor &amp;</a:t>
            </a:r>
          </a:p>
          <a:p>
            <a:pPr algn="ctr">
              <a:buNone/>
              <a:defRPr sz="1350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Maintain</a:t>
            </a:r>
          </a:p>
        </p:txBody>
      </p:sp>
      <p:sp>
        <p:nvSpPr>
          <p:cNvPr id="120" name="Chevron 119">
            <a:extLst>
              <a:ext uri="{FF2B5EF4-FFF2-40B4-BE49-F238E27FC236}">
                <a16:creationId xmlns:a16="http://schemas.microsoft.com/office/drawing/2014/main" id="{3D4B8935-1415-A1ED-7968-365003001C38}"/>
              </a:ext>
            </a:extLst>
          </p:cNvPr>
          <p:cNvSpPr>
            <a:spLocks noGrp="1"/>
          </p:cNvSpPr>
          <p:nvPr/>
        </p:nvSpPr>
        <p:spPr>
          <a:xfrm rot="10800000">
            <a:off x="5981370" y="4282636"/>
            <a:ext cx="228600" cy="400050"/>
          </a:xfrm>
          <a:prstGeom prst="chevron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1" name="Chevron 120">
            <a:extLst>
              <a:ext uri="{FF2B5EF4-FFF2-40B4-BE49-F238E27FC236}">
                <a16:creationId xmlns:a16="http://schemas.microsoft.com/office/drawing/2014/main" id="{7F547DAC-154A-1C80-5B21-E560217B494C}"/>
              </a:ext>
            </a:extLst>
          </p:cNvPr>
          <p:cNvSpPr>
            <a:spLocks noGrp="1"/>
          </p:cNvSpPr>
          <p:nvPr/>
        </p:nvSpPr>
        <p:spPr>
          <a:xfrm rot="10800000">
            <a:off x="4067506" y="4250441"/>
            <a:ext cx="228600" cy="400050"/>
          </a:xfrm>
          <a:prstGeom prst="chevron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2" name="Chevron 121">
            <a:extLst>
              <a:ext uri="{FF2B5EF4-FFF2-40B4-BE49-F238E27FC236}">
                <a16:creationId xmlns:a16="http://schemas.microsoft.com/office/drawing/2014/main" id="{0F7BFF8D-74CC-209F-9113-8557616EE2AF}"/>
              </a:ext>
            </a:extLst>
          </p:cNvPr>
          <p:cNvSpPr>
            <a:spLocks noGrp="1"/>
          </p:cNvSpPr>
          <p:nvPr/>
        </p:nvSpPr>
        <p:spPr>
          <a:xfrm rot="5400000">
            <a:off x="10656011" y="2969419"/>
            <a:ext cx="228600" cy="400050"/>
          </a:xfrm>
          <a:prstGeom prst="chevron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26184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AFCA989-1494-E29F-E465-CD59B6576650}"/>
              </a:ext>
            </a:extLst>
          </p:cNvPr>
          <p:cNvSpPr>
            <a:spLocks noGrp="1"/>
          </p:cNvSpPr>
          <p:nvPr/>
        </p:nvSpPr>
        <p:spPr>
          <a:xfrm>
            <a:off x="993401" y="5302684"/>
            <a:ext cx="10150849" cy="633682"/>
          </a:xfrm>
          <a:prstGeom prst="roundRect">
            <a:avLst>
              <a:gd name="adj" fmla="val 22222"/>
            </a:avLst>
          </a:prstGeom>
          <a:solidFill>
            <a:srgbClr val="EAF5FF"/>
          </a:solidFill>
          <a:ln w="9525">
            <a:solidFill>
              <a:srgbClr val="8FD3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4B08B3D-C1C7-4D19-8264-1AFF74A96352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933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2850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2850" b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การปรับ Workflow กลางให้เหมาะกับโครงการ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B16027-6290-4D5B-A487-28C7146A9D95}"/>
              </a:ext>
            </a:extLst>
          </p:cNvPr>
          <p:cNvSpPr>
            <a:spLocks noGrp="1"/>
          </p:cNvSpPr>
          <p:nvPr/>
        </p:nvSpPr>
        <p:spPr>
          <a:xfrm flipV="1">
            <a:off x="677557" y="842342"/>
            <a:ext cx="3548743" cy="57150"/>
          </a:xfrm>
          <a:prstGeom prst="rect">
            <a:avLst/>
          </a:prstGeom>
          <a:solidFill>
            <a:srgbClr val="54C6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39182C-3B76-425D-B902-812FAAAAF874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3333" lnSpcReduction="20000"/>
          </a:bodyPr>
          <a:lstStyle/>
          <a:p>
            <a:pPr algn="l">
              <a:buNone/>
              <a:defRPr sz="975" b="0">
                <a:solidFill>
                  <a:srgbClr val="8190A8"/>
                </a:solidFill>
                <a:latin typeface="Thonburi"/>
                <a:ea typeface="Thonburi"/>
                <a:cs typeface="Thonburi"/>
              </a:defRPr>
            </a:pPr>
            <a:r>
              <a:rPr sz="975" b="0" dirty="0" err="1">
                <a:solidFill>
                  <a:srgbClr val="8190A8"/>
                </a:solidFill>
                <a:latin typeface="Thonburi"/>
                <a:ea typeface="Thonburi"/>
                <a:cs typeface="Thonburi"/>
              </a:rPr>
              <a:t>agy_workflow.md</a:t>
            </a:r>
            <a:r>
              <a:rPr sz="975" b="0" dirty="0">
                <a:solidFill>
                  <a:srgbClr val="8190A8"/>
                </a:solidFill>
                <a:latin typeface="Thonburi"/>
                <a:ea typeface="Thonburi"/>
                <a:cs typeface="Thonburi"/>
              </a:rPr>
              <a:t> · Student Segmentation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C1779B-9BE7-4629-8D2E-C54ACF7886F1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1050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sz="1050" b="1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10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2185E0-14D9-4C44-86F5-E1C52C7C0338}"/>
              </a:ext>
            </a:extLst>
          </p:cNvPr>
          <p:cNvSpPr>
            <a:spLocks noGrp="1"/>
          </p:cNvSpPr>
          <p:nvPr/>
        </p:nvSpPr>
        <p:spPr>
          <a:xfrm>
            <a:off x="4516574" y="1147517"/>
            <a:ext cx="296441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100" b="1">
                <a:solidFill>
                  <a:srgbClr val="51458B"/>
                </a:solidFill>
                <a:latin typeface="Thonburi"/>
                <a:ea typeface="Thonburi"/>
                <a:cs typeface="Thonburi"/>
              </a:defRPr>
            </a:pPr>
            <a:r>
              <a:rPr sz="2100" b="1" dirty="0" err="1">
                <a:solidFill>
                  <a:srgbClr val="51458B"/>
                </a:solidFill>
                <a:latin typeface="Thonburi"/>
                <a:ea typeface="Thonburi"/>
                <a:cs typeface="Thonburi"/>
              </a:rPr>
              <a:t>ข้อกำหนดเฉพาะโครงการ</a:t>
            </a:r>
            <a:endParaRPr sz="2100" b="1" dirty="0">
              <a:solidFill>
                <a:srgbClr val="51458B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A99C274-CF06-4693-A6D3-C4EF766ACD7C}"/>
              </a:ext>
            </a:extLst>
          </p:cNvPr>
          <p:cNvSpPr>
            <a:spLocks noGrp="1"/>
          </p:cNvSpPr>
          <p:nvPr/>
        </p:nvSpPr>
        <p:spPr>
          <a:xfrm>
            <a:off x="1305167" y="2097749"/>
            <a:ext cx="171450" cy="171450"/>
          </a:xfrm>
          <a:prstGeom prst="ellipse">
            <a:avLst/>
          </a:prstGeom>
          <a:solidFill>
            <a:srgbClr val="54C6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9178D54-BA31-44EE-8C49-059AC15C1D9F}"/>
              </a:ext>
            </a:extLst>
          </p:cNvPr>
          <p:cNvSpPr>
            <a:spLocks noGrp="1"/>
          </p:cNvSpPr>
          <p:nvPr/>
        </p:nvSpPr>
        <p:spPr>
          <a:xfrm>
            <a:off x="1638542" y="2031074"/>
            <a:ext cx="3857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425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1425" b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หนึ่งแถวต่อนักศึกษา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345AD2-2ED0-4645-86B2-32B9AF6E8F11}"/>
              </a:ext>
            </a:extLst>
          </p:cNvPr>
          <p:cNvSpPr>
            <a:spLocks noGrp="1"/>
          </p:cNvSpPr>
          <p:nvPr/>
        </p:nvSpPr>
        <p:spPr>
          <a:xfrm>
            <a:off x="1638542" y="2335874"/>
            <a:ext cx="4048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lang="en-TH" sz="1200" dirty="0"/>
              <a:t>รวมข้อมูลรายวิชาตามรหัสนักศึกษาก่อนพิจารณาสุ่มข้อมูล</a:t>
            </a:r>
            <a:endParaRPr sz="1200" b="0" dirty="0">
              <a:solidFill>
                <a:srgbClr val="1C2B49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F69E6B1-DF63-45E7-A464-C1F14E07497F}"/>
              </a:ext>
            </a:extLst>
          </p:cNvPr>
          <p:cNvSpPr>
            <a:spLocks noGrp="1"/>
          </p:cNvSpPr>
          <p:nvPr/>
        </p:nvSpPr>
        <p:spPr>
          <a:xfrm>
            <a:off x="1305167" y="2888324"/>
            <a:ext cx="171450" cy="171450"/>
          </a:xfrm>
          <a:prstGeom prst="ellipse">
            <a:avLst/>
          </a:prstGeom>
          <a:solidFill>
            <a:srgbClr val="54C6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933330-4215-4A14-82E5-2927E97CF77F}"/>
              </a:ext>
            </a:extLst>
          </p:cNvPr>
          <p:cNvSpPr>
            <a:spLocks noGrp="1"/>
          </p:cNvSpPr>
          <p:nvPr/>
        </p:nvSpPr>
        <p:spPr>
          <a:xfrm>
            <a:off x="1638542" y="2821649"/>
            <a:ext cx="3857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9474" lnSpcReduction="10000"/>
          </a:bodyPr>
          <a:lstStyle/>
          <a:p>
            <a:pPr algn="l">
              <a:buNone/>
              <a:defRPr sz="1425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1425" b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การสุ่มตัวอย่าง (Sampling) มีเหตุผลรองรับ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AADB99-0604-4567-8410-E323D5E0B77A}"/>
              </a:ext>
            </a:extLst>
          </p:cNvPr>
          <p:cNvSpPr>
            <a:spLocks noGrp="1"/>
          </p:cNvSpPr>
          <p:nvPr/>
        </p:nvSpPr>
        <p:spPr>
          <a:xfrm>
            <a:off x="1638542" y="3126449"/>
            <a:ext cx="4570358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lang="en-TH" sz="1200" dirty="0"/>
              <a:t>ระบุวิธี จำนวน ตัวเลขสุ่มที่ใช้ การเป็นตัวแทน และข้อจำกัด</a:t>
            </a:r>
            <a:endParaRPr sz="1200" b="0" dirty="0">
              <a:solidFill>
                <a:srgbClr val="1C2B49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12BA753-85D9-428B-A6F3-0179AFBFA2FD}"/>
              </a:ext>
            </a:extLst>
          </p:cNvPr>
          <p:cNvSpPr>
            <a:spLocks noGrp="1"/>
          </p:cNvSpPr>
          <p:nvPr/>
        </p:nvSpPr>
        <p:spPr>
          <a:xfrm>
            <a:off x="6626600" y="2192999"/>
            <a:ext cx="171450" cy="171450"/>
          </a:xfrm>
          <a:prstGeom prst="ellipse">
            <a:avLst/>
          </a:prstGeom>
          <a:solidFill>
            <a:srgbClr val="7566B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FCEDFBD-F5FE-4305-A502-F09BD2A44F42}"/>
              </a:ext>
            </a:extLst>
          </p:cNvPr>
          <p:cNvSpPr>
            <a:spLocks noGrp="1"/>
          </p:cNvSpPr>
          <p:nvPr/>
        </p:nvSpPr>
        <p:spPr>
          <a:xfrm>
            <a:off x="6959975" y="2126324"/>
            <a:ext cx="3857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9474" lnSpcReduction="10000"/>
          </a:bodyPr>
          <a:lstStyle/>
          <a:p>
            <a:pPr algn="l">
              <a:buNone/>
              <a:defRPr sz="1425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1425" b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การแยกกักผลลัพธ์ (Outcome Quarantine)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CF583F-D3C6-4A20-9E23-A14045048CB0}"/>
              </a:ext>
            </a:extLst>
          </p:cNvPr>
          <p:cNvSpPr>
            <a:spLocks noGrp="1"/>
          </p:cNvSpPr>
          <p:nvPr/>
        </p:nvSpPr>
        <p:spPr>
          <a:xfrm>
            <a:off x="6959975" y="2431124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lang="en-TH" sz="1200" dirty="0"/>
              <a:t>ไม่นำผลการเรียนมาใช้สร้างตัวแปร สุ่มข้อมูล หรือเลือกโมเดล</a:t>
            </a:r>
            <a:endParaRPr sz="1200" b="0" dirty="0">
              <a:solidFill>
                <a:srgbClr val="1C2B49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C5A8C28-F900-4944-9942-6E6F0D36E6B8}"/>
              </a:ext>
            </a:extLst>
          </p:cNvPr>
          <p:cNvSpPr>
            <a:spLocks noGrp="1"/>
          </p:cNvSpPr>
          <p:nvPr/>
        </p:nvSpPr>
        <p:spPr>
          <a:xfrm>
            <a:off x="6626600" y="2983574"/>
            <a:ext cx="171450" cy="171450"/>
          </a:xfrm>
          <a:prstGeom prst="ellipse">
            <a:avLst/>
          </a:prstGeom>
          <a:solidFill>
            <a:srgbClr val="7566B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FBFAD7A-C6AD-4F8C-9F1A-D509E26C5B8F}"/>
              </a:ext>
            </a:extLst>
          </p:cNvPr>
          <p:cNvSpPr>
            <a:spLocks noGrp="1"/>
          </p:cNvSpPr>
          <p:nvPr/>
        </p:nvSpPr>
        <p:spPr>
          <a:xfrm>
            <a:off x="6959975" y="2916899"/>
            <a:ext cx="3857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9474" lnSpcReduction="10000"/>
          </a:bodyPr>
          <a:lstStyle/>
          <a:p>
            <a:pPr algn="l">
              <a:buNone/>
              <a:defRPr sz="1425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1425" b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การล็อกโมเดล (Model Lock)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A46F9A2-ADF6-4834-850F-17E2F895EF32}"/>
              </a:ext>
            </a:extLst>
          </p:cNvPr>
          <p:cNvSpPr>
            <a:spLocks noGrp="1"/>
          </p:cNvSpPr>
          <p:nvPr/>
        </p:nvSpPr>
        <p:spPr>
          <a:xfrm>
            <a:off x="6959975" y="3221699"/>
            <a:ext cx="4612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lang="en-TH" sz="1200" dirty="0"/>
              <a:t>บันทึกโมเดลและขั้นตอนเตรียมข้อมูล</a:t>
            </a:r>
            <a:r>
              <a:rPr sz="1200" b="0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 </a:t>
            </a:r>
            <a:r>
              <a:rPr sz="1200" b="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ก่อน</a:t>
            </a:r>
            <a:r>
              <a:rPr lang="en-TH" sz="1200" dirty="0"/>
              <a:t>เปิดดูผลการเรียน</a:t>
            </a:r>
            <a:endParaRPr sz="1200" b="0" dirty="0">
              <a:solidFill>
                <a:srgbClr val="1C2B49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F518D6C-5129-4864-8743-497CA7FB898E}"/>
              </a:ext>
            </a:extLst>
          </p:cNvPr>
          <p:cNvSpPr>
            <a:spLocks noGrp="1"/>
          </p:cNvSpPr>
          <p:nvPr/>
        </p:nvSpPr>
        <p:spPr>
          <a:xfrm>
            <a:off x="4054850" y="4019531"/>
            <a:ext cx="171450" cy="171450"/>
          </a:xfrm>
          <a:prstGeom prst="ellipse">
            <a:avLst/>
          </a:prstGeom>
          <a:solidFill>
            <a:srgbClr val="7566B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9B9E76F-E0C2-403B-A626-14C01ACA3F26}"/>
              </a:ext>
            </a:extLst>
          </p:cNvPr>
          <p:cNvSpPr>
            <a:spLocks noGrp="1"/>
          </p:cNvSpPr>
          <p:nvPr/>
        </p:nvSpPr>
        <p:spPr>
          <a:xfrm>
            <a:off x="4388225" y="3952856"/>
            <a:ext cx="3857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9474" lnSpcReduction="10000"/>
          </a:bodyPr>
          <a:lstStyle/>
          <a:p>
            <a:pPr algn="l">
              <a:buNone/>
              <a:defRPr sz="1425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1425" b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ตรวจผลภายหลัง (Post-hoc) เท่านั้น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884EBB4-FA94-4EB8-93E1-47E51D703E2C}"/>
              </a:ext>
            </a:extLst>
          </p:cNvPr>
          <p:cNvSpPr>
            <a:spLocks noGrp="1"/>
          </p:cNvSpPr>
          <p:nvPr/>
        </p:nvSpPr>
        <p:spPr>
          <a:xfrm>
            <a:off x="4388225" y="4257656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lang="en-TH" sz="1200" dirty="0"/>
              <a:t>ใช้ผลการเรียนเพื่ออธิบายความแตกต่างระหว่างกลุ่ม แต่ห้ามย้อนกลับไปปรับโมเดล</a:t>
            </a:r>
            <a:endParaRPr sz="1200" b="0" dirty="0">
              <a:solidFill>
                <a:srgbClr val="1C2B49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973594-DA26-028C-EF08-20318DCD9C7B}"/>
              </a:ext>
            </a:extLst>
          </p:cNvPr>
          <p:cNvSpPr>
            <a:spLocks noGrp="1"/>
          </p:cNvSpPr>
          <p:nvPr/>
        </p:nvSpPr>
        <p:spPr>
          <a:xfrm>
            <a:off x="4424886" y="1485210"/>
            <a:ext cx="3147786" cy="47171"/>
          </a:xfrm>
          <a:prstGeom prst="rect">
            <a:avLst/>
          </a:prstGeom>
          <a:solidFill>
            <a:srgbClr val="54C6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A9622B1-8F0F-0728-CCB1-1FD4B1AB2E12}"/>
              </a:ext>
            </a:extLst>
          </p:cNvPr>
          <p:cNvSpPr txBox="1"/>
          <p:nvPr/>
        </p:nvSpPr>
        <p:spPr>
          <a:xfrm>
            <a:off x="1154205" y="5323142"/>
            <a:ext cx="100443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H" dirty="0"/>
              <a:t>การปรับในหน้านี้เป็นการนำ Workflow กลางมาระบุเงื่อนไขเฉพาะของ Student Segmentation เช่น หนึ่งแถวต่อนักศึกษา การแยกผลการเรียน และการล็อกโมเดล ไม่ใช่ความแตกต่างระหว่าง CLI1 กับ CLI2</a:t>
            </a:r>
          </a:p>
        </p:txBody>
      </p:sp>
    </p:spTree>
    <p:extLst>
      <p:ext uri="{BB962C8B-B14F-4D97-AF65-F5344CB8AC3E}">
        <p14:creationId xmlns:p14="http://schemas.microsoft.com/office/powerpoint/2010/main" val="689939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521C2F-867D-4AEB-BD91-A64F2002EEDB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143000" cy="47625"/>
          </a:xfrm>
          <a:prstGeom prst="rect">
            <a:avLst/>
          </a:prstGeom>
          <a:solidFill>
            <a:srgbClr val="D1627E"/>
          </a:solidFill>
          <a:ln w="0">
            <a:solidFill>
              <a:srgbClr val="D1627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EC9A51-A0FB-4360-8DED-61E5E51DD915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95750" cy="2095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975" b="0">
                <a:solidFill>
                  <a:srgbClr val="8090AA"/>
                </a:solidFill>
                <a:latin typeface="Thonburi"/>
                <a:ea typeface="Thonburi"/>
                <a:cs typeface="Thonburi"/>
              </a:defRPr>
            </a:pPr>
            <a:r>
              <a:rPr sz="975" b="0">
                <a:solidFill>
                  <a:srgbClr val="8090AA"/>
                </a:solidFill>
                <a:latin typeface="Thonburi"/>
                <a:ea typeface="Thonburi"/>
                <a:cs typeface="Thonburi"/>
              </a:rPr>
              <a:t>การพัฒนา Data Science Workflow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94B668-BD57-45F4-B936-BC3DF73A0E6A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 fontScale="95238"/>
          </a:bodyPr>
          <a:lstStyle/>
          <a:p>
            <a:pPr algn="r">
              <a:buNone/>
              <a:defRPr sz="1050" b="0">
                <a:solidFill>
                  <a:srgbClr val="4E7FB6"/>
                </a:solidFill>
                <a:latin typeface="Thonburi"/>
                <a:ea typeface="Thonburi"/>
                <a:cs typeface="Thonburi"/>
              </a:defRPr>
            </a:pPr>
            <a:r>
              <a:rPr sz="1050" b="0" dirty="0">
                <a:solidFill>
                  <a:srgbClr val="4E7FB6"/>
                </a:solidFill>
                <a:latin typeface="Thonburi"/>
                <a:ea typeface="Thonburi"/>
                <a:cs typeface="Thonburi"/>
              </a:rPr>
              <a:t>1</a:t>
            </a:r>
            <a:r>
              <a:rPr lang="en-US" sz="1050" b="0" dirty="0">
                <a:solidFill>
                  <a:srgbClr val="4E7FB6"/>
                </a:solidFill>
                <a:latin typeface="Thonburi"/>
                <a:ea typeface="Thonburi"/>
                <a:cs typeface="Thonburi"/>
              </a:rPr>
              <a:t>1</a:t>
            </a:r>
            <a:endParaRPr sz="1050" b="0" dirty="0">
              <a:solidFill>
                <a:srgbClr val="4E7FB6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DD383F-A104-430C-8C77-F4EDEEE7E81A}"/>
              </a:ext>
            </a:extLst>
          </p:cNvPr>
          <p:cNvSpPr>
            <a:spLocks noGrp="1"/>
          </p:cNvSpPr>
          <p:nvPr/>
        </p:nvSpPr>
        <p:spPr>
          <a:xfrm>
            <a:off x="609600" y="3295650"/>
            <a:ext cx="3810000" cy="41910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>
              <a:defRPr sz="1650" b="1">
                <a:solidFill>
                  <a:srgbClr val="7664C5"/>
                </a:solidFill>
                <a:latin typeface="Thonburi"/>
                <a:ea typeface="Thonburi"/>
                <a:cs typeface="Thonburi"/>
              </a:defRPr>
            </a:pPr>
            <a:r>
              <a:rPr lang="th-TH" b="1" dirty="0">
                <a:solidFill>
                  <a:srgbClr val="7664C5"/>
                </a:solidFill>
                <a:latin typeface="Thonburi"/>
                <a:ea typeface="Thonburi"/>
                <a:cs typeface="Thonburi"/>
              </a:rPr>
              <a:t>สิ่งที่ได้ใน </a:t>
            </a:r>
            <a:r>
              <a:rPr lang="en-US" b="1" dirty="0">
                <a:solidFill>
                  <a:srgbClr val="7664C5"/>
                </a:solidFill>
                <a:latin typeface="Thonburi"/>
                <a:ea typeface="Thonburi"/>
                <a:cs typeface="Thonburi"/>
              </a:rPr>
              <a:t>CLI1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8CF66D-28D9-48D6-9491-21AC686283AD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4381494" cy="12382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>
              <a:defRPr sz="1425" b="0">
                <a:solidFill>
                  <a:srgbClr val="233450"/>
                </a:solidFill>
                <a:latin typeface="Thonburi"/>
                <a:ea typeface="Thonburi"/>
                <a:cs typeface="Thonburi"/>
              </a:defRPr>
            </a:pPr>
            <a:r>
              <a:rPr sz="1425" b="0" dirty="0" err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มี</a:t>
            </a:r>
            <a:r>
              <a:rPr sz="1425" b="0" dirty="0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 </a:t>
            </a:r>
            <a:r>
              <a:rPr lang="en-US" sz="1600" dirty="0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Pipeline </a:t>
            </a:r>
            <a:r>
              <a:rPr sz="1425" b="0" dirty="0" err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โค้ด</a:t>
            </a:r>
            <a:r>
              <a:rPr sz="1425" b="0" dirty="0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 </a:t>
            </a:r>
            <a:r>
              <a:rPr sz="1425" b="0" dirty="0" err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โมเดล</a:t>
            </a:r>
            <a:r>
              <a:rPr sz="1425" b="0" dirty="0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 </a:t>
            </a:r>
            <a:r>
              <a:rPr sz="1425" b="0" dirty="0" err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ผลการแบ่งกลุ่ม</a:t>
            </a:r>
            <a:r>
              <a:rPr sz="1425" b="0" dirty="0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 </a:t>
            </a:r>
            <a:endParaRPr lang="th-TH" sz="1425" b="0" dirty="0">
              <a:solidFill>
                <a:srgbClr val="233450"/>
              </a:solidFill>
              <a:latin typeface="Thonburi"/>
              <a:ea typeface="Thonburi"/>
              <a:cs typeface="Thonburi"/>
            </a:endParaRPr>
          </a:p>
          <a:p>
            <a:pPr>
              <a:defRPr sz="1425" b="0">
                <a:solidFill>
                  <a:srgbClr val="233450"/>
                </a:solidFill>
                <a:latin typeface="Thonburi"/>
                <a:ea typeface="Thonburi"/>
                <a:cs typeface="Thonburi"/>
              </a:defRPr>
            </a:pPr>
            <a:r>
              <a:rPr sz="1425" b="0" dirty="0" err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และ</a:t>
            </a:r>
            <a:r>
              <a:rPr sz="1425" b="0" dirty="0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 HTML Dashboard</a:t>
            </a:r>
            <a:r>
              <a:rPr lang="th-TH" sz="1425" b="0" dirty="0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 </a:t>
            </a:r>
            <a:r>
              <a:rPr sz="1425" b="0" dirty="0" err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จึงเป็นการทำงานครบหลายขั้น</a:t>
            </a:r>
            <a:r>
              <a:rPr sz="1425" b="0" dirty="0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 </a:t>
            </a:r>
            <a:r>
              <a:rPr sz="1425" b="0" dirty="0" err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แต่ยังมีบางจุดที่</a:t>
            </a:r>
            <a:r>
              <a:rPr lang="th-TH" sz="1425" b="0" dirty="0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มีผลลัพธ์</a:t>
            </a:r>
            <a:r>
              <a:rPr sz="1425" b="0" dirty="0" err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และลำดับการตัดสินใจไม่ตรงกับข้อ</a:t>
            </a:r>
            <a:r>
              <a:rPr lang="th-TH" sz="1425" b="0" dirty="0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ที่</a:t>
            </a:r>
            <a:r>
              <a:rPr sz="1425" b="0" dirty="0" err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กำหนด</a:t>
            </a:r>
            <a:endParaRPr sz="1425" b="0" dirty="0">
              <a:solidFill>
                <a:srgbClr val="233450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DE04A649-34F3-40BD-98F7-7B14CEF4A399}"/>
              </a:ext>
            </a:extLst>
          </p:cNvPr>
          <p:cNvSpPr>
            <a:spLocks noGrp="1"/>
          </p:cNvSpPr>
          <p:nvPr/>
        </p:nvSpPr>
        <p:spPr>
          <a:xfrm>
            <a:off x="5238750" y="1381125"/>
            <a:ext cx="0" cy="3857625"/>
          </a:xfrm>
          <a:prstGeom prst="line">
            <a:avLst/>
          </a:prstGeom>
          <a:noFill/>
          <a:ln w="19050">
            <a:solidFill>
              <a:srgbClr val="D7E3F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A2FF24-1716-4856-A8C4-1871B20969FF}"/>
              </a:ext>
            </a:extLst>
          </p:cNvPr>
          <p:cNvSpPr>
            <a:spLocks noGrp="1"/>
          </p:cNvSpPr>
          <p:nvPr/>
        </p:nvSpPr>
        <p:spPr>
          <a:xfrm>
            <a:off x="5810250" y="1381125"/>
            <a:ext cx="4762500" cy="41910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1725" b="1">
                <a:solidFill>
                  <a:srgbClr val="D1627E"/>
                </a:solidFill>
                <a:latin typeface="Thonburi"/>
                <a:ea typeface="Thonburi"/>
                <a:cs typeface="Thonburi"/>
              </a:defRPr>
            </a:pPr>
            <a:r>
              <a:rPr sz="1725" b="1">
                <a:solidFill>
                  <a:srgbClr val="D1627E"/>
                </a:solidFill>
                <a:latin typeface="Thonburi"/>
                <a:ea typeface="Thonburi"/>
                <a:cs typeface="Thonburi"/>
              </a:rPr>
              <a:t>สิ่งที่ตรวจพบ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8113849-B95B-44BB-8631-3170083BA6A9}"/>
              </a:ext>
            </a:extLst>
          </p:cNvPr>
          <p:cNvSpPr>
            <a:spLocks noGrp="1"/>
          </p:cNvSpPr>
          <p:nvPr/>
        </p:nvSpPr>
        <p:spPr>
          <a:xfrm>
            <a:off x="5810250" y="1952625"/>
            <a:ext cx="495300" cy="495300"/>
          </a:xfrm>
          <a:prstGeom prst="ellipse">
            <a:avLst/>
          </a:prstGeom>
          <a:solidFill>
            <a:srgbClr val="D1627E"/>
          </a:solidFill>
          <a:ln w="0">
            <a:solidFill>
              <a:srgbClr val="D1627E"/>
            </a:solidFill>
          </a:ln>
        </p:spPr>
        <p:txBody>
          <a:bodyPr lIns="47625" tIns="28575" rIns="47625" bIns="28575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5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5D614E-D4EA-44BD-B7FB-B243E4CA179E}"/>
              </a:ext>
            </a:extLst>
          </p:cNvPr>
          <p:cNvSpPr>
            <a:spLocks noGrp="1"/>
          </p:cNvSpPr>
          <p:nvPr/>
        </p:nvSpPr>
        <p:spPr>
          <a:xfrm>
            <a:off x="6477000" y="1885950"/>
            <a:ext cx="5095875" cy="5524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1275" b="0">
                <a:solidFill>
                  <a:srgbClr val="233450"/>
                </a:solidFill>
                <a:latin typeface="Thonburi"/>
                <a:ea typeface="Thonburi"/>
                <a:cs typeface="Thonburi"/>
              </a:defRPr>
            </a:pPr>
            <a:r>
              <a:rPr lang="th-TH" sz="1275" dirty="0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ขั้นตอน</a:t>
            </a:r>
            <a:r>
              <a:rPr lang="th-TH" sz="1275" dirty="0" err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การทำ</a:t>
            </a:r>
            <a:r>
              <a:rPr lang="th-TH" sz="1275" dirty="0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ความสะอาด</a:t>
            </a:r>
            <a:r>
              <a:rPr sz="1275" b="0" dirty="0" err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บางส่วนไม่ถูกนำไปใช้</a:t>
            </a:r>
            <a:endParaRPr sz="1275" b="0" dirty="0">
              <a:solidFill>
                <a:srgbClr val="233450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208B24D-1F70-4770-AE59-5DD60964CE9A}"/>
              </a:ext>
            </a:extLst>
          </p:cNvPr>
          <p:cNvSpPr>
            <a:spLocks noGrp="1"/>
          </p:cNvSpPr>
          <p:nvPr/>
        </p:nvSpPr>
        <p:spPr>
          <a:xfrm>
            <a:off x="5810250" y="2600325"/>
            <a:ext cx="495300" cy="495300"/>
          </a:xfrm>
          <a:prstGeom prst="ellipse">
            <a:avLst/>
          </a:prstGeom>
          <a:solidFill>
            <a:srgbClr val="D1627E"/>
          </a:solidFill>
          <a:ln w="0">
            <a:solidFill>
              <a:srgbClr val="D1627E"/>
            </a:solidFill>
          </a:ln>
        </p:spPr>
        <p:txBody>
          <a:bodyPr lIns="47625" tIns="28575" rIns="47625" bIns="28575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5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3D061E-CEE3-427B-BCE5-6DBDCFC6FE1C}"/>
              </a:ext>
            </a:extLst>
          </p:cNvPr>
          <p:cNvSpPr>
            <a:spLocks noGrp="1"/>
          </p:cNvSpPr>
          <p:nvPr/>
        </p:nvSpPr>
        <p:spPr>
          <a:xfrm>
            <a:off x="6477000" y="2533650"/>
            <a:ext cx="5178971" cy="5524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 fontScale="92500"/>
          </a:bodyPr>
          <a:lstStyle/>
          <a:p>
            <a:pPr>
              <a:defRPr sz="1275" b="0">
                <a:solidFill>
                  <a:srgbClr val="233450"/>
                </a:solidFill>
                <a:latin typeface="Thonburi"/>
                <a:ea typeface="Thonburi"/>
                <a:cs typeface="Thonburi"/>
              </a:defRPr>
            </a:pPr>
            <a:r>
              <a:rPr lang="en-TH" sz="1275" dirty="0"/>
              <a:t>เลือกโมเดลผู้ชนะจากคะแนนคุณภาพภายใน 4 ค่า ก่อนตรวจความสามารถในการอธิบายกลุ่ม</a:t>
            </a:r>
            <a:r>
              <a:rPr lang="en-US" sz="1275" dirty="0"/>
              <a:t> (</a:t>
            </a:r>
            <a:r>
              <a:rPr lang="en-TH" sz="1275" dirty="0"/>
              <a:t>Interpretability และความไวต่อวิธีเตรียมข้อมูล (Sensitivity)</a:t>
            </a:r>
            <a:endParaRPr sz="1275" b="0" dirty="0">
              <a:solidFill>
                <a:srgbClr val="233450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98B5240-75EC-4C1A-9A1A-43FB1AB6001F}"/>
              </a:ext>
            </a:extLst>
          </p:cNvPr>
          <p:cNvSpPr>
            <a:spLocks noGrp="1"/>
          </p:cNvSpPr>
          <p:nvPr/>
        </p:nvSpPr>
        <p:spPr>
          <a:xfrm>
            <a:off x="5810250" y="3248025"/>
            <a:ext cx="495300" cy="495300"/>
          </a:xfrm>
          <a:prstGeom prst="ellipse">
            <a:avLst/>
          </a:prstGeom>
          <a:solidFill>
            <a:srgbClr val="D89342"/>
          </a:solidFill>
          <a:ln w="0">
            <a:solidFill>
              <a:srgbClr val="D89342"/>
            </a:solidFill>
          </a:ln>
        </p:spPr>
        <p:txBody>
          <a:bodyPr lIns="47625" tIns="28575" rIns="47625" bIns="28575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5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1BB438-8418-4993-89FE-162D702A2713}"/>
              </a:ext>
            </a:extLst>
          </p:cNvPr>
          <p:cNvSpPr>
            <a:spLocks noGrp="1"/>
          </p:cNvSpPr>
          <p:nvPr/>
        </p:nvSpPr>
        <p:spPr>
          <a:xfrm>
            <a:off x="6477000" y="3181350"/>
            <a:ext cx="5483768" cy="5524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1275" b="0">
                <a:solidFill>
                  <a:srgbClr val="233450"/>
                </a:solidFill>
                <a:latin typeface="Thonburi"/>
                <a:ea typeface="Thonburi"/>
                <a:cs typeface="Thonburi"/>
              </a:defRPr>
            </a:pPr>
            <a:r>
              <a:rPr sz="1275" b="0" dirty="0" err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การตรวจข้อมูลก่อนใช้งานและ</a:t>
            </a:r>
            <a:r>
              <a:rPr lang="th-TH" sz="1275" dirty="0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ติดตามผล</a:t>
            </a:r>
            <a:r>
              <a:rPr sz="1275" b="0" dirty="0" err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ไม่ครบตามที่</a:t>
            </a:r>
            <a:r>
              <a:rPr sz="1275" b="0" dirty="0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 Workflow </a:t>
            </a:r>
            <a:r>
              <a:rPr sz="1275" b="0" dirty="0" err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กล่าวไว้</a:t>
            </a:r>
            <a:endParaRPr sz="1275" b="0" dirty="0">
              <a:solidFill>
                <a:srgbClr val="233450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8583EBE-67F8-4C4B-85AE-EE7210B05669}"/>
              </a:ext>
            </a:extLst>
          </p:cNvPr>
          <p:cNvSpPr>
            <a:spLocks noGrp="1"/>
          </p:cNvSpPr>
          <p:nvPr/>
        </p:nvSpPr>
        <p:spPr>
          <a:xfrm>
            <a:off x="5810250" y="3895725"/>
            <a:ext cx="495300" cy="495300"/>
          </a:xfrm>
          <a:prstGeom prst="ellipse">
            <a:avLst/>
          </a:prstGeom>
          <a:solidFill>
            <a:srgbClr val="D89342"/>
          </a:solidFill>
          <a:ln w="0">
            <a:solidFill>
              <a:srgbClr val="D89342"/>
            </a:solidFill>
          </a:ln>
        </p:spPr>
        <p:txBody>
          <a:bodyPr lIns="47625" tIns="28575" rIns="47625" bIns="28575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5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13595D-A39B-42BD-BD09-723BE17DB156}"/>
              </a:ext>
            </a:extLst>
          </p:cNvPr>
          <p:cNvSpPr>
            <a:spLocks noGrp="1"/>
          </p:cNvSpPr>
          <p:nvPr/>
        </p:nvSpPr>
        <p:spPr>
          <a:xfrm>
            <a:off x="6477000" y="3829050"/>
            <a:ext cx="5178966" cy="5524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1275" b="0">
                <a:solidFill>
                  <a:srgbClr val="233450"/>
                </a:solidFill>
                <a:latin typeface="Thonburi"/>
                <a:ea typeface="Thonburi"/>
                <a:cs typeface="Thonburi"/>
              </a:defRPr>
            </a:pPr>
            <a:r>
              <a:rPr sz="1275" b="0" dirty="0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Dashboard </a:t>
            </a:r>
            <a:r>
              <a:rPr sz="1275" b="0" dirty="0" err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สรุปเฉพาะตัวแทนบางโมเดล</a:t>
            </a:r>
            <a:r>
              <a:rPr sz="1275" b="0" dirty="0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 </a:t>
            </a:r>
            <a:r>
              <a:rPr sz="1275" b="0" dirty="0" err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ทำให้ที่มาของ</a:t>
            </a:r>
            <a:r>
              <a:rPr sz="1275" b="0" dirty="0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 4 </a:t>
            </a:r>
            <a:r>
              <a:rPr sz="1275" b="0" dirty="0" err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กลุ่มอธิบายยาก</a:t>
            </a:r>
            <a:endParaRPr sz="1275" b="0" dirty="0">
              <a:solidFill>
                <a:srgbClr val="233450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38EFE04-3B29-43D7-8922-D777B3C50365}"/>
              </a:ext>
            </a:extLst>
          </p:cNvPr>
          <p:cNvSpPr>
            <a:spLocks noGrp="1"/>
          </p:cNvSpPr>
          <p:nvPr/>
        </p:nvSpPr>
        <p:spPr>
          <a:xfrm>
            <a:off x="5810250" y="4543425"/>
            <a:ext cx="495300" cy="495300"/>
          </a:xfrm>
          <a:prstGeom prst="ellipse">
            <a:avLst/>
          </a:prstGeom>
          <a:solidFill>
            <a:srgbClr val="D89342"/>
          </a:solidFill>
          <a:ln w="0">
            <a:solidFill>
              <a:srgbClr val="D89342"/>
            </a:solidFill>
          </a:ln>
        </p:spPr>
        <p:txBody>
          <a:bodyPr lIns="47625" tIns="28575" rIns="47625" bIns="28575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5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42968B6-288D-4CFB-99A0-60F04CFAD3D9}"/>
              </a:ext>
            </a:extLst>
          </p:cNvPr>
          <p:cNvSpPr>
            <a:spLocks noGrp="1"/>
          </p:cNvSpPr>
          <p:nvPr/>
        </p:nvSpPr>
        <p:spPr>
          <a:xfrm>
            <a:off x="6477000" y="4476750"/>
            <a:ext cx="5048249" cy="5524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1275" b="0">
                <a:solidFill>
                  <a:srgbClr val="233450"/>
                </a:solidFill>
                <a:latin typeface="Thonburi"/>
                <a:ea typeface="Thonburi"/>
                <a:cs typeface="Thonburi"/>
              </a:defRPr>
            </a:pPr>
            <a:r>
              <a:rPr sz="1275" b="0" dirty="0" err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รายละเอียดบางส่วนของรายงานยังใช้งานไม่ครบ</a:t>
            </a:r>
            <a:endParaRPr sz="1275" b="0" dirty="0">
              <a:solidFill>
                <a:srgbClr val="233450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497E4BD-488D-ADFB-7CD5-ED488693F143}"/>
              </a:ext>
            </a:extLst>
          </p:cNvPr>
          <p:cNvSpPr>
            <a:spLocks noGrp="1"/>
          </p:cNvSpPr>
          <p:nvPr/>
        </p:nvSpPr>
        <p:spPr>
          <a:xfrm>
            <a:off x="1276352" y="5343525"/>
            <a:ext cx="9582145" cy="609600"/>
          </a:xfrm>
          <a:prstGeom prst="roundRect">
            <a:avLst>
              <a:gd name="adj" fmla="val 12500"/>
            </a:avLst>
          </a:prstGeom>
          <a:solidFill>
            <a:srgbClr val="FCEEF2"/>
          </a:solidFill>
          <a:ln w="9525">
            <a:solidFill>
              <a:srgbClr val="F2B9C8"/>
            </a:solidFill>
          </a:ln>
        </p:spPr>
        <p:txBody>
          <a:bodyPr lIns="47625" tIns="28575" rIns="47625" bIns="28575" anchor="ctr">
            <a:normAutofit/>
          </a:bodyPr>
          <a:lstStyle/>
          <a:p>
            <a:pPr algn="ctr">
              <a:buNone/>
              <a:defRPr sz="1350" b="1">
                <a:solidFill>
                  <a:srgbClr val="8D3F58"/>
                </a:solidFill>
                <a:latin typeface="Thonburi"/>
                <a:ea typeface="Thonburi"/>
                <a:cs typeface="Thonburi"/>
              </a:defRPr>
            </a:pPr>
            <a:r>
              <a:rPr lang="en-TH" sz="1350" b="1" dirty="0"/>
              <a:t>ปัญหาไม่ได้เกิดจากโครง Workflow กลาง แต่เกิดจาก agy_workflow.md รุ่นแรกยังระบุกฎบางส่วนไม่ชัด </a:t>
            </a:r>
            <a:endParaRPr lang="th-TH" sz="1350" b="1" dirty="0"/>
          </a:p>
          <a:p>
            <a:pPr algn="ctr">
              <a:buNone/>
              <a:defRPr sz="1350" b="1">
                <a:solidFill>
                  <a:srgbClr val="8D3F58"/>
                </a:solidFill>
                <a:latin typeface="Thonburi"/>
                <a:ea typeface="Thonburi"/>
                <a:cs typeface="Thonburi"/>
              </a:defRPr>
            </a:pPr>
            <a:r>
              <a:rPr lang="en-TH" sz="1350" b="1" dirty="0"/>
              <a:t>และโค้ดปฏิบัติไม่ตรงกับข้อกำหนดทุกจุด</a:t>
            </a:r>
            <a:endParaRPr sz="1350" b="1" dirty="0">
              <a:solidFill>
                <a:srgbClr val="8D3F58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1AB2F8-8CC6-3AD8-59E8-BDA40F4FC08B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9525000" cy="68580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2850" b="1">
                <a:solidFill>
                  <a:srgbClr val="1E4477"/>
                </a:solidFill>
                <a:latin typeface="Thonburi"/>
                <a:ea typeface="Thonburi"/>
                <a:cs typeface="Thonburi"/>
              </a:defRPr>
            </a:pPr>
            <a:r>
              <a:rPr sz="2800" b="1" dirty="0">
                <a:solidFill>
                  <a:srgbClr val="1E4477"/>
                </a:solidFill>
                <a:latin typeface="Thonburi"/>
                <a:ea typeface="Thonburi"/>
                <a:cs typeface="Thonburi"/>
              </a:rPr>
              <a:t>CLI1: </a:t>
            </a:r>
            <a:r>
              <a:rPr sz="2800" b="1" dirty="0" err="1">
                <a:solidFill>
                  <a:srgbClr val="1E4477"/>
                </a:solidFill>
                <a:latin typeface="Thonburi"/>
                <a:ea typeface="Thonburi"/>
                <a:cs typeface="Thonburi"/>
              </a:rPr>
              <a:t>การนำ</a:t>
            </a:r>
            <a:r>
              <a:rPr sz="2800" b="1" dirty="0">
                <a:solidFill>
                  <a:srgbClr val="1E4477"/>
                </a:solidFill>
                <a:latin typeface="Thonburi"/>
                <a:ea typeface="Thonburi"/>
                <a:cs typeface="Thonburi"/>
              </a:rPr>
              <a:t> Workflow </a:t>
            </a:r>
            <a:r>
              <a:rPr sz="2800" b="1" dirty="0" err="1">
                <a:solidFill>
                  <a:srgbClr val="1E4477"/>
                </a:solidFill>
                <a:latin typeface="Thonburi"/>
                <a:ea typeface="Thonburi"/>
                <a:cs typeface="Thonburi"/>
              </a:rPr>
              <a:t>ไปใช้ครั้งแรก</a:t>
            </a:r>
            <a:endParaRPr sz="2800" b="1" dirty="0">
              <a:solidFill>
                <a:srgbClr val="1E4477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A0AC49-6DE8-B7EB-FBEC-93A13A3B33BE}"/>
              </a:ext>
            </a:extLst>
          </p:cNvPr>
          <p:cNvSpPr>
            <a:spLocks noGrp="1"/>
          </p:cNvSpPr>
          <p:nvPr/>
        </p:nvSpPr>
        <p:spPr>
          <a:xfrm>
            <a:off x="514344" y="1366837"/>
            <a:ext cx="4476750" cy="38100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1650" b="1">
                <a:solidFill>
                  <a:srgbClr val="4E7FB6"/>
                </a:solidFill>
                <a:latin typeface="Thonburi"/>
                <a:ea typeface="Thonburi"/>
                <a:cs typeface="Thonburi"/>
              </a:defRPr>
            </a:pPr>
            <a:r>
              <a:rPr sz="1650" b="1" dirty="0" err="1">
                <a:solidFill>
                  <a:srgbClr val="4E7FB6"/>
                </a:solidFill>
                <a:latin typeface="Thonburi"/>
                <a:ea typeface="Thonburi"/>
                <a:cs typeface="Thonburi"/>
              </a:rPr>
              <a:t>ข้อมูลที่ระบุใน</a:t>
            </a:r>
            <a:r>
              <a:rPr sz="1650" b="1" dirty="0">
                <a:solidFill>
                  <a:srgbClr val="4E7FB6"/>
                </a:solidFill>
                <a:latin typeface="Thonburi"/>
                <a:ea typeface="Thonburi"/>
                <a:cs typeface="Thonburi"/>
              </a:rPr>
              <a:t> Prompt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009DE84-849C-901B-CFDE-D91D4D534384}"/>
              </a:ext>
            </a:extLst>
          </p:cNvPr>
          <p:cNvSpPr>
            <a:spLocks noGrp="1"/>
          </p:cNvSpPr>
          <p:nvPr/>
        </p:nvSpPr>
        <p:spPr>
          <a:xfrm>
            <a:off x="685794" y="1715060"/>
            <a:ext cx="4381500" cy="156210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marL="285750" indent="-285750" algn="l">
              <a:buFont typeface="Arial"/>
              <a:buChar char="•"/>
              <a:defRPr sz="1425" b="0">
                <a:solidFill>
                  <a:srgbClr val="233450"/>
                </a:solidFill>
                <a:latin typeface="Thonburi"/>
                <a:ea typeface="Thonburi"/>
                <a:cs typeface="Thonburi"/>
              </a:defRPr>
            </a:pPr>
            <a:r>
              <a:rPr sz="1425" b="0" dirty="0" err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โครงการและแหล่งข้อมูล</a:t>
            </a:r>
            <a:endParaRPr sz="1425" b="0" dirty="0">
              <a:solidFill>
                <a:srgbClr val="233450"/>
              </a:solidFill>
              <a:latin typeface="Thonburi"/>
              <a:ea typeface="Thonburi"/>
              <a:cs typeface="Thonburi"/>
            </a:endParaRPr>
          </a:p>
          <a:p>
            <a:pPr marL="285750" indent="-285750" algn="l">
              <a:buFont typeface="Arial"/>
              <a:buChar char="•"/>
              <a:defRPr sz="1425" b="0">
                <a:solidFill>
                  <a:srgbClr val="233450"/>
                </a:solidFill>
                <a:latin typeface="Thonburi"/>
                <a:ea typeface="Thonburi"/>
                <a:cs typeface="Thonburi"/>
              </a:defRPr>
            </a:pPr>
            <a:r>
              <a:rPr sz="1425" b="0" dirty="0" err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หนึ่งแถวต่อนักศึกษา</a:t>
            </a:r>
            <a:endParaRPr sz="1425" b="0" dirty="0">
              <a:solidFill>
                <a:srgbClr val="233450"/>
              </a:solidFill>
              <a:latin typeface="Thonburi"/>
              <a:ea typeface="Thonburi"/>
              <a:cs typeface="Thonburi"/>
            </a:endParaRPr>
          </a:p>
          <a:p>
            <a:pPr marL="285750" indent="-285750" algn="l">
              <a:buFont typeface="Arial"/>
              <a:buChar char="•"/>
              <a:defRPr sz="1425" b="0">
                <a:solidFill>
                  <a:srgbClr val="233450"/>
                </a:solidFill>
                <a:latin typeface="Thonburi"/>
                <a:ea typeface="Thonburi"/>
                <a:cs typeface="Thonburi"/>
              </a:defRPr>
            </a:pPr>
            <a:r>
              <a:rPr sz="1425" b="0" dirty="0" err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เป้าหมายการแบ่งกลุ่ม</a:t>
            </a:r>
            <a:endParaRPr sz="1425" b="0" dirty="0">
              <a:solidFill>
                <a:srgbClr val="233450"/>
              </a:solidFill>
              <a:latin typeface="Thonburi"/>
              <a:ea typeface="Thonburi"/>
              <a:cs typeface="Thonburi"/>
            </a:endParaRPr>
          </a:p>
          <a:p>
            <a:pPr marL="285750" indent="-285750" algn="l">
              <a:buFont typeface="Arial"/>
              <a:buChar char="•"/>
              <a:defRPr sz="1425" b="0">
                <a:solidFill>
                  <a:srgbClr val="233450"/>
                </a:solidFill>
                <a:latin typeface="Thonburi"/>
                <a:ea typeface="Thonburi"/>
                <a:cs typeface="Thonburi"/>
              </a:defRPr>
            </a:pPr>
            <a:r>
              <a:rPr sz="1425" b="0" dirty="0" err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ประเภทงาน</a:t>
            </a:r>
            <a:r>
              <a:rPr sz="1425" b="0" dirty="0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 Unsupervised Learning</a:t>
            </a:r>
          </a:p>
        </p:txBody>
      </p:sp>
    </p:spTree>
    <p:extLst>
      <p:ext uri="{BB962C8B-B14F-4D97-AF65-F5344CB8AC3E}">
        <p14:creationId xmlns:p14="http://schemas.microsoft.com/office/powerpoint/2010/main" val="1107663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D3880E3-C238-40CB-9C79-3A8275EB6F93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10744200" cy="68580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>
              <a:defRPr sz="2250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lang="en-US" sz="2800" b="1" dirty="0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CLI2: </a:t>
            </a:r>
            <a:r>
              <a:rPr lang="th-TH" sz="2800" b="1" dirty="0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ปรับการนำ </a:t>
            </a:r>
            <a:r>
              <a:rPr lang="en-US" sz="2800" b="1" dirty="0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Workflow </a:t>
            </a:r>
            <a:r>
              <a:rPr lang="th-TH" sz="2800" b="1" dirty="0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ไปใช้ให้ตรงกับข้อกำหนด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84FD3F-C500-4E03-A54C-FA12736246DA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143000" cy="47625"/>
          </a:xfrm>
          <a:prstGeom prst="rect">
            <a:avLst/>
          </a:prstGeom>
          <a:solidFill>
            <a:srgbClr val="49A58D"/>
          </a:solidFill>
          <a:ln w="0">
            <a:solidFill>
              <a:srgbClr val="49A58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E0195C-881C-470E-BFB4-6C257E7B65BE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95750" cy="2095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975" b="0">
                <a:solidFill>
                  <a:srgbClr val="8090AA"/>
                </a:solidFill>
                <a:latin typeface="Thonburi"/>
                <a:ea typeface="Thonburi"/>
                <a:cs typeface="Thonburi"/>
              </a:defRPr>
            </a:pPr>
            <a:r>
              <a:rPr sz="975" b="0">
                <a:solidFill>
                  <a:srgbClr val="8090AA"/>
                </a:solidFill>
                <a:latin typeface="Thonburi"/>
                <a:ea typeface="Thonburi"/>
                <a:cs typeface="Thonburi"/>
              </a:rPr>
              <a:t>การพัฒนา Data Science Workflow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17D938-0DE2-456A-B791-D155007D4204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 fontScale="95238"/>
          </a:bodyPr>
          <a:lstStyle/>
          <a:p>
            <a:pPr algn="r">
              <a:buNone/>
              <a:defRPr sz="1050" b="0">
                <a:solidFill>
                  <a:srgbClr val="4E7FB6"/>
                </a:solidFill>
                <a:latin typeface="Thonburi"/>
                <a:ea typeface="Thonburi"/>
                <a:cs typeface="Thonburi"/>
              </a:defRPr>
            </a:pPr>
            <a:r>
              <a:rPr sz="1050" b="0" dirty="0">
                <a:solidFill>
                  <a:srgbClr val="4E7FB6"/>
                </a:solidFill>
                <a:latin typeface="Thonburi"/>
                <a:ea typeface="Thonburi"/>
                <a:cs typeface="Thonburi"/>
              </a:rPr>
              <a:t>1</a:t>
            </a:r>
            <a:r>
              <a:rPr lang="en-US" sz="1050" b="0" dirty="0">
                <a:solidFill>
                  <a:srgbClr val="4E7FB6"/>
                </a:solidFill>
                <a:latin typeface="Thonburi"/>
                <a:ea typeface="Thonburi"/>
                <a:cs typeface="Thonburi"/>
              </a:rPr>
              <a:t>2</a:t>
            </a:r>
            <a:endParaRPr sz="1050" b="0" dirty="0">
              <a:solidFill>
                <a:srgbClr val="4E7FB6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6D121C9-EE97-42F8-AD36-D8B1A44D6CE8}"/>
              </a:ext>
            </a:extLst>
          </p:cNvPr>
          <p:cNvSpPr>
            <a:spLocks noGrp="1"/>
          </p:cNvSpPr>
          <p:nvPr/>
        </p:nvSpPr>
        <p:spPr>
          <a:xfrm>
            <a:off x="685800" y="1497598"/>
            <a:ext cx="5143500" cy="1033046"/>
          </a:xfrm>
          <a:prstGeom prst="roundRect">
            <a:avLst>
              <a:gd name="adj" fmla="val 6349"/>
            </a:avLst>
          </a:prstGeom>
          <a:solidFill>
            <a:srgbClr val="EAF4FC"/>
          </a:solidFill>
          <a:ln w="9525">
            <a:solidFill>
              <a:srgbClr val="4E7FB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F60512-DE97-4D3F-B979-BDF9DF45CBE5}"/>
              </a:ext>
            </a:extLst>
          </p:cNvPr>
          <p:cNvSpPr>
            <a:spLocks noGrp="1"/>
          </p:cNvSpPr>
          <p:nvPr/>
        </p:nvSpPr>
        <p:spPr>
          <a:xfrm>
            <a:off x="876300" y="1592848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>
              <a:defRPr sz="1500" b="1">
                <a:solidFill>
                  <a:srgbClr val="4E7FB6"/>
                </a:solidFill>
                <a:latin typeface="Thonburi"/>
                <a:ea typeface="Thonburi"/>
                <a:cs typeface="Thonburi"/>
              </a:defRPr>
            </a:pPr>
            <a:r>
              <a:rPr lang="en-TH" sz="1500" b="1" dirty="0"/>
              <a:t>ข้อมูลและการทำความสะอาด</a:t>
            </a:r>
            <a:endParaRPr sz="1500" b="1" dirty="0">
              <a:solidFill>
                <a:srgbClr val="4E7FB6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E02040-E787-481E-BBC6-9D95966861E3}"/>
              </a:ext>
            </a:extLst>
          </p:cNvPr>
          <p:cNvSpPr>
            <a:spLocks noGrp="1"/>
          </p:cNvSpPr>
          <p:nvPr/>
        </p:nvSpPr>
        <p:spPr>
          <a:xfrm>
            <a:off x="781050" y="1945273"/>
            <a:ext cx="4953000" cy="34290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r>
              <a:rPr lang="en-TH" dirty="0"/>
              <a:t>แก้การจัดการวันที่ผิดลำดับ และตรวจว่าไม่มีนักศึกษาสูญหาย</a:t>
            </a:r>
            <a:r>
              <a:rPr lang="th-TH" dirty="0"/>
              <a:t> </a:t>
            </a:r>
            <a:r>
              <a:rPr lang="en-TH" dirty="0"/>
              <a:t>หลังรวมข้อมูล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747C7AB-D8A0-47C3-A52A-3C6B0F6693D6}"/>
              </a:ext>
            </a:extLst>
          </p:cNvPr>
          <p:cNvSpPr>
            <a:spLocks noGrp="1"/>
          </p:cNvSpPr>
          <p:nvPr/>
        </p:nvSpPr>
        <p:spPr>
          <a:xfrm>
            <a:off x="6229350" y="1497598"/>
            <a:ext cx="5143500" cy="1033046"/>
          </a:xfrm>
          <a:prstGeom prst="roundRect">
            <a:avLst>
              <a:gd name="adj" fmla="val 6349"/>
            </a:avLst>
          </a:prstGeom>
          <a:solidFill>
            <a:srgbClr val="F3EFFF"/>
          </a:solidFill>
          <a:ln w="9525">
            <a:solidFill>
              <a:srgbClr val="7664C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8E6DB6-F6BA-4D12-8AB9-27772AE6E612}"/>
              </a:ext>
            </a:extLst>
          </p:cNvPr>
          <p:cNvSpPr>
            <a:spLocks noGrp="1"/>
          </p:cNvSpPr>
          <p:nvPr/>
        </p:nvSpPr>
        <p:spPr>
          <a:xfrm>
            <a:off x="6419850" y="1592848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1500" b="1">
                <a:solidFill>
                  <a:srgbClr val="7664C5"/>
                </a:solidFill>
                <a:latin typeface="Thonburi"/>
                <a:ea typeface="Thonburi"/>
                <a:cs typeface="Thonburi"/>
              </a:defRPr>
            </a:pPr>
            <a:r>
              <a:rPr sz="1500" b="1">
                <a:solidFill>
                  <a:srgbClr val="7664C5"/>
                </a:solidFill>
                <a:latin typeface="Thonburi"/>
                <a:ea typeface="Thonburi"/>
                <a:cs typeface="Thonburi"/>
              </a:rPr>
              <a:t>การเลือกโมเดล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49EDAC-7D82-48E3-8D22-70C26983BA2B}"/>
              </a:ext>
            </a:extLst>
          </p:cNvPr>
          <p:cNvSpPr>
            <a:spLocks noGrp="1"/>
          </p:cNvSpPr>
          <p:nvPr/>
        </p:nvSpPr>
        <p:spPr>
          <a:xfrm>
            <a:off x="6419850" y="1842357"/>
            <a:ext cx="4762500" cy="64770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>
              <a:defRPr sz="1200" b="0">
                <a:solidFill>
                  <a:srgbClr val="233450"/>
                </a:solidFill>
                <a:latin typeface="Thonburi"/>
                <a:ea typeface="Thonburi"/>
                <a:cs typeface="Thonburi"/>
              </a:defRPr>
            </a:pPr>
            <a:r>
              <a:rPr lang="en-TH" sz="1200" dirty="0"/>
              <a:t>เปรียบเทียบ 6 กลุ่มวิธี 29 การตั้งค่า พร้อมตรวจความคงที่</a:t>
            </a:r>
            <a:endParaRPr lang="th-TH" sz="1200" dirty="0"/>
          </a:p>
          <a:p>
            <a:pPr>
              <a:defRPr sz="1200" b="0">
                <a:solidFill>
                  <a:srgbClr val="233450"/>
                </a:solidFill>
                <a:latin typeface="Thonburi"/>
                <a:ea typeface="Thonburi"/>
                <a:cs typeface="Thonburi"/>
              </a:defRPr>
            </a:pPr>
            <a:r>
              <a:rPr lang="en-TH" sz="1200" dirty="0"/>
              <a:t>และความสามารถในการอธิบายก่อนล็อกโมเดล</a:t>
            </a:r>
            <a:endParaRPr sz="1200" b="0" dirty="0">
              <a:solidFill>
                <a:srgbClr val="233450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69CF8D9-50A7-4F74-8BC7-65F13B499AE1}"/>
              </a:ext>
            </a:extLst>
          </p:cNvPr>
          <p:cNvSpPr>
            <a:spLocks noGrp="1"/>
          </p:cNvSpPr>
          <p:nvPr/>
        </p:nvSpPr>
        <p:spPr>
          <a:xfrm>
            <a:off x="685800" y="2665660"/>
            <a:ext cx="5143500" cy="1033046"/>
          </a:xfrm>
          <a:prstGeom prst="roundRect">
            <a:avLst>
              <a:gd name="adj" fmla="val 6349"/>
            </a:avLst>
          </a:prstGeom>
          <a:solidFill>
            <a:srgbClr val="EAF7F3"/>
          </a:solidFill>
          <a:ln w="9525">
            <a:solidFill>
              <a:srgbClr val="49A58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7E2DFC-E336-4329-9F8E-BC873096E31B}"/>
              </a:ext>
            </a:extLst>
          </p:cNvPr>
          <p:cNvSpPr>
            <a:spLocks noGrp="1"/>
          </p:cNvSpPr>
          <p:nvPr/>
        </p:nvSpPr>
        <p:spPr>
          <a:xfrm>
            <a:off x="876300" y="2760910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>
              <a:defRPr sz="1500" b="1">
                <a:solidFill>
                  <a:srgbClr val="49A58D"/>
                </a:solidFill>
                <a:latin typeface="Thonburi"/>
                <a:ea typeface="Thonburi"/>
                <a:cs typeface="Thonburi"/>
              </a:defRPr>
            </a:pPr>
            <a:r>
              <a:rPr lang="en-TH" sz="1500" b="1" dirty="0"/>
              <a:t>การนำโมเดลไปใช้</a:t>
            </a:r>
            <a:endParaRPr sz="1500" b="1" dirty="0">
              <a:solidFill>
                <a:srgbClr val="49A58D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9C41E9-6E5D-4DC2-B6A1-ECA6517C96C6}"/>
              </a:ext>
            </a:extLst>
          </p:cNvPr>
          <p:cNvSpPr>
            <a:spLocks noGrp="1"/>
          </p:cNvSpPr>
          <p:nvPr/>
        </p:nvSpPr>
        <p:spPr>
          <a:xfrm>
            <a:off x="876300" y="2994401"/>
            <a:ext cx="4762500" cy="64770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r>
              <a:rPr lang="en-TH" dirty="0"/>
              <a:t>เพิ่มการตรวจชนิดข้อมูล ค่าว่าง ช่วงค่า ข้อมูลซ้ำ และป้องกันผลการเรียนรั่วไหลเข้าสู่โมเดล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5B2CBDF-CD27-4600-9BA1-2837DD420870}"/>
              </a:ext>
            </a:extLst>
          </p:cNvPr>
          <p:cNvSpPr>
            <a:spLocks noGrp="1"/>
          </p:cNvSpPr>
          <p:nvPr/>
        </p:nvSpPr>
        <p:spPr>
          <a:xfrm>
            <a:off x="6229350" y="2665660"/>
            <a:ext cx="5143500" cy="1033046"/>
          </a:xfrm>
          <a:prstGeom prst="roundRect">
            <a:avLst>
              <a:gd name="adj" fmla="val 6349"/>
            </a:avLst>
          </a:prstGeom>
          <a:solidFill>
            <a:srgbClr val="FFF5E8"/>
          </a:solidFill>
          <a:ln w="9525">
            <a:solidFill>
              <a:srgbClr val="D8934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8D78AC-E8F9-4B32-8A2B-24240C7B9063}"/>
              </a:ext>
            </a:extLst>
          </p:cNvPr>
          <p:cNvSpPr>
            <a:spLocks noGrp="1"/>
          </p:cNvSpPr>
          <p:nvPr/>
        </p:nvSpPr>
        <p:spPr>
          <a:xfrm>
            <a:off x="6419850" y="2760910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>
              <a:defRPr sz="1500" b="1">
                <a:solidFill>
                  <a:srgbClr val="D89342"/>
                </a:solidFill>
                <a:latin typeface="Thonburi"/>
                <a:ea typeface="Thonburi"/>
                <a:cs typeface="Thonburi"/>
              </a:defRPr>
            </a:pPr>
            <a:r>
              <a:rPr lang="en-TH" sz="1500" b="1" dirty="0"/>
              <a:t>การติดตามผล</a:t>
            </a:r>
            <a:endParaRPr sz="1500" b="1" dirty="0">
              <a:solidFill>
                <a:srgbClr val="D89342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7D0CA2-2194-4D77-8DFA-E57B8B1325AA}"/>
              </a:ext>
            </a:extLst>
          </p:cNvPr>
          <p:cNvSpPr>
            <a:spLocks noGrp="1"/>
          </p:cNvSpPr>
          <p:nvPr/>
        </p:nvSpPr>
        <p:spPr>
          <a:xfrm>
            <a:off x="6419850" y="3199059"/>
            <a:ext cx="4895850" cy="443041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r>
              <a:rPr lang="en-TH" sz="1200" dirty="0">
                <a:latin typeface="Thonburi" pitchFamily="2" charset="-34"/>
                <a:cs typeface="Thonburi" pitchFamily="2" charset="-34"/>
              </a:rPr>
              <a:t>ตรวจความเปลี่ยนแปลงของข้อมูล ค่าผิดปกติ ความไม่แน่นอน และความคงที่ของกลุ่ม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031DD97-7A37-40EB-A4FC-232E97FC02A1}"/>
              </a:ext>
            </a:extLst>
          </p:cNvPr>
          <p:cNvSpPr>
            <a:spLocks noGrp="1"/>
          </p:cNvSpPr>
          <p:nvPr/>
        </p:nvSpPr>
        <p:spPr>
          <a:xfrm>
            <a:off x="685800" y="3861464"/>
            <a:ext cx="5143500" cy="1033046"/>
          </a:xfrm>
          <a:prstGeom prst="roundRect">
            <a:avLst>
              <a:gd name="adj" fmla="val 6349"/>
            </a:avLst>
          </a:prstGeom>
          <a:solidFill>
            <a:srgbClr val="EAF9FD"/>
          </a:solidFill>
          <a:ln w="9525">
            <a:solidFill>
              <a:srgbClr val="52C3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C7354B-E1B3-480C-B7A8-1DDED50FBCCB}"/>
              </a:ext>
            </a:extLst>
          </p:cNvPr>
          <p:cNvSpPr>
            <a:spLocks noGrp="1"/>
          </p:cNvSpPr>
          <p:nvPr/>
        </p:nvSpPr>
        <p:spPr>
          <a:xfrm>
            <a:off x="876300" y="3956714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1500" b="1">
                <a:solidFill>
                  <a:srgbClr val="52C3E6"/>
                </a:solidFill>
                <a:latin typeface="Thonburi"/>
                <a:ea typeface="Thonburi"/>
                <a:cs typeface="Thonburi"/>
              </a:defRPr>
            </a:pPr>
            <a:r>
              <a:rPr sz="1500" b="1">
                <a:solidFill>
                  <a:srgbClr val="52C3E6"/>
                </a:solidFill>
                <a:latin typeface="Thonburi"/>
                <a:ea typeface="Thonburi"/>
                <a:cs typeface="Thonburi"/>
              </a:rPr>
              <a:t>Dashboard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A4A48C-6D45-445D-9100-775D16A5D4D1}"/>
              </a:ext>
            </a:extLst>
          </p:cNvPr>
          <p:cNvSpPr>
            <a:spLocks noGrp="1"/>
          </p:cNvSpPr>
          <p:nvPr/>
        </p:nvSpPr>
        <p:spPr>
          <a:xfrm>
            <a:off x="876300" y="4309139"/>
            <a:ext cx="4762500" cy="45112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>
              <a:defRPr sz="1200" b="0">
                <a:solidFill>
                  <a:srgbClr val="233450"/>
                </a:solidFill>
                <a:latin typeface="Thonburi"/>
                <a:ea typeface="Thonburi"/>
                <a:cs typeface="Thonburi"/>
              </a:defRPr>
            </a:pPr>
            <a:r>
              <a:rPr lang="en-TH" dirty="0"/>
              <a:t>แสดงผลจากไฟล์จริง เพิ่มตารางโมเดล โปรไฟล์กลุ่ม เมนูแบบย่อ และเครื่องมือจำลองสถานการณ์</a:t>
            </a:r>
            <a:endParaRPr b="0" dirty="0">
              <a:solidFill>
                <a:srgbClr val="233450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B51CAD9-1424-45BF-A72C-B18B98F86715}"/>
              </a:ext>
            </a:extLst>
          </p:cNvPr>
          <p:cNvSpPr>
            <a:spLocks noGrp="1"/>
          </p:cNvSpPr>
          <p:nvPr/>
        </p:nvSpPr>
        <p:spPr>
          <a:xfrm>
            <a:off x="6229350" y="3861464"/>
            <a:ext cx="5143500" cy="1033046"/>
          </a:xfrm>
          <a:prstGeom prst="roundRect">
            <a:avLst>
              <a:gd name="adj" fmla="val 6349"/>
            </a:avLst>
          </a:prstGeom>
          <a:solidFill>
            <a:srgbClr val="EEF2F8"/>
          </a:solidFill>
          <a:ln w="9525">
            <a:solidFill>
              <a:srgbClr val="1E447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2A170B-60CA-4D9C-A8C5-272C06CC49B7}"/>
              </a:ext>
            </a:extLst>
          </p:cNvPr>
          <p:cNvSpPr>
            <a:spLocks noGrp="1"/>
          </p:cNvSpPr>
          <p:nvPr/>
        </p:nvSpPr>
        <p:spPr>
          <a:xfrm>
            <a:off x="6419850" y="3956714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1500" b="1">
                <a:solidFill>
                  <a:srgbClr val="1E4477"/>
                </a:solidFill>
                <a:latin typeface="Thonburi"/>
                <a:ea typeface="Thonburi"/>
                <a:cs typeface="Thonburi"/>
              </a:defRPr>
            </a:pPr>
            <a:r>
              <a:rPr sz="1500" b="1">
                <a:solidFill>
                  <a:srgbClr val="1E4477"/>
                </a:solidFill>
                <a:latin typeface="Thonburi"/>
                <a:ea typeface="Thonburi"/>
                <a:cs typeface="Thonburi"/>
              </a:rPr>
              <a:t>การทำซ้ำและตรวจสอบ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D5D7E30-45A8-4EB3-929F-4E3A96FB41FF}"/>
              </a:ext>
            </a:extLst>
          </p:cNvPr>
          <p:cNvSpPr>
            <a:spLocks noGrp="1"/>
          </p:cNvSpPr>
          <p:nvPr/>
        </p:nvSpPr>
        <p:spPr>
          <a:xfrm>
            <a:off x="6419850" y="4210849"/>
            <a:ext cx="4762500" cy="64770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r>
              <a:rPr lang="en-TH" dirty="0"/>
              <a:t>บันทึกค่าตั้งต้น การตั้งค่า บันทึกการทำงาน และตรวจไฟล์ผลลัพธ์</a:t>
            </a:r>
            <a:r>
              <a:rPr lang="th-TH" dirty="0"/>
              <a:t>ให้</a:t>
            </a:r>
            <a:r>
              <a:rPr lang="en-TH" dirty="0"/>
              <a:t>ครบ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A4F7EF-A32B-4FF0-8340-D494928DFF5F}"/>
              </a:ext>
            </a:extLst>
          </p:cNvPr>
          <p:cNvSpPr txBox="1"/>
          <p:nvPr/>
        </p:nvSpPr>
        <p:spPr>
          <a:xfrm>
            <a:off x="609599" y="1104900"/>
            <a:ext cx="109632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63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r>
              <a:rPr lang="th-TH" sz="1600" b="1" dirty="0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หลักการ: ใช้ </a:t>
            </a:r>
            <a:r>
              <a:rPr lang="en-US" sz="1600" b="1" dirty="0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Workflow </a:t>
            </a:r>
            <a:r>
              <a:rPr lang="th-TH" sz="1600" b="1" dirty="0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กลาง 11 ขั้นเดิม แต่ปรับ </a:t>
            </a:r>
            <a:r>
              <a:rPr lang="en-US" sz="1600" b="1" dirty="0" err="1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agy_workflow.md</a:t>
            </a:r>
            <a:r>
              <a:rPr lang="en-US" sz="1600" b="1" dirty="0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 </a:t>
            </a:r>
            <a:r>
              <a:rPr lang="th-TH" sz="1600" b="1" dirty="0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โค้ด หลักฐาน และ </a:t>
            </a:r>
            <a:r>
              <a:rPr lang="en-US" sz="1600" b="1" dirty="0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Dashboard </a:t>
            </a:r>
            <a:r>
              <a:rPr lang="th-TH" sz="1600" b="1" dirty="0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ให้สอดคล้องกัน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71B7103-399C-21DD-EA37-A098B82C163A}"/>
              </a:ext>
            </a:extLst>
          </p:cNvPr>
          <p:cNvSpPr>
            <a:spLocks noGrp="1"/>
          </p:cNvSpPr>
          <p:nvPr/>
        </p:nvSpPr>
        <p:spPr>
          <a:xfrm>
            <a:off x="1266827" y="5148645"/>
            <a:ext cx="9582145" cy="609600"/>
          </a:xfrm>
          <a:prstGeom prst="roundRect">
            <a:avLst>
              <a:gd name="adj" fmla="val 12500"/>
            </a:avLst>
          </a:prstGeom>
          <a:solidFill>
            <a:srgbClr val="FCEEF2"/>
          </a:solidFill>
          <a:ln w="9525">
            <a:solidFill>
              <a:srgbClr val="F2B9C8"/>
            </a:solidFill>
          </a:ln>
        </p:spPr>
        <p:txBody>
          <a:bodyPr lIns="47625" tIns="28575" rIns="47625" bIns="28575" anchor="ctr">
            <a:normAutofit/>
          </a:bodyPr>
          <a:lstStyle/>
          <a:p>
            <a:pPr algn="ctr">
              <a:buNone/>
              <a:defRPr sz="1350" b="1">
                <a:solidFill>
                  <a:srgbClr val="8D3F58"/>
                </a:solidFill>
                <a:latin typeface="Thonburi"/>
                <a:ea typeface="Thonburi"/>
                <a:cs typeface="Thonburi"/>
              </a:defRPr>
            </a:pPr>
            <a:r>
              <a:rPr lang="en-TH" sz="1350" b="1" dirty="0"/>
              <a:t>การแก้วันที่ การตรวจข้อมูลก่อนใช้งาน</a:t>
            </a:r>
            <a:r>
              <a:rPr lang="th-TH" sz="1350" b="1" dirty="0"/>
              <a:t>ข้างต้น </a:t>
            </a:r>
            <a:r>
              <a:rPr lang="en-TH" sz="1350" b="1" dirty="0"/>
              <a:t>เป็นการแก้โค้ดให้ทำงานตรงกับ agy_workflow ที่ระบุไว้</a:t>
            </a:r>
            <a:endParaRPr sz="1350" b="1" dirty="0">
              <a:solidFill>
                <a:srgbClr val="8D3F58"/>
              </a:solidFill>
              <a:latin typeface="Thonburi"/>
              <a:ea typeface="Thonburi"/>
              <a:cs typeface="Thonburi"/>
            </a:endParaRPr>
          </a:p>
        </p:txBody>
      </p:sp>
    </p:spTree>
    <p:extLst>
      <p:ext uri="{BB962C8B-B14F-4D97-AF65-F5344CB8AC3E}">
        <p14:creationId xmlns:p14="http://schemas.microsoft.com/office/powerpoint/2010/main" val="1101910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F4CF52-0CA4-E77A-5BB5-69800283E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02F9EA4-63BB-6AC0-1182-3B287A574556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10744200" cy="68580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>
              <a:defRPr sz="2250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lang="en-US" sz="2800" b="1" dirty="0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CLI2:</a:t>
            </a:r>
            <a:r>
              <a:rPr lang="th-TH" sz="2800" b="1" dirty="0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 </a:t>
            </a:r>
            <a:r>
              <a:rPr lang="en-TH" sz="2800" b="1" dirty="0"/>
              <a:t>จุดที่แก้ใน agy_workflow.md</a:t>
            </a:r>
            <a:endParaRPr lang="th-TH" sz="2800" b="1" dirty="0">
              <a:solidFill>
                <a:srgbClr val="173B6C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CD0B62-C028-897E-4B4E-1F7B1D5A9EF5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143000" cy="47625"/>
          </a:xfrm>
          <a:prstGeom prst="rect">
            <a:avLst/>
          </a:prstGeom>
          <a:solidFill>
            <a:srgbClr val="49A58D"/>
          </a:solidFill>
          <a:ln w="0">
            <a:solidFill>
              <a:srgbClr val="49A58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4CE94C-DBF4-CBCD-CBE3-5213F1CDCA9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95750" cy="2095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>
              <a:defRPr sz="975" b="0">
                <a:solidFill>
                  <a:srgbClr val="8190A8"/>
                </a:solidFill>
                <a:latin typeface="Thonburi"/>
                <a:ea typeface="Thonburi"/>
                <a:cs typeface="Thonburi"/>
              </a:defRPr>
            </a:pPr>
            <a:r>
              <a:rPr lang="en-US" sz="975" dirty="0" err="1">
                <a:solidFill>
                  <a:srgbClr val="8190A8"/>
                </a:solidFill>
                <a:latin typeface="Thonburi"/>
                <a:ea typeface="Thonburi"/>
                <a:cs typeface="Thonburi"/>
              </a:rPr>
              <a:t>agy_workflow.md</a:t>
            </a:r>
            <a:r>
              <a:rPr lang="en-US" sz="975" dirty="0">
                <a:solidFill>
                  <a:srgbClr val="8190A8"/>
                </a:solidFill>
                <a:latin typeface="Thonburi"/>
                <a:ea typeface="Thonburi"/>
                <a:cs typeface="Thonburi"/>
              </a:rPr>
              <a:t> · Student Segmentation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13502F-62EB-FABD-7F85-DB4BD0735F18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 fontScale="95238"/>
          </a:bodyPr>
          <a:lstStyle/>
          <a:p>
            <a:pPr algn="r">
              <a:buNone/>
              <a:defRPr sz="1050" b="0">
                <a:solidFill>
                  <a:srgbClr val="4E7FB6"/>
                </a:solidFill>
                <a:latin typeface="Thonburi"/>
                <a:ea typeface="Thonburi"/>
                <a:cs typeface="Thonburi"/>
              </a:defRPr>
            </a:pPr>
            <a:r>
              <a:rPr lang="en-US" sz="1050" b="0" dirty="0">
                <a:solidFill>
                  <a:srgbClr val="4E7FB6"/>
                </a:solidFill>
                <a:latin typeface="Thonburi"/>
                <a:ea typeface="Thonburi"/>
                <a:cs typeface="Thonburi"/>
              </a:rPr>
              <a:t>13</a:t>
            </a:r>
            <a:endParaRPr sz="1050" b="0" dirty="0">
              <a:solidFill>
                <a:srgbClr val="4E7FB6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74A5025-488E-1EFD-13BB-DC35855A9AB4}"/>
              </a:ext>
            </a:extLst>
          </p:cNvPr>
          <p:cNvSpPr>
            <a:spLocks noGrp="1"/>
          </p:cNvSpPr>
          <p:nvPr/>
        </p:nvSpPr>
        <p:spPr>
          <a:xfrm>
            <a:off x="1277470" y="1483357"/>
            <a:ext cx="7931526" cy="765035"/>
          </a:xfrm>
          <a:prstGeom prst="roundRect">
            <a:avLst>
              <a:gd name="adj" fmla="val 6349"/>
            </a:avLst>
          </a:prstGeom>
          <a:solidFill>
            <a:srgbClr val="EAF4FC"/>
          </a:solidFill>
          <a:ln w="9525">
            <a:solidFill>
              <a:srgbClr val="4E7FB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4D5CEC-F4F0-D36D-E1A0-8A971692EE22}"/>
              </a:ext>
            </a:extLst>
          </p:cNvPr>
          <p:cNvSpPr>
            <a:spLocks noGrp="1"/>
          </p:cNvSpPr>
          <p:nvPr/>
        </p:nvSpPr>
        <p:spPr>
          <a:xfrm>
            <a:off x="1467968" y="1707491"/>
            <a:ext cx="7931526" cy="34290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>
              <a:defRPr sz="1500" b="1">
                <a:solidFill>
                  <a:srgbClr val="4E7FB6"/>
                </a:solidFill>
                <a:latin typeface="Thonburi"/>
                <a:ea typeface="Thonburi"/>
                <a:cs typeface="Thonburi"/>
              </a:defRPr>
            </a:pPr>
            <a:r>
              <a:rPr lang="en-TH" sz="1400" b="1" dirty="0"/>
              <a:t>Step 7 — </a:t>
            </a:r>
            <a:r>
              <a:rPr lang="en-TH" sz="1500" b="1" dirty="0"/>
              <a:t>เพิ่มการบันทึกการใช้หน่วยความจำ ระยะเวลาประมวลผล และค่าเริ่มต้นการสุ่ม (Seed)</a:t>
            </a:r>
            <a:endParaRPr sz="1400" b="1" dirty="0">
              <a:solidFill>
                <a:srgbClr val="4E7FB6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E6467DA-1165-D81A-5856-9B578657EA8E}"/>
              </a:ext>
            </a:extLst>
          </p:cNvPr>
          <p:cNvSpPr>
            <a:spLocks noGrp="1"/>
          </p:cNvSpPr>
          <p:nvPr/>
        </p:nvSpPr>
        <p:spPr>
          <a:xfrm>
            <a:off x="1277470" y="4207781"/>
            <a:ext cx="7167282" cy="696158"/>
          </a:xfrm>
          <a:prstGeom prst="roundRect">
            <a:avLst>
              <a:gd name="adj" fmla="val 6349"/>
            </a:avLst>
          </a:prstGeom>
          <a:solidFill>
            <a:srgbClr val="F3EFFF"/>
          </a:solidFill>
          <a:ln w="9525">
            <a:solidFill>
              <a:srgbClr val="7664C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7340BF-E15F-5A8A-3C22-D560551D932C}"/>
              </a:ext>
            </a:extLst>
          </p:cNvPr>
          <p:cNvSpPr>
            <a:spLocks noGrp="1"/>
          </p:cNvSpPr>
          <p:nvPr/>
        </p:nvSpPr>
        <p:spPr>
          <a:xfrm>
            <a:off x="1467969" y="4384410"/>
            <a:ext cx="7447430" cy="34290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>
              <a:defRPr sz="1500" b="1">
                <a:solidFill>
                  <a:srgbClr val="7664C5"/>
                </a:solidFill>
                <a:latin typeface="Thonburi"/>
                <a:ea typeface="Thonburi"/>
                <a:cs typeface="Thonburi"/>
              </a:defRPr>
            </a:pPr>
            <a:r>
              <a:rPr lang="en-TH" sz="1400" b="1" dirty="0"/>
              <a:t>Step 9 —</a:t>
            </a:r>
            <a:r>
              <a:rPr lang="en-TH" sz="1500" b="1" dirty="0"/>
              <a:t>เพิ่มขอบเขตการรับข้อมูลใหม่และกฎตรวจสอบข้อมูลก่อนนำโมเดลไปใช้งาน</a:t>
            </a:r>
            <a:endParaRPr sz="1400" b="1" dirty="0">
              <a:solidFill>
                <a:srgbClr val="7664C5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77A237F-0ACC-B824-DAFA-3D191212F59B}"/>
              </a:ext>
            </a:extLst>
          </p:cNvPr>
          <p:cNvSpPr>
            <a:spLocks noGrp="1"/>
          </p:cNvSpPr>
          <p:nvPr/>
        </p:nvSpPr>
        <p:spPr>
          <a:xfrm>
            <a:off x="1277470" y="2419486"/>
            <a:ext cx="9117106" cy="781067"/>
          </a:xfrm>
          <a:prstGeom prst="roundRect">
            <a:avLst>
              <a:gd name="adj" fmla="val 6349"/>
            </a:avLst>
          </a:prstGeom>
          <a:solidFill>
            <a:srgbClr val="EAF7F3"/>
          </a:solidFill>
          <a:ln w="9525">
            <a:solidFill>
              <a:srgbClr val="49A58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AAFD00-1DD7-861D-3FBD-3CB01294C5B1}"/>
              </a:ext>
            </a:extLst>
          </p:cNvPr>
          <p:cNvSpPr>
            <a:spLocks noGrp="1"/>
          </p:cNvSpPr>
          <p:nvPr/>
        </p:nvSpPr>
        <p:spPr>
          <a:xfrm>
            <a:off x="1467970" y="2596116"/>
            <a:ext cx="8832476" cy="475326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>
              <a:defRPr sz="1500" b="1">
                <a:solidFill>
                  <a:srgbClr val="49A58D"/>
                </a:solidFill>
                <a:latin typeface="Thonburi"/>
                <a:ea typeface="Thonburi"/>
                <a:cs typeface="Thonburi"/>
              </a:defRPr>
            </a:pPr>
            <a:r>
              <a:rPr lang="en-TH" sz="1400" b="1" dirty="0"/>
              <a:t>Step 8 — </a:t>
            </a:r>
            <a:r>
              <a:rPr lang="en-TH" sz="1500" b="1" dirty="0"/>
              <a:t>กำหนดลำดับการตัดสินใจ:</a:t>
            </a:r>
            <a:br>
              <a:rPr lang="en-TH" sz="1500" b="1" dirty="0"/>
            </a:br>
            <a:r>
              <a:rPr lang="th-TH" sz="1500" b="1" dirty="0"/>
              <a:t>                       </a:t>
            </a:r>
            <a:r>
              <a:rPr lang="en-TH" sz="1500" b="1" dirty="0"/>
              <a:t>คัดเลือกโมเดลเบื้องต้น → ตรวจสอบก่อนยืนยัน → ยืนยันโมเดล → ตรวจสอบผลลัพธ์ภายหลัง</a:t>
            </a:r>
            <a:endParaRPr sz="1400" b="1" dirty="0">
              <a:solidFill>
                <a:srgbClr val="49A58D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D1795EA-29BF-96A1-B282-0A1298C83E5A}"/>
              </a:ext>
            </a:extLst>
          </p:cNvPr>
          <p:cNvSpPr>
            <a:spLocks noGrp="1"/>
          </p:cNvSpPr>
          <p:nvPr/>
        </p:nvSpPr>
        <p:spPr>
          <a:xfrm>
            <a:off x="1277470" y="5090885"/>
            <a:ext cx="7447430" cy="662215"/>
          </a:xfrm>
          <a:prstGeom prst="roundRect">
            <a:avLst>
              <a:gd name="adj" fmla="val 6349"/>
            </a:avLst>
          </a:prstGeom>
          <a:solidFill>
            <a:srgbClr val="FFF5E8"/>
          </a:solidFill>
          <a:ln w="9525">
            <a:solidFill>
              <a:srgbClr val="D8934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3B08B5-F94A-F85B-5373-88CF414FF1F5}"/>
              </a:ext>
            </a:extLst>
          </p:cNvPr>
          <p:cNvSpPr>
            <a:spLocks noGrp="1"/>
          </p:cNvSpPr>
          <p:nvPr/>
        </p:nvSpPr>
        <p:spPr>
          <a:xfrm>
            <a:off x="1467969" y="5253370"/>
            <a:ext cx="6976783" cy="34290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>
              <a:defRPr sz="1500" b="1">
                <a:solidFill>
                  <a:srgbClr val="D89342"/>
                </a:solidFill>
                <a:latin typeface="Thonburi"/>
                <a:ea typeface="Thonburi"/>
                <a:cs typeface="Thonburi"/>
              </a:defRPr>
            </a:pPr>
            <a:r>
              <a:rPr lang="en-TH" sz="1500" b="1" dirty="0"/>
              <a:t>กฎการดำเนินงาน — กำหนดให้ไฟล์การตั้งค่า (Config) เป็นแหล่งอ้างอิงกลางของระบบ</a:t>
            </a:r>
            <a:endParaRPr sz="1400" b="1" dirty="0">
              <a:solidFill>
                <a:srgbClr val="D89342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F6C0104-E3D0-FE1E-ED1F-7CBE99A0E940}"/>
              </a:ext>
            </a:extLst>
          </p:cNvPr>
          <p:cNvSpPr>
            <a:spLocks noGrp="1"/>
          </p:cNvSpPr>
          <p:nvPr/>
        </p:nvSpPr>
        <p:spPr>
          <a:xfrm>
            <a:off x="1277469" y="3313633"/>
            <a:ext cx="10458451" cy="765035"/>
          </a:xfrm>
          <a:prstGeom prst="roundRect">
            <a:avLst>
              <a:gd name="adj" fmla="val 6349"/>
            </a:avLst>
          </a:prstGeom>
          <a:solidFill>
            <a:srgbClr val="EAF9FD"/>
          </a:solidFill>
          <a:ln w="9525">
            <a:solidFill>
              <a:srgbClr val="52C3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75649E-8D83-5805-48D4-4560398CA099}"/>
              </a:ext>
            </a:extLst>
          </p:cNvPr>
          <p:cNvSpPr>
            <a:spLocks noGrp="1"/>
          </p:cNvSpPr>
          <p:nvPr/>
        </p:nvSpPr>
        <p:spPr>
          <a:xfrm>
            <a:off x="1467968" y="3527572"/>
            <a:ext cx="11024346" cy="452574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Autofit/>
          </a:bodyPr>
          <a:lstStyle/>
          <a:p>
            <a:pPr>
              <a:defRPr sz="1500" b="1">
                <a:solidFill>
                  <a:srgbClr val="52C3E6"/>
                </a:solidFill>
                <a:latin typeface="Thonburi"/>
                <a:ea typeface="Thonburi"/>
                <a:cs typeface="Thonburi"/>
              </a:defRPr>
            </a:pPr>
            <a:r>
              <a:rPr lang="en-TH" sz="1400" b="1" dirty="0"/>
              <a:t>Step 8 </a:t>
            </a:r>
            <a:r>
              <a:rPr lang="en-TH" sz="1500" b="1" dirty="0"/>
              <a:t>ผลลัพธ์</a:t>
            </a:r>
            <a:r>
              <a:rPr lang="th-TH" sz="1500" b="1" dirty="0"/>
              <a:t> </a:t>
            </a:r>
            <a:r>
              <a:rPr lang="en-TH" sz="1500" b="1" dirty="0"/>
              <a:t>— แยกหลักฐานการตรวจสอบ:</a:t>
            </a:r>
            <a:br>
              <a:rPr lang="en-TH" sz="1500" b="1" dirty="0"/>
            </a:br>
            <a:r>
              <a:rPr lang="th-TH" sz="1500" b="1" dirty="0"/>
              <a:t>                    </a:t>
            </a:r>
            <a:r>
              <a:rPr lang="en-TH" sz="1500" b="1" dirty="0"/>
              <a:t>ความสามารถในการอธิบายผล การทดสอบเมื่อตัดตัวแปรออก และความไวต่อการเปลี่ยนแปลงของการเตรียมข้อมูล</a:t>
            </a:r>
            <a:r>
              <a:rPr lang="th-TH" sz="1500" b="1" dirty="0"/>
              <a:t>   </a:t>
            </a:r>
            <a:endParaRPr sz="1400" b="1" dirty="0">
              <a:solidFill>
                <a:srgbClr val="52C3E6"/>
              </a:solidFill>
              <a:latin typeface="Thonburi"/>
              <a:ea typeface="Thonburi"/>
              <a:cs typeface="Thonburi"/>
            </a:endParaRPr>
          </a:p>
        </p:txBody>
      </p:sp>
    </p:spTree>
    <p:extLst>
      <p:ext uri="{BB962C8B-B14F-4D97-AF65-F5344CB8AC3E}">
        <p14:creationId xmlns:p14="http://schemas.microsoft.com/office/powerpoint/2010/main" val="2042065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DDC7173-A505-45C5-9F0C-6D64C4A4BADE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9525000" cy="68580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2850" b="1">
                <a:solidFill>
                  <a:srgbClr val="1E4477"/>
                </a:solidFill>
                <a:latin typeface="Thonburi"/>
                <a:ea typeface="Thonburi"/>
                <a:cs typeface="Thonburi"/>
              </a:defRPr>
            </a:pP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80E384-D006-4E6A-916D-EA7A297AD46B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143000" cy="47625"/>
          </a:xfrm>
          <a:prstGeom prst="rect">
            <a:avLst/>
          </a:prstGeom>
          <a:solidFill>
            <a:srgbClr val="7664C5"/>
          </a:solidFill>
          <a:ln w="0">
            <a:solidFill>
              <a:srgbClr val="7664C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18D829-176E-436F-9FE1-1006221A720A}"/>
              </a:ext>
            </a:extLst>
          </p:cNvPr>
          <p:cNvSpPr>
            <a:spLocks noGrp="1"/>
          </p:cNvSpPr>
          <p:nvPr/>
        </p:nvSpPr>
        <p:spPr>
          <a:xfrm>
            <a:off x="9810750" y="457200"/>
            <a:ext cx="1714500" cy="34290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r">
              <a:buNone/>
              <a:defRPr sz="1125" b="1">
                <a:solidFill>
                  <a:srgbClr val="7664C5"/>
                </a:solidFill>
                <a:latin typeface="Thonburi"/>
                <a:ea typeface="Thonburi"/>
                <a:cs typeface="Thonburi"/>
              </a:defRPr>
            </a:pPr>
            <a:r>
              <a:rPr sz="1125" b="1">
                <a:solidFill>
                  <a:srgbClr val="7664C5"/>
                </a:solidFill>
                <a:latin typeface="Thonburi"/>
                <a:ea typeface="Thonburi"/>
                <a:cs typeface="Thonburi"/>
              </a:rPr>
              <a:t>เปรียบเทียบการทำงาน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1160BC-C23F-4769-B945-5CC5768D7302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95750" cy="2095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975" b="0">
                <a:solidFill>
                  <a:srgbClr val="8090AA"/>
                </a:solidFill>
                <a:latin typeface="Thonburi"/>
                <a:ea typeface="Thonburi"/>
                <a:cs typeface="Thonburi"/>
              </a:defRPr>
            </a:pPr>
            <a:r>
              <a:rPr sz="975" b="0">
                <a:solidFill>
                  <a:srgbClr val="8090AA"/>
                </a:solidFill>
                <a:latin typeface="Thonburi"/>
                <a:ea typeface="Thonburi"/>
                <a:cs typeface="Thonburi"/>
              </a:rPr>
              <a:t>การพัฒนา Data Science Workflow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D7B785-DB63-4B53-878A-61F8DB63F6F9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 fontScale="95238"/>
          </a:bodyPr>
          <a:lstStyle/>
          <a:p>
            <a:pPr algn="r">
              <a:buNone/>
              <a:defRPr sz="1050" b="0">
                <a:solidFill>
                  <a:srgbClr val="4E7FB6"/>
                </a:solidFill>
                <a:latin typeface="Thonburi"/>
                <a:ea typeface="Thonburi"/>
                <a:cs typeface="Thonburi"/>
              </a:defRPr>
            </a:pPr>
            <a:r>
              <a:rPr sz="1050" b="0" dirty="0">
                <a:solidFill>
                  <a:srgbClr val="4E7FB6"/>
                </a:solidFill>
                <a:latin typeface="Thonburi"/>
                <a:ea typeface="Thonburi"/>
                <a:cs typeface="Thonburi"/>
              </a:rPr>
              <a:t>1</a:t>
            </a:r>
            <a:r>
              <a:rPr lang="en-US" sz="1050" b="0" dirty="0">
                <a:solidFill>
                  <a:srgbClr val="4E7FB6"/>
                </a:solidFill>
                <a:latin typeface="Thonburi"/>
                <a:ea typeface="Thonburi"/>
                <a:cs typeface="Thonburi"/>
              </a:rPr>
              <a:t>4</a:t>
            </a:r>
            <a:endParaRPr sz="1050" b="0" dirty="0">
              <a:solidFill>
                <a:srgbClr val="4E7FB6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3CD3FD-73D7-408F-9631-762E272FED2C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8953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175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lang="en-US" sz="2175" b="1" dirty="0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CLI1 </a:t>
            </a:r>
            <a:r>
              <a:rPr lang="th-TH" sz="2175" b="1" dirty="0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และ </a:t>
            </a:r>
            <a:r>
              <a:rPr lang="en-US" sz="2175" b="1" dirty="0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CLI2</a:t>
            </a:r>
            <a:r>
              <a:rPr sz="2175" b="1" dirty="0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: Workflow </a:t>
            </a:r>
            <a:r>
              <a:rPr sz="2175" b="1" dirty="0" err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เดียวกัน</a:t>
            </a:r>
            <a:r>
              <a:rPr sz="2175" b="1" dirty="0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 </a:t>
            </a:r>
            <a:r>
              <a:rPr sz="2175" b="1" dirty="0" err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ต่างกันที่การนำไปใช้</a:t>
            </a:r>
            <a:endParaRPr sz="2175" b="1" dirty="0">
              <a:solidFill>
                <a:srgbClr val="173B6C"/>
              </a:solidFill>
              <a:latin typeface="Thonburi"/>
              <a:ea typeface="Thonburi"/>
              <a:cs typeface="Thonburi"/>
            </a:endParaRPr>
          </a:p>
        </p:txBody>
      </p:sp>
      <p:graphicFrame>
        <p:nvGraphicFramePr>
          <p:cNvPr id="17" name="Table 16"/>
          <p:cNvGraphicFramePr/>
          <p:nvPr>
            <p:extLst>
              <p:ext uri="{D42A27DB-BD31-4B8C-83A1-F6EECF244321}">
                <p14:modId xmlns:p14="http://schemas.microsoft.com/office/powerpoint/2010/main" val="1035335896"/>
              </p:ext>
            </p:extLst>
          </p:nvPr>
        </p:nvGraphicFramePr>
        <p:xfrm>
          <a:off x="523875" y="1381125"/>
          <a:ext cx="11144251" cy="4762500"/>
        </p:xfrm>
        <a:graphic>
          <a:graphicData uri="http://schemas.openxmlformats.org/drawingml/2006/table">
            <a:tbl>
              <a:tblPr/>
              <a:tblGrid>
                <a:gridCol w="176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1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0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3750">
                <a:tc>
                  <a:txBody>
                    <a:bodyPr/>
                    <a:lstStyle/>
                    <a:p>
                      <a:r>
                        <a:rPr sz="1238" b="1" dirty="0" err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หัวข้อ</a:t>
                      </a:r>
                      <a:endParaRPr sz="1238" b="1" dirty="0">
                        <a:solidFill>
                          <a:srgbClr val="FFFFFF"/>
                        </a:solidFill>
                        <a:latin typeface="Thonburi"/>
                        <a:ea typeface="Thonburi"/>
                        <a:cs typeface="Thonburi"/>
                      </a:endParaRPr>
                    </a:p>
                  </a:txBody>
                  <a:tcPr anchor="ctr">
                    <a:solidFill>
                      <a:srgbClr val="173B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 dirty="0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CLI1</a:t>
                      </a:r>
                    </a:p>
                  </a:txBody>
                  <a:tcPr anchor="ctr">
                    <a:solidFill>
                      <a:srgbClr val="173B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CLI2</a:t>
                      </a:r>
                    </a:p>
                  </a:txBody>
                  <a:tcPr anchor="ctr">
                    <a:solidFill>
                      <a:srgbClr val="173B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B6C"/>
                          </a:solidFill>
                          <a:latin typeface="Thonburi"/>
                          <a:ea typeface="Thonburi"/>
                          <a:cs typeface="Thonburi"/>
                        </a:rPr>
                        <a:t>โครง Workflow</a:t>
                      </a:r>
                    </a:p>
                  </a:txBody>
                  <a:tcPr anchor="ctr">
                    <a:solidFill>
                      <a:srgbClr val="EA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ใช้ Workflow กลาง 11 ขั้น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63" dirty="0" err="1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ใช้</a:t>
                      </a:r>
                      <a:r>
                        <a:rPr sz="1163" dirty="0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 Workflow </a:t>
                      </a:r>
                      <a:r>
                        <a:rPr sz="1163" dirty="0" err="1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กลาง</a:t>
                      </a:r>
                      <a:r>
                        <a:rPr sz="1163" dirty="0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 11 </a:t>
                      </a:r>
                      <a:r>
                        <a:rPr sz="1163" dirty="0" err="1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ขั้นเหมือนเดิม</a:t>
                      </a:r>
                      <a:endParaRPr sz="1163" dirty="0">
                        <a:solidFill>
                          <a:srgbClr val="1C2B49"/>
                        </a:solidFill>
                        <a:latin typeface="Thonburi"/>
                        <a:ea typeface="Thonburi"/>
                        <a:cs typeface="Thonburi"/>
                      </a:endParaRPr>
                    </a:p>
                  </a:txBody>
                  <a:tcPr anchor="ctr">
                    <a:solidFill>
                      <a:srgbClr val="F1E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B6C"/>
                          </a:solidFill>
                          <a:latin typeface="Thonburi"/>
                          <a:ea typeface="Thonburi"/>
                          <a:cs typeface="Thonburi"/>
                        </a:rPr>
                        <a:t>agy_workflow.md</a:t>
                      </a:r>
                    </a:p>
                  </a:txBody>
                  <a:tcPr anchor="ctr">
                    <a:solidFill>
                      <a:srgbClr val="EA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กำหนดงานเฉพาะโครงการแล้ว แต่บางเงื่อนไขยังรวมไว้กว้าง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TH" sz="1600" dirty="0"/>
                        <a:t>ระบุลำดับการเลือกและล็อกโมเดล หลักฐานที่ต้องตรวจ ขอบเขตข้อมูลใหม่ และไฟล์ตั้งค่ากลางให้ชัดเจน</a:t>
                      </a:r>
                      <a:endParaRPr sz="1400" dirty="0">
                        <a:solidFill>
                          <a:srgbClr val="1C2B49"/>
                        </a:solidFill>
                        <a:latin typeface="Thonburi"/>
                        <a:ea typeface="Thonburi"/>
                        <a:cs typeface="Thonburi"/>
                      </a:endParaRPr>
                    </a:p>
                  </a:txBody>
                  <a:tcPr anchor="ctr">
                    <a:solidFill>
                      <a:srgbClr val="F1E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B6C"/>
                          </a:solidFill>
                          <a:latin typeface="Thonburi"/>
                          <a:ea typeface="Thonburi"/>
                          <a:cs typeface="Thonburi"/>
                        </a:rPr>
                        <a:t>โค้ดและหลักฐาน</a:t>
                      </a:r>
                    </a:p>
                  </a:txBody>
                  <a:tcPr anchor="ctr">
                    <a:solidFill>
                      <a:srgbClr val="EA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TH" sz="1600" dirty="0"/>
                        <a:t>บางส่วนไม่ตรงกับกฎการทำความสะอาด</a:t>
                      </a:r>
                      <a:r>
                        <a:rPr lang="th-TH" sz="1600" dirty="0"/>
                        <a:t>ข้อมูล</a:t>
                      </a:r>
                      <a:r>
                        <a:rPr lang="en-TH" sz="1600" dirty="0"/>
                        <a:t> การเลือกโมเดล การนำไปใช้ และการติดตามผล</a:t>
                      </a:r>
                      <a:endParaRPr sz="1600" dirty="0">
                        <a:solidFill>
                          <a:srgbClr val="1C2B49"/>
                        </a:solidFill>
                        <a:latin typeface="Thonburi"/>
                        <a:ea typeface="Thonburi"/>
                        <a:cs typeface="Thonbu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TH" sz="1600" dirty="0"/>
                        <a:t>แก้โค้ดและเพิ่มบันทึกการตรวจสอบ การทดสอบ และรายการไฟล์ผลลัพธ์ เพื่อให้ตรวจย้อนหลังได้</a:t>
                      </a:r>
                      <a:endParaRPr sz="1600" dirty="0">
                        <a:solidFill>
                          <a:srgbClr val="1C2B49"/>
                        </a:solidFill>
                        <a:latin typeface="Thonburi"/>
                        <a:ea typeface="Thonburi"/>
                        <a:cs typeface="Thonburi"/>
                      </a:endParaRPr>
                    </a:p>
                  </a:txBody>
                  <a:tcPr anchor="ctr">
                    <a:solidFill>
                      <a:srgbClr val="F1E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B6C"/>
                          </a:solidFill>
                          <a:latin typeface="Thonburi"/>
                          <a:ea typeface="Thonburi"/>
                          <a:cs typeface="Thonburi"/>
                        </a:rPr>
                        <a:t>Dashboard</a:t>
                      </a:r>
                    </a:p>
                  </a:txBody>
                  <a:tcPr anchor="ctr">
                    <a:solidFill>
                      <a:srgbClr val="EA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dirty="0" err="1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มีรายงานแล้ว</a:t>
                      </a:r>
                      <a:r>
                        <a:rPr sz="1163" dirty="0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 </a:t>
                      </a:r>
                      <a:r>
                        <a:rPr sz="1163" dirty="0" err="1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แต่ตาราง</a:t>
                      </a:r>
                      <a:r>
                        <a:rPr sz="1163" dirty="0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 </a:t>
                      </a:r>
                      <a:r>
                        <a:rPr sz="1163" dirty="0" err="1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เมนู</a:t>
                      </a:r>
                      <a:r>
                        <a:rPr sz="1163" dirty="0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 </a:t>
                      </a:r>
                      <a:r>
                        <a:rPr sz="1163" dirty="0" err="1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การแสดงโมเดล</a:t>
                      </a:r>
                      <a:r>
                        <a:rPr sz="1163" dirty="0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 </a:t>
                      </a:r>
                      <a:r>
                        <a:rPr lang="th-TH" sz="1163" dirty="0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แต่รายละเอียดไม่ครบ เนื้อหางานหาย</a:t>
                      </a:r>
                      <a:endParaRPr sz="1163" dirty="0">
                        <a:solidFill>
                          <a:srgbClr val="1C2B49"/>
                        </a:solidFill>
                        <a:latin typeface="Thonburi"/>
                        <a:ea typeface="Thonburi"/>
                        <a:cs typeface="Thonbur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TH" sz="1600" dirty="0"/>
                        <a:t>แสดงข้อมูลจากไฟล์ผลลัพธ์จริง ตารางครบ เมนูย่อได้ และเครื่องมือจำลองสถานการณ์ใช้งานได้</a:t>
                      </a:r>
                      <a:endParaRPr sz="1600" dirty="0">
                        <a:solidFill>
                          <a:srgbClr val="1C2B49"/>
                        </a:solidFill>
                        <a:latin typeface="Thonburi"/>
                        <a:ea typeface="Thonburi"/>
                        <a:cs typeface="Thonburi"/>
                      </a:endParaRPr>
                    </a:p>
                  </a:txBody>
                  <a:tcPr anchor="ctr">
                    <a:solidFill>
                      <a:srgbClr val="F1E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173B6C"/>
                          </a:solidFill>
                          <a:latin typeface="Thonburi"/>
                          <a:ea typeface="Thonburi"/>
                          <a:cs typeface="Thonburi"/>
                        </a:rPr>
                        <a:t>สถานะผลลัพธ์</a:t>
                      </a:r>
                      <a:endParaRPr sz="1200" b="1" dirty="0">
                        <a:solidFill>
                          <a:srgbClr val="173B6C"/>
                        </a:solidFill>
                        <a:latin typeface="Thonburi"/>
                        <a:ea typeface="Thonburi"/>
                        <a:cs typeface="Thonburi"/>
                      </a:endParaRPr>
                    </a:p>
                  </a:txBody>
                  <a:tcPr anchor="ctr">
                    <a:solidFill>
                      <a:srgbClr val="EA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มีโมเดลและผลแบ่งกลุ่ม แต่ยังมีช่องว่างในการตรวจรับ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TH" sz="1600" dirty="0"/>
                        <a:t>ตรวจไฟล์ผลลัพธ์</a:t>
                      </a:r>
                      <a:r>
                        <a:rPr lang="th-TH" sz="1600" dirty="0"/>
                        <a:t>ให้</a:t>
                      </a:r>
                      <a:r>
                        <a:rPr lang="en-TH" sz="1600" dirty="0"/>
                        <a:t>ครบ</a:t>
                      </a:r>
                      <a:r>
                        <a:rPr lang="th-TH" sz="1600" dirty="0"/>
                        <a:t> </a:t>
                      </a:r>
                      <a:r>
                        <a:rPr lang="en-TH" sz="1600" dirty="0"/>
                        <a:t>และการนำโมเดลไปใช้ผ่านการทดสอบ</a:t>
                      </a:r>
                      <a:endParaRPr sz="1600" dirty="0">
                        <a:solidFill>
                          <a:srgbClr val="1C2B49"/>
                        </a:solidFill>
                        <a:latin typeface="Thonburi"/>
                        <a:ea typeface="Thonburi"/>
                        <a:cs typeface="Thonburi"/>
                      </a:endParaRPr>
                    </a:p>
                  </a:txBody>
                  <a:tcPr anchor="ctr">
                    <a:solidFill>
                      <a:srgbClr val="F1E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2006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A7DC7CEA-8982-4321-AEE5-4C9B2A64F3B2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9525000" cy="68580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2850" b="1">
                <a:solidFill>
                  <a:srgbClr val="1E4477"/>
                </a:solidFill>
                <a:latin typeface="Thonburi"/>
                <a:ea typeface="Thonburi"/>
                <a:cs typeface="Thonburi"/>
              </a:defRPr>
            </a:pPr>
            <a:r>
              <a:rPr sz="2850" b="1">
                <a:solidFill>
                  <a:srgbClr val="1E4477"/>
                </a:solidFill>
                <a:latin typeface="Thonburi"/>
                <a:ea typeface="Thonburi"/>
                <a:cs typeface="Thonburi"/>
              </a:rPr>
              <a:t>สิ่งที่ดีขึ้นหลังพัฒนา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C46B33-58FD-4111-9686-59D390144904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143000" cy="47625"/>
          </a:xfrm>
          <a:prstGeom prst="rect">
            <a:avLst/>
          </a:prstGeom>
          <a:solidFill>
            <a:srgbClr val="49A58D"/>
          </a:solidFill>
          <a:ln w="0">
            <a:solidFill>
              <a:srgbClr val="49A58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A44A28-4C1B-4B2C-8E03-7842FFDCA50D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4095750" cy="2095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975" b="0">
                <a:solidFill>
                  <a:srgbClr val="8090AA"/>
                </a:solidFill>
                <a:latin typeface="Thonburi"/>
                <a:ea typeface="Thonburi"/>
                <a:cs typeface="Thonburi"/>
              </a:defRPr>
            </a:pPr>
            <a:r>
              <a:rPr sz="975" b="0">
                <a:solidFill>
                  <a:srgbClr val="8090AA"/>
                </a:solidFill>
                <a:latin typeface="Thonburi"/>
                <a:ea typeface="Thonburi"/>
                <a:cs typeface="Thonburi"/>
              </a:rPr>
              <a:t>การพัฒนา Data Science Workflow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26027C-4874-4C9A-BBDB-30CD0E672158}"/>
              </a:ext>
            </a:extLst>
          </p:cNvPr>
          <p:cNvSpPr>
            <a:spLocks noGrp="1"/>
          </p:cNvSpPr>
          <p:nvPr/>
        </p:nvSpPr>
        <p:spPr>
          <a:xfrm>
            <a:off x="11144250" y="6419850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 fontScale="95238"/>
          </a:bodyPr>
          <a:lstStyle/>
          <a:p>
            <a:pPr algn="r">
              <a:buNone/>
              <a:defRPr sz="1050" b="0">
                <a:solidFill>
                  <a:srgbClr val="4E7FB6"/>
                </a:solidFill>
                <a:latin typeface="Thonburi"/>
                <a:ea typeface="Thonburi"/>
                <a:cs typeface="Thonburi"/>
              </a:defRPr>
            </a:pPr>
            <a:r>
              <a:rPr sz="1050" b="0" dirty="0">
                <a:solidFill>
                  <a:srgbClr val="4E7FB6"/>
                </a:solidFill>
                <a:latin typeface="Thonburi"/>
                <a:ea typeface="Thonburi"/>
                <a:cs typeface="Thonburi"/>
              </a:rPr>
              <a:t>1</a:t>
            </a:r>
            <a:r>
              <a:rPr lang="en-US" sz="1050" b="0" dirty="0">
                <a:solidFill>
                  <a:srgbClr val="4E7FB6"/>
                </a:solidFill>
                <a:latin typeface="Thonburi"/>
                <a:ea typeface="Thonburi"/>
                <a:cs typeface="Thonburi"/>
              </a:rPr>
              <a:t>5</a:t>
            </a:r>
            <a:endParaRPr sz="1050" b="0" dirty="0">
              <a:solidFill>
                <a:srgbClr val="4E7FB6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777223-1953-4907-8DB9-9415C7E32FBC}"/>
              </a:ext>
            </a:extLst>
          </p:cNvPr>
          <p:cNvSpPr>
            <a:spLocks noGrp="1"/>
          </p:cNvSpPr>
          <p:nvPr/>
        </p:nvSpPr>
        <p:spPr>
          <a:xfrm>
            <a:off x="1028700" y="1333500"/>
            <a:ext cx="3429000" cy="4000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1575" b="1">
                <a:solidFill>
                  <a:srgbClr val="D1627E"/>
                </a:solidFill>
                <a:latin typeface="Thonburi"/>
                <a:ea typeface="Thonburi"/>
                <a:cs typeface="Thonburi"/>
              </a:defRPr>
            </a:pPr>
            <a:r>
              <a:rPr sz="1575" b="1">
                <a:solidFill>
                  <a:srgbClr val="D1627E"/>
                </a:solidFill>
                <a:latin typeface="Thonburi"/>
                <a:ea typeface="Thonburi"/>
                <a:cs typeface="Thonburi"/>
              </a:rPr>
              <a:t>ก่อนปรับ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F927C6-D430-41B0-8A3D-7EB10BC506E0}"/>
              </a:ext>
            </a:extLst>
          </p:cNvPr>
          <p:cNvSpPr>
            <a:spLocks noGrp="1"/>
          </p:cNvSpPr>
          <p:nvPr/>
        </p:nvSpPr>
        <p:spPr>
          <a:xfrm>
            <a:off x="6191250" y="1333500"/>
            <a:ext cx="4476750" cy="4000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1575" b="1">
                <a:solidFill>
                  <a:srgbClr val="49A58D"/>
                </a:solidFill>
                <a:latin typeface="Thonburi"/>
                <a:ea typeface="Thonburi"/>
                <a:cs typeface="Thonburi"/>
              </a:defRPr>
            </a:pPr>
            <a:r>
              <a:rPr sz="1575" b="1">
                <a:solidFill>
                  <a:srgbClr val="49A58D"/>
                </a:solidFill>
                <a:latin typeface="Thonburi"/>
                <a:ea typeface="Thonburi"/>
                <a:cs typeface="Thonburi"/>
              </a:rPr>
              <a:t>หลังปรับ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B618CD-73D2-4FC6-A3E2-17DC76D54D1C}"/>
              </a:ext>
            </a:extLst>
          </p:cNvPr>
          <p:cNvSpPr>
            <a:spLocks noGrp="1"/>
          </p:cNvSpPr>
          <p:nvPr/>
        </p:nvSpPr>
        <p:spPr>
          <a:xfrm>
            <a:off x="1000125" y="1847850"/>
            <a:ext cx="3714750" cy="5143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1350" b="0">
                <a:solidFill>
                  <a:srgbClr val="233450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ขั้นตอนกว้าง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21A1684E-AB47-4964-B43B-E39419F388E5}"/>
              </a:ext>
            </a:extLst>
          </p:cNvPr>
          <p:cNvSpPr>
            <a:spLocks noGrp="1"/>
          </p:cNvSpPr>
          <p:nvPr/>
        </p:nvSpPr>
        <p:spPr>
          <a:xfrm>
            <a:off x="5000625" y="2105025"/>
            <a:ext cx="666750" cy="0"/>
          </a:xfrm>
          <a:prstGeom prst="line">
            <a:avLst/>
          </a:prstGeom>
          <a:noFill/>
          <a:ln w="38100">
            <a:solidFill>
              <a:srgbClr val="52C3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F497C9-333C-4CF3-A6BA-688374AEB6E4}"/>
              </a:ext>
            </a:extLst>
          </p:cNvPr>
          <p:cNvSpPr>
            <a:spLocks noGrp="1"/>
          </p:cNvSpPr>
          <p:nvPr/>
        </p:nvSpPr>
        <p:spPr>
          <a:xfrm>
            <a:off x="6048375" y="1847850"/>
            <a:ext cx="5143500" cy="5143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1350" b="1">
                <a:solidFill>
                  <a:srgbClr val="233450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ลำดับงาน กฎตัดสินใจ และผลลัพธ์ของแต่ละขั้นชัดเจน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672C8D22-0DEE-4ED4-BCDE-7934701B7E57}"/>
              </a:ext>
            </a:extLst>
          </p:cNvPr>
          <p:cNvSpPr>
            <a:spLocks noGrp="1"/>
          </p:cNvSpPr>
          <p:nvPr/>
        </p:nvSpPr>
        <p:spPr>
          <a:xfrm>
            <a:off x="952500" y="2457450"/>
            <a:ext cx="10287000" cy="0"/>
          </a:xfrm>
          <a:prstGeom prst="line">
            <a:avLst/>
          </a:prstGeom>
          <a:noFill/>
          <a:ln w="9525">
            <a:solidFill>
              <a:srgbClr val="E8EE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8D825A-7C2B-430E-8A6F-5F12147DA7FA}"/>
              </a:ext>
            </a:extLst>
          </p:cNvPr>
          <p:cNvSpPr>
            <a:spLocks noGrp="1"/>
          </p:cNvSpPr>
          <p:nvPr/>
        </p:nvSpPr>
        <p:spPr>
          <a:xfrm>
            <a:off x="1000125" y="2571750"/>
            <a:ext cx="3714750" cy="5143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1350" b="0">
                <a:solidFill>
                  <a:srgbClr val="233450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ใช้โมเดลและตัวชี้วัดแบบเดียวกับทุกโจทย์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276AE285-E686-4CD8-93DB-994A023E1F8C}"/>
              </a:ext>
            </a:extLst>
          </p:cNvPr>
          <p:cNvSpPr>
            <a:spLocks noGrp="1"/>
          </p:cNvSpPr>
          <p:nvPr/>
        </p:nvSpPr>
        <p:spPr>
          <a:xfrm>
            <a:off x="5000625" y="2828925"/>
            <a:ext cx="666750" cy="0"/>
          </a:xfrm>
          <a:prstGeom prst="line">
            <a:avLst/>
          </a:prstGeom>
          <a:noFill/>
          <a:ln w="38100">
            <a:solidFill>
              <a:srgbClr val="7664C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323625-BE88-476F-AB5A-F077AA3D9B33}"/>
              </a:ext>
            </a:extLst>
          </p:cNvPr>
          <p:cNvSpPr>
            <a:spLocks noGrp="1"/>
          </p:cNvSpPr>
          <p:nvPr/>
        </p:nvSpPr>
        <p:spPr>
          <a:xfrm>
            <a:off x="6048375" y="2571750"/>
            <a:ext cx="5143500" cy="5143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1350" b="1">
                <a:solidFill>
                  <a:srgbClr val="233450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เลือกวิธีตาม Classification หรือ Clustering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EFEB4A0D-EB40-46BF-AAFC-62F1E2C6307D}"/>
              </a:ext>
            </a:extLst>
          </p:cNvPr>
          <p:cNvSpPr>
            <a:spLocks noGrp="1"/>
          </p:cNvSpPr>
          <p:nvPr/>
        </p:nvSpPr>
        <p:spPr>
          <a:xfrm>
            <a:off x="952500" y="3181350"/>
            <a:ext cx="10287000" cy="0"/>
          </a:xfrm>
          <a:prstGeom prst="line">
            <a:avLst/>
          </a:prstGeom>
          <a:noFill/>
          <a:ln w="9525">
            <a:solidFill>
              <a:srgbClr val="E8EE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39D7D4-0D90-4E75-8FC8-1C16DAF3D90E}"/>
              </a:ext>
            </a:extLst>
          </p:cNvPr>
          <p:cNvSpPr>
            <a:spLocks noGrp="1"/>
          </p:cNvSpPr>
          <p:nvPr/>
        </p:nvSpPr>
        <p:spPr>
          <a:xfrm>
            <a:off x="1000125" y="3295650"/>
            <a:ext cx="3714750" cy="5143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1350" b="0">
                <a:solidFill>
                  <a:srgbClr val="233450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เสี่ยงเห็นผลลัพธ์ก่อนเลือกโมเดล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8BDA8E61-2BE7-4103-972D-D97833C8CCAF}"/>
              </a:ext>
            </a:extLst>
          </p:cNvPr>
          <p:cNvSpPr>
            <a:spLocks noGrp="1"/>
          </p:cNvSpPr>
          <p:nvPr/>
        </p:nvSpPr>
        <p:spPr>
          <a:xfrm>
            <a:off x="5000625" y="3552825"/>
            <a:ext cx="666750" cy="0"/>
          </a:xfrm>
          <a:prstGeom prst="line">
            <a:avLst/>
          </a:prstGeom>
          <a:noFill/>
          <a:ln w="38100">
            <a:solidFill>
              <a:srgbClr val="52C3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1CB56C-8BD8-4B50-870A-C103D800BCE2}"/>
              </a:ext>
            </a:extLst>
          </p:cNvPr>
          <p:cNvSpPr>
            <a:spLocks noGrp="1"/>
          </p:cNvSpPr>
          <p:nvPr/>
        </p:nvSpPr>
        <p:spPr>
          <a:xfrm>
            <a:off x="6048375" y="3295650"/>
            <a:ext cx="5143500" cy="5143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1350" b="1">
                <a:solidFill>
                  <a:srgbClr val="233450"/>
                </a:solidFill>
                <a:latin typeface="Thonburi"/>
                <a:ea typeface="Thonburi"/>
                <a:cs typeface="Thonburi"/>
              </a:defRPr>
            </a:pPr>
            <a:r>
              <a:rPr sz="1350" b="1" dirty="0" err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แยก</a:t>
            </a:r>
            <a:r>
              <a:rPr lang="th-TH" sz="1350" b="1" dirty="0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ผลลัพธ์ </a:t>
            </a:r>
            <a:r>
              <a:rPr sz="1350" b="1" dirty="0" err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และล็อกโมเดลก่อนตรวจผลภายหลัง</a:t>
            </a:r>
            <a:endParaRPr sz="1350" b="1" dirty="0">
              <a:solidFill>
                <a:srgbClr val="233450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3D25CC7C-4E7C-4DE6-824B-EBDF99AB0B61}"/>
              </a:ext>
            </a:extLst>
          </p:cNvPr>
          <p:cNvSpPr>
            <a:spLocks noGrp="1"/>
          </p:cNvSpPr>
          <p:nvPr/>
        </p:nvSpPr>
        <p:spPr>
          <a:xfrm>
            <a:off x="952500" y="3905250"/>
            <a:ext cx="10287000" cy="0"/>
          </a:xfrm>
          <a:prstGeom prst="line">
            <a:avLst/>
          </a:prstGeom>
          <a:noFill/>
          <a:ln w="9525">
            <a:solidFill>
              <a:srgbClr val="E8EE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A75C709-DA98-4A52-907C-674E2A7D7896}"/>
              </a:ext>
            </a:extLst>
          </p:cNvPr>
          <p:cNvSpPr>
            <a:spLocks noGrp="1"/>
          </p:cNvSpPr>
          <p:nvPr/>
        </p:nvSpPr>
        <p:spPr>
          <a:xfrm>
            <a:off x="1000125" y="4019550"/>
            <a:ext cx="3714750" cy="5143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1350" b="0">
                <a:solidFill>
                  <a:srgbClr val="233450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มีผลลัพธ์แต่ตรวจย้อนกลับยาก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24F4C902-4B79-46EA-9A19-F80038A417E7}"/>
              </a:ext>
            </a:extLst>
          </p:cNvPr>
          <p:cNvSpPr>
            <a:spLocks noGrp="1"/>
          </p:cNvSpPr>
          <p:nvPr/>
        </p:nvSpPr>
        <p:spPr>
          <a:xfrm>
            <a:off x="5000625" y="4276725"/>
            <a:ext cx="666750" cy="0"/>
          </a:xfrm>
          <a:prstGeom prst="line">
            <a:avLst/>
          </a:prstGeom>
          <a:noFill/>
          <a:ln w="38100">
            <a:solidFill>
              <a:srgbClr val="7664C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4E834FC-54DD-4E10-90DC-4AEF58CD69ED}"/>
              </a:ext>
            </a:extLst>
          </p:cNvPr>
          <p:cNvSpPr>
            <a:spLocks noGrp="1"/>
          </p:cNvSpPr>
          <p:nvPr/>
        </p:nvSpPr>
        <p:spPr>
          <a:xfrm>
            <a:off x="6048375" y="4019550"/>
            <a:ext cx="5143500" cy="5143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1350" b="1">
                <a:solidFill>
                  <a:srgbClr val="233450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เชื่อมข้อมูล โค้ด ตาราง กราฟ โมเดล Log และ Test เข้าด้วยกัน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18B44330-38B7-4EED-B3CF-722F1102FB00}"/>
              </a:ext>
            </a:extLst>
          </p:cNvPr>
          <p:cNvSpPr>
            <a:spLocks noGrp="1"/>
          </p:cNvSpPr>
          <p:nvPr/>
        </p:nvSpPr>
        <p:spPr>
          <a:xfrm>
            <a:off x="952500" y="4629150"/>
            <a:ext cx="10287000" cy="0"/>
          </a:xfrm>
          <a:prstGeom prst="line">
            <a:avLst/>
          </a:prstGeom>
          <a:noFill/>
          <a:ln w="9525">
            <a:solidFill>
              <a:srgbClr val="E8EEF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F95E94E-A2E9-4C23-9F48-93FF3C15DDCB}"/>
              </a:ext>
            </a:extLst>
          </p:cNvPr>
          <p:cNvSpPr>
            <a:spLocks noGrp="1"/>
          </p:cNvSpPr>
          <p:nvPr/>
        </p:nvSpPr>
        <p:spPr>
          <a:xfrm>
            <a:off x="1000125" y="4743450"/>
            <a:ext cx="3714750" cy="5143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1350" b="0">
                <a:solidFill>
                  <a:srgbClr val="233450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จบที่รายงาน HTML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392CC0E3-AF19-417D-80FC-47E0AB9ECCB2}"/>
              </a:ext>
            </a:extLst>
          </p:cNvPr>
          <p:cNvSpPr>
            <a:spLocks noGrp="1"/>
          </p:cNvSpPr>
          <p:nvPr/>
        </p:nvSpPr>
        <p:spPr>
          <a:xfrm>
            <a:off x="5000625" y="5000625"/>
            <a:ext cx="666750" cy="0"/>
          </a:xfrm>
          <a:prstGeom prst="line">
            <a:avLst/>
          </a:prstGeom>
          <a:noFill/>
          <a:ln w="38100">
            <a:solidFill>
              <a:srgbClr val="52C3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B98C756-056D-4B01-B0CB-53135AF05CE0}"/>
              </a:ext>
            </a:extLst>
          </p:cNvPr>
          <p:cNvSpPr>
            <a:spLocks noGrp="1"/>
          </p:cNvSpPr>
          <p:nvPr/>
        </p:nvSpPr>
        <p:spPr>
          <a:xfrm>
            <a:off x="6048375" y="4743450"/>
            <a:ext cx="5143500" cy="5143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1350" b="1">
                <a:solidFill>
                  <a:srgbClr val="233450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233450"/>
                </a:solidFill>
                <a:latin typeface="Thonburi"/>
                <a:ea typeface="Thonburi"/>
                <a:cs typeface="Thonburi"/>
              </a:rPr>
              <a:t>เพิ่ม Deployment, Monitoring และ Feedback Loop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FEC4814-22F6-4EE5-BBD7-7D640E14FCAC}"/>
              </a:ext>
            </a:extLst>
          </p:cNvPr>
          <p:cNvSpPr>
            <a:spLocks noGrp="1"/>
          </p:cNvSpPr>
          <p:nvPr/>
        </p:nvSpPr>
        <p:spPr>
          <a:xfrm>
            <a:off x="952500" y="5553075"/>
            <a:ext cx="10477500" cy="552450"/>
          </a:xfrm>
          <a:prstGeom prst="roundRect">
            <a:avLst>
              <a:gd name="adj" fmla="val 13793"/>
            </a:avLst>
          </a:prstGeom>
          <a:solidFill>
            <a:srgbClr val="1E4477"/>
          </a:solidFill>
          <a:ln w="0">
            <a:solidFill>
              <a:srgbClr val="1E4477"/>
            </a:solidFill>
          </a:ln>
        </p:spPr>
        <p:txBody>
          <a:bodyPr lIns="47625" tIns="28575" rIns="47625" bIns="28575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Workflow ที่เหมาะสมช่วยลดความผิดพลาด ทำให้กระบวนการตรวจสอบได้ และนำผลไปใช้อย่างระมัดระวัง</a:t>
            </a:r>
          </a:p>
        </p:txBody>
      </p:sp>
    </p:spTree>
    <p:extLst>
      <p:ext uri="{BB962C8B-B14F-4D97-AF65-F5344CB8AC3E}">
        <p14:creationId xmlns:p14="http://schemas.microsoft.com/office/powerpoint/2010/main" val="14158247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4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0A862C-4CCD-475F-816B-E4F49D875618}"/>
              </a:ext>
            </a:extLst>
          </p:cNvPr>
          <p:cNvSpPr>
            <a:spLocks noGrp="1"/>
          </p:cNvSpPr>
          <p:nvPr/>
        </p:nvSpPr>
        <p:spPr>
          <a:xfrm>
            <a:off x="945777" y="1143000"/>
            <a:ext cx="2095500" cy="49530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1725" b="1">
                <a:solidFill>
                  <a:srgbClr val="52C3E6"/>
                </a:solidFill>
                <a:latin typeface="Thonburi"/>
                <a:ea typeface="Thonburi"/>
                <a:cs typeface="Thonburi"/>
              </a:defRPr>
            </a:pPr>
            <a:r>
              <a:rPr sz="1725" b="1" dirty="0" err="1">
                <a:latin typeface="Thonburi"/>
                <a:ea typeface="Thonburi"/>
                <a:cs typeface="Thonburi"/>
              </a:rPr>
              <a:t>ส่วนที่</a:t>
            </a:r>
            <a:r>
              <a:rPr sz="1725" b="1" dirty="0">
                <a:latin typeface="Thonburi"/>
                <a:ea typeface="Thonburi"/>
                <a:cs typeface="Thonburi"/>
              </a:rPr>
              <a:t> 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2F40DA-EEE1-45AF-81E8-8E6DDC00D27A}"/>
              </a:ext>
            </a:extLst>
          </p:cNvPr>
          <p:cNvSpPr>
            <a:spLocks noGrp="1"/>
          </p:cNvSpPr>
          <p:nvPr/>
        </p:nvSpPr>
        <p:spPr>
          <a:xfrm>
            <a:off x="945777" y="1809750"/>
            <a:ext cx="10001250" cy="7810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3600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3600" b="1" dirty="0" err="1">
                <a:latin typeface="Thonburi"/>
                <a:ea typeface="Thonburi"/>
                <a:cs typeface="Thonburi"/>
              </a:rPr>
              <a:t>กรณีศึกษาการแบ่งกลุ่มนักศึกษา</a:t>
            </a:r>
            <a:endParaRPr sz="3600" b="1" dirty="0">
              <a:latin typeface="Thonburi"/>
              <a:ea typeface="Thonburi"/>
              <a:cs typeface="Thonbu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BB543C-A30B-48CB-BE22-16F1CB247A88}"/>
              </a:ext>
            </a:extLst>
          </p:cNvPr>
          <p:cNvSpPr>
            <a:spLocks noGrp="1"/>
          </p:cNvSpPr>
          <p:nvPr/>
        </p:nvSpPr>
        <p:spPr>
          <a:xfrm>
            <a:off x="983877" y="2857500"/>
            <a:ext cx="8096250" cy="1000125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1725" b="0">
                <a:solidFill>
                  <a:srgbClr val="D9E8FA"/>
                </a:solidFill>
                <a:latin typeface="Thonburi"/>
                <a:ea typeface="Thonburi"/>
                <a:cs typeface="Thonburi"/>
              </a:defRPr>
            </a:pPr>
            <a:r>
              <a:rPr sz="1725" b="0" dirty="0" err="1">
                <a:latin typeface="Thonburi"/>
                <a:ea typeface="Thonburi"/>
                <a:cs typeface="Thonburi"/>
              </a:rPr>
              <a:t>การประยุกต์</a:t>
            </a:r>
            <a:r>
              <a:rPr sz="1725" b="0" dirty="0">
                <a:latin typeface="Thonburi"/>
                <a:ea typeface="Thonburi"/>
                <a:cs typeface="Thonburi"/>
              </a:rPr>
              <a:t> Workflow 11 </a:t>
            </a:r>
            <a:r>
              <a:rPr sz="1725" b="0" dirty="0" err="1">
                <a:latin typeface="Thonburi"/>
                <a:ea typeface="Thonburi"/>
                <a:cs typeface="Thonburi"/>
              </a:rPr>
              <a:t>ขั้นกับข้อมูล</a:t>
            </a:r>
            <a:r>
              <a:rPr sz="1725" b="0" dirty="0">
                <a:latin typeface="Thonburi"/>
                <a:ea typeface="Thonburi"/>
                <a:cs typeface="Thonburi"/>
              </a:rPr>
              <a:t> MOOC</a:t>
            </a:r>
          </a:p>
          <a:p>
            <a:pPr algn="l">
              <a:buNone/>
              <a:defRPr sz="1725" b="0">
                <a:solidFill>
                  <a:srgbClr val="D9E8FA"/>
                </a:solidFill>
                <a:latin typeface="Thonburi"/>
                <a:ea typeface="Thonburi"/>
                <a:cs typeface="Thonburi"/>
              </a:defRPr>
            </a:pPr>
            <a:r>
              <a:rPr sz="1725" b="0" dirty="0" err="1">
                <a:latin typeface="Thonburi"/>
                <a:ea typeface="Thonburi"/>
                <a:cs typeface="Thonburi"/>
              </a:rPr>
              <a:t>ผลลัพธ์อยู่ช่วงท้ายเพื่อแยกจากเรื่องการพัฒนา</a:t>
            </a:r>
            <a:r>
              <a:rPr sz="1725" b="0" dirty="0">
                <a:latin typeface="Thonburi"/>
                <a:ea typeface="Thonburi"/>
                <a:cs typeface="Thonburi"/>
              </a:rPr>
              <a:t> Workflow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3997125-23F1-4600-9A0A-D0AE37DAF0A2}"/>
              </a:ext>
            </a:extLst>
          </p:cNvPr>
          <p:cNvSpPr>
            <a:spLocks noGrp="1"/>
          </p:cNvSpPr>
          <p:nvPr/>
        </p:nvSpPr>
        <p:spPr>
          <a:xfrm>
            <a:off x="876300" y="4286250"/>
            <a:ext cx="8858250" cy="0"/>
          </a:xfrm>
          <a:prstGeom prst="line">
            <a:avLst/>
          </a:prstGeom>
          <a:noFill/>
          <a:ln w="38100">
            <a:solidFill>
              <a:srgbClr val="52C3E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C778E5-AC2F-43FE-8AC4-6223210AE34D}"/>
              </a:ext>
            </a:extLst>
          </p:cNvPr>
          <p:cNvSpPr>
            <a:spLocks noGrp="1"/>
          </p:cNvSpPr>
          <p:nvPr/>
        </p:nvSpPr>
        <p:spPr>
          <a:xfrm>
            <a:off x="876300" y="4552950"/>
            <a:ext cx="10001250" cy="7810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/>
          </a:bodyPr>
          <a:lstStyle/>
          <a:p>
            <a:pPr algn="l">
              <a:buNone/>
              <a:defRPr sz="1500" b="1">
                <a:solidFill>
                  <a:srgbClr val="CDBFFF"/>
                </a:solidFill>
                <a:latin typeface="Thonburi"/>
                <a:ea typeface="Thonburi"/>
                <a:cs typeface="Thonburi"/>
              </a:defRPr>
            </a:pPr>
            <a:r>
              <a:rPr sz="1500" b="1">
                <a:latin typeface="Thonburi"/>
                <a:ea typeface="Thonburi"/>
                <a:cs typeface="Thonburi"/>
              </a:rPr>
              <a:t>ข้อมูลจริง 416,921 ระเบียน   นักศึกษาไม่ซ้ำ 335,650 คน</a:t>
            </a:r>
          </a:p>
          <a:p>
            <a:pPr algn="l">
              <a:buNone/>
              <a:defRPr sz="1500" b="1">
                <a:solidFill>
                  <a:srgbClr val="CDBFFF"/>
                </a:solidFill>
                <a:latin typeface="Thonburi"/>
                <a:ea typeface="Thonburi"/>
                <a:cs typeface="Thonburi"/>
              </a:defRPr>
            </a:pPr>
            <a:r>
              <a:rPr sz="1500" b="1">
                <a:latin typeface="Thonburi"/>
                <a:ea typeface="Thonburi"/>
                <a:cs typeface="Thonburi"/>
              </a:rPr>
              <a:t>งานแบบไม่มีคำตอบกำกับ (Unsupervised Learning)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331032-2288-E278-5AD7-C3C377DC9ADD}"/>
              </a:ext>
            </a:extLst>
          </p:cNvPr>
          <p:cNvSpPr>
            <a:spLocks noGrp="1"/>
          </p:cNvSpPr>
          <p:nvPr/>
        </p:nvSpPr>
        <p:spPr>
          <a:xfrm>
            <a:off x="11157697" y="6419850"/>
            <a:ext cx="428625" cy="209550"/>
          </a:xfrm>
          <a:prstGeom prst="rect">
            <a:avLst/>
          </a:prstGeom>
          <a:noFill/>
          <a:ln w="0">
            <a:noFill/>
          </a:ln>
        </p:spPr>
        <p:txBody>
          <a:bodyPr lIns="47625" tIns="28575" rIns="47625" bIns="28575" anchor="ctr">
            <a:normAutofit fontScale="95238"/>
          </a:bodyPr>
          <a:lstStyle/>
          <a:p>
            <a:pPr algn="r">
              <a:buNone/>
              <a:defRPr sz="1050" b="0">
                <a:solidFill>
                  <a:srgbClr val="4E7FB6"/>
                </a:solidFill>
                <a:latin typeface="Thonburi"/>
                <a:ea typeface="Thonburi"/>
                <a:cs typeface="Thonburi"/>
              </a:defRPr>
            </a:pPr>
            <a:r>
              <a:rPr lang="en-US" sz="1050" b="0" dirty="0">
                <a:solidFill>
                  <a:srgbClr val="4E7FB6"/>
                </a:solidFill>
                <a:latin typeface="Thonburi"/>
                <a:ea typeface="Thonburi"/>
                <a:cs typeface="Thonburi"/>
              </a:rPr>
              <a:t>1</a:t>
            </a:r>
            <a:r>
              <a:rPr lang="en-US" sz="1050" dirty="0">
                <a:solidFill>
                  <a:srgbClr val="4E7FB6"/>
                </a:solidFill>
                <a:latin typeface="Thonburi"/>
                <a:ea typeface="Thonburi"/>
                <a:cs typeface="Thonburi"/>
              </a:rPr>
              <a:t>6</a:t>
            </a:r>
            <a:endParaRPr sz="1050" b="0" dirty="0">
              <a:solidFill>
                <a:srgbClr val="4E7FB6"/>
              </a:solidFill>
              <a:latin typeface="Thonburi"/>
              <a:ea typeface="Thonburi"/>
              <a:cs typeface="Thonburi"/>
            </a:endParaRPr>
          </a:p>
        </p:txBody>
      </p:sp>
    </p:spTree>
    <p:extLst>
      <p:ext uri="{BB962C8B-B14F-4D97-AF65-F5344CB8AC3E}">
        <p14:creationId xmlns:p14="http://schemas.microsoft.com/office/powerpoint/2010/main" val="951981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E863CD8-3F63-4AFD-B944-2081016283C3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933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2850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2850" b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กรณีศึกษา: ภาพรวมโครงการ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A31B42-C657-4FE3-B8EF-41F69970944E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104900" cy="47625"/>
          </a:xfrm>
          <a:prstGeom prst="rect">
            <a:avLst/>
          </a:prstGeom>
          <a:solidFill>
            <a:srgbClr val="54C6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212561-DD0D-44CD-8D1C-37CBD33CAD44}"/>
              </a:ext>
            </a:extLst>
          </p:cNvPr>
          <p:cNvSpPr>
            <a:spLocks noGrp="1"/>
          </p:cNvSpPr>
          <p:nvPr/>
        </p:nvSpPr>
        <p:spPr>
          <a:xfrm>
            <a:off x="10287000" y="4572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1200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r>
              <a:rPr sz="1200" b="1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บทนำ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A6B373-A501-4392-9B9D-65DE150AA0C0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975" b="0">
                <a:solidFill>
                  <a:srgbClr val="8190A8"/>
                </a:solidFill>
                <a:latin typeface="Thonburi"/>
                <a:ea typeface="Thonburi"/>
                <a:cs typeface="Thonburi"/>
              </a:defRPr>
            </a:pPr>
            <a:r>
              <a:rPr sz="975" b="0">
                <a:solidFill>
                  <a:srgbClr val="8190A8"/>
                </a:solidFill>
                <a:latin typeface="Thonburi"/>
                <a:ea typeface="Thonburi"/>
                <a:cs typeface="Thonburi"/>
              </a:rPr>
              <a:t>Student Segmentation · MOOC Dataset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972AE3-AA70-4001-8BD6-F7FA295AAF95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1050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sz="1050" b="1" dirty="0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1</a:t>
            </a:r>
            <a:r>
              <a:rPr lang="en-US" sz="1050" b="1" dirty="0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7</a:t>
            </a:r>
            <a:endParaRPr sz="1050" b="1" dirty="0">
              <a:solidFill>
                <a:srgbClr val="4F7CAC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3ECD2F-ED98-46FE-BEEF-77F50CC6CEA3}"/>
              </a:ext>
            </a:extLst>
          </p:cNvPr>
          <p:cNvSpPr>
            <a:spLocks noGrp="1"/>
          </p:cNvSpPr>
          <p:nvPr/>
        </p:nvSpPr>
        <p:spPr>
          <a:xfrm>
            <a:off x="609600" y="1333500"/>
            <a:ext cx="10668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025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2025" b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เป้าหมายคือค้นหากลุ่มพฤติกรรมของนักศึกษา</a:t>
            </a:r>
          </a:p>
          <a:p>
            <a:pPr algn="l">
              <a:buNone/>
              <a:defRPr sz="2025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2025" b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เพื่อใช้ประกอบการวางแผนสนับสนุน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0296C4-26A2-4CCE-A0B1-BE1C112E4AAB}"/>
              </a:ext>
            </a:extLst>
          </p:cNvPr>
          <p:cNvSpPr>
            <a:spLocks noGrp="1"/>
          </p:cNvSpPr>
          <p:nvPr/>
        </p:nvSpPr>
        <p:spPr>
          <a:xfrm>
            <a:off x="609600" y="2705100"/>
            <a:ext cx="10668000" cy="19050"/>
          </a:xfrm>
          <a:prstGeom prst="rect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83EAAD-08F3-4390-B569-5DF6159E355B}"/>
              </a:ext>
            </a:extLst>
          </p:cNvPr>
          <p:cNvSpPr>
            <a:spLocks noGrp="1"/>
          </p:cNvSpPr>
          <p:nvPr/>
        </p:nvSpPr>
        <p:spPr>
          <a:xfrm>
            <a:off x="1304925" y="2914650"/>
            <a:ext cx="22383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3000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sz="3000" b="1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416,921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ACC4D7-03E5-41DB-ABD3-C916394C734F}"/>
              </a:ext>
            </a:extLst>
          </p:cNvPr>
          <p:cNvSpPr>
            <a:spLocks noGrp="1"/>
          </p:cNvSpPr>
          <p:nvPr/>
        </p:nvSpPr>
        <p:spPr>
          <a:xfrm>
            <a:off x="1304925" y="3467100"/>
            <a:ext cx="22383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425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425" b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records ในไฟล์จริง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A5B5D9-C73E-4B54-9C6E-C6A37C07F1E1}"/>
              </a:ext>
            </a:extLst>
          </p:cNvPr>
          <p:cNvSpPr>
            <a:spLocks noGrp="1"/>
          </p:cNvSpPr>
          <p:nvPr/>
        </p:nvSpPr>
        <p:spPr>
          <a:xfrm>
            <a:off x="1304925" y="3886200"/>
            <a:ext cx="2238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200" b="0">
                <a:solidFill>
                  <a:srgbClr val="60708C"/>
                </a:solidFill>
                <a:latin typeface="Thonburi"/>
                <a:ea typeface="Thonburi"/>
                <a:cs typeface="Thonburi"/>
              </a:defRPr>
            </a:pPr>
            <a:r>
              <a:rPr sz="1200" b="0">
                <a:solidFill>
                  <a:srgbClr val="60708C"/>
                </a:solidFill>
                <a:latin typeface="Thonburi"/>
                <a:ea typeface="Thonburi"/>
                <a:cs typeface="Thonburi"/>
              </a:rPr>
              <a:t>22 columns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4C4A62-FDEA-4ECB-B393-82AAB41269CA}"/>
              </a:ext>
            </a:extLst>
          </p:cNvPr>
          <p:cNvSpPr>
            <a:spLocks noGrp="1"/>
          </p:cNvSpPr>
          <p:nvPr/>
        </p:nvSpPr>
        <p:spPr>
          <a:xfrm>
            <a:off x="3952875" y="2914650"/>
            <a:ext cx="22383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3000" b="1">
                <a:solidFill>
                  <a:srgbClr val="54C6EB"/>
                </a:solidFill>
                <a:latin typeface="Thonburi"/>
                <a:ea typeface="Thonburi"/>
                <a:cs typeface="Thonburi"/>
              </a:defRPr>
            </a:pPr>
            <a:r>
              <a:rPr sz="3000" b="1">
                <a:solidFill>
                  <a:srgbClr val="54C6EB"/>
                </a:solidFill>
                <a:latin typeface="Thonburi"/>
                <a:ea typeface="Thonburi"/>
                <a:cs typeface="Thonburi"/>
              </a:rPr>
              <a:t>335,650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00B42E-8F40-494E-852D-6BDFBEB0A06B}"/>
              </a:ext>
            </a:extLst>
          </p:cNvPr>
          <p:cNvSpPr>
            <a:spLocks noGrp="1"/>
          </p:cNvSpPr>
          <p:nvPr/>
        </p:nvSpPr>
        <p:spPr>
          <a:xfrm>
            <a:off x="3952875" y="3467100"/>
            <a:ext cx="22383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425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425" b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นักศึกษาไม่ซ้ำ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A46F79-8F63-4FD9-B56E-3D978C6FA5E3}"/>
              </a:ext>
            </a:extLst>
          </p:cNvPr>
          <p:cNvSpPr>
            <a:spLocks noGrp="1"/>
          </p:cNvSpPr>
          <p:nvPr/>
        </p:nvSpPr>
        <p:spPr>
          <a:xfrm>
            <a:off x="3952875" y="3886200"/>
            <a:ext cx="2238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200" b="0">
                <a:solidFill>
                  <a:srgbClr val="60708C"/>
                </a:solidFill>
                <a:latin typeface="Thonburi"/>
                <a:ea typeface="Thonburi"/>
                <a:cs typeface="Thonburi"/>
              </a:defRPr>
            </a:pPr>
            <a:r>
              <a:rPr sz="1200" b="0">
                <a:solidFill>
                  <a:srgbClr val="60708C"/>
                </a:solidFill>
                <a:latin typeface="Thonburi"/>
                <a:ea typeface="Thonburi"/>
                <a:cs typeface="Thonburi"/>
              </a:rPr>
              <a:t>หนึ่งแถวต่อนักศึกษา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C2F5E9-7E0F-475E-9C03-DA1377426911}"/>
              </a:ext>
            </a:extLst>
          </p:cNvPr>
          <p:cNvSpPr>
            <a:spLocks noGrp="1"/>
          </p:cNvSpPr>
          <p:nvPr/>
        </p:nvSpPr>
        <p:spPr>
          <a:xfrm>
            <a:off x="6619875" y="2914650"/>
            <a:ext cx="22383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3000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r>
              <a:rPr sz="3000" b="1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29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4760DE-89C6-4A14-9D42-BD0195D493C1}"/>
              </a:ext>
            </a:extLst>
          </p:cNvPr>
          <p:cNvSpPr>
            <a:spLocks noGrp="1"/>
          </p:cNvSpPr>
          <p:nvPr/>
        </p:nvSpPr>
        <p:spPr>
          <a:xfrm>
            <a:off x="6619875" y="3467100"/>
            <a:ext cx="22383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425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425" b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model configurations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ABE735-2F63-4E45-9741-4D82B3A474A0}"/>
              </a:ext>
            </a:extLst>
          </p:cNvPr>
          <p:cNvSpPr>
            <a:spLocks noGrp="1"/>
          </p:cNvSpPr>
          <p:nvPr/>
        </p:nvSpPr>
        <p:spPr>
          <a:xfrm>
            <a:off x="6619875" y="3886200"/>
            <a:ext cx="2238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200" b="0">
                <a:solidFill>
                  <a:srgbClr val="60708C"/>
                </a:solidFill>
                <a:latin typeface="Thonburi"/>
                <a:ea typeface="Thonburi"/>
                <a:cs typeface="Thonburi"/>
              </a:defRPr>
            </a:pPr>
            <a:r>
              <a:rPr sz="1200" b="0">
                <a:solidFill>
                  <a:srgbClr val="60708C"/>
                </a:solidFill>
                <a:latin typeface="Thonburi"/>
                <a:ea typeface="Thonburi"/>
                <a:cs typeface="Thonburi"/>
              </a:rPr>
              <a:t>6 families ที่ต่างกันจริง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01E63C-2835-4389-9C40-00A32781A819}"/>
              </a:ext>
            </a:extLst>
          </p:cNvPr>
          <p:cNvSpPr>
            <a:spLocks noGrp="1"/>
          </p:cNvSpPr>
          <p:nvPr/>
        </p:nvSpPr>
        <p:spPr>
          <a:xfrm>
            <a:off x="9334500" y="2914650"/>
            <a:ext cx="22383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3000" b="1">
                <a:solidFill>
                  <a:srgbClr val="51458B"/>
                </a:solidFill>
                <a:latin typeface="Thonburi"/>
                <a:ea typeface="Thonburi"/>
                <a:cs typeface="Thonburi"/>
              </a:defRPr>
            </a:pPr>
            <a:r>
              <a:rPr sz="3000" b="1">
                <a:solidFill>
                  <a:srgbClr val="51458B"/>
                </a:solidFill>
                <a:latin typeface="Thonburi"/>
                <a:ea typeface="Thonburi"/>
                <a:cs typeface="Thonburi"/>
              </a:rPr>
              <a:t>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2F86D1-8E83-412D-AEBA-D2902F2917B6}"/>
              </a:ext>
            </a:extLst>
          </p:cNvPr>
          <p:cNvSpPr>
            <a:spLocks noGrp="1"/>
          </p:cNvSpPr>
          <p:nvPr/>
        </p:nvSpPr>
        <p:spPr>
          <a:xfrm>
            <a:off x="9334500" y="3467100"/>
            <a:ext cx="22383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425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425" b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กลุ่มพฤติกรรม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E62EB3-7A9A-406E-A523-E990C3728C60}"/>
              </a:ext>
            </a:extLst>
          </p:cNvPr>
          <p:cNvSpPr>
            <a:spLocks noGrp="1"/>
          </p:cNvSpPr>
          <p:nvPr/>
        </p:nvSpPr>
        <p:spPr>
          <a:xfrm>
            <a:off x="9522278" y="3893683"/>
            <a:ext cx="843643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200" b="0">
                <a:solidFill>
                  <a:srgbClr val="60708C"/>
                </a:solidFill>
                <a:latin typeface="Thonburi"/>
                <a:ea typeface="Thonburi"/>
                <a:cs typeface="Thonburi"/>
              </a:defRPr>
            </a:pPr>
            <a:r>
              <a:rPr sz="1200" b="0">
                <a:solidFill>
                  <a:srgbClr val="60708C"/>
                </a:solidFill>
                <a:latin typeface="Thonburi"/>
                <a:ea typeface="Thonburi"/>
                <a:cs typeface="Thonburi"/>
              </a:rPr>
              <a:t>K-Means</a:t>
            </a:r>
          </a:p>
        </p:txBody>
      </p:sp>
    </p:spTree>
    <p:extLst>
      <p:ext uri="{BB962C8B-B14F-4D97-AF65-F5344CB8AC3E}">
        <p14:creationId xmlns:p14="http://schemas.microsoft.com/office/powerpoint/2010/main" val="2109657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2688CD1-DA63-44FA-8234-8852FB8E3C8C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933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2550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2550" b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การกำหนดปัญหา (Problem Definition)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4F2988-58C4-4141-9297-22697508E532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104900" cy="47625"/>
          </a:xfrm>
          <a:prstGeom prst="rect">
            <a:avLst/>
          </a:prstGeom>
          <a:solidFill>
            <a:srgbClr val="54C6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2FCE8B-D8BE-4359-BCB0-B2AE604AF0DC}"/>
              </a:ext>
            </a:extLst>
          </p:cNvPr>
          <p:cNvSpPr>
            <a:spLocks noGrp="1"/>
          </p:cNvSpPr>
          <p:nvPr/>
        </p:nvSpPr>
        <p:spPr>
          <a:xfrm>
            <a:off x="10287000" y="4572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buNone/>
              <a:defRPr sz="1200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r>
              <a:rPr sz="1200" b="1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ขั้นตอน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05DF9C-A679-4489-A4BD-ECBA8C61FE1C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975" b="0">
                <a:solidFill>
                  <a:srgbClr val="8190A8"/>
                </a:solidFill>
                <a:latin typeface="Thonburi"/>
                <a:ea typeface="Thonburi"/>
                <a:cs typeface="Thonburi"/>
              </a:defRPr>
            </a:pPr>
            <a:r>
              <a:rPr sz="975" b="0">
                <a:solidFill>
                  <a:srgbClr val="8190A8"/>
                </a:solidFill>
                <a:latin typeface="Thonburi"/>
                <a:ea typeface="Thonburi"/>
                <a:cs typeface="Thonburi"/>
              </a:rPr>
              <a:t>Student Segmentation · MOOC Dataset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FE7202-0220-402C-8DA1-EE50D13F8EAD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1050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sz="1050" b="1" dirty="0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1</a:t>
            </a:r>
            <a:r>
              <a:rPr lang="en-US" sz="1050" b="1" dirty="0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8</a:t>
            </a:r>
            <a:endParaRPr sz="1050" b="1" dirty="0">
              <a:solidFill>
                <a:srgbClr val="4F7CAC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AF4124-8054-4965-8DC8-72C4C88F0988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161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650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r>
              <a:rPr sz="1650" b="1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โจทย์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C7476F-D6D6-456B-829F-4A22ECAB5A56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4953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100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2100" b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ค้นหากลุ่มนักศึกษาที่มีรูปแบบการมีส่วนร่วมแตกต่างกัน โดยไม่ใช้ผลลัพธ์การเรียนกำหนดกลุ่ม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F3E1C4-8DA9-4106-BDA9-B81952684E10}"/>
              </a:ext>
            </a:extLst>
          </p:cNvPr>
          <p:cNvSpPr>
            <a:spLocks noGrp="1"/>
          </p:cNvSpPr>
          <p:nvPr/>
        </p:nvSpPr>
        <p:spPr>
          <a:xfrm>
            <a:off x="666750" y="3381375"/>
            <a:ext cx="161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500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sz="1500" b="1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ประเภทงาน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986920-7C23-41C3-AF38-51EDF1FD29BE}"/>
              </a:ext>
            </a:extLst>
          </p:cNvPr>
          <p:cNvSpPr>
            <a:spLocks noGrp="1"/>
          </p:cNvSpPr>
          <p:nvPr/>
        </p:nvSpPr>
        <p:spPr>
          <a:xfrm>
            <a:off x="666750" y="3762375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875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b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การแบ่งกลุ่มแบบไม่มีคำตอบกำกับ</a:t>
            </a:r>
          </a:p>
          <a:p>
            <a:pPr algn="l">
              <a:buNone/>
              <a:defRPr sz="1875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b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(Unsupervised Clustering)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42B11F-8E21-4E9B-8C4D-80EFB7A95D6E}"/>
              </a:ext>
            </a:extLst>
          </p:cNvPr>
          <p:cNvSpPr>
            <a:spLocks noGrp="1"/>
          </p:cNvSpPr>
          <p:nvPr/>
        </p:nvSpPr>
        <p:spPr>
          <a:xfrm>
            <a:off x="666750" y="4524375"/>
            <a:ext cx="161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500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sz="1500" b="1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หน่วยวิเคราะห์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71E308-9184-4B62-95A5-69FF8421BF6D}"/>
              </a:ext>
            </a:extLst>
          </p:cNvPr>
          <p:cNvSpPr>
            <a:spLocks noGrp="1"/>
          </p:cNvSpPr>
          <p:nvPr/>
        </p:nvSpPr>
        <p:spPr>
          <a:xfrm>
            <a:off x="666750" y="4905375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875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875" b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หนึ่งแถวต่อนักศึกษา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745B4B-BD59-4533-B9DE-0D967776D07D}"/>
              </a:ext>
            </a:extLst>
          </p:cNvPr>
          <p:cNvSpPr>
            <a:spLocks noGrp="1"/>
          </p:cNvSpPr>
          <p:nvPr/>
        </p:nvSpPr>
        <p:spPr>
          <a:xfrm>
            <a:off x="6000750" y="1428750"/>
            <a:ext cx="28575" cy="4095750"/>
          </a:xfrm>
          <a:prstGeom prst="rect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DEEC41-3348-4D3B-85DE-5C68276E0E7A}"/>
              </a:ext>
            </a:extLst>
          </p:cNvPr>
          <p:cNvSpPr>
            <a:spLocks noGrp="1"/>
          </p:cNvSpPr>
          <p:nvPr/>
        </p:nvSpPr>
        <p:spPr>
          <a:xfrm>
            <a:off x="6477000" y="1476375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025" b="1">
                <a:solidFill>
                  <a:srgbClr val="51458B"/>
                </a:solidFill>
                <a:latin typeface="Thonburi"/>
                <a:ea typeface="Thonburi"/>
                <a:cs typeface="Thonburi"/>
              </a:defRPr>
            </a:pPr>
            <a:r>
              <a:rPr sz="2025" b="1">
                <a:solidFill>
                  <a:srgbClr val="51458B"/>
                </a:solidFill>
                <a:latin typeface="Thonburi"/>
                <a:ea typeface="Thonburi"/>
                <a:cs typeface="Thonburi"/>
              </a:rPr>
              <a:t>เกณฑ์ความสำเร็จ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9F11848-8568-4455-A1FB-75A96B923164}"/>
              </a:ext>
            </a:extLst>
          </p:cNvPr>
          <p:cNvSpPr>
            <a:spLocks noGrp="1"/>
          </p:cNvSpPr>
          <p:nvPr/>
        </p:nvSpPr>
        <p:spPr>
          <a:xfrm>
            <a:off x="6534150" y="2143125"/>
            <a:ext cx="171450" cy="171450"/>
          </a:xfrm>
          <a:prstGeom prst="ellipse">
            <a:avLst/>
          </a:prstGeom>
          <a:solidFill>
            <a:srgbClr val="54C6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671AF5-5436-4E78-B1D9-B49ABF18EF1F}"/>
              </a:ext>
            </a:extLst>
          </p:cNvPr>
          <p:cNvSpPr>
            <a:spLocks noGrp="1"/>
          </p:cNvSpPr>
          <p:nvPr/>
        </p:nvSpPr>
        <p:spPr>
          <a:xfrm>
            <a:off x="6858000" y="2057400"/>
            <a:ext cx="447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7368" lnSpcReduction="10000"/>
          </a:bodyPr>
          <a:lstStyle/>
          <a:p>
            <a:pPr algn="l">
              <a:buNone/>
              <a:defRPr sz="1425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425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ตัวชี้วัดภายในแสดงว่ากลุ่มแยกจากกันและมีความกระชับเหมาะสม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0170C14-3253-44FB-98DB-150BBCC6C438}"/>
              </a:ext>
            </a:extLst>
          </p:cNvPr>
          <p:cNvSpPr>
            <a:spLocks noGrp="1"/>
          </p:cNvSpPr>
          <p:nvPr/>
        </p:nvSpPr>
        <p:spPr>
          <a:xfrm>
            <a:off x="6534150" y="2790825"/>
            <a:ext cx="171450" cy="171450"/>
          </a:xfrm>
          <a:prstGeom prst="ellipse">
            <a:avLst/>
          </a:prstGeom>
          <a:solidFill>
            <a:srgbClr val="54C6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AFC2D2-389B-4C5A-8867-E32FBC50F108}"/>
              </a:ext>
            </a:extLst>
          </p:cNvPr>
          <p:cNvSpPr>
            <a:spLocks noGrp="1"/>
          </p:cNvSpPr>
          <p:nvPr/>
        </p:nvSpPr>
        <p:spPr>
          <a:xfrm>
            <a:off x="6858000" y="2705100"/>
            <a:ext cx="447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425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425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ผลแบ่งกลุ่มคงที่เมื่อสุ่มข้อมูลซ้ำและเปลี่ยนค่าเริ่มต้น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29261C1-B63C-4BEF-8EF6-D2E47DEC4A78}"/>
              </a:ext>
            </a:extLst>
          </p:cNvPr>
          <p:cNvSpPr>
            <a:spLocks noGrp="1"/>
          </p:cNvSpPr>
          <p:nvPr/>
        </p:nvSpPr>
        <p:spPr>
          <a:xfrm>
            <a:off x="6534150" y="3438525"/>
            <a:ext cx="171450" cy="171450"/>
          </a:xfrm>
          <a:prstGeom prst="ellipse">
            <a:avLst/>
          </a:prstGeom>
          <a:solidFill>
            <a:srgbClr val="54C6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C12564-F0E3-4ACD-89C6-FC7996619077}"/>
              </a:ext>
            </a:extLst>
          </p:cNvPr>
          <p:cNvSpPr>
            <a:spLocks noGrp="1"/>
          </p:cNvSpPr>
          <p:nvPr/>
        </p:nvSpPr>
        <p:spPr>
          <a:xfrm>
            <a:off x="6858000" y="3352800"/>
            <a:ext cx="447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425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425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แต่ละกลุ่มตีความจากพฤติกรรมจริงได้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7CE30F2-A5F6-458A-9DD6-F14AABD16749}"/>
              </a:ext>
            </a:extLst>
          </p:cNvPr>
          <p:cNvSpPr>
            <a:spLocks noGrp="1"/>
          </p:cNvSpPr>
          <p:nvPr/>
        </p:nvSpPr>
        <p:spPr>
          <a:xfrm>
            <a:off x="6534150" y="4086225"/>
            <a:ext cx="171450" cy="171450"/>
          </a:xfrm>
          <a:prstGeom prst="ellipse">
            <a:avLst/>
          </a:prstGeom>
          <a:solidFill>
            <a:srgbClr val="54C6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FA48C5-8FAE-4818-A987-5EDDC13CAD33}"/>
              </a:ext>
            </a:extLst>
          </p:cNvPr>
          <p:cNvSpPr>
            <a:spLocks noGrp="1"/>
          </p:cNvSpPr>
          <p:nvPr/>
        </p:nvSpPr>
        <p:spPr>
          <a:xfrm>
            <a:off x="6858000" y="4000500"/>
            <a:ext cx="447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425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425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ขนาดกลุ่มและเวลาประมวลผลเหมาะกับการใช้งาน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EC4D123-2339-4343-AB30-CD62C3466000}"/>
              </a:ext>
            </a:extLst>
          </p:cNvPr>
          <p:cNvSpPr>
            <a:spLocks noGrp="1"/>
          </p:cNvSpPr>
          <p:nvPr/>
        </p:nvSpPr>
        <p:spPr>
          <a:xfrm>
            <a:off x="6534150" y="4733925"/>
            <a:ext cx="171450" cy="171450"/>
          </a:xfrm>
          <a:prstGeom prst="ellipse">
            <a:avLst/>
          </a:prstGeom>
          <a:solidFill>
            <a:srgbClr val="7566B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05BC549-8540-4838-8DEF-441D9B918CCB}"/>
              </a:ext>
            </a:extLst>
          </p:cNvPr>
          <p:cNvSpPr>
            <a:spLocks noGrp="1"/>
          </p:cNvSpPr>
          <p:nvPr/>
        </p:nvSpPr>
        <p:spPr>
          <a:xfrm>
            <a:off x="6858000" y="4648200"/>
            <a:ext cx="4476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425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425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ผลการเรียนใช้ตรวจสอบภายหลังเท่านั้น</a:t>
            </a:r>
          </a:p>
        </p:txBody>
      </p:sp>
    </p:spTree>
    <p:extLst>
      <p:ext uri="{BB962C8B-B14F-4D97-AF65-F5344CB8AC3E}">
        <p14:creationId xmlns:p14="http://schemas.microsoft.com/office/powerpoint/2010/main" val="505462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85B272B-1198-4D38-93B6-7BD5276A9C3A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933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850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2850" b="1" dirty="0" err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แหล่งข้อมูลและหน่วยวิเคราะห์</a:t>
            </a:r>
            <a:endParaRPr sz="2850" b="1" dirty="0">
              <a:solidFill>
                <a:srgbClr val="173B6C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93EB12-78F7-4932-89AE-4560DF961856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104900" cy="47625"/>
          </a:xfrm>
          <a:prstGeom prst="rect">
            <a:avLst/>
          </a:prstGeom>
          <a:solidFill>
            <a:srgbClr val="54C6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D52D42-E19F-413C-9755-5C0DCE063ECF}"/>
              </a:ext>
            </a:extLst>
          </p:cNvPr>
          <p:cNvSpPr>
            <a:spLocks noGrp="1"/>
          </p:cNvSpPr>
          <p:nvPr/>
        </p:nvSpPr>
        <p:spPr>
          <a:xfrm>
            <a:off x="10287000" y="4572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buNone/>
              <a:defRPr sz="1200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r>
              <a:rPr sz="1200" b="1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ขั้นตอน 2–3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3406DE-00E4-44FF-8A8C-4AE0E004AF8F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975" b="0">
                <a:solidFill>
                  <a:srgbClr val="8190A8"/>
                </a:solidFill>
                <a:latin typeface="Thonburi"/>
                <a:ea typeface="Thonburi"/>
                <a:cs typeface="Thonburi"/>
              </a:defRPr>
            </a:pPr>
            <a:r>
              <a:rPr sz="975" b="0">
                <a:solidFill>
                  <a:srgbClr val="8190A8"/>
                </a:solidFill>
                <a:latin typeface="Thonburi"/>
                <a:ea typeface="Thonburi"/>
                <a:cs typeface="Thonburi"/>
              </a:rPr>
              <a:t>Student Segmentation · MOOC Dataset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95EC7A-7796-457E-ACF4-00F19C03F82E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1050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lang="en-US" sz="1050" b="1" dirty="0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19</a:t>
            </a:r>
            <a:endParaRPr sz="1050" b="1" dirty="0">
              <a:solidFill>
                <a:srgbClr val="4F7CAC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0EA848-E6FF-4244-8C8F-1C06236D04A6}"/>
              </a:ext>
            </a:extLst>
          </p:cNvPr>
          <p:cNvSpPr>
            <a:spLocks noGrp="1"/>
          </p:cNvSpPr>
          <p:nvPr/>
        </p:nvSpPr>
        <p:spPr>
          <a:xfrm>
            <a:off x="666750" y="1595438"/>
            <a:ext cx="495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175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2175" b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Kaggle MOOC Dataset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1510E42-91FC-4873-A8BC-C7E449BFAD68}"/>
              </a:ext>
            </a:extLst>
          </p:cNvPr>
          <p:cNvSpPr>
            <a:spLocks noGrp="1"/>
          </p:cNvSpPr>
          <p:nvPr/>
        </p:nvSpPr>
        <p:spPr>
          <a:xfrm>
            <a:off x="2005693" y="2347912"/>
            <a:ext cx="3143250" cy="1571625"/>
          </a:xfrm>
          <a:prstGeom prst="roundRect">
            <a:avLst>
              <a:gd name="adj" fmla="val 9697"/>
            </a:avLst>
          </a:prstGeom>
          <a:solidFill>
            <a:srgbClr val="EAF5FF"/>
          </a:solidFill>
          <a:ln w="19050">
            <a:solidFill>
              <a:srgbClr val="8FD3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295F8D-471C-4CBE-8AB9-A75306DAF655}"/>
              </a:ext>
            </a:extLst>
          </p:cNvPr>
          <p:cNvSpPr>
            <a:spLocks noGrp="1"/>
          </p:cNvSpPr>
          <p:nvPr/>
        </p:nvSpPr>
        <p:spPr>
          <a:xfrm>
            <a:off x="2243818" y="2614612"/>
            <a:ext cx="266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3225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sz="3225" b="1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416,921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85AC12-9346-4964-A690-1684BEB16866}"/>
              </a:ext>
            </a:extLst>
          </p:cNvPr>
          <p:cNvSpPr>
            <a:spLocks noGrp="1"/>
          </p:cNvSpPr>
          <p:nvPr/>
        </p:nvSpPr>
        <p:spPr>
          <a:xfrm>
            <a:off x="2243818" y="3252787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buNone/>
              <a:defRPr sz="1500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lang="en-US" sz="1500" b="1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records · 22 columns</a:t>
            </a:r>
          </a:p>
        </p:txBody>
      </p:sp>
      <p:sp>
        <p:nvSpPr>
          <p:cNvPr id="11" name="Chevron 10">
            <a:extLst>
              <a:ext uri="{FF2B5EF4-FFF2-40B4-BE49-F238E27FC236}">
                <a16:creationId xmlns:a16="http://schemas.microsoft.com/office/drawing/2014/main" id="{4598FFB6-EC79-4499-A869-B12D92B8656B}"/>
              </a:ext>
            </a:extLst>
          </p:cNvPr>
          <p:cNvSpPr>
            <a:spLocks noGrp="1"/>
          </p:cNvSpPr>
          <p:nvPr/>
        </p:nvSpPr>
        <p:spPr>
          <a:xfrm>
            <a:off x="5577568" y="2700337"/>
            <a:ext cx="904875" cy="857250"/>
          </a:xfrm>
          <a:prstGeom prst="chevron">
            <a:avLst/>
          </a:prstGeom>
          <a:solidFill>
            <a:srgbClr val="B9A7F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2F83C0E-8303-43C7-BCB8-94F6CAFB1FBF}"/>
              </a:ext>
            </a:extLst>
          </p:cNvPr>
          <p:cNvSpPr>
            <a:spLocks noGrp="1"/>
          </p:cNvSpPr>
          <p:nvPr/>
        </p:nvSpPr>
        <p:spPr>
          <a:xfrm>
            <a:off x="6958693" y="2347912"/>
            <a:ext cx="3143250" cy="1571625"/>
          </a:xfrm>
          <a:prstGeom prst="roundRect">
            <a:avLst>
              <a:gd name="adj" fmla="val 9697"/>
            </a:avLst>
          </a:prstGeom>
          <a:solidFill>
            <a:srgbClr val="F1EDFF"/>
          </a:solidFill>
          <a:ln w="19050">
            <a:solidFill>
              <a:srgbClr val="B9A7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47F560-6589-42C6-93E4-2B8556EC4603}"/>
              </a:ext>
            </a:extLst>
          </p:cNvPr>
          <p:cNvSpPr>
            <a:spLocks noGrp="1"/>
          </p:cNvSpPr>
          <p:nvPr/>
        </p:nvSpPr>
        <p:spPr>
          <a:xfrm>
            <a:off x="7196818" y="2614612"/>
            <a:ext cx="266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3225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r>
              <a:rPr sz="3225" b="1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335,650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134CC5-30AE-4A98-9083-C79F38DE4E0C}"/>
              </a:ext>
            </a:extLst>
          </p:cNvPr>
          <p:cNvSpPr>
            <a:spLocks noGrp="1"/>
          </p:cNvSpPr>
          <p:nvPr/>
        </p:nvSpPr>
        <p:spPr>
          <a:xfrm>
            <a:off x="7196818" y="3252787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buNone/>
              <a:defRPr sz="1500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500" b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นักศึกษาไม่ซ้ำ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B62C45-EFEA-416D-A346-65EFCC475A6F}"/>
              </a:ext>
            </a:extLst>
          </p:cNvPr>
          <p:cNvSpPr>
            <a:spLocks noGrp="1"/>
          </p:cNvSpPr>
          <p:nvPr/>
        </p:nvSpPr>
        <p:spPr>
          <a:xfrm>
            <a:off x="2604782" y="4383881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6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650" b="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หนึ่งคนอาจลงทะเบียนหลายวิชา</a:t>
            </a:r>
            <a:r>
              <a:rPr sz="1650" b="0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 </a:t>
            </a:r>
            <a:r>
              <a:rPr sz="1650" b="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จึงรวม</a:t>
            </a:r>
            <a:r>
              <a:rPr lang="th-TH" sz="1650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แถว</a:t>
            </a:r>
            <a:r>
              <a:rPr sz="1650" b="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ของคนเดียวกันให้เหลือหนึ่งแถว</a:t>
            </a:r>
            <a:endParaRPr sz="1650" b="0" dirty="0">
              <a:solidFill>
                <a:srgbClr val="1C2B49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CF78523-B458-C433-CE9C-5E6FB26A34F3}"/>
              </a:ext>
            </a:extLst>
          </p:cNvPr>
          <p:cNvSpPr>
            <a:spLocks noGrp="1"/>
          </p:cNvSpPr>
          <p:nvPr/>
        </p:nvSpPr>
        <p:spPr>
          <a:xfrm>
            <a:off x="1571624" y="5236369"/>
            <a:ext cx="9401176" cy="785812"/>
          </a:xfrm>
          <a:prstGeom prst="roundRect">
            <a:avLst>
              <a:gd name="adj" fmla="val 9697"/>
            </a:avLst>
          </a:prstGeom>
          <a:solidFill>
            <a:srgbClr val="F1EDFF"/>
          </a:solidFill>
          <a:ln w="19050">
            <a:solidFill>
              <a:srgbClr val="B9A7F8"/>
            </a:solidFill>
            <a:prstDash val="solid"/>
          </a:ln>
        </p:spPr>
        <p:txBody>
          <a:bodyPr/>
          <a:lstStyle/>
          <a:p>
            <a:pPr algn="ctr"/>
            <a:r>
              <a:rPr lang="en-TH" sz="1600" dirty="0">
                <a:latin typeface="Thonburi" pitchFamily="2" charset="-34"/>
                <a:cs typeface="Thonburi" pitchFamily="2" charset="-34"/>
              </a:rPr>
              <a:t>จำนวนข้อมูลไม่ได้หายเพราะการลบ แต่เกิดจากการรวมหลายระเบียนของนักศึกษาคนเดียวกันตาม userid_DI ให้เหลือหนึ่งแถวต่อนักศึกษา โดยตรวจสอบแล้วไม่สูญเสียนักศึกษาระหว่างการรวมข้อมูล</a:t>
            </a:r>
            <a:endParaRPr sz="1600" dirty="0">
              <a:latin typeface="Thonburi" pitchFamily="2" charset="-34"/>
              <a:cs typeface="Thonburi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5914374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22C88DA-B244-47D2-80DF-BBCFC1730FF7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933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2550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2550" b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การแยกกักผลลัพธ์ (Outcome Quarantine)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60D8DC-A7C7-4894-96A1-21C7ACA4E8F7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104900" cy="47625"/>
          </a:xfrm>
          <a:prstGeom prst="rect">
            <a:avLst/>
          </a:prstGeom>
          <a:solidFill>
            <a:srgbClr val="54C6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32DA72-E6E7-4F35-B14E-706E1996F316}"/>
              </a:ext>
            </a:extLst>
          </p:cNvPr>
          <p:cNvSpPr>
            <a:spLocks noGrp="1"/>
          </p:cNvSpPr>
          <p:nvPr/>
        </p:nvSpPr>
        <p:spPr>
          <a:xfrm>
            <a:off x="10287000" y="4572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buNone/>
              <a:defRPr sz="1200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r>
              <a:rPr sz="1200" b="1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ขั้นตอน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1C198C-47DD-4B9A-B20F-33057702B011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975" b="0">
                <a:solidFill>
                  <a:srgbClr val="8190A8"/>
                </a:solidFill>
                <a:latin typeface="Thonburi"/>
                <a:ea typeface="Thonburi"/>
                <a:cs typeface="Thonburi"/>
              </a:defRPr>
            </a:pPr>
            <a:r>
              <a:rPr sz="975" b="0">
                <a:solidFill>
                  <a:srgbClr val="8190A8"/>
                </a:solidFill>
                <a:latin typeface="Thonburi"/>
                <a:ea typeface="Thonburi"/>
                <a:cs typeface="Thonburi"/>
              </a:rPr>
              <a:t>Student Segmentation · MOOC Dataset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A7232D-B200-43FA-B5F2-D88922737741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1050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sz="1050" b="1" dirty="0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2</a:t>
            </a:r>
            <a:r>
              <a:rPr lang="en-US" sz="1050" b="1" dirty="0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0</a:t>
            </a:r>
            <a:endParaRPr sz="1050" b="1" dirty="0">
              <a:solidFill>
                <a:srgbClr val="4F7CAC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BD2CFD-0595-4353-B5C8-BF5FB8808E0C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3429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025" b="1">
                <a:solidFill>
                  <a:srgbClr val="51458B"/>
                </a:solidFill>
                <a:latin typeface="Thonburi"/>
                <a:ea typeface="Thonburi"/>
                <a:cs typeface="Thonburi"/>
              </a:defRPr>
            </a:pPr>
            <a:r>
              <a:rPr sz="2025" b="1">
                <a:solidFill>
                  <a:srgbClr val="51458B"/>
                </a:solidFill>
                <a:latin typeface="Thonburi"/>
                <a:ea typeface="Thonburi"/>
                <a:cs typeface="Thonburi"/>
              </a:rPr>
              <a:t>ตัวแปรที่ทราบผลภายหลัง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233819A-9A02-4559-BDE4-648CA81FCA51}"/>
              </a:ext>
            </a:extLst>
          </p:cNvPr>
          <p:cNvSpPr>
            <a:spLocks noGrp="1"/>
          </p:cNvSpPr>
          <p:nvPr/>
        </p:nvSpPr>
        <p:spPr>
          <a:xfrm>
            <a:off x="714375" y="2095500"/>
            <a:ext cx="2667000" cy="457200"/>
          </a:xfrm>
          <a:prstGeom prst="roundRect">
            <a:avLst>
              <a:gd name="adj" fmla="val 25000"/>
            </a:avLst>
          </a:prstGeom>
          <a:solidFill>
            <a:srgbClr val="F1EDFF"/>
          </a:solidFill>
          <a:ln w="9525">
            <a:solidFill>
              <a:srgbClr val="B9A7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E8D783-92A7-427B-8798-C4FE0B39F9AA}"/>
              </a:ext>
            </a:extLst>
          </p:cNvPr>
          <p:cNvSpPr>
            <a:spLocks noGrp="1"/>
          </p:cNvSpPr>
          <p:nvPr/>
        </p:nvSpPr>
        <p:spPr>
          <a:xfrm>
            <a:off x="876300" y="2190750"/>
            <a:ext cx="2333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51458B"/>
                </a:solidFill>
                <a:latin typeface="Thonburi"/>
                <a:ea typeface="Thonburi"/>
                <a:cs typeface="Thonburi"/>
              </a:defRPr>
            </a:pPr>
            <a:r>
              <a:rPr sz="1500" b="1">
                <a:solidFill>
                  <a:srgbClr val="51458B"/>
                </a:solidFill>
                <a:latin typeface="Thonburi"/>
                <a:ea typeface="Thonburi"/>
                <a:cs typeface="Thonburi"/>
              </a:rPr>
              <a:t>certified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19F2318-0174-4A95-8002-9848D46A48D2}"/>
              </a:ext>
            </a:extLst>
          </p:cNvPr>
          <p:cNvSpPr>
            <a:spLocks noGrp="1"/>
          </p:cNvSpPr>
          <p:nvPr/>
        </p:nvSpPr>
        <p:spPr>
          <a:xfrm>
            <a:off x="714375" y="2781300"/>
            <a:ext cx="2667000" cy="457200"/>
          </a:xfrm>
          <a:prstGeom prst="roundRect">
            <a:avLst>
              <a:gd name="adj" fmla="val 25000"/>
            </a:avLst>
          </a:prstGeom>
          <a:solidFill>
            <a:srgbClr val="F1EDFF"/>
          </a:solidFill>
          <a:ln w="9525">
            <a:solidFill>
              <a:srgbClr val="B9A7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AF3A2A-AA48-49D0-911B-7814B9A878FB}"/>
              </a:ext>
            </a:extLst>
          </p:cNvPr>
          <p:cNvSpPr>
            <a:spLocks noGrp="1"/>
          </p:cNvSpPr>
          <p:nvPr/>
        </p:nvSpPr>
        <p:spPr>
          <a:xfrm>
            <a:off x="876300" y="2876550"/>
            <a:ext cx="2333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51458B"/>
                </a:solidFill>
                <a:latin typeface="Thonburi"/>
                <a:ea typeface="Thonburi"/>
                <a:cs typeface="Thonburi"/>
              </a:defRPr>
            </a:pPr>
            <a:r>
              <a:rPr sz="1500" b="1">
                <a:solidFill>
                  <a:srgbClr val="51458B"/>
                </a:solidFill>
                <a:latin typeface="Thonburi"/>
                <a:ea typeface="Thonburi"/>
                <a:cs typeface="Thonburi"/>
              </a:rPr>
              <a:t>grade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9BC7BCD-154A-4327-8524-A6BE5964814E}"/>
              </a:ext>
            </a:extLst>
          </p:cNvPr>
          <p:cNvSpPr>
            <a:spLocks noGrp="1"/>
          </p:cNvSpPr>
          <p:nvPr/>
        </p:nvSpPr>
        <p:spPr>
          <a:xfrm>
            <a:off x="714375" y="3467100"/>
            <a:ext cx="2667000" cy="457200"/>
          </a:xfrm>
          <a:prstGeom prst="roundRect">
            <a:avLst>
              <a:gd name="adj" fmla="val 25000"/>
            </a:avLst>
          </a:prstGeom>
          <a:solidFill>
            <a:srgbClr val="F1EDFF"/>
          </a:solidFill>
          <a:ln w="9525">
            <a:solidFill>
              <a:srgbClr val="B9A7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5A6F83-BCE5-4BF2-AA10-FDFCE5387680}"/>
              </a:ext>
            </a:extLst>
          </p:cNvPr>
          <p:cNvSpPr>
            <a:spLocks noGrp="1"/>
          </p:cNvSpPr>
          <p:nvPr/>
        </p:nvSpPr>
        <p:spPr>
          <a:xfrm>
            <a:off x="876300" y="3562350"/>
            <a:ext cx="2333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51458B"/>
                </a:solidFill>
                <a:latin typeface="Thonburi"/>
                <a:ea typeface="Thonburi"/>
                <a:cs typeface="Thonburi"/>
              </a:defRPr>
            </a:pPr>
            <a:r>
              <a:rPr sz="1500" b="1">
                <a:solidFill>
                  <a:srgbClr val="51458B"/>
                </a:solidFill>
                <a:latin typeface="Thonburi"/>
                <a:ea typeface="Thonburi"/>
                <a:cs typeface="Thonburi"/>
              </a:rPr>
              <a:t>explored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18A16B1-4589-422F-BE23-9AA46EB6B771}"/>
              </a:ext>
            </a:extLst>
          </p:cNvPr>
          <p:cNvSpPr>
            <a:spLocks noGrp="1"/>
          </p:cNvSpPr>
          <p:nvPr/>
        </p:nvSpPr>
        <p:spPr>
          <a:xfrm>
            <a:off x="714375" y="4152900"/>
            <a:ext cx="2667000" cy="457200"/>
          </a:xfrm>
          <a:prstGeom prst="roundRect">
            <a:avLst>
              <a:gd name="adj" fmla="val 25000"/>
            </a:avLst>
          </a:prstGeom>
          <a:solidFill>
            <a:srgbClr val="F1EDFF"/>
          </a:solidFill>
          <a:ln w="9525">
            <a:solidFill>
              <a:srgbClr val="B9A7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14EF6A-A821-48FE-9267-6A1AA481F681}"/>
              </a:ext>
            </a:extLst>
          </p:cNvPr>
          <p:cNvSpPr>
            <a:spLocks noGrp="1"/>
          </p:cNvSpPr>
          <p:nvPr/>
        </p:nvSpPr>
        <p:spPr>
          <a:xfrm>
            <a:off x="876300" y="4248150"/>
            <a:ext cx="2333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00" b="1">
                <a:solidFill>
                  <a:srgbClr val="51458B"/>
                </a:solidFill>
                <a:latin typeface="Thonburi"/>
                <a:ea typeface="Thonburi"/>
                <a:cs typeface="Thonburi"/>
              </a:defRPr>
            </a:pPr>
            <a:r>
              <a:rPr sz="1500" b="1">
                <a:solidFill>
                  <a:srgbClr val="51458B"/>
                </a:solidFill>
                <a:latin typeface="Thonburi"/>
                <a:ea typeface="Thonburi"/>
                <a:cs typeface="Thonburi"/>
              </a:rPr>
              <a:t>incomplete_flag</a:t>
            </a:r>
          </a:p>
        </p:txBody>
      </p:sp>
      <p:sp>
        <p:nvSpPr>
          <p:cNvPr id="15" name="Chevron 14">
            <a:extLst>
              <a:ext uri="{FF2B5EF4-FFF2-40B4-BE49-F238E27FC236}">
                <a16:creationId xmlns:a16="http://schemas.microsoft.com/office/drawing/2014/main" id="{69388008-146A-46DA-88A7-F2DD65F49149}"/>
              </a:ext>
            </a:extLst>
          </p:cNvPr>
          <p:cNvSpPr>
            <a:spLocks noGrp="1"/>
          </p:cNvSpPr>
          <p:nvPr/>
        </p:nvSpPr>
        <p:spPr>
          <a:xfrm>
            <a:off x="3857625" y="2857500"/>
            <a:ext cx="914400" cy="904875"/>
          </a:xfrm>
          <a:prstGeom prst="chevron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7D8EA99-6BD5-4905-93B4-9F953B28B686}"/>
              </a:ext>
            </a:extLst>
          </p:cNvPr>
          <p:cNvSpPr>
            <a:spLocks noGrp="1"/>
          </p:cNvSpPr>
          <p:nvPr/>
        </p:nvSpPr>
        <p:spPr>
          <a:xfrm>
            <a:off x="5286375" y="1952625"/>
            <a:ext cx="2762250" cy="2381250"/>
          </a:xfrm>
          <a:prstGeom prst="roundRect">
            <a:avLst>
              <a:gd name="adj" fmla="val 6400"/>
            </a:avLst>
          </a:prstGeom>
          <a:solidFill>
            <a:srgbClr val="EAF5FF"/>
          </a:solidFill>
          <a:ln w="19050">
            <a:solidFill>
              <a:srgbClr val="8FD3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CC33C5-CF4D-4212-A639-310F986F598B}"/>
              </a:ext>
            </a:extLst>
          </p:cNvPr>
          <p:cNvSpPr>
            <a:spLocks noGrp="1"/>
          </p:cNvSpPr>
          <p:nvPr/>
        </p:nvSpPr>
        <p:spPr>
          <a:xfrm>
            <a:off x="5572125" y="2238375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2100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2100" b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พัฒนาโมเดล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E9A3E1-2B7F-4BAA-B6FA-05C7A2D4AE69}"/>
              </a:ext>
            </a:extLst>
          </p:cNvPr>
          <p:cNvSpPr>
            <a:spLocks noGrp="1"/>
          </p:cNvSpPr>
          <p:nvPr/>
        </p:nvSpPr>
        <p:spPr>
          <a:xfrm>
            <a:off x="5667375" y="2857500"/>
            <a:ext cx="200025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9087"/>
          </a:bodyPr>
          <a:lstStyle/>
          <a:p>
            <a:pPr algn="ctr">
              <a:buNone/>
              <a:defRPr sz="150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500" b="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สร้างตัวแปร</a:t>
            </a:r>
            <a:endParaRPr sz="1500" b="0" dirty="0">
              <a:solidFill>
                <a:srgbClr val="1C2B49"/>
              </a:solidFill>
              <a:latin typeface="Thonburi"/>
              <a:ea typeface="Thonburi"/>
              <a:cs typeface="Thonburi"/>
            </a:endParaRPr>
          </a:p>
          <a:p>
            <a:pPr algn="ctr">
              <a:buNone/>
              <a:defRPr sz="150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500" b="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เลือกโมเดลและจำนวนกลุ่ม</a:t>
            </a:r>
            <a:endParaRPr sz="1500" b="0" dirty="0">
              <a:solidFill>
                <a:srgbClr val="1C2B49"/>
              </a:solidFill>
              <a:latin typeface="Thonburi"/>
              <a:ea typeface="Thonburi"/>
              <a:cs typeface="Thonburi"/>
            </a:endParaRPr>
          </a:p>
          <a:p>
            <a:pPr algn="ctr">
              <a:buNone/>
              <a:defRPr sz="150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500" b="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ฝึกและปรับค่า</a:t>
            </a:r>
            <a:endParaRPr sz="1500" b="0" dirty="0">
              <a:solidFill>
                <a:srgbClr val="1C2B49"/>
              </a:solidFill>
              <a:latin typeface="Thonburi"/>
              <a:ea typeface="Thonburi"/>
              <a:cs typeface="Thonburi"/>
            </a:endParaRPr>
          </a:p>
          <a:p>
            <a:pPr algn="ctr">
              <a:buNone/>
              <a:defRPr sz="150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500" b="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ประเมินด้วยตัวชี้วัดภายใน</a:t>
            </a:r>
            <a:r>
              <a:rPr lang="en-US" sz="1500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(internal metrics)</a:t>
            </a:r>
            <a:endParaRPr sz="1500" b="0" dirty="0">
              <a:solidFill>
                <a:srgbClr val="1C2B49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19" name="Chevron 18">
            <a:extLst>
              <a:ext uri="{FF2B5EF4-FFF2-40B4-BE49-F238E27FC236}">
                <a16:creationId xmlns:a16="http://schemas.microsoft.com/office/drawing/2014/main" id="{C7FF8599-9BA8-4226-9662-9E4112D4A93B}"/>
              </a:ext>
            </a:extLst>
          </p:cNvPr>
          <p:cNvSpPr>
            <a:spLocks noGrp="1"/>
          </p:cNvSpPr>
          <p:nvPr/>
        </p:nvSpPr>
        <p:spPr>
          <a:xfrm>
            <a:off x="8429625" y="2857500"/>
            <a:ext cx="914400" cy="904875"/>
          </a:xfrm>
          <a:prstGeom prst="chevron">
            <a:avLst/>
          </a:prstGeom>
          <a:solidFill>
            <a:srgbClr val="B9A7F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E74342B-B429-45D9-BE31-49CFA6F30580}"/>
              </a:ext>
            </a:extLst>
          </p:cNvPr>
          <p:cNvSpPr>
            <a:spLocks noGrp="1"/>
          </p:cNvSpPr>
          <p:nvPr/>
        </p:nvSpPr>
        <p:spPr>
          <a:xfrm>
            <a:off x="9715500" y="2095500"/>
            <a:ext cx="1809750" cy="2095500"/>
          </a:xfrm>
          <a:prstGeom prst="roundRect">
            <a:avLst>
              <a:gd name="adj" fmla="val 8421"/>
            </a:avLst>
          </a:prstGeom>
          <a:solidFill>
            <a:srgbClr val="173B6C"/>
          </a:solidFill>
          <a:ln w="0">
            <a:solidFill>
              <a:srgbClr val="173B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6306D0-6205-4A7A-A61C-5AD96FB0DB81}"/>
              </a:ext>
            </a:extLst>
          </p:cNvPr>
          <p:cNvSpPr>
            <a:spLocks noGrp="1"/>
          </p:cNvSpPr>
          <p:nvPr/>
        </p:nvSpPr>
        <p:spPr>
          <a:xfrm>
            <a:off x="9953625" y="2428875"/>
            <a:ext cx="133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0346" lnSpcReduction="10000"/>
          </a:bodyPr>
          <a:lstStyle/>
          <a:p>
            <a:pPr algn="ctr">
              <a:buNone/>
              <a:defRPr sz="2550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2550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ล็อกโมเดล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937A54-5A80-4AB2-BDFF-B971B2F899B4}"/>
              </a:ext>
            </a:extLst>
          </p:cNvPr>
          <p:cNvSpPr>
            <a:spLocks noGrp="1"/>
          </p:cNvSpPr>
          <p:nvPr/>
        </p:nvSpPr>
        <p:spPr>
          <a:xfrm>
            <a:off x="9934575" y="3095625"/>
            <a:ext cx="13811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350" b="0">
                <a:solidFill>
                  <a:srgbClr val="EAF5FF"/>
                </a:solidFill>
                <a:latin typeface="Thonburi"/>
                <a:ea typeface="Thonburi"/>
                <a:cs typeface="Thonburi"/>
              </a:defRPr>
            </a:pPr>
            <a:r>
              <a:rPr sz="1350" b="0" dirty="0" err="1">
                <a:solidFill>
                  <a:srgbClr val="EAF5FF"/>
                </a:solidFill>
                <a:latin typeface="Thonburi"/>
                <a:ea typeface="Thonburi"/>
                <a:cs typeface="Thonburi"/>
              </a:rPr>
              <a:t>บันทึก</a:t>
            </a:r>
            <a:r>
              <a:rPr sz="1350" b="0" dirty="0">
                <a:solidFill>
                  <a:srgbClr val="EAF5FF"/>
                </a:solidFill>
                <a:latin typeface="Thonburi"/>
                <a:ea typeface="Thonburi"/>
                <a:cs typeface="Thonburi"/>
              </a:rPr>
              <a:t> model </a:t>
            </a:r>
            <a:r>
              <a:rPr sz="1350" b="0" dirty="0" err="1">
                <a:solidFill>
                  <a:srgbClr val="EAF5FF"/>
                </a:solidFill>
                <a:latin typeface="Thonburi"/>
                <a:ea typeface="Thonburi"/>
                <a:cs typeface="Thonburi"/>
              </a:rPr>
              <a:t>และ</a:t>
            </a:r>
            <a:r>
              <a:rPr sz="1350" b="0" dirty="0">
                <a:solidFill>
                  <a:srgbClr val="EAF5FF"/>
                </a:solidFill>
                <a:latin typeface="Thonburi"/>
                <a:ea typeface="Thonburi"/>
                <a:cs typeface="Thonburi"/>
              </a:rPr>
              <a:t> preprocessing checksum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D3BACD6-B90B-4F1D-BA71-32465B14B6D5}"/>
              </a:ext>
            </a:extLst>
          </p:cNvPr>
          <p:cNvSpPr>
            <a:spLocks noGrp="1"/>
          </p:cNvSpPr>
          <p:nvPr/>
        </p:nvSpPr>
        <p:spPr>
          <a:xfrm>
            <a:off x="2810435" y="4953000"/>
            <a:ext cx="8000440" cy="685800"/>
          </a:xfrm>
          <a:prstGeom prst="rect">
            <a:avLst/>
          </a:prstGeom>
          <a:solidFill>
            <a:srgbClr val="EAF5FF"/>
          </a:solidFill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buNone/>
              <a:defRPr sz="1725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1725" b="1" dirty="0" err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หลังล็อกแล้วจึงเปิดผลการเรียนเพื่อตรวจสอบภายหลัง</a:t>
            </a:r>
            <a:r>
              <a:rPr sz="1725" b="1" dirty="0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 (Post-hoc Validation) </a:t>
            </a:r>
            <a:endParaRPr lang="th-TH" sz="1725" b="1" dirty="0">
              <a:solidFill>
                <a:srgbClr val="173B6C"/>
              </a:solidFill>
              <a:latin typeface="Thonburi"/>
              <a:ea typeface="Thonburi"/>
              <a:cs typeface="Thonburi"/>
            </a:endParaRPr>
          </a:p>
          <a:p>
            <a:pPr algn="ctr">
              <a:buNone/>
              <a:defRPr sz="1725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1725" b="1" dirty="0" err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โดยห้ามย้อนกลับไปปรับโมเดลจากผลที่เห็น</a:t>
            </a:r>
            <a:endParaRPr sz="1725" b="1" dirty="0">
              <a:solidFill>
                <a:srgbClr val="173B6C"/>
              </a:solidFill>
              <a:latin typeface="Thonburi"/>
              <a:ea typeface="Thonburi"/>
              <a:cs typeface="Thonburi"/>
            </a:endParaRPr>
          </a:p>
        </p:txBody>
      </p:sp>
    </p:spTree>
    <p:extLst>
      <p:ext uri="{BB962C8B-B14F-4D97-AF65-F5344CB8AC3E}">
        <p14:creationId xmlns:p14="http://schemas.microsoft.com/office/powerpoint/2010/main" val="18064379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D17FC13-718B-49CE-A8C8-30E1DAF526B7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933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2550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2550" b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การทำความสะอาดและรวมข้อมูลระดับนักศึกษา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51F45C-8F5D-4636-8C25-7910CEFBDA07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104900" cy="47625"/>
          </a:xfrm>
          <a:prstGeom prst="rect">
            <a:avLst/>
          </a:prstGeom>
          <a:solidFill>
            <a:srgbClr val="54C6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499EDB-F743-4BC8-A925-BADDA767CE6B}"/>
              </a:ext>
            </a:extLst>
          </p:cNvPr>
          <p:cNvSpPr>
            <a:spLocks noGrp="1"/>
          </p:cNvSpPr>
          <p:nvPr/>
        </p:nvSpPr>
        <p:spPr>
          <a:xfrm>
            <a:off x="10287000" y="4572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buNone/>
              <a:defRPr sz="1200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r>
              <a:rPr sz="1200" b="1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ขั้นตอน 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76C0E5-BF2F-4144-B7FD-B767C20712BC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975" b="0">
                <a:solidFill>
                  <a:srgbClr val="8190A8"/>
                </a:solidFill>
                <a:latin typeface="Thonburi"/>
                <a:ea typeface="Thonburi"/>
                <a:cs typeface="Thonburi"/>
              </a:defRPr>
            </a:pPr>
            <a:r>
              <a:rPr sz="975" b="0">
                <a:solidFill>
                  <a:srgbClr val="8190A8"/>
                </a:solidFill>
                <a:latin typeface="Thonburi"/>
                <a:ea typeface="Thonburi"/>
                <a:cs typeface="Thonburi"/>
              </a:rPr>
              <a:t>Student Segmentation · MOOC Dataset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7E748A-1EDE-45C3-B9E2-03C0347D0785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1050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sz="1050" b="1" dirty="0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2</a:t>
            </a:r>
            <a:r>
              <a:rPr lang="en-US" sz="1050" b="1" dirty="0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1</a:t>
            </a:r>
            <a:endParaRPr sz="1050" b="1" dirty="0">
              <a:solidFill>
                <a:srgbClr val="4F7CAC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24FD3F-98C7-42FB-B493-C75FD9D925D5}"/>
              </a:ext>
            </a:extLst>
          </p:cNvPr>
          <p:cNvSpPr>
            <a:spLocks noGrp="1"/>
          </p:cNvSpPr>
          <p:nvPr/>
        </p:nvSpPr>
        <p:spPr>
          <a:xfrm>
            <a:off x="714375" y="1476375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650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sz="1600" b="1" dirty="0" err="1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ค่าสูญหาย</a:t>
            </a:r>
            <a:r>
              <a:rPr sz="1600" b="1" dirty="0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 </a:t>
            </a:r>
            <a:endParaRPr lang="th-TH" sz="1600" b="1" dirty="0">
              <a:solidFill>
                <a:srgbClr val="4F7CAC"/>
              </a:solidFill>
              <a:latin typeface="Thonburi"/>
              <a:ea typeface="Thonburi"/>
              <a:cs typeface="Thonburi"/>
            </a:endParaRPr>
          </a:p>
          <a:p>
            <a:pPr algn="l">
              <a:buNone/>
              <a:defRPr sz="1650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sz="1600" b="1" dirty="0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(Missing Values)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697A96-EE2D-446C-998D-95EB1D182910}"/>
              </a:ext>
            </a:extLst>
          </p:cNvPr>
          <p:cNvSpPr>
            <a:spLocks noGrp="1"/>
          </p:cNvSpPr>
          <p:nvPr/>
        </p:nvSpPr>
        <p:spPr>
          <a:xfrm>
            <a:off x="3143250" y="1457325"/>
            <a:ext cx="5429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50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50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รักษา missing เมื่อความหมายไม่แน่นอน ไม่แทนเป็นศูนย์โดยไม่มีหลักฐาน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F3F6E5-7CD8-4042-8C08-ECAB14A22DFC}"/>
              </a:ext>
            </a:extLst>
          </p:cNvPr>
          <p:cNvSpPr>
            <a:spLocks noGrp="1"/>
          </p:cNvSpPr>
          <p:nvPr/>
        </p:nvSpPr>
        <p:spPr>
          <a:xfrm>
            <a:off x="714375" y="2219325"/>
            <a:ext cx="7858125" cy="9525"/>
          </a:xfrm>
          <a:prstGeom prst="rect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0098F2-54F4-4F87-960F-B008585E3499}"/>
              </a:ext>
            </a:extLst>
          </p:cNvPr>
          <p:cNvSpPr>
            <a:spLocks noGrp="1"/>
          </p:cNvSpPr>
          <p:nvPr/>
        </p:nvSpPr>
        <p:spPr>
          <a:xfrm>
            <a:off x="714375" y="2476500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650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r>
              <a:rPr sz="1600" b="1" dirty="0" err="1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วันที่ผิดลำดับ</a:t>
            </a:r>
            <a:endParaRPr sz="1600" b="1" dirty="0">
              <a:solidFill>
                <a:srgbClr val="7566B7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0E9DC9-7B1B-466A-AACB-C461484EB54E}"/>
              </a:ext>
            </a:extLst>
          </p:cNvPr>
          <p:cNvSpPr>
            <a:spLocks noGrp="1"/>
          </p:cNvSpPr>
          <p:nvPr/>
        </p:nvSpPr>
        <p:spPr>
          <a:xfrm>
            <a:off x="3143250" y="2457450"/>
            <a:ext cx="5429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50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50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เก็บช่วงเวลาที่คำนวณไม่ได้เป็น missing และบันทึกจำนวนที่ได้รับผลกระทบ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CFBB89-F401-4547-836E-5CE160D22F96}"/>
              </a:ext>
            </a:extLst>
          </p:cNvPr>
          <p:cNvSpPr>
            <a:spLocks noGrp="1"/>
          </p:cNvSpPr>
          <p:nvPr/>
        </p:nvSpPr>
        <p:spPr>
          <a:xfrm>
            <a:off x="714375" y="3219450"/>
            <a:ext cx="7858125" cy="9525"/>
          </a:xfrm>
          <a:prstGeom prst="rect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4C22F3-A5E6-4C43-A9D1-C8BDE1B692AB}"/>
              </a:ext>
            </a:extLst>
          </p:cNvPr>
          <p:cNvSpPr>
            <a:spLocks noGrp="1"/>
          </p:cNvSpPr>
          <p:nvPr/>
        </p:nvSpPr>
        <p:spPr>
          <a:xfrm>
            <a:off x="714375" y="3476625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650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sz="1600" b="1" dirty="0" err="1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ชนิดข้อมูล</a:t>
            </a:r>
            <a:r>
              <a:rPr sz="1600" b="1" dirty="0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 </a:t>
            </a:r>
            <a:endParaRPr lang="en-US" sz="1600" b="1" dirty="0">
              <a:solidFill>
                <a:srgbClr val="4F7CAC"/>
              </a:solidFill>
              <a:latin typeface="Thonburi"/>
              <a:ea typeface="Thonburi"/>
              <a:cs typeface="Thonburi"/>
            </a:endParaRPr>
          </a:p>
          <a:p>
            <a:pPr algn="l">
              <a:buNone/>
              <a:defRPr sz="1650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sz="1600" b="1" dirty="0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(Data Types)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B5A158-FC7D-4448-88B6-69E3B6390AF1}"/>
              </a:ext>
            </a:extLst>
          </p:cNvPr>
          <p:cNvSpPr>
            <a:spLocks noGrp="1"/>
          </p:cNvSpPr>
          <p:nvPr/>
        </p:nvSpPr>
        <p:spPr>
          <a:xfrm>
            <a:off x="3143250" y="3457575"/>
            <a:ext cx="5429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50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50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แปลงตัวเลขและวันที่ก่อน aggregate พร้อมตรวจค่าผิดรูปแบบ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C4CE0B-77AA-4E90-A71F-DECC4100C2A1}"/>
              </a:ext>
            </a:extLst>
          </p:cNvPr>
          <p:cNvSpPr>
            <a:spLocks noGrp="1"/>
          </p:cNvSpPr>
          <p:nvPr/>
        </p:nvSpPr>
        <p:spPr>
          <a:xfrm>
            <a:off x="714375" y="4219575"/>
            <a:ext cx="7858125" cy="9525"/>
          </a:xfrm>
          <a:prstGeom prst="rect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2C87CC-E228-4483-80E5-03EA6779C378}"/>
              </a:ext>
            </a:extLst>
          </p:cNvPr>
          <p:cNvSpPr>
            <a:spLocks noGrp="1"/>
          </p:cNvSpPr>
          <p:nvPr/>
        </p:nvSpPr>
        <p:spPr>
          <a:xfrm>
            <a:off x="714375" y="4476750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650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1F6C32-1FC5-4280-9285-27CC57A3AD04}"/>
              </a:ext>
            </a:extLst>
          </p:cNvPr>
          <p:cNvSpPr>
            <a:spLocks noGrp="1"/>
          </p:cNvSpPr>
          <p:nvPr/>
        </p:nvSpPr>
        <p:spPr>
          <a:xfrm>
            <a:off x="3143250" y="4457700"/>
            <a:ext cx="5429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50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50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รวม course records ตาม userid_DI ด้วยกฎเฉพาะแต่ละตัวแปร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676E0A-1E97-417D-8A4C-804E3EDC53CA}"/>
              </a:ext>
            </a:extLst>
          </p:cNvPr>
          <p:cNvSpPr>
            <a:spLocks noGrp="1"/>
          </p:cNvSpPr>
          <p:nvPr/>
        </p:nvSpPr>
        <p:spPr>
          <a:xfrm>
            <a:off x="714375" y="5219700"/>
            <a:ext cx="7858125" cy="9525"/>
          </a:xfrm>
          <a:prstGeom prst="rect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9DDE37C-3232-485C-96D8-0A549048A4B9}"/>
              </a:ext>
            </a:extLst>
          </p:cNvPr>
          <p:cNvSpPr>
            <a:spLocks noGrp="1"/>
          </p:cNvSpPr>
          <p:nvPr/>
        </p:nvSpPr>
        <p:spPr>
          <a:xfrm>
            <a:off x="9096375" y="1428750"/>
            <a:ext cx="2333625" cy="4095750"/>
          </a:xfrm>
          <a:prstGeom prst="roundRect">
            <a:avLst>
              <a:gd name="adj" fmla="val 6531"/>
            </a:avLst>
          </a:prstGeom>
          <a:solidFill>
            <a:srgbClr val="F1EDFF"/>
          </a:solidFill>
          <a:ln w="19050">
            <a:solidFill>
              <a:srgbClr val="B9A7F8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F36066-E38F-495C-AB6A-D61B9ABB217F}"/>
              </a:ext>
            </a:extLst>
          </p:cNvPr>
          <p:cNvSpPr>
            <a:spLocks noGrp="1"/>
          </p:cNvSpPr>
          <p:nvPr/>
        </p:nvSpPr>
        <p:spPr>
          <a:xfrm>
            <a:off x="9334500" y="1762125"/>
            <a:ext cx="1857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55902" lnSpcReduction="20000"/>
          </a:bodyPr>
          <a:lstStyle/>
          <a:p>
            <a:pPr algn="ctr">
              <a:buNone/>
              <a:defRPr sz="1875" b="1">
                <a:solidFill>
                  <a:srgbClr val="51458B"/>
                </a:solidFill>
                <a:latin typeface="Thonburi"/>
                <a:ea typeface="Thonburi"/>
                <a:cs typeface="Thonburi"/>
              </a:defRPr>
            </a:pPr>
            <a:r>
              <a:rPr sz="1875" b="1">
                <a:solidFill>
                  <a:srgbClr val="51458B"/>
                </a:solidFill>
                <a:latin typeface="Thonburi"/>
                <a:ea typeface="Thonburi"/>
                <a:cs typeface="Thonburi"/>
              </a:rPr>
              <a:t>ผลตรวจการทำความสะอาด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1EDF2C-3A56-48EE-8686-08F67094C39B}"/>
              </a:ext>
            </a:extLst>
          </p:cNvPr>
          <p:cNvSpPr>
            <a:spLocks noGrp="1"/>
          </p:cNvSpPr>
          <p:nvPr/>
        </p:nvSpPr>
        <p:spPr>
          <a:xfrm>
            <a:off x="9382125" y="2476500"/>
            <a:ext cx="1762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3150" b="1">
                <a:solidFill>
                  <a:srgbClr val="4B9C86"/>
                </a:solidFill>
                <a:latin typeface="Thonburi"/>
                <a:ea typeface="Thonburi"/>
                <a:cs typeface="Thonburi"/>
              </a:defRPr>
            </a:pPr>
            <a:r>
              <a:rPr sz="3150" b="1">
                <a:solidFill>
                  <a:srgbClr val="4B9C86"/>
                </a:solidFill>
                <a:latin typeface="Thonburi"/>
                <a:ea typeface="Thonburi"/>
                <a:cs typeface="Thonburi"/>
              </a:rPr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D118FA-6317-4B20-AA10-D8B1F1140B51}"/>
              </a:ext>
            </a:extLst>
          </p:cNvPr>
          <p:cNvSpPr>
            <a:spLocks noGrp="1"/>
          </p:cNvSpPr>
          <p:nvPr/>
        </p:nvSpPr>
        <p:spPr>
          <a:xfrm>
            <a:off x="9382125" y="2981325"/>
            <a:ext cx="1762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350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นักศึกษาสูญหาย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BD5F5D1-4639-48F3-8A3A-B2727B0C6FFC}"/>
              </a:ext>
            </a:extLst>
          </p:cNvPr>
          <p:cNvSpPr>
            <a:spLocks noGrp="1"/>
          </p:cNvSpPr>
          <p:nvPr/>
        </p:nvSpPr>
        <p:spPr>
          <a:xfrm>
            <a:off x="9382125" y="3714750"/>
            <a:ext cx="1762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3150" b="1">
                <a:solidFill>
                  <a:srgbClr val="D9974A"/>
                </a:solidFill>
                <a:latin typeface="Thonburi"/>
                <a:ea typeface="Thonburi"/>
                <a:cs typeface="Thonburi"/>
              </a:defRPr>
            </a:pPr>
            <a:r>
              <a:rPr sz="3150" b="1">
                <a:solidFill>
                  <a:srgbClr val="D9974A"/>
                </a:solidFill>
                <a:latin typeface="Thonburi"/>
                <a:ea typeface="Thonburi"/>
                <a:cs typeface="Thonburi"/>
              </a:rPr>
              <a:t>1,171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6A3AC0-C0F4-47FA-BDE3-CA070992A1C3}"/>
              </a:ext>
            </a:extLst>
          </p:cNvPr>
          <p:cNvSpPr>
            <a:spLocks noGrp="1"/>
          </p:cNvSpPr>
          <p:nvPr/>
        </p:nvSpPr>
        <p:spPr>
          <a:xfrm>
            <a:off x="9382125" y="4219575"/>
            <a:ext cx="1762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350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คนมีวันที่กลับด้าน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E87A9BF-B574-44C1-ADD3-AB2C27E705B8}"/>
              </a:ext>
            </a:extLst>
          </p:cNvPr>
          <p:cNvSpPr>
            <a:spLocks noGrp="1"/>
          </p:cNvSpPr>
          <p:nvPr/>
        </p:nvSpPr>
        <p:spPr>
          <a:xfrm>
            <a:off x="9334500" y="4838700"/>
            <a:ext cx="18573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0">
                <a:solidFill>
                  <a:srgbClr val="60708C"/>
                </a:solidFill>
                <a:latin typeface="Thonburi"/>
                <a:ea typeface="Thonburi"/>
                <a:cs typeface="Thonburi"/>
              </a:defRPr>
            </a:pPr>
            <a:r>
              <a:rPr sz="1275" b="0">
                <a:solidFill>
                  <a:srgbClr val="60708C"/>
                </a:solidFill>
                <a:latin typeface="Thonburi"/>
                <a:ea typeface="Thonburi"/>
                <a:cs typeface="Thonburi"/>
              </a:rPr>
              <a:t>ความไม่แน่นอนของวันที่ถูกเก็บไว้ใน audit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1FBCE2-72FE-4F22-B11D-DC69BE77D3FA}"/>
              </a:ext>
            </a:extLst>
          </p:cNvPr>
          <p:cNvSpPr>
            <a:spLocks noGrp="1"/>
          </p:cNvSpPr>
          <p:nvPr/>
        </p:nvSpPr>
        <p:spPr>
          <a:xfrm>
            <a:off x="714375" y="4476750"/>
            <a:ext cx="257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r>
              <a:rPr sz="1600" b="1" dirty="0" err="1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การรวมข้อมูลระดับนักศึกษา</a:t>
            </a:r>
            <a:endParaRPr sz="1600" b="1" dirty="0">
              <a:solidFill>
                <a:srgbClr val="7566B7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4632A60-6948-A3B9-52A3-9A9440B54469}"/>
              </a:ext>
            </a:extLst>
          </p:cNvPr>
          <p:cNvSpPr txBox="1"/>
          <p:nvPr/>
        </p:nvSpPr>
        <p:spPr>
          <a:xfrm>
            <a:off x="644898" y="5209401"/>
            <a:ext cx="84514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*</a:t>
            </a:r>
            <a:r>
              <a:rPr lang="en-TH" sz="1200" dirty="0">
                <a:solidFill>
                  <a:schemeClr val="bg1">
                    <a:lumMod val="50000"/>
                  </a:schemeClr>
                </a:solidFill>
              </a:rPr>
              <a:t>วันที่เริ่มต้นที่อยู่หลังวันที่ทำกิจกรรมล่าสุดถือว่าไม่สมเหตุสมผล จึงเก็บช่วงเวลาดังกล่าวเป็นค่าสูญหาย แทนการบังคับให้เป็นศูนย์ เพื่อไม่ให้ข้อมูลผิดถูกตีความว่าเป็นการเรียนระยะสั้น</a:t>
            </a:r>
          </a:p>
        </p:txBody>
      </p:sp>
    </p:spTree>
    <p:extLst>
      <p:ext uri="{BB962C8B-B14F-4D97-AF65-F5344CB8AC3E}">
        <p14:creationId xmlns:p14="http://schemas.microsoft.com/office/powerpoint/2010/main" val="5038567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E2CC2D1-699B-E75E-F1BC-ACD3FD61F34A}"/>
              </a:ext>
            </a:extLst>
          </p:cNvPr>
          <p:cNvSpPr>
            <a:spLocks noGrp="1"/>
          </p:cNvSpPr>
          <p:nvPr/>
        </p:nvSpPr>
        <p:spPr>
          <a:xfrm>
            <a:off x="2324100" y="5441257"/>
            <a:ext cx="7620000" cy="926205"/>
          </a:xfrm>
          <a:prstGeom prst="roundRect">
            <a:avLst>
              <a:gd name="adj" fmla="val 6531"/>
            </a:avLst>
          </a:prstGeom>
          <a:solidFill>
            <a:srgbClr val="F1EDFF"/>
          </a:solidFill>
          <a:ln w="19050">
            <a:solidFill>
              <a:srgbClr val="B9A7F8"/>
            </a:solidFill>
            <a:prstDash val="solid"/>
          </a:ln>
        </p:spPr>
        <p:txBody>
          <a:bodyPr/>
          <a:lstStyle/>
          <a:p>
            <a:pPr>
              <a:buNone/>
            </a:pPr>
            <a:r>
              <a:rPr lang="en-TH" b="1" dirty="0"/>
              <a:t>ข้อค้นพบสำคัญ</a:t>
            </a:r>
            <a:br>
              <a:rPr lang="en-TH" dirty="0"/>
            </a:br>
            <a:r>
              <a:rPr lang="en-TH" dirty="0"/>
              <a:t>ตัวแปรพฤติกรรมกระจายเบ้ขวาและมีค่าศูนย์จำนวนมาก</a:t>
            </a:r>
            <a:br>
              <a:rPr lang="en-TH" dirty="0"/>
            </a:br>
            <a:r>
              <a:rPr lang="en-TH" dirty="0"/>
              <a:t>ข้อมูลวิดีโอขาด 56.82% จึงแปลงข้อมูลด้วย log1p ปรับมาตราส่วน และทดสอบความไวของตัวแปรวิดีโอ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EB11A5-D19B-4645-8659-F285E59B55DB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933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2850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2850" b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การวิเคราะห์ข้อมูลเชิงสำรวจ (EDA)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A65329-DAF6-4B80-B79B-E497556533C7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104900" cy="47625"/>
          </a:xfrm>
          <a:prstGeom prst="rect">
            <a:avLst/>
          </a:prstGeom>
          <a:solidFill>
            <a:srgbClr val="54C6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679B5A-42E3-4ADC-9B58-22D1CB0B4A7F}"/>
              </a:ext>
            </a:extLst>
          </p:cNvPr>
          <p:cNvSpPr>
            <a:spLocks noGrp="1"/>
          </p:cNvSpPr>
          <p:nvPr/>
        </p:nvSpPr>
        <p:spPr>
          <a:xfrm>
            <a:off x="10287000" y="4572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buNone/>
              <a:defRPr sz="1200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r>
              <a:rPr sz="1200" b="1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ขั้นตอน 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BADE7F-8064-43CE-A63E-2C46E9B215DD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975" b="0">
                <a:solidFill>
                  <a:srgbClr val="8190A8"/>
                </a:solidFill>
                <a:latin typeface="Thonburi"/>
                <a:ea typeface="Thonburi"/>
                <a:cs typeface="Thonburi"/>
              </a:defRPr>
            </a:pPr>
            <a:r>
              <a:rPr sz="975" b="0">
                <a:solidFill>
                  <a:srgbClr val="8190A8"/>
                </a:solidFill>
                <a:latin typeface="Thonburi"/>
                <a:ea typeface="Thonburi"/>
                <a:cs typeface="Thonburi"/>
              </a:rPr>
              <a:t>Student Segmentation · MOOC Dataset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FEEA12-7D02-4B06-AB61-8BCBF007236B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1050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sz="1050" b="1" dirty="0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2</a:t>
            </a:r>
            <a:r>
              <a:rPr lang="en-US" sz="1050" b="1" dirty="0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2</a:t>
            </a:r>
            <a:endParaRPr sz="1050" b="1" dirty="0">
              <a:solidFill>
                <a:srgbClr val="4F7CAC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D967314-A725-4109-9476-BDFA41668255}"/>
              </a:ext>
            </a:extLst>
          </p:cNvPr>
          <p:cNvSpPr>
            <a:spLocks noGrp="1"/>
          </p:cNvSpPr>
          <p:nvPr/>
        </p:nvSpPr>
        <p:spPr>
          <a:xfrm>
            <a:off x="571500" y="1381125"/>
            <a:ext cx="5238750" cy="3356074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8E2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1D61AE7-9AF7-4676-9417-EDF8FD590301}"/>
              </a:ext>
            </a:extLst>
          </p:cNvPr>
          <p:cNvSpPr>
            <a:spLocks noGrp="1"/>
          </p:cNvSpPr>
          <p:nvPr/>
        </p:nvSpPr>
        <p:spPr>
          <a:xfrm>
            <a:off x="6286500" y="1381125"/>
            <a:ext cx="5238750" cy="3356074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8E2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790C55-893D-4AE8-8AD0-EF1E3AEED738}"/>
              </a:ext>
            </a:extLst>
          </p:cNvPr>
          <p:cNvSpPr>
            <a:spLocks noGrp="1"/>
          </p:cNvSpPr>
          <p:nvPr/>
        </p:nvSpPr>
        <p:spPr>
          <a:xfrm>
            <a:off x="1147232" y="4827686"/>
            <a:ext cx="4087283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575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sz="1575" b="1" dirty="0">
                <a:solidFill>
                  <a:srgbClr val="0070C0"/>
                </a:solidFill>
                <a:latin typeface="Thonburi"/>
                <a:ea typeface="Thonburi"/>
                <a:cs typeface="Thonburi"/>
              </a:rPr>
              <a:t>EDA </a:t>
            </a:r>
            <a:r>
              <a:rPr sz="1575" b="1" dirty="0" err="1">
                <a:solidFill>
                  <a:srgbClr val="0070C0"/>
                </a:solidFill>
                <a:latin typeface="Thonburi"/>
                <a:ea typeface="Thonburi"/>
                <a:cs typeface="Thonburi"/>
              </a:rPr>
              <a:t>ใช้ประชากรทั้งหมดและไม่เปิดผลการเรียน</a:t>
            </a:r>
            <a:endParaRPr sz="1575" b="1" dirty="0">
              <a:solidFill>
                <a:srgbClr val="0070C0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C4A5A3-2193-4A4C-8B35-33E4C57FD339}"/>
              </a:ext>
            </a:extLst>
          </p:cNvPr>
          <p:cNvSpPr>
            <a:spLocks noGrp="1"/>
          </p:cNvSpPr>
          <p:nvPr/>
        </p:nvSpPr>
        <p:spPr>
          <a:xfrm>
            <a:off x="6697193" y="4756249"/>
            <a:ext cx="4417359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buNone/>
              <a:defRPr sz="150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500" b="1" dirty="0" err="1">
                <a:solidFill>
                  <a:srgbClr val="0070C0"/>
                </a:solidFill>
                <a:latin typeface="Thonburi"/>
                <a:ea typeface="Thonburi"/>
                <a:cs typeface="Thonburi"/>
              </a:rPr>
              <a:t>ตรวจการกระจาย</a:t>
            </a:r>
            <a:r>
              <a:rPr sz="1500" b="1" dirty="0">
                <a:solidFill>
                  <a:srgbClr val="0070C0"/>
                </a:solidFill>
                <a:latin typeface="Thonburi"/>
                <a:ea typeface="Thonburi"/>
                <a:cs typeface="Thonburi"/>
              </a:rPr>
              <a:t> </a:t>
            </a:r>
            <a:r>
              <a:rPr sz="1500" b="1" dirty="0" err="1">
                <a:solidFill>
                  <a:srgbClr val="0070C0"/>
                </a:solidFill>
                <a:latin typeface="Thonburi"/>
                <a:ea typeface="Thonburi"/>
                <a:cs typeface="Thonburi"/>
              </a:rPr>
              <a:t>ความเบาบาง</a:t>
            </a:r>
            <a:r>
              <a:rPr sz="1500" b="1" dirty="0">
                <a:solidFill>
                  <a:srgbClr val="0070C0"/>
                </a:solidFill>
                <a:latin typeface="Thonburi"/>
                <a:ea typeface="Thonburi"/>
                <a:cs typeface="Thonburi"/>
              </a:rPr>
              <a:t> </a:t>
            </a:r>
            <a:r>
              <a:rPr sz="1500" b="1" dirty="0" err="1">
                <a:solidFill>
                  <a:srgbClr val="0070C0"/>
                </a:solidFill>
                <a:latin typeface="Thonburi"/>
                <a:ea typeface="Thonburi"/>
                <a:cs typeface="Thonburi"/>
              </a:rPr>
              <a:t>ค่าผิดปกติ</a:t>
            </a:r>
            <a:r>
              <a:rPr sz="1500" b="1" dirty="0">
                <a:solidFill>
                  <a:srgbClr val="0070C0"/>
                </a:solidFill>
                <a:latin typeface="Thonburi"/>
                <a:ea typeface="Thonburi"/>
                <a:cs typeface="Thonburi"/>
              </a:rPr>
              <a:t> </a:t>
            </a:r>
            <a:r>
              <a:rPr sz="1500" b="1" dirty="0" err="1">
                <a:solidFill>
                  <a:srgbClr val="0070C0"/>
                </a:solidFill>
                <a:latin typeface="Thonburi"/>
                <a:ea typeface="Thonburi"/>
                <a:cs typeface="Thonburi"/>
              </a:rPr>
              <a:t>สหสัมพันธ์</a:t>
            </a:r>
            <a:r>
              <a:rPr sz="1500" b="1" dirty="0">
                <a:solidFill>
                  <a:srgbClr val="0070C0"/>
                </a:solidFill>
                <a:latin typeface="Thonburi"/>
                <a:ea typeface="Thonburi"/>
                <a:cs typeface="Thonburi"/>
              </a:rPr>
              <a:t> </a:t>
            </a:r>
            <a:r>
              <a:rPr sz="1500" b="1" dirty="0" err="1">
                <a:solidFill>
                  <a:srgbClr val="0070C0"/>
                </a:solidFill>
                <a:latin typeface="Thonburi"/>
                <a:ea typeface="Thonburi"/>
                <a:cs typeface="Thonburi"/>
              </a:rPr>
              <a:t>และความเกี่ยวข้องของตัวแปรก่อนสร้างโมเดล</a:t>
            </a:r>
            <a:endParaRPr sz="1500" b="1" dirty="0">
              <a:solidFill>
                <a:srgbClr val="0070C0"/>
              </a:solidFill>
              <a:latin typeface="Thonburi"/>
              <a:ea typeface="Thonburi"/>
              <a:cs typeface="Thonburi"/>
            </a:endParaRPr>
          </a:p>
        </p:txBody>
      </p:sp>
      <p:pic>
        <p:nvPicPr>
          <p:cNvPr id="24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8187" y="1766593"/>
            <a:ext cx="4905375" cy="2563513"/>
          </a:xfrm>
          <a:prstGeom prst="roundRect">
            <a:avLst>
              <a:gd name="adj" fmla="val 3200"/>
            </a:avLst>
          </a:prstGeom>
        </p:spPr>
      </p:pic>
      <p:pic>
        <p:nvPicPr>
          <p:cNvPr id="25" name="Picture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453186" y="1570833"/>
            <a:ext cx="4905375" cy="2759273"/>
          </a:xfrm>
          <a:prstGeom prst="roundRect">
            <a:avLst>
              <a:gd name="adj" fmla="val 3200"/>
            </a:avLst>
          </a:prstGeom>
        </p:spPr>
      </p:pic>
    </p:spTree>
    <p:extLst>
      <p:ext uri="{BB962C8B-B14F-4D97-AF65-F5344CB8AC3E}">
        <p14:creationId xmlns:p14="http://schemas.microsoft.com/office/powerpoint/2010/main" val="8121145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08B0540B-8E15-4C7A-B076-6686928B9064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933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2550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2550" b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การสร้างและคัดเลือกตัวแปร (Feature Engineering)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CD14C4-84C2-4BBC-BA15-72F97218D35B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104900" cy="47625"/>
          </a:xfrm>
          <a:prstGeom prst="rect">
            <a:avLst/>
          </a:prstGeom>
          <a:solidFill>
            <a:srgbClr val="54C6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E8C5EA-4D32-4073-8862-CBC4A8E1DFE4}"/>
              </a:ext>
            </a:extLst>
          </p:cNvPr>
          <p:cNvSpPr>
            <a:spLocks noGrp="1"/>
          </p:cNvSpPr>
          <p:nvPr/>
        </p:nvSpPr>
        <p:spPr>
          <a:xfrm>
            <a:off x="10287000" y="4572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buNone/>
              <a:defRPr sz="1200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r>
              <a:rPr sz="1200" b="1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ขั้นตอน 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74E00D-583D-47CA-82C3-6D800A07445F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975" b="0">
                <a:solidFill>
                  <a:srgbClr val="8190A8"/>
                </a:solidFill>
                <a:latin typeface="Thonburi"/>
                <a:ea typeface="Thonburi"/>
                <a:cs typeface="Thonburi"/>
              </a:defRPr>
            </a:pPr>
            <a:r>
              <a:rPr sz="975" b="0">
                <a:solidFill>
                  <a:srgbClr val="8190A8"/>
                </a:solidFill>
                <a:latin typeface="Thonburi"/>
                <a:ea typeface="Thonburi"/>
                <a:cs typeface="Thonburi"/>
              </a:rPr>
              <a:t>Student Segmentation · MOOC Dataset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D9045F-9232-4D19-8501-FE8678E0C838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1050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sz="1050" b="1" dirty="0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2</a:t>
            </a:r>
            <a:r>
              <a:rPr lang="en-US" sz="1050" b="1" dirty="0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3</a:t>
            </a:r>
            <a:endParaRPr sz="1050" b="1" dirty="0">
              <a:solidFill>
                <a:srgbClr val="4F7CAC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600287-FF5A-4C15-ACAF-B041C1551C18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6531"/>
          </a:bodyPr>
          <a:lstStyle/>
          <a:p>
            <a:pPr algn="l">
              <a:buNone/>
              <a:defRPr sz="2325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2325" b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ตัวแปรพฤติกรรมหลัก 8 ตัว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AE393AD-06A2-4AA3-8815-C7C2BB9B549A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152400" cy="152400"/>
          </a:xfrm>
          <a:prstGeom prst="ellipse">
            <a:avLst/>
          </a:prstGeom>
          <a:solidFill>
            <a:srgbClr val="54C6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20AA28-5FCD-4594-A045-0054038BE09A}"/>
              </a:ext>
            </a:extLst>
          </p:cNvPr>
          <p:cNvSpPr>
            <a:spLocks noGrp="1"/>
          </p:cNvSpPr>
          <p:nvPr/>
        </p:nvSpPr>
        <p:spPr>
          <a:xfrm>
            <a:off x="952500" y="2028825"/>
            <a:ext cx="2190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425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425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จำนวนวิชาที่ลง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8493B75-352B-4C59-BEA5-74E588DD6FD9}"/>
              </a:ext>
            </a:extLst>
          </p:cNvPr>
          <p:cNvSpPr>
            <a:spLocks noGrp="1"/>
          </p:cNvSpPr>
          <p:nvPr/>
        </p:nvSpPr>
        <p:spPr>
          <a:xfrm>
            <a:off x="666750" y="2847975"/>
            <a:ext cx="152400" cy="152400"/>
          </a:xfrm>
          <a:prstGeom prst="ellipse">
            <a:avLst/>
          </a:prstGeom>
          <a:solidFill>
            <a:srgbClr val="54C6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A4ADD1-A4D6-4CFC-9F29-2C266997161C}"/>
              </a:ext>
            </a:extLst>
          </p:cNvPr>
          <p:cNvSpPr>
            <a:spLocks noGrp="1"/>
          </p:cNvSpPr>
          <p:nvPr/>
        </p:nvSpPr>
        <p:spPr>
          <a:xfrm>
            <a:off x="952500" y="2733675"/>
            <a:ext cx="2190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425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425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อัตราการดูเนื้อหา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3808108-39ED-4C76-B6DF-7519CAA9A9FA}"/>
              </a:ext>
            </a:extLst>
          </p:cNvPr>
          <p:cNvSpPr>
            <a:spLocks noGrp="1"/>
          </p:cNvSpPr>
          <p:nvPr/>
        </p:nvSpPr>
        <p:spPr>
          <a:xfrm>
            <a:off x="666750" y="3552825"/>
            <a:ext cx="152400" cy="152400"/>
          </a:xfrm>
          <a:prstGeom prst="ellipse">
            <a:avLst/>
          </a:prstGeom>
          <a:solidFill>
            <a:srgbClr val="54C6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4222BA-8991-4D08-83F7-07F44C54C474}"/>
              </a:ext>
            </a:extLst>
          </p:cNvPr>
          <p:cNvSpPr>
            <a:spLocks noGrp="1"/>
          </p:cNvSpPr>
          <p:nvPr/>
        </p:nvSpPr>
        <p:spPr>
          <a:xfrm>
            <a:off x="952500" y="3438525"/>
            <a:ext cx="2190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425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425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จำนวน events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148D571-2275-4796-9FEC-FF72E6AA1E7A}"/>
              </a:ext>
            </a:extLst>
          </p:cNvPr>
          <p:cNvSpPr>
            <a:spLocks noGrp="1"/>
          </p:cNvSpPr>
          <p:nvPr/>
        </p:nvSpPr>
        <p:spPr>
          <a:xfrm>
            <a:off x="666750" y="4257675"/>
            <a:ext cx="152400" cy="152400"/>
          </a:xfrm>
          <a:prstGeom prst="ellipse">
            <a:avLst/>
          </a:prstGeom>
          <a:solidFill>
            <a:srgbClr val="54C6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F24678-ACED-4D3A-954C-FB9DEA76C9B0}"/>
              </a:ext>
            </a:extLst>
          </p:cNvPr>
          <p:cNvSpPr>
            <a:spLocks noGrp="1"/>
          </p:cNvSpPr>
          <p:nvPr/>
        </p:nvSpPr>
        <p:spPr>
          <a:xfrm>
            <a:off x="952500" y="4143375"/>
            <a:ext cx="2190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425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425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จำนวนวันที่มีกิจกรรม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BB308C7-9603-4C0A-BA25-70D4AEC6B46B}"/>
              </a:ext>
            </a:extLst>
          </p:cNvPr>
          <p:cNvSpPr>
            <a:spLocks noGrp="1"/>
          </p:cNvSpPr>
          <p:nvPr/>
        </p:nvSpPr>
        <p:spPr>
          <a:xfrm>
            <a:off x="3333750" y="2143125"/>
            <a:ext cx="152400" cy="152400"/>
          </a:xfrm>
          <a:prstGeom prst="ellipse">
            <a:avLst/>
          </a:prstGeom>
          <a:solidFill>
            <a:srgbClr val="7566B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9E4FCA-CD19-45F3-AD75-5FF940FEC66E}"/>
              </a:ext>
            </a:extLst>
          </p:cNvPr>
          <p:cNvSpPr>
            <a:spLocks noGrp="1"/>
          </p:cNvSpPr>
          <p:nvPr/>
        </p:nvSpPr>
        <p:spPr>
          <a:xfrm>
            <a:off x="3619500" y="2028825"/>
            <a:ext cx="2190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425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425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จำนวน chapters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E5BAE5B-59E6-467A-8F1A-A8810E561DCF}"/>
              </a:ext>
            </a:extLst>
          </p:cNvPr>
          <p:cNvSpPr>
            <a:spLocks noGrp="1"/>
          </p:cNvSpPr>
          <p:nvPr/>
        </p:nvSpPr>
        <p:spPr>
          <a:xfrm>
            <a:off x="3333750" y="2847975"/>
            <a:ext cx="152400" cy="152400"/>
          </a:xfrm>
          <a:prstGeom prst="ellipse">
            <a:avLst/>
          </a:prstGeom>
          <a:solidFill>
            <a:srgbClr val="7566B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272323-AEC2-4AC3-9258-5F6505652FC4}"/>
              </a:ext>
            </a:extLst>
          </p:cNvPr>
          <p:cNvSpPr>
            <a:spLocks noGrp="1"/>
          </p:cNvSpPr>
          <p:nvPr/>
        </p:nvSpPr>
        <p:spPr>
          <a:xfrm>
            <a:off x="3619500" y="2733675"/>
            <a:ext cx="2190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2500" lnSpcReduction="20000"/>
          </a:bodyPr>
          <a:lstStyle/>
          <a:p>
            <a:pPr>
              <a:defRPr sz="1425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425" b="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โพสต์ในกระดานสนทนา</a:t>
            </a:r>
            <a:r>
              <a:rPr lang="en-US" sz="1425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(forum posts)</a:t>
            </a:r>
          </a:p>
          <a:p>
            <a:pPr algn="l">
              <a:buNone/>
              <a:defRPr sz="1425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endParaRPr sz="1425" b="0" dirty="0">
              <a:solidFill>
                <a:srgbClr val="1C2B49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4BF9A95-C1FF-4F69-9F0D-079FFC855474}"/>
              </a:ext>
            </a:extLst>
          </p:cNvPr>
          <p:cNvSpPr>
            <a:spLocks noGrp="1"/>
          </p:cNvSpPr>
          <p:nvPr/>
        </p:nvSpPr>
        <p:spPr>
          <a:xfrm>
            <a:off x="3333750" y="3552825"/>
            <a:ext cx="152400" cy="152400"/>
          </a:xfrm>
          <a:prstGeom prst="ellipse">
            <a:avLst/>
          </a:prstGeom>
          <a:solidFill>
            <a:srgbClr val="7566B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CD97E2-1C0C-4760-85E4-444C395D2B8C}"/>
              </a:ext>
            </a:extLst>
          </p:cNvPr>
          <p:cNvSpPr>
            <a:spLocks noGrp="1"/>
          </p:cNvSpPr>
          <p:nvPr/>
        </p:nvSpPr>
        <p:spPr>
          <a:xfrm>
            <a:off x="3619500" y="3438525"/>
            <a:ext cx="2190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425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425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ช่วงเวลาการมีส่วนร่วม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5D3C4F1-C61A-4DEF-BACD-73AC1BD3EDD2}"/>
              </a:ext>
            </a:extLst>
          </p:cNvPr>
          <p:cNvSpPr>
            <a:spLocks noGrp="1"/>
          </p:cNvSpPr>
          <p:nvPr/>
        </p:nvSpPr>
        <p:spPr>
          <a:xfrm>
            <a:off x="3333750" y="4257675"/>
            <a:ext cx="152400" cy="152400"/>
          </a:xfrm>
          <a:prstGeom prst="ellipse">
            <a:avLst/>
          </a:prstGeom>
          <a:solidFill>
            <a:srgbClr val="7566B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6D834DE-95BA-4AF2-A320-94AA8289DC8A}"/>
              </a:ext>
            </a:extLst>
          </p:cNvPr>
          <p:cNvSpPr>
            <a:spLocks noGrp="1"/>
          </p:cNvSpPr>
          <p:nvPr/>
        </p:nvSpPr>
        <p:spPr>
          <a:xfrm>
            <a:off x="3619500" y="4143375"/>
            <a:ext cx="2190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2500" lnSpcReduction="20000"/>
          </a:bodyPr>
          <a:lstStyle/>
          <a:p>
            <a:pPr algn="l">
              <a:buNone/>
              <a:defRPr sz="1425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425" b="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กิจกรรมต่อวันที่ใช้งาน</a:t>
            </a:r>
            <a:endParaRPr lang="en-US" sz="1425" b="0" dirty="0">
              <a:solidFill>
                <a:srgbClr val="1C2B49"/>
              </a:solidFill>
              <a:latin typeface="Thonburi"/>
              <a:ea typeface="Thonburi"/>
              <a:cs typeface="Thonburi"/>
            </a:endParaRPr>
          </a:p>
          <a:p>
            <a:pPr>
              <a:defRPr sz="1425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lang="en-US" sz="1425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(events /active day)</a:t>
            </a:r>
          </a:p>
          <a:p>
            <a:pPr algn="l">
              <a:buNone/>
              <a:defRPr sz="1425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endParaRPr sz="1425" b="0" dirty="0">
              <a:solidFill>
                <a:srgbClr val="1C2B49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A114C5C-B1BC-4F1C-A099-45893DDB8AC1}"/>
              </a:ext>
            </a:extLst>
          </p:cNvPr>
          <p:cNvSpPr>
            <a:spLocks noGrp="1"/>
          </p:cNvSpPr>
          <p:nvPr/>
        </p:nvSpPr>
        <p:spPr>
          <a:xfrm>
            <a:off x="637190" y="5043488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500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r>
              <a:rPr sz="1500" b="1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วิธีเตรียม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56CDE64-A48C-448F-814E-D493D0B07B5C}"/>
              </a:ext>
            </a:extLst>
          </p:cNvPr>
          <p:cNvSpPr>
            <a:spLocks noGrp="1"/>
          </p:cNvSpPr>
          <p:nvPr/>
        </p:nvSpPr>
        <p:spPr>
          <a:xfrm>
            <a:off x="952500" y="5353050"/>
            <a:ext cx="4400550" cy="885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425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425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· </a:t>
            </a:r>
            <a:r>
              <a:rPr sz="1425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log1p ลด skew </a:t>
            </a:r>
          </a:p>
          <a:p>
            <a:pPr algn="l">
              <a:buNone/>
              <a:defRPr sz="1425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425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· median imputation เฉพาะที่มีเหตุผล </a:t>
            </a:r>
          </a:p>
          <a:p>
            <a:pPr algn="l">
              <a:buNone/>
              <a:defRPr sz="1425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425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· scaling ป้องกันตัวแปรค่ามากครอบงำ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D377F9-9F4B-4151-A6FF-724659624349}"/>
              </a:ext>
            </a:extLst>
          </p:cNvPr>
          <p:cNvSpPr>
            <a:spLocks noGrp="1"/>
          </p:cNvSpPr>
          <p:nvPr/>
        </p:nvSpPr>
        <p:spPr>
          <a:xfrm>
            <a:off x="6334125" y="1381125"/>
            <a:ext cx="19050" cy="4238625"/>
          </a:xfrm>
          <a:prstGeom prst="rect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3FD94FB-1FC7-4294-85C1-BFDD3A225C39}"/>
              </a:ext>
            </a:extLst>
          </p:cNvPr>
          <p:cNvSpPr>
            <a:spLocks noGrp="1"/>
          </p:cNvSpPr>
          <p:nvPr/>
        </p:nvSpPr>
        <p:spPr>
          <a:xfrm>
            <a:off x="6762750" y="4714875"/>
            <a:ext cx="419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1520" lnSpcReduction="10000"/>
          </a:bodyPr>
          <a:lstStyle/>
          <a:p>
            <a:pPr algn="l">
              <a:buNone/>
              <a:defRPr sz="1725" b="1">
                <a:solidFill>
                  <a:srgbClr val="51458B"/>
                </a:solidFill>
                <a:latin typeface="Thonburi"/>
                <a:ea typeface="Thonburi"/>
                <a:cs typeface="Thonburi"/>
              </a:defRPr>
            </a:pPr>
            <a:r>
              <a:rPr sz="1725" b="1" dirty="0" err="1">
                <a:solidFill>
                  <a:srgbClr val="51458B"/>
                </a:solidFill>
                <a:latin typeface="Thonburi"/>
                <a:ea typeface="Thonburi"/>
                <a:cs typeface="Thonburi"/>
              </a:rPr>
              <a:t>ข้อมูลวิดีโอแยกไว้ทดสอบความไว</a:t>
            </a:r>
            <a:r>
              <a:rPr sz="1725" b="1" dirty="0">
                <a:solidFill>
                  <a:srgbClr val="51458B"/>
                </a:solidFill>
                <a:latin typeface="Thonburi"/>
                <a:ea typeface="Thonburi"/>
                <a:cs typeface="Thonburi"/>
              </a:rPr>
              <a:t> (Sensitivity Test)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C850307-CA16-478C-931C-0BAC258D5B58}"/>
              </a:ext>
            </a:extLst>
          </p:cNvPr>
          <p:cNvSpPr>
            <a:spLocks noGrp="1"/>
          </p:cNvSpPr>
          <p:nvPr/>
        </p:nvSpPr>
        <p:spPr>
          <a:xfrm>
            <a:off x="6762750" y="5162550"/>
            <a:ext cx="4855122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Core + video ให้ Silhouette 0.3268 ต่ำกว่า core 0.3737 จึงไม่ใช้ video ในโมเดลสุดท้าย</a:t>
            </a:r>
          </a:p>
        </p:txBody>
      </p:sp>
      <p:pic>
        <p:nvPicPr>
          <p:cNvPr id="58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0" y="1869281"/>
            <a:ext cx="4429125" cy="2214563"/>
          </a:xfrm>
          <a:prstGeom prst="roundRect">
            <a:avLst>
              <a:gd name="adj" fmla="val 3810"/>
            </a:avLst>
          </a:prstGeom>
        </p:spPr>
      </p:pic>
    </p:spTree>
    <p:extLst>
      <p:ext uri="{BB962C8B-B14F-4D97-AF65-F5344CB8AC3E}">
        <p14:creationId xmlns:p14="http://schemas.microsoft.com/office/powerpoint/2010/main" val="18754448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15E2D33-E568-46E7-8256-468D5144887A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933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2550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2550" b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การทบทวนวรรณกรรมและเลือกโมเดล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FC6D8D-12C0-43E8-A45F-10DB43001B5A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104900" cy="47625"/>
          </a:xfrm>
          <a:prstGeom prst="rect">
            <a:avLst/>
          </a:prstGeom>
          <a:solidFill>
            <a:srgbClr val="54C6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878D18-EA58-412F-9ABF-449B2F91551E}"/>
              </a:ext>
            </a:extLst>
          </p:cNvPr>
          <p:cNvSpPr>
            <a:spLocks noGrp="1"/>
          </p:cNvSpPr>
          <p:nvPr/>
        </p:nvSpPr>
        <p:spPr>
          <a:xfrm>
            <a:off x="10287000" y="4572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buNone/>
              <a:defRPr sz="1200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r>
              <a:rPr sz="1200" b="1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ขั้นตอน 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96BB8F-5C5D-4875-ADC8-4B63AE80099A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975" b="0">
                <a:solidFill>
                  <a:srgbClr val="8190A8"/>
                </a:solidFill>
                <a:latin typeface="Thonburi"/>
                <a:ea typeface="Thonburi"/>
                <a:cs typeface="Thonburi"/>
              </a:defRPr>
            </a:pPr>
            <a:r>
              <a:rPr sz="975" b="0">
                <a:solidFill>
                  <a:srgbClr val="8190A8"/>
                </a:solidFill>
                <a:latin typeface="Thonburi"/>
                <a:ea typeface="Thonburi"/>
                <a:cs typeface="Thonburi"/>
              </a:rPr>
              <a:t>Student Segmentation · MOOC Dataset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CD46A6-919D-481B-BC22-39315F3FF641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1050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sz="1050" b="1" dirty="0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2</a:t>
            </a:r>
            <a:r>
              <a:rPr lang="en-US" sz="1050" b="1" dirty="0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4</a:t>
            </a:r>
            <a:endParaRPr sz="1050" b="1" dirty="0">
              <a:solidFill>
                <a:srgbClr val="4F7CAC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86358E-D0CD-4930-B3AF-9182E0B2D605}"/>
              </a:ext>
            </a:extLst>
          </p:cNvPr>
          <p:cNvSpPr>
            <a:spLocks noGrp="1"/>
          </p:cNvSpPr>
          <p:nvPr/>
        </p:nvSpPr>
        <p:spPr>
          <a:xfrm>
            <a:off x="714375" y="11620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800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1800" b="1" dirty="0" err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งานวิจัยสนับสนุนการแบ่งกลุ่มเพื่อค้นหารูปแบบผู้เรียน</a:t>
            </a:r>
            <a:r>
              <a:rPr sz="1800" b="1" dirty="0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 </a:t>
            </a:r>
            <a:r>
              <a:rPr sz="1800" b="1" dirty="0" err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โดยไม่กำหนดคำตอบจากผลการเรียนล่วงหน้า</a:t>
            </a:r>
            <a:endParaRPr sz="1800" b="1" dirty="0">
              <a:solidFill>
                <a:srgbClr val="173B6C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281D0E-2ABA-404C-8877-646CCFC71021}"/>
              </a:ext>
            </a:extLst>
          </p:cNvPr>
          <p:cNvSpPr>
            <a:spLocks noGrp="1"/>
          </p:cNvSpPr>
          <p:nvPr/>
        </p:nvSpPr>
        <p:spPr>
          <a:xfrm>
            <a:off x="666750" y="1614487"/>
            <a:ext cx="3190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6825"/>
          </a:bodyPr>
          <a:lstStyle/>
          <a:p>
            <a:pPr>
              <a:defRPr sz="1575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sz="1575" b="1" dirty="0" err="1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อิงจุดศูนย์กลาง</a:t>
            </a:r>
            <a:r>
              <a:rPr lang="en-US" sz="1575" b="1" dirty="0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(Centroid)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57A3F8-6AC4-486E-A098-1AA64B79AF29}"/>
              </a:ext>
            </a:extLst>
          </p:cNvPr>
          <p:cNvSpPr>
            <a:spLocks noGrp="1"/>
          </p:cNvSpPr>
          <p:nvPr/>
        </p:nvSpPr>
        <p:spPr>
          <a:xfrm>
            <a:off x="666750" y="2014537"/>
            <a:ext cx="3190875" cy="28575"/>
          </a:xfrm>
          <a:prstGeom prst="rect">
            <a:avLst/>
          </a:prstGeom>
          <a:solidFill>
            <a:srgbClr val="8FD3F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61C45F-3D26-4D9E-8C37-8163433B22D6}"/>
              </a:ext>
            </a:extLst>
          </p:cNvPr>
          <p:cNvSpPr>
            <a:spLocks noGrp="1"/>
          </p:cNvSpPr>
          <p:nvPr/>
        </p:nvSpPr>
        <p:spPr>
          <a:xfrm>
            <a:off x="666750" y="2166937"/>
            <a:ext cx="3190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K-Means</a:t>
            </a:r>
          </a:p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baseline ที่ scale ได้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C59F76-35EA-4F42-9B74-C953FB3A52BD}"/>
              </a:ext>
            </a:extLst>
          </p:cNvPr>
          <p:cNvSpPr>
            <a:spLocks noGrp="1"/>
          </p:cNvSpPr>
          <p:nvPr/>
        </p:nvSpPr>
        <p:spPr>
          <a:xfrm>
            <a:off x="4333875" y="1614487"/>
            <a:ext cx="3190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6825"/>
          </a:bodyPr>
          <a:lstStyle/>
          <a:p>
            <a:pPr>
              <a:defRPr sz="1575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sz="1575" b="1" dirty="0" err="1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อิงความน่าจะเป็น</a:t>
            </a:r>
            <a:r>
              <a:rPr lang="en-US" sz="1575" b="1" dirty="0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(Probabilistic)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268BFF-6373-4965-9C83-D4D69BA3FB43}"/>
              </a:ext>
            </a:extLst>
          </p:cNvPr>
          <p:cNvSpPr>
            <a:spLocks noGrp="1"/>
          </p:cNvSpPr>
          <p:nvPr/>
        </p:nvSpPr>
        <p:spPr>
          <a:xfrm>
            <a:off x="4333875" y="2014537"/>
            <a:ext cx="3190875" cy="28575"/>
          </a:xfrm>
          <a:prstGeom prst="rect">
            <a:avLst/>
          </a:prstGeom>
          <a:solidFill>
            <a:srgbClr val="8FD3F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4AD3A4-E61A-41B8-9E50-3F7044074EFF}"/>
              </a:ext>
            </a:extLst>
          </p:cNvPr>
          <p:cNvSpPr>
            <a:spLocks noGrp="1"/>
          </p:cNvSpPr>
          <p:nvPr/>
        </p:nvSpPr>
        <p:spPr>
          <a:xfrm>
            <a:off x="4333875" y="2166937"/>
            <a:ext cx="3190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Gaussian Mixture</a:t>
            </a:r>
          </a:p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รูปทรงวงรีและความน่าจะเป็น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2500A8-C37C-4FD1-8F04-80AABE77D66D}"/>
              </a:ext>
            </a:extLst>
          </p:cNvPr>
          <p:cNvSpPr>
            <a:spLocks noGrp="1"/>
          </p:cNvSpPr>
          <p:nvPr/>
        </p:nvSpPr>
        <p:spPr>
          <a:xfrm>
            <a:off x="8001000" y="1614487"/>
            <a:ext cx="3190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575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sz="1575" b="1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CF-tree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38573F-2E88-4B1F-B435-0B825784CBA6}"/>
              </a:ext>
            </a:extLst>
          </p:cNvPr>
          <p:cNvSpPr>
            <a:spLocks noGrp="1"/>
          </p:cNvSpPr>
          <p:nvPr/>
        </p:nvSpPr>
        <p:spPr>
          <a:xfrm>
            <a:off x="8001000" y="2014537"/>
            <a:ext cx="3190875" cy="28575"/>
          </a:xfrm>
          <a:prstGeom prst="rect">
            <a:avLst/>
          </a:prstGeom>
          <a:solidFill>
            <a:srgbClr val="8FD3F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2537D6-0AEF-4E35-A186-8C944D982F2A}"/>
              </a:ext>
            </a:extLst>
          </p:cNvPr>
          <p:cNvSpPr>
            <a:spLocks noGrp="1"/>
          </p:cNvSpPr>
          <p:nvPr/>
        </p:nvSpPr>
        <p:spPr>
          <a:xfrm>
            <a:off x="8001000" y="2166937"/>
            <a:ext cx="3190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BIRCH</a:t>
            </a:r>
          </a:p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เหมาะกับข้อมูลขนาดใหญ่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A914D5-31EF-4469-B170-DE4F3719B0D7}"/>
              </a:ext>
            </a:extLst>
          </p:cNvPr>
          <p:cNvSpPr>
            <a:spLocks noGrp="1"/>
          </p:cNvSpPr>
          <p:nvPr/>
        </p:nvSpPr>
        <p:spPr>
          <a:xfrm>
            <a:off x="666750" y="3043237"/>
            <a:ext cx="3667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6825"/>
          </a:bodyPr>
          <a:lstStyle/>
          <a:p>
            <a:pPr>
              <a:defRPr sz="1575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r>
              <a:rPr sz="1575" b="1" dirty="0" err="1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ลำดับชั้นแบบแบ่งออก</a:t>
            </a:r>
            <a:r>
              <a:rPr lang="en-US" sz="1575" b="1" dirty="0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(Divisive)</a:t>
            </a:r>
            <a:endParaRPr sz="1575" b="1" dirty="0">
              <a:solidFill>
                <a:srgbClr val="7566B7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CC1679-844E-4F27-AAD0-3689E5C7F133}"/>
              </a:ext>
            </a:extLst>
          </p:cNvPr>
          <p:cNvSpPr>
            <a:spLocks noGrp="1"/>
          </p:cNvSpPr>
          <p:nvPr/>
        </p:nvSpPr>
        <p:spPr>
          <a:xfrm>
            <a:off x="666750" y="3443287"/>
            <a:ext cx="3190875" cy="28575"/>
          </a:xfrm>
          <a:prstGeom prst="rect">
            <a:avLst/>
          </a:prstGeom>
          <a:solidFill>
            <a:srgbClr val="B9A7F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E1699A-94D8-42E0-8089-0EFA0797351F}"/>
              </a:ext>
            </a:extLst>
          </p:cNvPr>
          <p:cNvSpPr>
            <a:spLocks noGrp="1"/>
          </p:cNvSpPr>
          <p:nvPr/>
        </p:nvSpPr>
        <p:spPr>
          <a:xfrm>
            <a:off x="666750" y="3595687"/>
            <a:ext cx="3190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Bisecting K-Means</a:t>
            </a:r>
          </a:p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ลำดับชั้นแบบแบ่งออก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0642BB9-9ABA-412B-B196-9F290D85BEEE}"/>
              </a:ext>
            </a:extLst>
          </p:cNvPr>
          <p:cNvSpPr>
            <a:spLocks noGrp="1"/>
          </p:cNvSpPr>
          <p:nvPr/>
        </p:nvSpPr>
        <p:spPr>
          <a:xfrm>
            <a:off x="4333875" y="3043237"/>
            <a:ext cx="3190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9325"/>
          </a:bodyPr>
          <a:lstStyle/>
          <a:p>
            <a:pPr>
              <a:defRPr sz="1575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r>
              <a:rPr sz="1575" b="1" dirty="0" err="1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ลำดับชั้นแบบรวมเข้า</a:t>
            </a:r>
            <a:r>
              <a:rPr lang="en-US" sz="1575" b="1" dirty="0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(Agglomerative)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BA2AE4-F8D2-4EF6-B42A-ED80AC62DCC8}"/>
              </a:ext>
            </a:extLst>
          </p:cNvPr>
          <p:cNvSpPr>
            <a:spLocks noGrp="1"/>
          </p:cNvSpPr>
          <p:nvPr/>
        </p:nvSpPr>
        <p:spPr>
          <a:xfrm>
            <a:off x="4333875" y="3443287"/>
            <a:ext cx="3190875" cy="28575"/>
          </a:xfrm>
          <a:prstGeom prst="rect">
            <a:avLst/>
          </a:prstGeom>
          <a:solidFill>
            <a:srgbClr val="B9A7F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3257144-B3EF-40E6-BA56-82FAD93A7371}"/>
              </a:ext>
            </a:extLst>
          </p:cNvPr>
          <p:cNvSpPr>
            <a:spLocks noGrp="1"/>
          </p:cNvSpPr>
          <p:nvPr/>
        </p:nvSpPr>
        <p:spPr>
          <a:xfrm>
            <a:off x="4333875" y="3595687"/>
            <a:ext cx="3190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Ward linkage</a:t>
            </a:r>
          </a:p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ลำดับชั้นแบบรวมเข้า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809F87-F666-4CA0-94E3-A67B08B1A40A}"/>
              </a:ext>
            </a:extLst>
          </p:cNvPr>
          <p:cNvSpPr>
            <a:spLocks noGrp="1"/>
          </p:cNvSpPr>
          <p:nvPr/>
        </p:nvSpPr>
        <p:spPr>
          <a:xfrm>
            <a:off x="8001000" y="3043237"/>
            <a:ext cx="3190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6825"/>
          </a:bodyPr>
          <a:lstStyle/>
          <a:p>
            <a:pPr>
              <a:defRPr sz="1575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r>
              <a:rPr sz="1575" b="1" dirty="0" err="1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อิงความหนาแน่น</a:t>
            </a:r>
            <a:r>
              <a:rPr lang="en-US" sz="1575" b="1" dirty="0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(Density)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4423759-0035-4187-9BDA-BCAB48E13138}"/>
              </a:ext>
            </a:extLst>
          </p:cNvPr>
          <p:cNvSpPr>
            <a:spLocks noGrp="1"/>
          </p:cNvSpPr>
          <p:nvPr/>
        </p:nvSpPr>
        <p:spPr>
          <a:xfrm>
            <a:off x="8001000" y="3443287"/>
            <a:ext cx="3190875" cy="28575"/>
          </a:xfrm>
          <a:prstGeom prst="rect">
            <a:avLst/>
          </a:prstGeom>
          <a:solidFill>
            <a:srgbClr val="B9A7F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7B3A07A-E0F4-44BB-BE08-568594CB5E47}"/>
              </a:ext>
            </a:extLst>
          </p:cNvPr>
          <p:cNvSpPr>
            <a:spLocks noGrp="1"/>
          </p:cNvSpPr>
          <p:nvPr/>
        </p:nvSpPr>
        <p:spPr>
          <a:xfrm>
            <a:off x="8001000" y="3595687"/>
            <a:ext cx="3190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DBSCAN</a:t>
            </a:r>
          </a:p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ทดสอบกลุ่มตามความหนาแน่น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17CF88C-7258-4638-9E0F-FF5B14EF2248}"/>
              </a:ext>
            </a:extLst>
          </p:cNvPr>
          <p:cNvSpPr>
            <a:spLocks noGrp="1"/>
          </p:cNvSpPr>
          <p:nvPr/>
        </p:nvSpPr>
        <p:spPr>
          <a:xfrm>
            <a:off x="666750" y="4662487"/>
            <a:ext cx="10477500" cy="552450"/>
          </a:xfrm>
          <a:prstGeom prst="roundRect">
            <a:avLst>
              <a:gd name="adj" fmla="val 20690"/>
            </a:avLst>
          </a:prstGeom>
          <a:solidFill>
            <a:srgbClr val="F1EDFF"/>
          </a:solidFill>
          <a:ln w="9525">
            <a:solidFill>
              <a:srgbClr val="B9A7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FDF9CB3-242F-40B0-8B7C-2C392535BFF3}"/>
              </a:ext>
            </a:extLst>
          </p:cNvPr>
          <p:cNvSpPr>
            <a:spLocks noGrp="1"/>
          </p:cNvSpPr>
          <p:nvPr/>
        </p:nvSpPr>
        <p:spPr>
          <a:xfrm>
            <a:off x="876300" y="4814887"/>
            <a:ext cx="10048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2500" lnSpcReduction="10000"/>
          </a:bodyPr>
          <a:lstStyle/>
          <a:p>
            <a:pPr algn="ctr">
              <a:buNone/>
              <a:defRPr sz="1500" b="1">
                <a:solidFill>
                  <a:srgbClr val="51458B"/>
                </a:solidFill>
                <a:latin typeface="Thonburi"/>
                <a:ea typeface="Thonburi"/>
                <a:cs typeface="Thonburi"/>
              </a:defRPr>
            </a:pPr>
            <a:r>
              <a:rPr sz="1500" b="1">
                <a:solidFill>
                  <a:srgbClr val="51458B"/>
                </a:solidFill>
                <a:latin typeface="Thonburi"/>
                <a:ea typeface="Thonburi"/>
                <a:cs typeface="Thonburi"/>
              </a:rPr>
              <a:t>ทดลอง 29 การตั้งค่า จาก 6 กลุ่มวิธี และคัดจำนวนกลุ่ม 4, 5, 6 และ 12 จากผลทดลองเบื้องต้น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FD0D086-7166-03F1-010D-82415B099188}"/>
              </a:ext>
            </a:extLst>
          </p:cNvPr>
          <p:cNvSpPr>
            <a:spLocks noGrp="1"/>
          </p:cNvSpPr>
          <p:nvPr/>
        </p:nvSpPr>
        <p:spPr>
          <a:xfrm>
            <a:off x="714375" y="5228837"/>
            <a:ext cx="10382250" cy="28575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buNone/>
              <a:defRPr sz="1050" b="0">
                <a:solidFill>
                  <a:srgbClr val="64748B"/>
                </a:solidFill>
                <a:latin typeface="Thonburi"/>
                <a:ea typeface="Thonburi"/>
                <a:cs typeface="Thonburi"/>
              </a:defRPr>
            </a:pPr>
            <a:r>
              <a:rPr sz="1050" b="0" dirty="0" err="1">
                <a:solidFill>
                  <a:srgbClr val="64748B"/>
                </a:solidFill>
                <a:latin typeface="Thonburi"/>
                <a:ea typeface="Thonburi"/>
                <a:cs typeface="Thonburi"/>
              </a:rPr>
              <a:t>หลักฐานอ้างอิง</a:t>
            </a:r>
            <a:r>
              <a:rPr sz="1050" b="0" dirty="0">
                <a:solidFill>
                  <a:srgbClr val="64748B"/>
                </a:solidFill>
                <a:latin typeface="Thonburi"/>
                <a:ea typeface="Thonburi"/>
                <a:cs typeface="Thonburi"/>
              </a:rPr>
              <a:t>: Tseng et al. (2016); Peach et al. (2019); Zhang et al. (1996, BIRCH); Ester et al. (1996, DBSCAN)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FB41F5-CDAF-F6B5-D106-CAB9EE3169C8}"/>
              </a:ext>
            </a:extLst>
          </p:cNvPr>
          <p:cNvSpPr txBox="1"/>
          <p:nvPr/>
        </p:nvSpPr>
        <p:spPr>
          <a:xfrm>
            <a:off x="280147" y="6067037"/>
            <a:ext cx="116317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*</a:t>
            </a:r>
            <a:r>
              <a:rPr lang="en-TH" sz="1200" dirty="0">
                <a:solidFill>
                  <a:schemeClr val="bg1">
                    <a:lumMod val="50000"/>
                  </a:schemeClr>
                </a:solidFill>
              </a:rPr>
              <a:t>Workflow กลางไม่ได้กำหนดจำนวนโมเดลตายตัว โครงการนี้เลือก 6 กลุ่มวิธีที่มีกลไกแตกต่างกัน หลังพิจารณางานวิจัย ลักษณะข้อมูล ขนาดข้อมูล และความสามารถในการนำไปใช้กับข้อมูลใหม่ ไม่ได้เลือก Classification เพราะโจทย์ไม่มีคำตอบกลุ่มจริงกำกับ</a:t>
            </a:r>
          </a:p>
        </p:txBody>
      </p:sp>
    </p:spTree>
    <p:extLst>
      <p:ext uri="{BB962C8B-B14F-4D97-AF65-F5344CB8AC3E}">
        <p14:creationId xmlns:p14="http://schemas.microsoft.com/office/powerpoint/2010/main" val="16759765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E605753F-5A5D-463A-BE0A-B635865D9055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933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2850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2850" b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การฝึกโมเดล (Model Training) และการแบ่งข้อมูล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B04BFF-9DBE-4F23-AF19-F03E853BD2BD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104900" cy="47625"/>
          </a:xfrm>
          <a:prstGeom prst="rect">
            <a:avLst/>
          </a:prstGeom>
          <a:solidFill>
            <a:srgbClr val="54C6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EAFD05-94FF-4105-98A2-227CCFE02E81}"/>
              </a:ext>
            </a:extLst>
          </p:cNvPr>
          <p:cNvSpPr>
            <a:spLocks noGrp="1"/>
          </p:cNvSpPr>
          <p:nvPr/>
        </p:nvSpPr>
        <p:spPr>
          <a:xfrm>
            <a:off x="10287000" y="4572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buNone/>
              <a:defRPr sz="1200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r>
              <a:rPr sz="1200" b="1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ขั้นตอน 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22F43C-6ED2-4277-8573-356BB692C98E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975" b="0">
                <a:solidFill>
                  <a:srgbClr val="8190A8"/>
                </a:solidFill>
                <a:latin typeface="Thonburi"/>
                <a:ea typeface="Thonburi"/>
                <a:cs typeface="Thonburi"/>
              </a:defRPr>
            </a:pPr>
            <a:r>
              <a:rPr sz="975" b="0">
                <a:solidFill>
                  <a:srgbClr val="8190A8"/>
                </a:solidFill>
                <a:latin typeface="Thonburi"/>
                <a:ea typeface="Thonburi"/>
                <a:cs typeface="Thonburi"/>
              </a:rPr>
              <a:t>Student Segmentation · MOOC Dataset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002107-B069-46E8-B033-87BD0B851BB4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1050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sz="1050" b="1" dirty="0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2</a:t>
            </a:r>
            <a:r>
              <a:rPr lang="en-US" sz="1050" b="1" dirty="0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5</a:t>
            </a:r>
            <a:endParaRPr sz="1050" b="1" dirty="0">
              <a:solidFill>
                <a:srgbClr val="4F7CAC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3BF56AC-FF64-4C1F-BFE9-6DB205DDB44F}"/>
              </a:ext>
            </a:extLst>
          </p:cNvPr>
          <p:cNvSpPr>
            <a:spLocks noGrp="1"/>
          </p:cNvSpPr>
          <p:nvPr/>
        </p:nvSpPr>
        <p:spPr>
          <a:xfrm>
            <a:off x="1714500" y="1457325"/>
            <a:ext cx="2476500" cy="1238250"/>
          </a:xfrm>
          <a:prstGeom prst="roundRect">
            <a:avLst>
              <a:gd name="adj" fmla="val 12308"/>
            </a:avLst>
          </a:prstGeom>
          <a:solidFill>
            <a:srgbClr val="EAF5FF"/>
          </a:solidFill>
          <a:ln w="19050">
            <a:solidFill>
              <a:srgbClr val="8FD3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EF694A-3F0F-4817-B0CE-1430392F307E}"/>
              </a:ext>
            </a:extLst>
          </p:cNvPr>
          <p:cNvSpPr>
            <a:spLocks noGrp="1"/>
          </p:cNvSpPr>
          <p:nvPr/>
        </p:nvSpPr>
        <p:spPr>
          <a:xfrm>
            <a:off x="1905000" y="1628775"/>
            <a:ext cx="209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2625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sz="2625" b="1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335,650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FC5468-2B09-4EC2-BBB8-1F21ECD224EA}"/>
              </a:ext>
            </a:extLst>
          </p:cNvPr>
          <p:cNvSpPr>
            <a:spLocks noGrp="1"/>
          </p:cNvSpPr>
          <p:nvPr/>
        </p:nvSpPr>
        <p:spPr>
          <a:xfrm>
            <a:off x="1857375" y="2124075"/>
            <a:ext cx="2190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350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ประชากรทั้งหมด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BF131A-C6B3-48E1-BDAF-C299809EDCFB}"/>
              </a:ext>
            </a:extLst>
          </p:cNvPr>
          <p:cNvSpPr>
            <a:spLocks noGrp="1"/>
          </p:cNvSpPr>
          <p:nvPr/>
        </p:nvSpPr>
        <p:spPr>
          <a:xfrm>
            <a:off x="1857375" y="2400300"/>
            <a:ext cx="2190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0">
                <a:solidFill>
                  <a:srgbClr val="60708C"/>
                </a:solidFill>
                <a:latin typeface="Thonburi"/>
                <a:ea typeface="Thonburi"/>
                <a:cs typeface="Thonburi"/>
              </a:defRPr>
            </a:pPr>
            <a:r>
              <a:rPr sz="1125" b="0">
                <a:solidFill>
                  <a:srgbClr val="60708C"/>
                </a:solidFill>
                <a:latin typeface="Thonburi"/>
                <a:ea typeface="Thonburi"/>
                <a:cs typeface="Thonburi"/>
              </a:rPr>
              <a:t>ใช้ EDA และ final fit</a:t>
            </a:r>
          </a:p>
        </p:txBody>
      </p:sp>
      <p:sp>
        <p:nvSpPr>
          <p:cNvPr id="10" name="Chevron 9">
            <a:extLst>
              <a:ext uri="{FF2B5EF4-FFF2-40B4-BE49-F238E27FC236}">
                <a16:creationId xmlns:a16="http://schemas.microsoft.com/office/drawing/2014/main" id="{6DCEA576-FEA7-443A-8CBA-C1970BF3F71B}"/>
              </a:ext>
            </a:extLst>
          </p:cNvPr>
          <p:cNvSpPr>
            <a:spLocks noGrp="1"/>
          </p:cNvSpPr>
          <p:nvPr/>
        </p:nvSpPr>
        <p:spPr>
          <a:xfrm>
            <a:off x="4419600" y="1828800"/>
            <a:ext cx="495300" cy="523875"/>
          </a:xfrm>
          <a:prstGeom prst="chevron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4D02478-33E2-41F6-AB0A-54E5059DCB1C}"/>
              </a:ext>
            </a:extLst>
          </p:cNvPr>
          <p:cNvSpPr>
            <a:spLocks noGrp="1"/>
          </p:cNvSpPr>
          <p:nvPr/>
        </p:nvSpPr>
        <p:spPr>
          <a:xfrm>
            <a:off x="4905375" y="1457325"/>
            <a:ext cx="2476500" cy="1238250"/>
          </a:xfrm>
          <a:prstGeom prst="roundRect">
            <a:avLst>
              <a:gd name="adj" fmla="val 12308"/>
            </a:avLst>
          </a:prstGeom>
          <a:solidFill>
            <a:srgbClr val="F1EDFF"/>
          </a:solidFill>
          <a:ln w="19050">
            <a:solidFill>
              <a:srgbClr val="B9A7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38A77A-0D4B-41F3-A716-BFF7AB6ADB50}"/>
              </a:ext>
            </a:extLst>
          </p:cNvPr>
          <p:cNvSpPr>
            <a:spLocks noGrp="1"/>
          </p:cNvSpPr>
          <p:nvPr/>
        </p:nvSpPr>
        <p:spPr>
          <a:xfrm>
            <a:off x="5095875" y="1628775"/>
            <a:ext cx="209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2625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r>
              <a:rPr sz="2625" b="1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23,168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385F3F-C4FD-4617-BBBC-D368FF49871D}"/>
              </a:ext>
            </a:extLst>
          </p:cNvPr>
          <p:cNvSpPr>
            <a:spLocks noGrp="1"/>
          </p:cNvSpPr>
          <p:nvPr/>
        </p:nvSpPr>
        <p:spPr>
          <a:xfrm>
            <a:off x="5048250" y="2124075"/>
            <a:ext cx="2190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8055" lnSpcReduction="10000"/>
          </a:bodyPr>
          <a:lstStyle/>
          <a:p>
            <a:pPr algn="ctr">
              <a:buNone/>
              <a:defRPr sz="1350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ตัวอย่างสำหรับฝึก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EA4779-BA2D-42FF-B9BA-4407BBF0ED4A}"/>
              </a:ext>
            </a:extLst>
          </p:cNvPr>
          <p:cNvSpPr>
            <a:spLocks noGrp="1"/>
          </p:cNvSpPr>
          <p:nvPr/>
        </p:nvSpPr>
        <p:spPr>
          <a:xfrm>
            <a:off x="5048250" y="2400300"/>
            <a:ext cx="2190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0">
                <a:solidFill>
                  <a:srgbClr val="60708C"/>
                </a:solidFill>
                <a:latin typeface="Thonburi"/>
                <a:ea typeface="Thonburi"/>
                <a:cs typeface="Thonburi"/>
              </a:defRPr>
            </a:pPr>
            <a:r>
              <a:rPr sz="1125" b="0">
                <a:solidFill>
                  <a:srgbClr val="60708C"/>
                </a:solidFill>
                <a:latin typeface="Thonburi"/>
                <a:ea typeface="Thonburi"/>
                <a:cs typeface="Thonburi"/>
              </a:rPr>
              <a:t>คำนวณจาก memory budget</a:t>
            </a:r>
          </a:p>
        </p:txBody>
      </p:sp>
      <p:sp>
        <p:nvSpPr>
          <p:cNvPr id="15" name="Chevron 14">
            <a:extLst>
              <a:ext uri="{FF2B5EF4-FFF2-40B4-BE49-F238E27FC236}">
                <a16:creationId xmlns:a16="http://schemas.microsoft.com/office/drawing/2014/main" id="{BB22B994-512B-4301-AD55-BCBDEB5F981C}"/>
              </a:ext>
            </a:extLst>
          </p:cNvPr>
          <p:cNvSpPr>
            <a:spLocks noGrp="1"/>
          </p:cNvSpPr>
          <p:nvPr/>
        </p:nvSpPr>
        <p:spPr>
          <a:xfrm>
            <a:off x="7610475" y="1828800"/>
            <a:ext cx="495300" cy="523875"/>
          </a:xfrm>
          <a:prstGeom prst="chevron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691B6DB-6B05-4526-AEA4-17C20EBDBA63}"/>
              </a:ext>
            </a:extLst>
          </p:cNvPr>
          <p:cNvSpPr>
            <a:spLocks noGrp="1"/>
          </p:cNvSpPr>
          <p:nvPr/>
        </p:nvSpPr>
        <p:spPr>
          <a:xfrm>
            <a:off x="8096250" y="1457325"/>
            <a:ext cx="2476500" cy="1238250"/>
          </a:xfrm>
          <a:prstGeom prst="roundRect">
            <a:avLst>
              <a:gd name="adj" fmla="val 12308"/>
            </a:avLst>
          </a:prstGeom>
          <a:solidFill>
            <a:srgbClr val="EAF5FF"/>
          </a:solidFill>
          <a:ln w="19050">
            <a:solidFill>
              <a:srgbClr val="8FD3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D56B5C-AA45-4920-A1EA-6FCFC5B6286B}"/>
              </a:ext>
            </a:extLst>
          </p:cNvPr>
          <p:cNvSpPr>
            <a:spLocks noGrp="1"/>
          </p:cNvSpPr>
          <p:nvPr/>
        </p:nvSpPr>
        <p:spPr>
          <a:xfrm>
            <a:off x="8286750" y="1628775"/>
            <a:ext cx="209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2625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sz="2625" b="1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5,792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AACC56-A01D-44EB-99A8-3A473E9E1C74}"/>
              </a:ext>
            </a:extLst>
          </p:cNvPr>
          <p:cNvSpPr>
            <a:spLocks noGrp="1"/>
          </p:cNvSpPr>
          <p:nvPr/>
        </p:nvSpPr>
        <p:spPr>
          <a:xfrm>
            <a:off x="8239125" y="2124075"/>
            <a:ext cx="2190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8055" lnSpcReduction="10000"/>
          </a:bodyPr>
          <a:lstStyle/>
          <a:p>
            <a:pPr algn="ctr">
              <a:buNone/>
              <a:defRPr sz="1350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ตัวอย่างสำหรับประเมิน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B1ACE0-754A-43FE-92DE-26B4B4C65CA1}"/>
              </a:ext>
            </a:extLst>
          </p:cNvPr>
          <p:cNvSpPr>
            <a:spLocks noGrp="1"/>
          </p:cNvSpPr>
          <p:nvPr/>
        </p:nvSpPr>
        <p:spPr>
          <a:xfrm>
            <a:off x="8239125" y="2400300"/>
            <a:ext cx="2190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0">
                <a:solidFill>
                  <a:srgbClr val="60708C"/>
                </a:solidFill>
                <a:latin typeface="Thonburi"/>
                <a:ea typeface="Thonburi"/>
                <a:cs typeface="Thonburi"/>
              </a:defRPr>
            </a:pPr>
            <a:r>
              <a:rPr sz="1125" b="0">
                <a:solidFill>
                  <a:srgbClr val="60708C"/>
                </a:solidFill>
                <a:latin typeface="Thonburi"/>
                <a:ea typeface="Thonburi"/>
                <a:cs typeface="Thonburi"/>
              </a:rPr>
              <a:t>แยกจาก training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3482A89-7F42-FC20-8FE6-6F22F7AA622B}"/>
              </a:ext>
            </a:extLst>
          </p:cNvPr>
          <p:cNvSpPr>
            <a:spLocks noGrp="1"/>
          </p:cNvSpPr>
          <p:nvPr/>
        </p:nvSpPr>
        <p:spPr>
          <a:xfrm>
            <a:off x="666750" y="3381375"/>
            <a:ext cx="571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950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1950" b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เหตุผลที่ใช้ข้อมูลตัวอย่างเฉพาะการเปรียบเทียบโมเดล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43278A7-1AF6-A906-7F54-B84BB0CA9F44}"/>
              </a:ext>
            </a:extLst>
          </p:cNvPr>
          <p:cNvSpPr>
            <a:spLocks noGrp="1"/>
          </p:cNvSpPr>
          <p:nvPr/>
        </p:nvSpPr>
        <p:spPr>
          <a:xfrm>
            <a:off x="786960" y="3922005"/>
            <a:ext cx="419100" cy="419100"/>
          </a:xfrm>
          <a:prstGeom prst="ellipse">
            <a:avLst/>
          </a:prstGeom>
          <a:solidFill>
            <a:srgbClr val="54C6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981C9F3-F7AB-96B6-1342-73BB7EDF9188}"/>
              </a:ext>
            </a:extLst>
          </p:cNvPr>
          <p:cNvSpPr>
            <a:spLocks noGrp="1"/>
          </p:cNvSpPr>
          <p:nvPr/>
        </p:nvSpPr>
        <p:spPr>
          <a:xfrm>
            <a:off x="786960" y="396963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1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8CD51A3-86F4-F91D-4079-96B37C894F5D}"/>
              </a:ext>
            </a:extLst>
          </p:cNvPr>
          <p:cNvSpPr>
            <a:spLocks noGrp="1"/>
          </p:cNvSpPr>
          <p:nvPr/>
        </p:nvSpPr>
        <p:spPr>
          <a:xfrm>
            <a:off x="1219200" y="4000500"/>
            <a:ext cx="876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425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425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บาง algorithm ต้องคำนวณระยะทางเป็นคู่ จึงกำหนด pairwise-memory budget 256 MB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7CDFABB-3A44-57C0-325B-766760D01831}"/>
              </a:ext>
            </a:extLst>
          </p:cNvPr>
          <p:cNvSpPr>
            <a:spLocks noGrp="1"/>
          </p:cNvSpPr>
          <p:nvPr/>
        </p:nvSpPr>
        <p:spPr>
          <a:xfrm>
            <a:off x="786960" y="4417305"/>
            <a:ext cx="419100" cy="419100"/>
          </a:xfrm>
          <a:prstGeom prst="ellipse">
            <a:avLst/>
          </a:prstGeom>
          <a:solidFill>
            <a:srgbClr val="54C6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F3EE1DD-00F7-771C-8900-416405B1A937}"/>
              </a:ext>
            </a:extLst>
          </p:cNvPr>
          <p:cNvSpPr>
            <a:spLocks noGrp="1"/>
          </p:cNvSpPr>
          <p:nvPr/>
        </p:nvSpPr>
        <p:spPr>
          <a:xfrm>
            <a:off x="786960" y="446493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2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B2FD3C3-C932-2A42-9A8B-054E25364A0E}"/>
              </a:ext>
            </a:extLst>
          </p:cNvPr>
          <p:cNvSpPr>
            <a:spLocks noGrp="1"/>
          </p:cNvSpPr>
          <p:nvPr/>
        </p:nvSpPr>
        <p:spPr>
          <a:xfrm>
            <a:off x="1219200" y="4495800"/>
            <a:ext cx="876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425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425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ใช้ deterministic seed = 612731450 ซึ่ง derive จาก checksum ของข้อมูล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F0466B0-01AE-AB7E-6B4B-E2186319C8AA}"/>
              </a:ext>
            </a:extLst>
          </p:cNvPr>
          <p:cNvSpPr>
            <a:spLocks noGrp="1"/>
          </p:cNvSpPr>
          <p:nvPr/>
        </p:nvSpPr>
        <p:spPr>
          <a:xfrm>
            <a:off x="786960" y="4912605"/>
            <a:ext cx="419100" cy="419100"/>
          </a:xfrm>
          <a:prstGeom prst="ellipse">
            <a:avLst/>
          </a:prstGeom>
          <a:solidFill>
            <a:srgbClr val="7566B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CA860FC-4793-29D2-85DD-8A38299DD576}"/>
              </a:ext>
            </a:extLst>
          </p:cNvPr>
          <p:cNvSpPr>
            <a:spLocks noGrp="1"/>
          </p:cNvSpPr>
          <p:nvPr/>
        </p:nvSpPr>
        <p:spPr>
          <a:xfrm>
            <a:off x="786960" y="496023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3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F2BF3AE-70DA-E6D7-F236-A44AFDD1A5AA}"/>
              </a:ext>
            </a:extLst>
          </p:cNvPr>
          <p:cNvSpPr>
            <a:spLocks noGrp="1"/>
          </p:cNvSpPr>
          <p:nvPr/>
        </p:nvSpPr>
        <p:spPr>
          <a:xfrm>
            <a:off x="1219200" y="4991100"/>
            <a:ext cx="876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425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425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ตรวจ representativeness โดยไม่ใช้ outcome: maximum standardized mean difference = 0.0171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A0829290-AE3C-3002-FAD1-9E9E6B5C759F}"/>
              </a:ext>
            </a:extLst>
          </p:cNvPr>
          <p:cNvSpPr>
            <a:spLocks noGrp="1"/>
          </p:cNvSpPr>
          <p:nvPr/>
        </p:nvSpPr>
        <p:spPr>
          <a:xfrm>
            <a:off x="786960" y="5407905"/>
            <a:ext cx="419100" cy="419100"/>
          </a:xfrm>
          <a:prstGeom prst="ellipse">
            <a:avLst/>
          </a:prstGeom>
          <a:solidFill>
            <a:srgbClr val="7566B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0541702-868B-5D2E-31CB-B62E68DF318A}"/>
              </a:ext>
            </a:extLst>
          </p:cNvPr>
          <p:cNvSpPr>
            <a:spLocks noGrp="1"/>
          </p:cNvSpPr>
          <p:nvPr/>
        </p:nvSpPr>
        <p:spPr>
          <a:xfrm>
            <a:off x="786960" y="545553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4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C4FCB7D-11E6-D31C-FF30-A06625A86FAF}"/>
              </a:ext>
            </a:extLst>
          </p:cNvPr>
          <p:cNvSpPr>
            <a:spLocks noGrp="1"/>
          </p:cNvSpPr>
          <p:nvPr/>
        </p:nvSpPr>
        <p:spPr>
          <a:xfrm>
            <a:off x="1219200" y="5486400"/>
            <a:ext cx="876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425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425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โมเดลที่ชนะถูก refit กับนักศึกษาทั้งหมดก่อน deployment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46F8DE-00AF-7131-36FC-5F2F0CA48F33}"/>
              </a:ext>
            </a:extLst>
          </p:cNvPr>
          <p:cNvSpPr txBox="1"/>
          <p:nvPr/>
        </p:nvSpPr>
        <p:spPr>
          <a:xfrm>
            <a:off x="553010" y="6153150"/>
            <a:ext cx="110736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H" sz="1200" dirty="0">
                <a:solidFill>
                  <a:schemeClr val="bg1">
                    <a:lumMod val="50000"/>
                  </a:schemeClr>
                </a:solidFill>
              </a:rPr>
              <a:t>*ใช้ข้อมูลตัวอย่างเพื่อให้การทดลองหลายโมเดลอยู่ภายใต้ทรัพยากรเดียวกันและเปรียบเทียบได้อย่างเป็นธรรม แต่หลังเลือกโมเดลแล้ว ได้ฝึกโมเดลสุดท้ายกับนักศึกษาทั้งหมด 335,650 คน</a:t>
            </a:r>
          </a:p>
        </p:txBody>
      </p:sp>
    </p:spTree>
    <p:extLst>
      <p:ext uri="{BB962C8B-B14F-4D97-AF65-F5344CB8AC3E}">
        <p14:creationId xmlns:p14="http://schemas.microsoft.com/office/powerpoint/2010/main" val="12751960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3EF5A2-AC4C-4ED2-8F19-EFEFC3B9D590}"/>
              </a:ext>
            </a:extLst>
          </p:cNvPr>
          <p:cNvSpPr>
            <a:spLocks noGrp="1"/>
          </p:cNvSpPr>
          <p:nvPr/>
        </p:nvSpPr>
        <p:spPr>
          <a:xfrm>
            <a:off x="633411" y="531283"/>
            <a:ext cx="5592577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1200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r>
              <a:rPr sz="2800" b="1" dirty="0" err="1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การเลือกโมเดล</a:t>
            </a:r>
            <a:r>
              <a:rPr sz="2800" b="1" dirty="0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 (Model Selection)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D9A9AA-A848-43A1-A000-3719ED80A796}"/>
              </a:ext>
            </a:extLst>
          </p:cNvPr>
          <p:cNvSpPr>
            <a:spLocks noGrp="1"/>
          </p:cNvSpPr>
          <p:nvPr/>
        </p:nvSpPr>
        <p:spPr>
          <a:xfrm>
            <a:off x="633412" y="1198033"/>
            <a:ext cx="1104900" cy="47625"/>
          </a:xfrm>
          <a:prstGeom prst="rect">
            <a:avLst/>
          </a:prstGeom>
          <a:solidFill>
            <a:srgbClr val="4F7CA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496BAE-76B2-4DE9-8EDD-9BDDB8F1DF66}"/>
              </a:ext>
            </a:extLst>
          </p:cNvPr>
          <p:cNvSpPr>
            <a:spLocks noGrp="1"/>
          </p:cNvSpPr>
          <p:nvPr/>
        </p:nvSpPr>
        <p:spPr>
          <a:xfrm>
            <a:off x="904875" y="1379537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350" b="0">
                <a:solidFill>
                  <a:srgbClr val="60708C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60708C"/>
                </a:solidFill>
                <a:latin typeface="Thonburi"/>
                <a:ea typeface="Thonburi"/>
                <a:cs typeface="Thonburi"/>
              </a:rPr>
              <a:t>จำนวนกลุ่มไม่ได้กำหนดไว้ล่วงหน้า แต่ได้จากการทดลองและเปรียบเทียบด้วยกฎเดียวกัน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B2C9848-DF74-4F89-903A-26FDE9697F2F}"/>
              </a:ext>
            </a:extLst>
          </p:cNvPr>
          <p:cNvSpPr>
            <a:spLocks noGrp="1"/>
          </p:cNvSpPr>
          <p:nvPr/>
        </p:nvSpPr>
        <p:spPr>
          <a:xfrm>
            <a:off x="1175984" y="2989791"/>
            <a:ext cx="419100" cy="419100"/>
          </a:xfrm>
          <a:prstGeom prst="ellipse">
            <a:avLst/>
          </a:prstGeom>
          <a:solidFill>
            <a:srgbClr val="4F7CA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C4FE45-6890-4B90-BC99-1EFE80CF5B8C}"/>
              </a:ext>
            </a:extLst>
          </p:cNvPr>
          <p:cNvSpPr>
            <a:spLocks noGrp="1"/>
          </p:cNvSpPr>
          <p:nvPr/>
        </p:nvSpPr>
        <p:spPr>
          <a:xfrm>
            <a:off x="1175984" y="3046941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7080AE-EDFD-4150-A8FF-CF3C7BE5FE48}"/>
              </a:ext>
            </a:extLst>
          </p:cNvPr>
          <p:cNvSpPr>
            <a:spLocks noGrp="1"/>
          </p:cNvSpPr>
          <p:nvPr/>
        </p:nvSpPr>
        <p:spPr>
          <a:xfrm>
            <a:off x="1175984" y="3551766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425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1425" b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สำรวจจำนวนกลุ่ม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A8751E-492E-4FBE-B3F7-074E65388641}"/>
              </a:ext>
            </a:extLst>
          </p:cNvPr>
          <p:cNvSpPr>
            <a:spLocks noGrp="1"/>
          </p:cNvSpPr>
          <p:nvPr/>
        </p:nvSpPr>
        <p:spPr>
          <a:xfrm>
            <a:off x="1175984" y="3904191"/>
            <a:ext cx="1905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200" b="0">
                <a:solidFill>
                  <a:srgbClr val="60708C"/>
                </a:solidFill>
                <a:latin typeface="Thonburi"/>
                <a:ea typeface="Thonburi"/>
                <a:cs typeface="Thonburi"/>
              </a:defRPr>
            </a:pPr>
            <a:r>
              <a:rPr sz="1200" b="0">
                <a:solidFill>
                  <a:srgbClr val="60708C"/>
                </a:solidFill>
                <a:latin typeface="Thonburi"/>
                <a:ea typeface="Thonburi"/>
                <a:cs typeface="Thonburi"/>
              </a:rPr>
              <a:t>ทดลอง k ตั้งแต่ 2–13</a:t>
            </a:r>
          </a:p>
        </p:txBody>
      </p:sp>
      <p:sp>
        <p:nvSpPr>
          <p:cNvPr id="10" name="Chevron 9">
            <a:extLst>
              <a:ext uri="{FF2B5EF4-FFF2-40B4-BE49-F238E27FC236}">
                <a16:creationId xmlns:a16="http://schemas.microsoft.com/office/drawing/2014/main" id="{AE7BEB60-E588-4131-A05E-AFA101B1BF79}"/>
              </a:ext>
            </a:extLst>
          </p:cNvPr>
          <p:cNvSpPr>
            <a:spLocks noGrp="1"/>
          </p:cNvSpPr>
          <p:nvPr/>
        </p:nvSpPr>
        <p:spPr>
          <a:xfrm>
            <a:off x="3004784" y="3085041"/>
            <a:ext cx="238125" cy="323850"/>
          </a:xfrm>
          <a:prstGeom prst="chevron">
            <a:avLst/>
          </a:prstGeom>
          <a:solidFill>
            <a:srgbClr val="F1ED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FC2D33C-3B15-4452-9F77-08E068068886}"/>
              </a:ext>
            </a:extLst>
          </p:cNvPr>
          <p:cNvSpPr>
            <a:spLocks noGrp="1"/>
          </p:cNvSpPr>
          <p:nvPr/>
        </p:nvSpPr>
        <p:spPr>
          <a:xfrm>
            <a:off x="3366734" y="2989791"/>
            <a:ext cx="419100" cy="419100"/>
          </a:xfrm>
          <a:prstGeom prst="ellipse">
            <a:avLst/>
          </a:prstGeom>
          <a:solidFill>
            <a:srgbClr val="4F7CA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10EB8B-FA5E-4960-9423-9AB349AC596F}"/>
              </a:ext>
            </a:extLst>
          </p:cNvPr>
          <p:cNvSpPr>
            <a:spLocks noGrp="1"/>
          </p:cNvSpPr>
          <p:nvPr/>
        </p:nvSpPr>
        <p:spPr>
          <a:xfrm>
            <a:off x="3366734" y="3046941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31A872-67E1-4796-BB21-FDC1391FF92B}"/>
              </a:ext>
            </a:extLst>
          </p:cNvPr>
          <p:cNvSpPr>
            <a:spLocks noGrp="1"/>
          </p:cNvSpPr>
          <p:nvPr/>
        </p:nvSpPr>
        <p:spPr>
          <a:xfrm>
            <a:off x="3366734" y="3551766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425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1425" b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คัดจำนวนที่น่าสนใจ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18FF8C-D028-4150-8DFA-3D6AF41E2951}"/>
              </a:ext>
            </a:extLst>
          </p:cNvPr>
          <p:cNvSpPr>
            <a:spLocks noGrp="1"/>
          </p:cNvSpPr>
          <p:nvPr/>
        </p:nvSpPr>
        <p:spPr>
          <a:xfrm>
            <a:off x="3366733" y="3904191"/>
            <a:ext cx="20669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200" b="0">
                <a:solidFill>
                  <a:srgbClr val="60708C"/>
                </a:solidFill>
                <a:latin typeface="Thonburi"/>
                <a:ea typeface="Thonburi"/>
                <a:cs typeface="Thonburi"/>
              </a:defRPr>
            </a:pPr>
            <a:r>
              <a:rPr sz="1200" b="0">
                <a:solidFill>
                  <a:srgbClr val="60708C"/>
                </a:solidFill>
                <a:latin typeface="Thonburi"/>
                <a:ea typeface="Thonburi"/>
                <a:cs typeface="Thonburi"/>
              </a:rPr>
              <a:t>เลือก 4, 5, 6 และ 12 กลุ่ม</a:t>
            </a:r>
          </a:p>
        </p:txBody>
      </p:sp>
      <p:sp>
        <p:nvSpPr>
          <p:cNvPr id="15" name="Chevron 14">
            <a:extLst>
              <a:ext uri="{FF2B5EF4-FFF2-40B4-BE49-F238E27FC236}">
                <a16:creationId xmlns:a16="http://schemas.microsoft.com/office/drawing/2014/main" id="{BBC2F528-A77A-42EB-A8E7-C6CA5D78315F}"/>
              </a:ext>
            </a:extLst>
          </p:cNvPr>
          <p:cNvSpPr>
            <a:spLocks noGrp="1"/>
          </p:cNvSpPr>
          <p:nvPr/>
        </p:nvSpPr>
        <p:spPr>
          <a:xfrm>
            <a:off x="5195534" y="3085041"/>
            <a:ext cx="238125" cy="323850"/>
          </a:xfrm>
          <a:prstGeom prst="chevron">
            <a:avLst/>
          </a:prstGeom>
          <a:solidFill>
            <a:srgbClr val="F1ED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B0A9443-17E2-4C6E-A1FB-CA154B4F12CC}"/>
              </a:ext>
            </a:extLst>
          </p:cNvPr>
          <p:cNvSpPr>
            <a:spLocks noGrp="1"/>
          </p:cNvSpPr>
          <p:nvPr/>
        </p:nvSpPr>
        <p:spPr>
          <a:xfrm>
            <a:off x="5557484" y="2989791"/>
            <a:ext cx="419100" cy="419100"/>
          </a:xfrm>
          <a:prstGeom prst="ellipse">
            <a:avLst/>
          </a:prstGeom>
          <a:solidFill>
            <a:srgbClr val="4F7CA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791C47-651A-436B-B5E4-687739D59F55}"/>
              </a:ext>
            </a:extLst>
          </p:cNvPr>
          <p:cNvSpPr>
            <a:spLocks noGrp="1"/>
          </p:cNvSpPr>
          <p:nvPr/>
        </p:nvSpPr>
        <p:spPr>
          <a:xfrm>
            <a:off x="5557484" y="3046941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95AE33-106A-43F4-811F-E7DC5039B042}"/>
              </a:ext>
            </a:extLst>
          </p:cNvPr>
          <p:cNvSpPr>
            <a:spLocks noGrp="1"/>
          </p:cNvSpPr>
          <p:nvPr/>
        </p:nvSpPr>
        <p:spPr>
          <a:xfrm>
            <a:off x="5557484" y="3551766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425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1425" b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ทดลองโมเดล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4C905F-6D41-4E94-8ECF-2AA47BEE791E}"/>
              </a:ext>
            </a:extLst>
          </p:cNvPr>
          <p:cNvSpPr>
            <a:spLocks noGrp="1"/>
          </p:cNvSpPr>
          <p:nvPr/>
        </p:nvSpPr>
        <p:spPr>
          <a:xfrm>
            <a:off x="5557484" y="3904191"/>
            <a:ext cx="1905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buNone/>
              <a:defRPr sz="1200" b="0">
                <a:solidFill>
                  <a:srgbClr val="60708C"/>
                </a:solidFill>
                <a:latin typeface="Thonburi"/>
                <a:ea typeface="Thonburi"/>
                <a:cs typeface="Thonburi"/>
              </a:defRPr>
            </a:pPr>
            <a:r>
              <a:rPr sz="1050">
                <a:latin typeface="Thonburi"/>
                <a:ea typeface="Thonburi"/>
                <a:cs typeface="Thonburi"/>
              </a:rPr>
              <a:t>ทดลอง 29 การตั้งค่า</a:t>
            </a:r>
            <a:endParaRPr sz="1200"/>
          </a:p>
          <a:p>
            <a:pPr>
              <a:buNone/>
              <a:defRPr sz="1200" b="0">
                <a:solidFill>
                  <a:srgbClr val="60708C"/>
                </a:solidFill>
                <a:latin typeface="Thonburi"/>
                <a:ea typeface="Thonburi"/>
                <a:cs typeface="Thonburi"/>
              </a:defRPr>
            </a:pPr>
            <a:r>
              <a:rPr sz="1050">
                <a:latin typeface="Thonburi"/>
                <a:ea typeface="Thonburi"/>
                <a:cs typeface="Thonburi"/>
              </a:rPr>
              <a:t>24 ค่ารองรับข้อมูลใหม่และมี metric ครบ</a:t>
            </a:r>
            <a:endParaRPr sz="1200"/>
          </a:p>
        </p:txBody>
      </p:sp>
      <p:sp>
        <p:nvSpPr>
          <p:cNvPr id="20" name="Chevron 19">
            <a:extLst>
              <a:ext uri="{FF2B5EF4-FFF2-40B4-BE49-F238E27FC236}">
                <a16:creationId xmlns:a16="http://schemas.microsoft.com/office/drawing/2014/main" id="{814D437C-4DB8-483E-9534-643197CC84B6}"/>
              </a:ext>
            </a:extLst>
          </p:cNvPr>
          <p:cNvSpPr>
            <a:spLocks noGrp="1"/>
          </p:cNvSpPr>
          <p:nvPr/>
        </p:nvSpPr>
        <p:spPr>
          <a:xfrm>
            <a:off x="7386284" y="3085041"/>
            <a:ext cx="238125" cy="323850"/>
          </a:xfrm>
          <a:prstGeom prst="chevron">
            <a:avLst/>
          </a:prstGeom>
          <a:solidFill>
            <a:srgbClr val="F1ED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F36DBCF-9982-485D-89B7-FA1508B07193}"/>
              </a:ext>
            </a:extLst>
          </p:cNvPr>
          <p:cNvSpPr>
            <a:spLocks noGrp="1"/>
          </p:cNvSpPr>
          <p:nvPr/>
        </p:nvSpPr>
        <p:spPr>
          <a:xfrm>
            <a:off x="7748234" y="2989791"/>
            <a:ext cx="419100" cy="419100"/>
          </a:xfrm>
          <a:prstGeom prst="ellipse">
            <a:avLst/>
          </a:prstGeom>
          <a:solidFill>
            <a:srgbClr val="4F7CA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690A42D-C53A-4F3F-89B0-46656EBE5F65}"/>
              </a:ext>
            </a:extLst>
          </p:cNvPr>
          <p:cNvSpPr>
            <a:spLocks noGrp="1"/>
          </p:cNvSpPr>
          <p:nvPr/>
        </p:nvSpPr>
        <p:spPr>
          <a:xfrm>
            <a:off x="7748234" y="3046941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85239E-2C9A-4A12-817B-4C3DCBB36C39}"/>
              </a:ext>
            </a:extLst>
          </p:cNvPr>
          <p:cNvSpPr>
            <a:spLocks noGrp="1"/>
          </p:cNvSpPr>
          <p:nvPr/>
        </p:nvSpPr>
        <p:spPr>
          <a:xfrm>
            <a:off x="7748234" y="3551766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425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1425" b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เปรียบเทียบ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B16518-1E43-45F6-9457-1FA3C844F772}"/>
              </a:ext>
            </a:extLst>
          </p:cNvPr>
          <p:cNvSpPr>
            <a:spLocks noGrp="1"/>
          </p:cNvSpPr>
          <p:nvPr/>
        </p:nvSpPr>
        <p:spPr>
          <a:xfrm>
            <a:off x="7748234" y="3904191"/>
            <a:ext cx="2190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buNone/>
              <a:defRPr sz="1200" b="0">
                <a:solidFill>
                  <a:srgbClr val="60708C"/>
                </a:solidFill>
                <a:latin typeface="Thonburi"/>
                <a:ea typeface="Thonburi"/>
                <a:cs typeface="Thonburi"/>
              </a:defRPr>
            </a:pPr>
            <a:r>
              <a:rPr sz="1050">
                <a:latin typeface="Thonburi"/>
                <a:ea typeface="Thonburi"/>
                <a:cs typeface="Thonburi"/>
              </a:rPr>
              <a:t>จัดอันดับ 24 ค่า</a:t>
            </a:r>
            <a:endParaRPr sz="1200"/>
          </a:p>
          <a:p>
            <a:pPr>
              <a:buNone/>
              <a:defRPr sz="1200" b="0">
                <a:solidFill>
                  <a:srgbClr val="60708C"/>
                </a:solidFill>
                <a:latin typeface="Thonburi"/>
                <a:ea typeface="Thonburi"/>
                <a:cs typeface="Thonburi"/>
              </a:defRPr>
            </a:pPr>
            <a:r>
              <a:rPr sz="1050">
                <a:latin typeface="Thonburi"/>
                <a:ea typeface="Thonburi"/>
                <a:cs typeface="Thonburi"/>
              </a:rPr>
              <a:t>ด้วยตัวชี้วัด 4 ด้าน</a:t>
            </a:r>
            <a:endParaRPr sz="1200" b="0">
              <a:solidFill>
                <a:srgbClr val="60708C"/>
              </a:solidFill>
              <a:latin typeface="Thonburi"/>
              <a:ea typeface="Thonburi"/>
              <a:cs typeface="Thonburi"/>
            </a:endParaRPr>
          </a:p>
          <a:p>
            <a:pPr>
              <a:buNone/>
              <a:defRPr sz="1200" b="0">
                <a:solidFill>
                  <a:srgbClr val="60708C"/>
                </a:solidFill>
                <a:latin typeface="Thonburi"/>
                <a:ea typeface="Thonburi"/>
                <a:cs typeface="Thonburi"/>
              </a:defRPr>
            </a:pPr>
            <a:r>
              <a:rPr sz="1050">
                <a:latin typeface="Thonburi"/>
                <a:ea typeface="Thonburi"/>
                <a:cs typeface="Thonburi"/>
              </a:rPr>
              <a:t>อีก 5 ค่าใช้เป็น geometry benchmark</a:t>
            </a:r>
            <a:endParaRPr sz="1200" b="0">
              <a:solidFill>
                <a:srgbClr val="60708C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25" name="Chevron 24">
            <a:extLst>
              <a:ext uri="{FF2B5EF4-FFF2-40B4-BE49-F238E27FC236}">
                <a16:creationId xmlns:a16="http://schemas.microsoft.com/office/drawing/2014/main" id="{F952607A-23E1-41E3-8025-57502ECC81A0}"/>
              </a:ext>
            </a:extLst>
          </p:cNvPr>
          <p:cNvSpPr>
            <a:spLocks noGrp="1"/>
          </p:cNvSpPr>
          <p:nvPr/>
        </p:nvSpPr>
        <p:spPr>
          <a:xfrm>
            <a:off x="9577034" y="3085041"/>
            <a:ext cx="238125" cy="323850"/>
          </a:xfrm>
          <a:prstGeom prst="chevron">
            <a:avLst/>
          </a:prstGeom>
          <a:solidFill>
            <a:srgbClr val="F1ED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38B7CB0-0B7C-405E-B64A-55EB5F32F846}"/>
              </a:ext>
            </a:extLst>
          </p:cNvPr>
          <p:cNvSpPr>
            <a:spLocks noGrp="1"/>
          </p:cNvSpPr>
          <p:nvPr/>
        </p:nvSpPr>
        <p:spPr>
          <a:xfrm>
            <a:off x="9938984" y="2989791"/>
            <a:ext cx="419100" cy="419100"/>
          </a:xfrm>
          <a:prstGeom prst="ellipse">
            <a:avLst/>
          </a:prstGeom>
          <a:solidFill>
            <a:srgbClr val="7566B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2911EF5-74B6-4C3D-9BC7-F6F6BBFB9D44}"/>
              </a:ext>
            </a:extLst>
          </p:cNvPr>
          <p:cNvSpPr>
            <a:spLocks noGrp="1"/>
          </p:cNvSpPr>
          <p:nvPr/>
        </p:nvSpPr>
        <p:spPr>
          <a:xfrm>
            <a:off x="9938984" y="3046941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6FC30BD-0FDC-4C1F-A220-E4F0B3E9FC3F}"/>
              </a:ext>
            </a:extLst>
          </p:cNvPr>
          <p:cNvSpPr>
            <a:spLocks noGrp="1"/>
          </p:cNvSpPr>
          <p:nvPr/>
        </p:nvSpPr>
        <p:spPr>
          <a:xfrm>
            <a:off x="9938984" y="3551766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425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1425" b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เลือกคำตอบ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86F0997-977E-4AAF-B2A5-52463F43FFEC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900" b="0">
                <a:solidFill>
                  <a:srgbClr val="60708C"/>
                </a:solidFill>
                <a:latin typeface="Thonburi"/>
                <a:ea typeface="Thonburi"/>
                <a:cs typeface="Thonburi"/>
              </a:defRPr>
            </a:pPr>
            <a:r>
              <a:rPr sz="900" b="0">
                <a:solidFill>
                  <a:srgbClr val="60708C"/>
                </a:solidFill>
                <a:latin typeface="Thonburi"/>
                <a:ea typeface="Thonburi"/>
                <a:cs typeface="Thonburi"/>
              </a:rPr>
              <a:t>Student Segmentation · MOOC Dataset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F1778C1-175D-4620-9BCF-1BF30EE6C8DE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975" b="1">
                <a:solidFill>
                  <a:srgbClr val="60708C"/>
                </a:solidFill>
                <a:latin typeface="Thonburi"/>
                <a:ea typeface="Thonburi"/>
                <a:cs typeface="Thonburi"/>
              </a:defRPr>
            </a:pPr>
            <a:r>
              <a:rPr sz="975" b="1" dirty="0">
                <a:solidFill>
                  <a:srgbClr val="60708C"/>
                </a:solidFill>
                <a:latin typeface="Thonburi"/>
                <a:ea typeface="Thonburi"/>
                <a:cs typeface="Thonburi"/>
              </a:rPr>
              <a:t>2</a:t>
            </a:r>
            <a:r>
              <a:rPr lang="en-US" sz="975" b="1" dirty="0">
                <a:solidFill>
                  <a:srgbClr val="60708C"/>
                </a:solidFill>
                <a:latin typeface="Thonburi"/>
                <a:ea typeface="Thonburi"/>
                <a:cs typeface="Thonburi"/>
              </a:rPr>
              <a:t>6</a:t>
            </a:r>
            <a:endParaRPr sz="975" b="1" dirty="0">
              <a:solidFill>
                <a:srgbClr val="60708C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54FC37D-F520-4A2C-AE61-78EB30D69EC3}"/>
              </a:ext>
            </a:extLst>
          </p:cNvPr>
          <p:cNvSpPr>
            <a:spLocks noGrp="1"/>
          </p:cNvSpPr>
          <p:nvPr/>
        </p:nvSpPr>
        <p:spPr>
          <a:xfrm>
            <a:off x="9696096" y="3871383"/>
            <a:ext cx="17145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ctr">
            <a:normAutofit/>
          </a:bodyPr>
          <a:lstStyle/>
          <a:p>
            <a:pPr algn="ctr">
              <a:buNone/>
              <a:defRPr sz="1050" b="1">
                <a:solidFill>
                  <a:srgbClr val="5B4DA8"/>
                </a:solidFill>
                <a:latin typeface="Thonburi"/>
                <a:ea typeface="Thonburi"/>
                <a:cs typeface="Thonburi"/>
              </a:defRPr>
            </a:pPr>
            <a:r>
              <a:rPr sz="1050" b="1">
                <a:solidFill>
                  <a:srgbClr val="5B4DA8"/>
                </a:solidFill>
                <a:latin typeface="Thonburi"/>
                <a:ea typeface="Thonburi"/>
                <a:cs typeface="Thonburi"/>
              </a:rPr>
              <a:t>K-Means 4 กลุ่ม</a:t>
            </a:r>
          </a:p>
          <a:p>
            <a:pPr algn="ctr">
              <a:buNone/>
              <a:defRPr sz="1050" b="1">
                <a:solidFill>
                  <a:srgbClr val="5B4DA8"/>
                </a:solidFill>
                <a:latin typeface="Thonburi"/>
                <a:ea typeface="Thonburi"/>
                <a:cs typeface="Thonburi"/>
              </a:defRPr>
            </a:pPr>
            <a:r>
              <a:rPr sz="1050" b="1">
                <a:solidFill>
                  <a:srgbClr val="5B4DA8"/>
                </a:solidFill>
                <a:latin typeface="Thonburi"/>
                <a:ea typeface="Thonburi"/>
                <a:cs typeface="Thonburi"/>
              </a:rPr>
              <a:t>ได้อันดับรวมดีที่สุด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45AA3A-0C4D-ABD0-0E4F-5E1CC7C74FE1}"/>
              </a:ext>
            </a:extLst>
          </p:cNvPr>
          <p:cNvSpPr txBox="1"/>
          <p:nvPr/>
        </p:nvSpPr>
        <p:spPr>
          <a:xfrm>
            <a:off x="609599" y="5984580"/>
            <a:ext cx="87226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H" sz="1200" dirty="0">
                <a:solidFill>
                  <a:schemeClr val="bg1">
                    <a:lumMod val="50000"/>
                  </a:schemeClr>
                </a:solidFill>
              </a:rPr>
              <a:t>*อีก 5 การตั้งค่าใช้เป็น Geometry Benchmark เนื่องจากไม่รองรับการกำหนดกลุ่มให้ข้อมูลใหม่หรือมีหลักฐานไม่ครบ จึงไม่รวมในการจัดอันดับผู้ชนะ</a:t>
            </a:r>
          </a:p>
        </p:txBody>
      </p:sp>
    </p:spTree>
    <p:extLst>
      <p:ext uri="{BB962C8B-B14F-4D97-AF65-F5344CB8AC3E}">
        <p14:creationId xmlns:p14="http://schemas.microsoft.com/office/powerpoint/2010/main" val="14607481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127A657-46A2-45AF-93F9-76DE9777DF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185C61-AD0B-4A95-953B-A9A5DA4CD062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933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550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2550" b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วิธีอ่านเกณฑ์ประเมินการแบ่งกลุ่ม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CB0E9F-633A-4164-A275-68E2D71A21EE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104900" cy="47625"/>
          </a:xfrm>
          <a:prstGeom prst="rect">
            <a:avLst/>
          </a:prstGeom>
          <a:solidFill>
            <a:srgbClr val="4F7CA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28B58D-D768-4AAB-A35D-31D6D6383CD6}"/>
              </a:ext>
            </a:extLst>
          </p:cNvPr>
          <p:cNvSpPr>
            <a:spLocks noGrp="1"/>
          </p:cNvSpPr>
          <p:nvPr/>
        </p:nvSpPr>
        <p:spPr>
          <a:xfrm>
            <a:off x="10287000" y="45720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buNone/>
              <a:defRPr sz="1200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r>
              <a:rPr sz="1200" b="1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เกณฑ์ประเมิน</a:t>
            </a:r>
          </a:p>
        </p:txBody>
      </p:sp>
      <p:graphicFrame>
        <p:nvGraphicFramePr>
          <p:cNvPr id="16" name="Table 13"/>
          <p:cNvGraphicFramePr/>
          <p:nvPr>
            <p:extLst>
              <p:ext uri="{D42A27DB-BD31-4B8C-83A1-F6EECF244321}">
                <p14:modId xmlns:p14="http://schemas.microsoft.com/office/powerpoint/2010/main" val="2548966499"/>
              </p:ext>
            </p:extLst>
          </p:nvPr>
        </p:nvGraphicFramePr>
        <p:xfrm>
          <a:off x="704850" y="1428750"/>
          <a:ext cx="10782300" cy="3429000"/>
        </p:xfrm>
        <a:graphic>
          <a:graphicData uri="http://schemas.openxmlformats.org/drawingml/2006/table">
            <a:tbl>
              <a:tblPr/>
              <a:tblGrid>
                <a:gridCol w="3019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76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5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เกณฑ์</a:t>
                      </a:r>
                    </a:p>
                  </a:txBody>
                  <a:tcPr anchor="ctr">
                    <a:solidFill>
                      <a:srgbClr val="173B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คำอธิบายภาษาง่าย</a:t>
                      </a:r>
                    </a:p>
                  </a:txBody>
                  <a:tcPr anchor="ctr">
                    <a:solidFill>
                      <a:srgbClr val="173B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ทิศทาง</a:t>
                      </a:r>
                    </a:p>
                  </a:txBody>
                  <a:tcPr anchor="ctr">
                    <a:solidFill>
                      <a:srgbClr val="173B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3B6C"/>
                          </a:solidFill>
                          <a:latin typeface="Thonburi"/>
                          <a:ea typeface="Thonburi"/>
                          <a:cs typeface="Thonburi"/>
                        </a:rPr>
                        <a:t>Silhouette</a:t>
                      </a:r>
                    </a:p>
                  </a:txBody>
                  <a:tcPr anchor="ctr">
                    <a:solidFill>
                      <a:srgbClr val="EA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สมาชิกอยู่ใกล้กลุ่มตัวเองมากกว่ากลุ่มอื่นเพียงใด</a:t>
                      </a:r>
                    </a:p>
                  </a:txBody>
                  <a:tcPr anchor="ctr">
                    <a:solidFill>
                      <a:srgbClr val="EA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B9C86"/>
                          </a:solidFill>
                          <a:latin typeface="Thonburi"/>
                          <a:ea typeface="Thonburi"/>
                          <a:cs typeface="Thonburi"/>
                        </a:rPr>
                        <a:t>สูงดีกว่า</a:t>
                      </a:r>
                    </a:p>
                  </a:txBody>
                  <a:tcPr anchor="ctr">
                    <a:solidFill>
                      <a:srgbClr val="EA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3B6C"/>
                          </a:solidFill>
                          <a:latin typeface="Thonburi"/>
                          <a:ea typeface="Thonburi"/>
                          <a:cs typeface="Thonburi"/>
                        </a:rPr>
                        <a:t>Davies–Bouldin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กลุ่มกระชับและแยกจากกันเพียงใด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7566B7"/>
                          </a:solidFill>
                          <a:latin typeface="Thonburi"/>
                          <a:ea typeface="Thonburi"/>
                          <a:cs typeface="Thonburi"/>
                        </a:rPr>
                        <a:t>ต่ำดีกว่า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3B6C"/>
                          </a:solidFill>
                          <a:latin typeface="Thonburi"/>
                          <a:ea typeface="Thonburi"/>
                          <a:cs typeface="Thonburi"/>
                        </a:rPr>
                        <a:t>Calinski–Harabasz</a:t>
                      </a:r>
                    </a:p>
                  </a:txBody>
                  <a:tcPr anchor="ctr">
                    <a:solidFill>
                      <a:srgbClr val="EA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เปรียบเทียบความแตกต่างระหว่างกลุ่มกับความกระจายภายในกลุ่ม</a:t>
                      </a:r>
                    </a:p>
                  </a:txBody>
                  <a:tcPr anchor="ctr">
                    <a:solidFill>
                      <a:srgbClr val="EA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B9C86"/>
                          </a:solidFill>
                          <a:latin typeface="Thonburi"/>
                          <a:ea typeface="Thonburi"/>
                          <a:cs typeface="Thonburi"/>
                        </a:rPr>
                        <a:t>สูงดีกว่า</a:t>
                      </a:r>
                    </a:p>
                  </a:txBody>
                  <a:tcPr anchor="ctr">
                    <a:solidFill>
                      <a:srgbClr val="EA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238" b="1" dirty="0" err="1">
                          <a:solidFill>
                            <a:srgbClr val="173B6C"/>
                          </a:solidFill>
                          <a:latin typeface="Thonburi"/>
                          <a:ea typeface="Thonburi"/>
                          <a:cs typeface="Thonburi"/>
                        </a:rPr>
                        <a:t>ความคงที่เมื่อสุ่มซ้ำ</a:t>
                      </a:r>
                      <a:r>
                        <a:rPr lang="th-TH" sz="1238" b="1" dirty="0">
                          <a:solidFill>
                            <a:srgbClr val="173B6C"/>
                          </a:solidFill>
                          <a:latin typeface="Thonburi"/>
                          <a:ea typeface="Thonburi"/>
                          <a:cs typeface="Thonburi"/>
                        </a:rPr>
                        <a:t> </a:t>
                      </a:r>
                      <a:r>
                        <a:rPr sz="1238" b="1" dirty="0">
                          <a:solidFill>
                            <a:srgbClr val="173B6C"/>
                          </a:solidFill>
                          <a:latin typeface="Thonburi"/>
                          <a:ea typeface="Thonburi"/>
                          <a:cs typeface="Thonburi"/>
                        </a:rPr>
                        <a:t>(Resample ARI)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เมื่อสุ่มข้อมูลใหม่ สมาชิกยังอยู่กลุ่มเดิมมากเพียงใด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B9C86"/>
                          </a:solidFill>
                          <a:latin typeface="Thonburi"/>
                          <a:ea typeface="Thonburi"/>
                          <a:cs typeface="Thonburi"/>
                        </a:rPr>
                        <a:t>สูงดีกว่า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238" b="1" dirty="0">
                          <a:solidFill>
                            <a:srgbClr val="173B6C"/>
                          </a:solidFill>
                          <a:latin typeface="Thonburi"/>
                          <a:ea typeface="Thonburi"/>
                          <a:cs typeface="Thonburi"/>
                        </a:rPr>
                        <a:t>Mean internal rank</a:t>
                      </a:r>
                    </a:p>
                  </a:txBody>
                  <a:tcPr anchor="ctr">
                    <a:solidFill>
                      <a:srgbClr val="EA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dirty="0" err="1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อันดับรวมจากคะแนนทั้ง</a:t>
                      </a:r>
                      <a:r>
                        <a:rPr sz="1238" dirty="0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 4 </a:t>
                      </a:r>
                    </a:p>
                  </a:txBody>
                  <a:tcPr anchor="ctr">
                    <a:solidFill>
                      <a:srgbClr val="EA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7566B7"/>
                          </a:solidFill>
                          <a:latin typeface="Thonburi"/>
                          <a:ea typeface="Thonburi"/>
                          <a:cs typeface="Thonburi"/>
                        </a:rPr>
                        <a:t>ต่ำดีกว่า</a:t>
                      </a:r>
                      <a:endParaRPr sz="1200" b="1" dirty="0">
                        <a:solidFill>
                          <a:srgbClr val="7566B7"/>
                        </a:solidFill>
                        <a:latin typeface="Thonburi"/>
                        <a:ea typeface="Thonburi"/>
                        <a:cs typeface="Thonburi"/>
                      </a:endParaRPr>
                    </a:p>
                  </a:txBody>
                  <a:tcPr anchor="ctr">
                    <a:solidFill>
                      <a:srgbClr val="EA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36CB253E-79A0-4E9F-816D-FC9A780B3FE7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900" b="0">
                <a:solidFill>
                  <a:srgbClr val="60708C"/>
                </a:solidFill>
                <a:latin typeface="Thonburi"/>
                <a:ea typeface="Thonburi"/>
                <a:cs typeface="Thonburi"/>
              </a:defRPr>
            </a:pPr>
            <a:r>
              <a:rPr sz="900" b="0">
                <a:solidFill>
                  <a:srgbClr val="60708C"/>
                </a:solidFill>
                <a:latin typeface="Thonburi"/>
                <a:ea typeface="Thonburi"/>
                <a:cs typeface="Thonburi"/>
              </a:rPr>
              <a:t>Student Segmentation · MOOC Dataset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0B3FC6-CE5C-4FB9-B886-BD79EB6048C3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8319" lnSpcReduction="20000"/>
          </a:bodyPr>
          <a:lstStyle/>
          <a:p>
            <a:pPr algn="r">
              <a:buNone/>
              <a:defRPr sz="975" b="1">
                <a:solidFill>
                  <a:srgbClr val="60708C"/>
                </a:solidFill>
                <a:latin typeface="Thonburi"/>
                <a:ea typeface="Thonburi"/>
                <a:cs typeface="Thonburi"/>
              </a:defRPr>
            </a:pPr>
            <a:r>
              <a:rPr sz="975" b="1" dirty="0">
                <a:solidFill>
                  <a:srgbClr val="60708C"/>
                </a:solidFill>
                <a:latin typeface="Thonburi"/>
                <a:ea typeface="Thonburi"/>
                <a:cs typeface="Thonburi"/>
              </a:rPr>
              <a:t>2</a:t>
            </a:r>
            <a:r>
              <a:rPr lang="en-US" sz="975" b="1" dirty="0">
                <a:solidFill>
                  <a:srgbClr val="60708C"/>
                </a:solidFill>
                <a:latin typeface="Thonburi"/>
                <a:ea typeface="Thonburi"/>
                <a:cs typeface="Thonburi"/>
              </a:rPr>
              <a:t>7</a:t>
            </a:r>
            <a:endParaRPr sz="975" b="1" dirty="0">
              <a:solidFill>
                <a:srgbClr val="60708C"/>
              </a:solidFill>
              <a:latin typeface="Thonburi"/>
              <a:ea typeface="Thonburi"/>
              <a:cs typeface="Thonburi"/>
            </a:endParaRPr>
          </a:p>
        </p:txBody>
      </p:sp>
    </p:spTree>
    <p:extLst>
      <p:ext uri="{BB962C8B-B14F-4D97-AF65-F5344CB8AC3E}">
        <p14:creationId xmlns:p14="http://schemas.microsoft.com/office/powerpoint/2010/main" val="13925327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DCAD2FF-DA10-498B-9289-08E6BDACAEA6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933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2850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2850" b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ผลเปรียบเทียบโมเดลจาก 6 กลุ่มวิธี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2190E3-53B6-489D-B251-F3A891E89230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104900" cy="47625"/>
          </a:xfrm>
          <a:prstGeom prst="rect">
            <a:avLst/>
          </a:prstGeom>
          <a:solidFill>
            <a:srgbClr val="7566B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576C93-2B6E-4DD5-845D-9CC13862DA72}"/>
              </a:ext>
            </a:extLst>
          </p:cNvPr>
          <p:cNvSpPr>
            <a:spLocks noGrp="1"/>
          </p:cNvSpPr>
          <p:nvPr/>
        </p:nvSpPr>
        <p:spPr>
          <a:xfrm>
            <a:off x="10287000" y="4572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1200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r>
              <a:rPr sz="1200" b="1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ผลลัพธ์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61B89D-2DE5-4528-8C97-6968DA1573B8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975" b="0">
                <a:solidFill>
                  <a:srgbClr val="8190A8"/>
                </a:solidFill>
                <a:latin typeface="Thonburi"/>
                <a:ea typeface="Thonburi"/>
                <a:cs typeface="Thonburi"/>
              </a:defRPr>
            </a:pPr>
            <a:r>
              <a:rPr sz="975" b="0">
                <a:solidFill>
                  <a:srgbClr val="8190A8"/>
                </a:solidFill>
                <a:latin typeface="Thonburi"/>
                <a:ea typeface="Thonburi"/>
                <a:cs typeface="Thonburi"/>
              </a:rPr>
              <a:t>Student Segmentation · MOOC Dataset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D2565B-4BD4-4F53-BB7B-40C8DB2BAA63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4762" lnSpcReduction="20000"/>
          </a:bodyPr>
          <a:lstStyle/>
          <a:p>
            <a:pPr algn="r">
              <a:buNone/>
              <a:defRPr sz="1050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sz="1050" b="1" dirty="0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2</a:t>
            </a:r>
            <a:r>
              <a:rPr lang="en-US" sz="1050" b="1" dirty="0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8</a:t>
            </a:r>
            <a:endParaRPr sz="1050" b="1" dirty="0">
              <a:solidFill>
                <a:srgbClr val="4F7CAC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6BD4D2-C517-4369-978F-B4F3C0785958}"/>
              </a:ext>
            </a:extLst>
          </p:cNvPr>
          <p:cNvSpPr>
            <a:spLocks noGrp="1"/>
          </p:cNvSpPr>
          <p:nvPr/>
        </p:nvSpPr>
        <p:spPr>
          <a:xfrm>
            <a:off x="904281" y="5314950"/>
            <a:ext cx="11457052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buNone/>
              <a:defRPr sz="1200" b="0">
                <a:solidFill>
                  <a:srgbClr val="60708C"/>
                </a:solidFill>
                <a:latin typeface="Thonburi"/>
                <a:ea typeface="Thonburi"/>
                <a:cs typeface="Thonburi"/>
              </a:defRPr>
            </a:pPr>
            <a:r>
              <a:rPr sz="1050" b="0" dirty="0" err="1">
                <a:solidFill>
                  <a:srgbClr val="60708C"/>
                </a:solidFill>
                <a:latin typeface="Thonburi"/>
                <a:ea typeface="Thonburi"/>
                <a:cs typeface="Thonburi"/>
              </a:rPr>
              <a:t>ตารางแสดงตัวแทนที่ดีที่สุดของแต่ละกลุ่มวิธี</a:t>
            </a:r>
            <a:r>
              <a:rPr sz="1050" b="0" dirty="0">
                <a:solidFill>
                  <a:srgbClr val="60708C"/>
                </a:solidFill>
                <a:latin typeface="Thonburi"/>
                <a:ea typeface="Thonburi"/>
                <a:cs typeface="Thonburi"/>
              </a:rPr>
              <a:t> </a:t>
            </a:r>
            <a:r>
              <a:rPr sz="1050" b="0" dirty="0" err="1">
                <a:solidFill>
                  <a:srgbClr val="60708C"/>
                </a:solidFill>
                <a:latin typeface="Thonburi"/>
                <a:ea typeface="Thonburi"/>
                <a:cs typeface="Thonburi"/>
              </a:rPr>
              <a:t>การจัดอันดับผู้ชนะใช้</a:t>
            </a:r>
            <a:r>
              <a:rPr sz="1050" b="0" dirty="0">
                <a:solidFill>
                  <a:srgbClr val="60708C"/>
                </a:solidFill>
                <a:latin typeface="Thonburi"/>
                <a:ea typeface="Thonburi"/>
                <a:cs typeface="Thonburi"/>
              </a:rPr>
              <a:t> 24 </a:t>
            </a:r>
            <a:r>
              <a:rPr sz="1050" b="0" dirty="0" err="1">
                <a:solidFill>
                  <a:srgbClr val="60708C"/>
                </a:solidFill>
                <a:latin typeface="Thonburi"/>
                <a:ea typeface="Thonburi"/>
                <a:cs typeface="Thonburi"/>
              </a:rPr>
              <a:t>การตั้งค่าที่นำไปใช้งานได้จากทั้งหมด</a:t>
            </a:r>
            <a:r>
              <a:rPr sz="1050" b="0" dirty="0">
                <a:solidFill>
                  <a:srgbClr val="60708C"/>
                </a:solidFill>
                <a:latin typeface="Thonburi"/>
                <a:ea typeface="Thonburi"/>
                <a:cs typeface="Thonburi"/>
              </a:rPr>
              <a:t> 29 </a:t>
            </a:r>
            <a:r>
              <a:rPr sz="1050" b="0" dirty="0" err="1">
                <a:solidFill>
                  <a:srgbClr val="60708C"/>
                </a:solidFill>
                <a:latin typeface="Thonburi"/>
                <a:ea typeface="Thonburi"/>
                <a:cs typeface="Thonburi"/>
              </a:rPr>
              <a:t>การตั้งค่า</a:t>
            </a:r>
            <a:r>
              <a:rPr sz="1050" b="0" dirty="0">
                <a:solidFill>
                  <a:srgbClr val="60708C"/>
                </a:solidFill>
                <a:latin typeface="Thonburi"/>
                <a:ea typeface="Thonburi"/>
                <a:cs typeface="Thonburi"/>
              </a:rPr>
              <a:t> </a:t>
            </a:r>
            <a:r>
              <a:rPr sz="1050" b="0" dirty="0" err="1">
                <a:solidFill>
                  <a:srgbClr val="60708C"/>
                </a:solidFill>
                <a:latin typeface="Thonburi"/>
                <a:ea typeface="Thonburi"/>
                <a:cs typeface="Thonburi"/>
              </a:rPr>
              <a:t>ส่วน</a:t>
            </a:r>
            <a:r>
              <a:rPr sz="1050" b="0" dirty="0">
                <a:solidFill>
                  <a:srgbClr val="60708C"/>
                </a:solidFill>
                <a:latin typeface="Thonburi"/>
                <a:ea typeface="Thonburi"/>
                <a:cs typeface="Thonburi"/>
              </a:rPr>
              <a:t> DBSCAN </a:t>
            </a:r>
            <a:r>
              <a:rPr sz="1050" b="0" dirty="0" err="1">
                <a:solidFill>
                  <a:srgbClr val="60708C"/>
                </a:solidFill>
                <a:latin typeface="Thonburi"/>
                <a:ea typeface="Thonburi"/>
                <a:cs typeface="Thonburi"/>
              </a:rPr>
              <a:t>ไม่กำหนด</a:t>
            </a:r>
            <a:r>
              <a:rPr sz="1050" b="0" dirty="0">
                <a:solidFill>
                  <a:srgbClr val="60708C"/>
                </a:solidFill>
                <a:latin typeface="Thonburi"/>
                <a:ea typeface="Thonburi"/>
                <a:cs typeface="Thonburi"/>
              </a:rPr>
              <a:t> k </a:t>
            </a:r>
            <a:r>
              <a:rPr sz="1050" b="0" dirty="0" err="1">
                <a:solidFill>
                  <a:srgbClr val="60708C"/>
                </a:solidFill>
                <a:latin typeface="Thonburi"/>
                <a:ea typeface="Thonburi"/>
                <a:cs typeface="Thonburi"/>
              </a:rPr>
              <a:t>แต่พบ</a:t>
            </a:r>
            <a:r>
              <a:rPr sz="1050" b="0" dirty="0">
                <a:solidFill>
                  <a:srgbClr val="60708C"/>
                </a:solidFill>
                <a:latin typeface="Thonburi"/>
                <a:ea typeface="Thonburi"/>
                <a:cs typeface="Thonburi"/>
              </a:rPr>
              <a:t> 15 </a:t>
            </a:r>
            <a:r>
              <a:rPr sz="1050" b="0" dirty="0" err="1">
                <a:solidFill>
                  <a:srgbClr val="60708C"/>
                </a:solidFill>
                <a:latin typeface="Thonburi"/>
                <a:ea typeface="Thonburi"/>
                <a:cs typeface="Thonburi"/>
              </a:rPr>
              <a:t>กลุ่มและ</a:t>
            </a:r>
            <a:r>
              <a:rPr sz="1050" b="0" dirty="0">
                <a:solidFill>
                  <a:srgbClr val="60708C"/>
                </a:solidFill>
                <a:latin typeface="Thonburi"/>
                <a:ea typeface="Thonburi"/>
                <a:cs typeface="Thonburi"/>
              </a:rPr>
              <a:t> Noise 29.9%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5298BE9-611F-28A6-E9E4-6125331946E4}"/>
              </a:ext>
            </a:extLst>
          </p:cNvPr>
          <p:cNvSpPr>
            <a:spLocks noGrp="1"/>
          </p:cNvSpPr>
          <p:nvPr/>
        </p:nvSpPr>
        <p:spPr>
          <a:xfrm>
            <a:off x="957438" y="5691187"/>
            <a:ext cx="10096500" cy="742950"/>
          </a:xfrm>
          <a:prstGeom prst="roundRect">
            <a:avLst>
              <a:gd name="adj" fmla="val 20513"/>
            </a:avLst>
          </a:prstGeom>
          <a:solidFill>
            <a:srgbClr val="F1ED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7B76F6-074B-26F1-CB43-3B635A1798DB}"/>
              </a:ext>
            </a:extLst>
          </p:cNvPr>
          <p:cNvSpPr>
            <a:spLocks noGrp="1"/>
          </p:cNvSpPr>
          <p:nvPr/>
        </p:nvSpPr>
        <p:spPr>
          <a:xfrm>
            <a:off x="1290813" y="5795962"/>
            <a:ext cx="942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buNone/>
              <a:defRPr sz="1275" b="1">
                <a:solidFill>
                  <a:srgbClr val="51458B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51458B"/>
                </a:solidFill>
                <a:latin typeface="Thonburi"/>
                <a:ea typeface="Thonburi"/>
                <a:cs typeface="Thonburi"/>
              </a:rPr>
              <a:t>คะแนนคำนวณจากตัวอย่างประเมิน 5,792 คน เพื่อควบคุมเวลาและเปรียบเทียบอย่างเท่าเทียม</a:t>
            </a:r>
          </a:p>
          <a:p>
            <a:pPr algn="ctr">
              <a:buNone/>
              <a:defRPr sz="1275" b="1">
                <a:solidFill>
                  <a:srgbClr val="51458B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51458B"/>
                </a:solidFill>
                <a:latin typeface="Thonburi"/>
                <a:ea typeface="Thonburi"/>
                <a:cs typeface="Thonburi"/>
              </a:rPr>
              <a:t>หลังเลือกและล็อกโมเดลแล้ว จึงฝึก K-Means จำนวน 4 กลุ่มกับนักศึกษาทั้งหมด 335,650 คน</a:t>
            </a:r>
          </a:p>
        </p:txBody>
      </p:sp>
      <p:graphicFrame>
        <p:nvGraphicFramePr>
          <p:cNvPr id="20" name="Table 19"/>
          <p:cNvGraphicFramePr/>
          <p:nvPr>
            <p:extLst>
              <p:ext uri="{D42A27DB-BD31-4B8C-83A1-F6EECF244321}">
                <p14:modId xmlns:p14="http://schemas.microsoft.com/office/powerpoint/2010/main" val="4130583566"/>
              </p:ext>
            </p:extLst>
          </p:nvPr>
        </p:nvGraphicFramePr>
        <p:xfrm>
          <a:off x="327374" y="1476375"/>
          <a:ext cx="11457051" cy="3848103"/>
        </p:xfrm>
        <a:graphic>
          <a:graphicData uri="http://schemas.openxmlformats.org/drawingml/2006/table">
            <a:tbl>
              <a:tblPr/>
              <a:tblGrid>
                <a:gridCol w="1918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9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1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77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98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91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9729"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กลุ่มวิธี / โมเดล</a:t>
                      </a:r>
                    </a:p>
                  </a:txBody>
                  <a:tcPr anchor="ctr">
                    <a:solidFill>
                      <a:srgbClr val="173B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จำนวนกลุ่ม</a:t>
                      </a:r>
                    </a:p>
                  </a:txBody>
                  <a:tcPr anchor="ctr">
                    <a:solidFill>
                      <a:srgbClr val="173B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Silhouette ↑</a:t>
                      </a:r>
                    </a:p>
                  </a:txBody>
                  <a:tcPr anchor="ctr">
                    <a:solidFill>
                      <a:srgbClr val="173B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Davies–Bouldin ↓</a:t>
                      </a:r>
                    </a:p>
                  </a:txBody>
                  <a:tcPr anchor="ctr">
                    <a:solidFill>
                      <a:srgbClr val="173B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chemeClr val="bg1"/>
                          </a:solidFill>
                          <a:latin typeface="Thonburi"/>
                          <a:ea typeface="Thonburi"/>
                          <a:cs typeface="Thonburi"/>
                        </a:rPr>
                        <a:t>Calinski–Harabasz ↑</a:t>
                      </a:r>
                    </a:p>
                  </a:txBody>
                  <a:tcPr anchor="ctr">
                    <a:solidFill>
                      <a:srgbClr val="173B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Thonburi"/>
                          <a:ea typeface="Thonburi"/>
                          <a:cs typeface="Thonburi"/>
                        </a:rPr>
                        <a:t>Resample ARI</a:t>
                      </a:r>
                      <a:r>
                        <a:rPr sz="1088" b="1" dirty="0">
                          <a:solidFill>
                            <a:schemeClr val="bg1"/>
                          </a:solidFill>
                          <a:latin typeface="Thonburi"/>
                          <a:ea typeface="Thonburi"/>
                          <a:cs typeface="Thonburi"/>
                        </a:rPr>
                        <a:t>↑</a:t>
                      </a:r>
                    </a:p>
                  </a:txBody>
                  <a:tcPr anchor="ctr">
                    <a:solidFill>
                      <a:srgbClr val="173B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Thonburi"/>
                          <a:ea typeface="Thonburi"/>
                          <a:cs typeface="Thonburi"/>
                        </a:rPr>
                        <a:t>Mean internal rank</a:t>
                      </a:r>
                      <a:r>
                        <a:rPr sz="1088" b="1" dirty="0">
                          <a:solidFill>
                            <a:schemeClr val="bg1"/>
                          </a:solidFill>
                          <a:latin typeface="Thonburi"/>
                          <a:ea typeface="Thonburi"/>
                          <a:cs typeface="Thonburi"/>
                        </a:rPr>
                        <a:t>↓</a:t>
                      </a:r>
                    </a:p>
                  </a:txBody>
                  <a:tcPr anchor="ctr">
                    <a:solidFill>
                      <a:srgbClr val="173B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729"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Agglomerative Ward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0.333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1.011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2,815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9729"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BIRCH</a:t>
                      </a:r>
                    </a:p>
                  </a:txBody>
                  <a:tcPr anchor="ctr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4</a:t>
                      </a:r>
                    </a:p>
                  </a:txBody>
                  <a:tcPr anchor="ctr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0.339</a:t>
                      </a:r>
                    </a:p>
                  </a:txBody>
                  <a:tcPr anchor="ctr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1.043</a:t>
                      </a:r>
                    </a:p>
                  </a:txBody>
                  <a:tcPr anchor="ctr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787</a:t>
                      </a:r>
                    </a:p>
                  </a:txBody>
                  <a:tcPr anchor="ctr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0.579</a:t>
                      </a:r>
                    </a:p>
                  </a:txBody>
                  <a:tcPr anchor="ctr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16.75</a:t>
                      </a:r>
                    </a:p>
                  </a:txBody>
                  <a:tcPr anchor="ctr">
                    <a:solidFill>
                      <a:srgbClr val="F1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9729"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Bisecting K-Means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0.322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1.127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2,834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0.912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12.25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9729"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DBSCAN</a:t>
                      </a:r>
                    </a:p>
                  </a:txBody>
                  <a:tcPr anchor="ctr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15</a:t>
                      </a:r>
                    </a:p>
                  </a:txBody>
                  <a:tcPr anchor="ctr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0.231</a:t>
                      </a:r>
                    </a:p>
                  </a:txBody>
                  <a:tcPr anchor="ctr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0.898</a:t>
                      </a:r>
                    </a:p>
                  </a:txBody>
                  <a:tcPr anchor="ctr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1,762</a:t>
                      </a:r>
                    </a:p>
                  </a:txBody>
                  <a:tcPr anchor="ctr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—</a:t>
                      </a:r>
                    </a:p>
                  </a:txBody>
                  <a:tcPr anchor="ctr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—</a:t>
                      </a:r>
                    </a:p>
                  </a:txBody>
                  <a:tcPr anchor="ctr">
                    <a:solidFill>
                      <a:srgbClr val="F1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9729"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Gaussian Mixture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0.377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1.015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2,804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0.918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7.75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9729"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K-Means</a:t>
                      </a:r>
                    </a:p>
                  </a:txBody>
                  <a:tcPr anchor="ctr">
                    <a:solidFill>
                      <a:srgbClr val="DE95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4</a:t>
                      </a:r>
                    </a:p>
                  </a:txBody>
                  <a:tcPr anchor="ctr">
                    <a:solidFill>
                      <a:srgbClr val="DE95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0.374</a:t>
                      </a:r>
                    </a:p>
                  </a:txBody>
                  <a:tcPr anchor="ctr">
                    <a:solidFill>
                      <a:srgbClr val="DE95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0.986</a:t>
                      </a:r>
                    </a:p>
                  </a:txBody>
                  <a:tcPr anchor="ctr">
                    <a:solidFill>
                      <a:srgbClr val="DE95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3,194</a:t>
                      </a:r>
                    </a:p>
                  </a:txBody>
                  <a:tcPr anchor="ctr">
                    <a:solidFill>
                      <a:srgbClr val="DE95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0.980</a:t>
                      </a:r>
                    </a:p>
                  </a:txBody>
                  <a:tcPr anchor="ctr">
                    <a:solidFill>
                      <a:srgbClr val="DE95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1" dirty="0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3</a:t>
                      </a:r>
                    </a:p>
                  </a:txBody>
                  <a:tcPr anchor="ctr">
                    <a:solidFill>
                      <a:srgbClr val="DE95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33380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4DF136-C332-4FFF-A76D-A3129B69AB38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975" b="0">
                <a:solidFill>
                  <a:srgbClr val="8190A8"/>
                </a:solidFill>
                <a:latin typeface="Thonburi"/>
                <a:ea typeface="Thonburi"/>
                <a:cs typeface="Thonburi"/>
              </a:defRPr>
            </a:pPr>
            <a:r>
              <a:rPr sz="975" b="0">
                <a:solidFill>
                  <a:srgbClr val="8190A8"/>
                </a:solidFill>
                <a:latin typeface="Thonburi"/>
                <a:ea typeface="Thonburi"/>
                <a:cs typeface="Thonburi"/>
              </a:rPr>
              <a:t>Student Segmentation · MOOC Dataset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B3E279-7082-4E9E-86FE-06AA0B331BA0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1050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lang="en-US" sz="1050" b="1" dirty="0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29</a:t>
            </a:r>
            <a:endParaRPr sz="1050" b="1" dirty="0">
              <a:solidFill>
                <a:srgbClr val="4F7CAC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8E66D32-264A-2523-129A-3745116B3D35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933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2850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2850" b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ขนาดและลักษณะของนักศึกษา 4 กลุ่ม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C66496D-3A67-2F77-645E-15F3F2E7D772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104900" cy="47625"/>
          </a:xfrm>
          <a:prstGeom prst="rect">
            <a:avLst/>
          </a:prstGeom>
          <a:solidFill>
            <a:srgbClr val="7566B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8887ED4-B767-E50C-6027-A4FE1580084B}"/>
              </a:ext>
            </a:extLst>
          </p:cNvPr>
          <p:cNvSpPr>
            <a:spLocks noGrp="1"/>
          </p:cNvSpPr>
          <p:nvPr/>
        </p:nvSpPr>
        <p:spPr>
          <a:xfrm>
            <a:off x="10287000" y="4572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1200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r>
              <a:rPr sz="1200" b="1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ผลลัพธ์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37D871C-6A72-8589-6A5F-844FF91A9556}"/>
              </a:ext>
            </a:extLst>
          </p:cNvPr>
          <p:cNvSpPr>
            <a:spLocks noGrp="1"/>
          </p:cNvSpPr>
          <p:nvPr/>
        </p:nvSpPr>
        <p:spPr>
          <a:xfrm>
            <a:off x="6334125" y="15240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575" b="1">
                <a:solidFill>
                  <a:srgbClr val="5F76C6"/>
                </a:solidFill>
                <a:latin typeface="Thonburi"/>
                <a:ea typeface="Thonburi"/>
                <a:cs typeface="Thonburi"/>
              </a:defRPr>
            </a:pPr>
            <a:r>
              <a:rPr sz="1575" b="1">
                <a:solidFill>
                  <a:srgbClr val="5F76C6"/>
                </a:solidFill>
                <a:latin typeface="Thonburi"/>
                <a:ea typeface="Thonburi"/>
                <a:cs typeface="Thonburi"/>
              </a:rPr>
              <a:t>Cluster 0 · 96,906 คน (28.87%)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5B01D76-85A2-F504-E6CE-FB26D43B0590}"/>
              </a:ext>
            </a:extLst>
          </p:cNvPr>
          <p:cNvSpPr>
            <a:spLocks noGrp="1"/>
          </p:cNvSpPr>
          <p:nvPr/>
        </p:nvSpPr>
        <p:spPr>
          <a:xfrm>
            <a:off x="6334125" y="1885950"/>
            <a:ext cx="4762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core behaviors ต่ำกว่าค่าเฉลี่ยทั้งหมด และ view rate ต่ำที่สุด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52075E5-BE82-8993-6428-195D311044F1}"/>
              </a:ext>
            </a:extLst>
          </p:cNvPr>
          <p:cNvSpPr>
            <a:spLocks noGrp="1"/>
          </p:cNvSpPr>
          <p:nvPr/>
        </p:nvSpPr>
        <p:spPr>
          <a:xfrm>
            <a:off x="6334125" y="2619375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575" b="1">
                <a:solidFill>
                  <a:srgbClr val="2B9BC1"/>
                </a:solidFill>
                <a:latin typeface="Thonburi"/>
                <a:ea typeface="Thonburi"/>
                <a:cs typeface="Thonburi"/>
              </a:defRPr>
            </a:pPr>
            <a:r>
              <a:rPr sz="1575" b="1">
                <a:solidFill>
                  <a:srgbClr val="2B9BC1"/>
                </a:solidFill>
                <a:latin typeface="Thonburi"/>
                <a:ea typeface="Thonburi"/>
                <a:cs typeface="Thonburi"/>
              </a:rPr>
              <a:t>Cluster 1 · 78,687 คน (23.44%)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C3E2907-6F1B-B20E-064F-71B41069F70F}"/>
              </a:ext>
            </a:extLst>
          </p:cNvPr>
          <p:cNvSpPr>
            <a:spLocks noGrp="1"/>
          </p:cNvSpPr>
          <p:nvPr/>
        </p:nvSpPr>
        <p:spPr>
          <a:xfrm>
            <a:off x="6334125" y="2981325"/>
            <a:ext cx="4762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active days และ activity volume สูง แต่ forum posts ต่ำ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2250207-4F0C-436F-2054-7A2C137D9A24}"/>
              </a:ext>
            </a:extLst>
          </p:cNvPr>
          <p:cNvSpPr>
            <a:spLocks noGrp="1"/>
          </p:cNvSpPr>
          <p:nvPr/>
        </p:nvSpPr>
        <p:spPr>
          <a:xfrm>
            <a:off x="6334125" y="37147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575" b="1">
                <a:solidFill>
                  <a:srgbClr val="7E6AE8"/>
                </a:solidFill>
                <a:latin typeface="Thonburi"/>
                <a:ea typeface="Thonburi"/>
                <a:cs typeface="Thonburi"/>
              </a:defRPr>
            </a:pPr>
            <a:r>
              <a:rPr sz="1575" b="1">
                <a:solidFill>
                  <a:srgbClr val="7E6AE8"/>
                </a:solidFill>
                <a:latin typeface="Thonburi"/>
                <a:ea typeface="Thonburi"/>
                <a:cs typeface="Thonburi"/>
              </a:rPr>
              <a:t>Cluster 2 · 154,822 คน (46.13%)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0A5FD55-BA9D-E6CA-966A-BB87F91483EF}"/>
              </a:ext>
            </a:extLst>
          </p:cNvPr>
          <p:cNvSpPr>
            <a:spLocks noGrp="1"/>
          </p:cNvSpPr>
          <p:nvPr/>
        </p:nvSpPr>
        <p:spPr>
          <a:xfrm>
            <a:off x="6334125" y="4076700"/>
            <a:ext cx="4762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view rate สูงกว่าเฉลี่ย แต่ active days ต่ำกว่าเฉลี่ย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D903054-A7BD-C3DF-909B-3B5F0F3BF24E}"/>
              </a:ext>
            </a:extLst>
          </p:cNvPr>
          <p:cNvSpPr>
            <a:spLocks noGrp="1"/>
          </p:cNvSpPr>
          <p:nvPr/>
        </p:nvSpPr>
        <p:spPr>
          <a:xfrm>
            <a:off x="6334125" y="4810125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575" b="1">
                <a:solidFill>
                  <a:srgbClr val="51458B"/>
                </a:solidFill>
                <a:latin typeface="Thonburi"/>
                <a:ea typeface="Thonburi"/>
                <a:cs typeface="Thonburi"/>
              </a:defRPr>
            </a:pPr>
            <a:r>
              <a:rPr sz="1575" b="1">
                <a:solidFill>
                  <a:srgbClr val="51458B"/>
                </a:solidFill>
                <a:latin typeface="Thonburi"/>
                <a:ea typeface="Thonburi"/>
                <a:cs typeface="Thonburi"/>
              </a:rPr>
              <a:t>Cluster 3 · 5,235 คน (1.56%)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80B1634-DC09-7E41-723A-B208088DA428}"/>
              </a:ext>
            </a:extLst>
          </p:cNvPr>
          <p:cNvSpPr>
            <a:spLocks noGrp="1"/>
          </p:cNvSpPr>
          <p:nvPr/>
        </p:nvSpPr>
        <p:spPr>
          <a:xfrm>
            <a:off x="6334125" y="5172075"/>
            <a:ext cx="4762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ทุก core behavior สูงกว่าเฉลี่ย โดย forum posts สูงที่สุด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DCC286C-78BA-4584-9031-E6FCDEE6BA62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275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สัดส่วนนักศึกษาในแต่ละกลุ่ม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AD22FCC-F094-4C1F-9B88-59E9FF200CCE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Cluster 0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FD3602F7-5034-47AA-931B-503BD60EB0FC}"/>
              </a:ext>
            </a:extLst>
          </p:cNvPr>
          <p:cNvSpPr>
            <a:spLocks noGrp="1"/>
          </p:cNvSpPr>
          <p:nvPr/>
        </p:nvSpPr>
        <p:spPr>
          <a:xfrm>
            <a:off x="1666875" y="1971675"/>
            <a:ext cx="3667125" cy="228600"/>
          </a:xfrm>
          <a:prstGeom prst="roundRect">
            <a:avLst>
              <a:gd name="adj" fmla="val 50000"/>
            </a:avLst>
          </a:prstGeom>
          <a:solidFill>
            <a:srgbClr val="EDF2F8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FE0C45E8-A8BB-46AB-9594-B73EACE0C797}"/>
              </a:ext>
            </a:extLst>
          </p:cNvPr>
          <p:cNvSpPr>
            <a:spLocks noGrp="1"/>
          </p:cNvSpPr>
          <p:nvPr/>
        </p:nvSpPr>
        <p:spPr>
          <a:xfrm>
            <a:off x="1666875" y="1971675"/>
            <a:ext cx="2117398" cy="228600"/>
          </a:xfrm>
          <a:prstGeom prst="roundRect">
            <a:avLst>
              <a:gd name="adj" fmla="val 50000"/>
            </a:avLst>
          </a:prstGeom>
          <a:solidFill>
            <a:srgbClr val="4F7CAC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62C677C-DB87-458A-8B40-54FBD38CF036}"/>
              </a:ext>
            </a:extLst>
          </p:cNvPr>
          <p:cNvSpPr>
            <a:spLocks noGrp="1"/>
          </p:cNvSpPr>
          <p:nvPr/>
        </p:nvSpPr>
        <p:spPr>
          <a:xfrm>
            <a:off x="5381625" y="19431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1200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sz="1200" b="1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28.87%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A5FEBB4-CFF7-432B-884C-11EF9B61F3F2}"/>
              </a:ext>
            </a:extLst>
          </p:cNvPr>
          <p:cNvSpPr>
            <a:spLocks noGrp="1"/>
          </p:cNvSpPr>
          <p:nvPr/>
        </p:nvSpPr>
        <p:spPr>
          <a:xfrm>
            <a:off x="685800" y="2790825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Cluster 1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6171D8F0-3360-4237-A428-D3D37C40AB36}"/>
              </a:ext>
            </a:extLst>
          </p:cNvPr>
          <p:cNvSpPr>
            <a:spLocks noGrp="1"/>
          </p:cNvSpPr>
          <p:nvPr/>
        </p:nvSpPr>
        <p:spPr>
          <a:xfrm>
            <a:off x="1666875" y="2809875"/>
            <a:ext cx="3667125" cy="228600"/>
          </a:xfrm>
          <a:prstGeom prst="roundRect">
            <a:avLst>
              <a:gd name="adj" fmla="val 50000"/>
            </a:avLst>
          </a:prstGeom>
          <a:solidFill>
            <a:srgbClr val="EDF2F8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E132AC7F-E7CD-4BFE-AFE3-2461FA80A650}"/>
              </a:ext>
            </a:extLst>
          </p:cNvPr>
          <p:cNvSpPr>
            <a:spLocks noGrp="1"/>
          </p:cNvSpPr>
          <p:nvPr/>
        </p:nvSpPr>
        <p:spPr>
          <a:xfrm>
            <a:off x="1666875" y="2809875"/>
            <a:ext cx="1719148" cy="228600"/>
          </a:xfrm>
          <a:prstGeom prst="roundRect">
            <a:avLst>
              <a:gd name="adj" fmla="val 50000"/>
            </a:avLst>
          </a:prstGeom>
          <a:solidFill>
            <a:srgbClr val="7566B7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CD81DBC-A570-4BD6-B00D-2EB044D248F2}"/>
              </a:ext>
            </a:extLst>
          </p:cNvPr>
          <p:cNvSpPr>
            <a:spLocks noGrp="1"/>
          </p:cNvSpPr>
          <p:nvPr/>
        </p:nvSpPr>
        <p:spPr>
          <a:xfrm>
            <a:off x="5381625" y="2781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1200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r>
              <a:rPr sz="1200" b="1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23.44%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7EAC052-C72C-4BB5-AC11-6177D2B621FE}"/>
              </a:ext>
            </a:extLst>
          </p:cNvPr>
          <p:cNvSpPr>
            <a:spLocks noGrp="1"/>
          </p:cNvSpPr>
          <p:nvPr/>
        </p:nvSpPr>
        <p:spPr>
          <a:xfrm>
            <a:off x="685800" y="3629025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Cluster 2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C8A94FB3-E91F-4012-8035-85EF938D73F2}"/>
              </a:ext>
            </a:extLst>
          </p:cNvPr>
          <p:cNvSpPr>
            <a:spLocks noGrp="1"/>
          </p:cNvSpPr>
          <p:nvPr/>
        </p:nvSpPr>
        <p:spPr>
          <a:xfrm>
            <a:off x="1666875" y="3648075"/>
            <a:ext cx="3667125" cy="228600"/>
          </a:xfrm>
          <a:prstGeom prst="roundRect">
            <a:avLst>
              <a:gd name="adj" fmla="val 50000"/>
            </a:avLst>
          </a:prstGeom>
          <a:solidFill>
            <a:srgbClr val="EDF2F8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682B57E1-2369-4B8F-BD4A-9F0858EA8B2F}"/>
              </a:ext>
            </a:extLst>
          </p:cNvPr>
          <p:cNvSpPr>
            <a:spLocks noGrp="1"/>
          </p:cNvSpPr>
          <p:nvPr/>
        </p:nvSpPr>
        <p:spPr>
          <a:xfrm>
            <a:off x="1666875" y="3648075"/>
            <a:ext cx="3383290" cy="228600"/>
          </a:xfrm>
          <a:prstGeom prst="roundRect">
            <a:avLst>
              <a:gd name="adj" fmla="val 50000"/>
            </a:avLst>
          </a:prstGeom>
          <a:solidFill>
            <a:srgbClr val="54C6EB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98F3879-CBED-495A-A791-E956B072D622}"/>
              </a:ext>
            </a:extLst>
          </p:cNvPr>
          <p:cNvSpPr>
            <a:spLocks noGrp="1"/>
          </p:cNvSpPr>
          <p:nvPr/>
        </p:nvSpPr>
        <p:spPr>
          <a:xfrm>
            <a:off x="5381625" y="36195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1200" b="1">
                <a:solidFill>
                  <a:srgbClr val="54C6EB"/>
                </a:solidFill>
                <a:latin typeface="Thonburi"/>
                <a:ea typeface="Thonburi"/>
                <a:cs typeface="Thonburi"/>
              </a:defRPr>
            </a:pPr>
            <a:r>
              <a:rPr sz="1200" b="1">
                <a:solidFill>
                  <a:srgbClr val="54C6EB"/>
                </a:solidFill>
                <a:latin typeface="Thonburi"/>
                <a:ea typeface="Thonburi"/>
                <a:cs typeface="Thonburi"/>
              </a:rPr>
              <a:t>46.13%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8261506-F9C4-4C73-B97A-E3AF2CD1FBD7}"/>
              </a:ext>
            </a:extLst>
          </p:cNvPr>
          <p:cNvSpPr>
            <a:spLocks noGrp="1"/>
          </p:cNvSpPr>
          <p:nvPr/>
        </p:nvSpPr>
        <p:spPr>
          <a:xfrm>
            <a:off x="685800" y="4467225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275" b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Cluster 3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905895B3-A862-49F6-81C8-73CB693A9230}"/>
              </a:ext>
            </a:extLst>
          </p:cNvPr>
          <p:cNvSpPr>
            <a:spLocks noGrp="1"/>
          </p:cNvSpPr>
          <p:nvPr/>
        </p:nvSpPr>
        <p:spPr>
          <a:xfrm>
            <a:off x="1666875" y="4486275"/>
            <a:ext cx="3667125" cy="228600"/>
          </a:xfrm>
          <a:prstGeom prst="roundRect">
            <a:avLst>
              <a:gd name="adj" fmla="val 50000"/>
            </a:avLst>
          </a:prstGeom>
          <a:solidFill>
            <a:srgbClr val="EDF2F8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EC50D90D-C11C-422F-AC38-8EECAD99E792}"/>
              </a:ext>
            </a:extLst>
          </p:cNvPr>
          <p:cNvSpPr>
            <a:spLocks noGrp="1"/>
          </p:cNvSpPr>
          <p:nvPr/>
        </p:nvSpPr>
        <p:spPr>
          <a:xfrm>
            <a:off x="1666875" y="4486275"/>
            <a:ext cx="133350" cy="228600"/>
          </a:xfrm>
          <a:prstGeom prst="roundRect">
            <a:avLst>
              <a:gd name="adj" fmla="val 50000"/>
            </a:avLst>
          </a:prstGeom>
          <a:solidFill>
            <a:srgbClr val="CF6B8B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3580F94-2A83-4184-8CFD-D26131429770}"/>
              </a:ext>
            </a:extLst>
          </p:cNvPr>
          <p:cNvSpPr>
            <a:spLocks noGrp="1"/>
          </p:cNvSpPr>
          <p:nvPr/>
        </p:nvSpPr>
        <p:spPr>
          <a:xfrm>
            <a:off x="5381625" y="44577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1200" b="1">
                <a:solidFill>
                  <a:srgbClr val="CF6B8B"/>
                </a:solidFill>
                <a:latin typeface="Thonburi"/>
                <a:ea typeface="Thonburi"/>
                <a:cs typeface="Thonburi"/>
              </a:defRPr>
            </a:pPr>
            <a:r>
              <a:rPr sz="1200" b="1">
                <a:solidFill>
                  <a:srgbClr val="CF6B8B"/>
                </a:solidFill>
                <a:latin typeface="Thonburi"/>
                <a:ea typeface="Thonburi"/>
                <a:cs typeface="Thonburi"/>
              </a:rPr>
              <a:t>1.56%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31F8062-2562-4D41-A91D-084C820F4C53}"/>
              </a:ext>
            </a:extLst>
          </p:cNvPr>
          <p:cNvSpPr>
            <a:spLocks noGrp="1"/>
          </p:cNvSpPr>
          <p:nvPr/>
        </p:nvSpPr>
        <p:spPr>
          <a:xfrm>
            <a:off x="1666875" y="5381625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975" b="0">
                <a:solidFill>
                  <a:srgbClr val="60708C"/>
                </a:solidFill>
                <a:latin typeface="Thonburi"/>
                <a:ea typeface="Thonburi"/>
                <a:cs typeface="Thonburi"/>
              </a:defRPr>
            </a:pPr>
            <a:r>
              <a:rPr sz="975" b="0">
                <a:solidFill>
                  <a:srgbClr val="60708C"/>
                </a:solidFill>
                <a:latin typeface="Thonburi"/>
                <a:ea typeface="Thonburi"/>
                <a:cs typeface="Thonburi"/>
              </a:rPr>
              <a:t>แท่งยาวแสดงสัดส่วนเทียบกับช่วง 0–50%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D195A0-2B72-01A0-4235-516B906B30BE}"/>
              </a:ext>
            </a:extLst>
          </p:cNvPr>
          <p:cNvSpPr txBox="1"/>
          <p:nvPr/>
        </p:nvSpPr>
        <p:spPr>
          <a:xfrm>
            <a:off x="619125" y="6186100"/>
            <a:ext cx="94796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H" sz="1200" dirty="0">
                <a:solidFill>
                  <a:schemeClr val="bg1">
                    <a:lumMod val="50000"/>
                  </a:schemeClr>
                </a:solidFill>
              </a:rPr>
              <a:t>*Cluster 0 — กลุ่มการมีส่วนร่วมค่อนข้างต่ำ Cluster 1 — กลุ่มทำกิจกรรมต่อเนื่อง Cluster 2 — กลุ่มรับชมเนื้อหาเป็นหลัก Cluster 3 — กลุ่มมีส่วนร่วมสูง</a:t>
            </a:r>
          </a:p>
        </p:txBody>
      </p:sp>
    </p:spTree>
    <p:extLst>
      <p:ext uri="{BB962C8B-B14F-4D97-AF65-F5344CB8AC3E}">
        <p14:creationId xmlns:p14="http://schemas.microsoft.com/office/powerpoint/2010/main" val="7744692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98D3473-4460-425E-93CD-A56520E9DA2D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933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2850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2850" b="1" dirty="0" err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การแบ่งกลุ่มและวิเคราะห์ความคลุมเครือ</a:t>
            </a:r>
            <a:endParaRPr sz="2850" b="1" dirty="0">
              <a:solidFill>
                <a:srgbClr val="173B6C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85BE47-BEA5-4CB7-A799-7BBCE661D090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104900" cy="47625"/>
          </a:xfrm>
          <a:prstGeom prst="rect">
            <a:avLst/>
          </a:prstGeom>
          <a:solidFill>
            <a:srgbClr val="7566B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574D2D-94D4-43BF-B28E-68822718E650}"/>
              </a:ext>
            </a:extLst>
          </p:cNvPr>
          <p:cNvSpPr>
            <a:spLocks noGrp="1"/>
          </p:cNvSpPr>
          <p:nvPr/>
        </p:nvSpPr>
        <p:spPr>
          <a:xfrm>
            <a:off x="10287000" y="4572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1200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r>
              <a:rPr sz="1200" b="1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ผลลัพธ์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2FCF13-D165-41FB-AFD7-420AE6679430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975" b="0">
                <a:solidFill>
                  <a:srgbClr val="8190A8"/>
                </a:solidFill>
                <a:latin typeface="Thonburi"/>
                <a:ea typeface="Thonburi"/>
                <a:cs typeface="Thonburi"/>
              </a:defRPr>
            </a:pPr>
            <a:r>
              <a:rPr sz="975" b="0">
                <a:solidFill>
                  <a:srgbClr val="8190A8"/>
                </a:solidFill>
                <a:latin typeface="Thonburi"/>
                <a:ea typeface="Thonburi"/>
                <a:cs typeface="Thonburi"/>
              </a:rPr>
              <a:t>Student Segmentation · MOOC Dataset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B1B9F0-25CC-4943-9199-0D7A937DA076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1050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sz="1050" b="1" dirty="0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3</a:t>
            </a:r>
            <a:r>
              <a:rPr lang="en-US" sz="1050" b="1" dirty="0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0</a:t>
            </a:r>
            <a:endParaRPr sz="1050" b="1" dirty="0">
              <a:solidFill>
                <a:srgbClr val="4F7CAC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C482AD-A134-4700-88CD-EDD47230BDE8}"/>
              </a:ext>
            </a:extLst>
          </p:cNvPr>
          <p:cNvSpPr>
            <a:spLocks noGrp="1"/>
          </p:cNvSpPr>
          <p:nvPr/>
        </p:nvSpPr>
        <p:spPr>
          <a:xfrm>
            <a:off x="7762875" y="1428750"/>
            <a:ext cx="19050" cy="4095750"/>
          </a:xfrm>
          <a:prstGeom prst="rect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53CDCA-08BF-4943-8B50-98C463568460}"/>
              </a:ext>
            </a:extLst>
          </p:cNvPr>
          <p:cNvSpPr>
            <a:spLocks noGrp="1"/>
          </p:cNvSpPr>
          <p:nvPr/>
        </p:nvSpPr>
        <p:spPr>
          <a:xfrm>
            <a:off x="8143875" y="1524000"/>
            <a:ext cx="3048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100" b="1">
                <a:solidFill>
                  <a:srgbClr val="51458B"/>
                </a:solidFill>
                <a:latin typeface="Thonburi"/>
                <a:ea typeface="Thonburi"/>
                <a:cs typeface="Thonburi"/>
              </a:defRPr>
            </a:pPr>
            <a:r>
              <a:rPr sz="2100" b="1">
                <a:solidFill>
                  <a:srgbClr val="51458B"/>
                </a:solidFill>
                <a:latin typeface="Thonburi"/>
                <a:ea typeface="Thonburi"/>
                <a:cs typeface="Thonburi"/>
              </a:rPr>
              <a:t>จุดที่ต้องระวัง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8A0762-2115-4182-9324-D90E4E0E48F8}"/>
              </a:ext>
            </a:extLst>
          </p:cNvPr>
          <p:cNvSpPr>
            <a:spLocks noGrp="1"/>
          </p:cNvSpPr>
          <p:nvPr/>
        </p:nvSpPr>
        <p:spPr>
          <a:xfrm>
            <a:off x="8143875" y="2286000"/>
            <a:ext cx="2762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3375" b="1">
                <a:solidFill>
                  <a:srgbClr val="CF6B8B"/>
                </a:solidFill>
                <a:latin typeface="Thonburi"/>
                <a:ea typeface="Thonburi"/>
                <a:cs typeface="Thonburi"/>
              </a:defRPr>
            </a:pPr>
            <a:r>
              <a:rPr sz="3375" b="1">
                <a:solidFill>
                  <a:srgbClr val="CF6B8B"/>
                </a:solidFill>
                <a:latin typeface="Thonburi"/>
                <a:ea typeface="Thonburi"/>
                <a:cs typeface="Thonburi"/>
              </a:rPr>
              <a:t>13.89%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1093A6-3532-4AFF-9131-5B84CDD6DE48}"/>
              </a:ext>
            </a:extLst>
          </p:cNvPr>
          <p:cNvSpPr>
            <a:spLocks noGrp="1"/>
          </p:cNvSpPr>
          <p:nvPr/>
        </p:nvSpPr>
        <p:spPr>
          <a:xfrm>
            <a:off x="8143874" y="2905125"/>
            <a:ext cx="32861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500" b="0" dirty="0" err="1">
                <a:latin typeface="Thonburi"/>
                <a:ea typeface="Thonburi"/>
                <a:cs typeface="Thonburi"/>
              </a:rPr>
              <a:t>สมาชิกกลุ่ม</a:t>
            </a:r>
            <a:r>
              <a:rPr sz="1500" b="0" dirty="0">
                <a:latin typeface="Thonburi"/>
                <a:ea typeface="Thonburi"/>
                <a:cs typeface="Thonburi"/>
              </a:rPr>
              <a:t> 1 </a:t>
            </a:r>
            <a:r>
              <a:rPr sz="1500" b="0" dirty="0" err="1">
                <a:latin typeface="Thonburi"/>
                <a:ea typeface="Thonburi"/>
                <a:cs typeface="Thonburi"/>
              </a:rPr>
              <a:t>มีค่า</a:t>
            </a:r>
            <a:r>
              <a:rPr sz="1500" b="0" dirty="0">
                <a:latin typeface="Thonburi"/>
                <a:ea typeface="Thonburi"/>
                <a:cs typeface="Thonburi"/>
              </a:rPr>
              <a:t> </a:t>
            </a:r>
            <a:r>
              <a:rPr lang="en-TH" sz="1600" dirty="0"/>
              <a:t>Negative Silhouette </a:t>
            </a:r>
            <a:r>
              <a:rPr sz="1500" b="0" dirty="0" err="1">
                <a:latin typeface="Thonburi"/>
                <a:ea typeface="Thonburi"/>
                <a:cs typeface="Thonburi"/>
              </a:rPr>
              <a:t>ในตัวอย่างประเมิน</a:t>
            </a:r>
            <a:endParaRPr sz="1500" b="0" dirty="0">
              <a:latin typeface="Thonburi"/>
              <a:ea typeface="Thonburi"/>
              <a:cs typeface="Thonbu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C66690-E082-44E2-B8F2-FD0B76685206}"/>
              </a:ext>
            </a:extLst>
          </p:cNvPr>
          <p:cNvSpPr>
            <a:spLocks noGrp="1"/>
          </p:cNvSpPr>
          <p:nvPr/>
        </p:nvSpPr>
        <p:spPr>
          <a:xfrm>
            <a:off x="8143875" y="3952875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575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sz="1575" b="1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ความหมาย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A90D2D-969B-4C53-8AFE-44539691B969}"/>
              </a:ext>
            </a:extLst>
          </p:cNvPr>
          <p:cNvSpPr>
            <a:spLocks noGrp="1"/>
          </p:cNvSpPr>
          <p:nvPr/>
        </p:nvSpPr>
        <p:spPr>
          <a:xfrm>
            <a:off x="8143874" y="4362450"/>
            <a:ext cx="3429001" cy="1895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buNone/>
              <a:defRPr sz="1425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425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การวิเคราะห์ข้อผิดพลาดของงานแบ่งกลุ่มตรวจความทับซ้อนและความไม่แน่นอน </a:t>
            </a:r>
            <a:r>
              <a:rPr sz="1425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นักศึกษาบางส่วนอยู่ใกล้ขอบเขตกลุ่มอื่น</a:t>
            </a:r>
            <a:endParaRPr lang="en-US" sz="1425" dirty="0">
              <a:solidFill>
                <a:srgbClr val="1C2B49"/>
              </a:solidFill>
              <a:latin typeface="Thonburi"/>
              <a:ea typeface="Thonburi"/>
              <a:cs typeface="Thonburi"/>
            </a:endParaRPr>
          </a:p>
          <a:p>
            <a:pPr>
              <a:buNone/>
              <a:defRPr sz="1425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425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 </a:t>
            </a:r>
            <a:r>
              <a:rPr sz="1425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จึงไม่ควรถือผลการจัดกลุ่มเป็นข้อเท็จจริงเด็ดขาด</a:t>
            </a:r>
            <a:endParaRPr sz="1425" dirty="0">
              <a:solidFill>
                <a:srgbClr val="1C2B49"/>
              </a:solidFill>
              <a:latin typeface="Thonburi"/>
              <a:ea typeface="Thonburi"/>
              <a:cs typeface="Thonburi"/>
            </a:endParaRPr>
          </a:p>
        </p:txBody>
      </p:sp>
      <p:pic>
        <p:nvPicPr>
          <p:cNvPr id="26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6839" y="1381125"/>
            <a:ext cx="6327321" cy="4429125"/>
          </a:xfrm>
          <a:prstGeom prst="roundRect">
            <a:avLst>
              <a:gd name="adj" fmla="val 2581"/>
            </a:avLst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16BB00F-D21F-840C-6143-AB44BB8987D9}"/>
              </a:ext>
            </a:extLst>
          </p:cNvPr>
          <p:cNvSpPr txBox="1"/>
          <p:nvPr/>
        </p:nvSpPr>
        <p:spPr>
          <a:xfrm>
            <a:off x="571500" y="6200001"/>
            <a:ext cx="10287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H" sz="1200" dirty="0">
                <a:solidFill>
                  <a:schemeClr val="bg1">
                    <a:lumMod val="50000"/>
                  </a:schemeClr>
                </a:solidFill>
              </a:rPr>
              <a:t>*Negative Silhouette หมายถึงนักศึกษาบางคนอยู่ใกล้ขอบเขตระหว่างกลุ่ม จึงอาจมีลักษณะคล้ายอีกกลุ่มหนึ่ง ผลการแบ่งกลุ่มควรใช้เพื่อดูแนวโน้มภาพรวม ไม่ควรใช้เป็นคำตัดสินรายบุคคลแบบเด็ดขาด</a:t>
            </a:r>
          </a:p>
        </p:txBody>
      </p:sp>
    </p:spTree>
    <p:extLst>
      <p:ext uri="{BB962C8B-B14F-4D97-AF65-F5344CB8AC3E}">
        <p14:creationId xmlns:p14="http://schemas.microsoft.com/office/powerpoint/2010/main" val="2804607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A49F43C-F090-4670-BBF2-314B754B2EBE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975" b="0">
                <a:solidFill>
                  <a:srgbClr val="8190A8"/>
                </a:solidFill>
                <a:latin typeface="Thonburi"/>
                <a:ea typeface="Thonburi"/>
                <a:cs typeface="Thonburi"/>
              </a:defRPr>
            </a:pPr>
            <a:r>
              <a:rPr sz="975" b="0">
                <a:solidFill>
                  <a:srgbClr val="8190A8"/>
                </a:solidFill>
                <a:latin typeface="Thonburi"/>
                <a:ea typeface="Thonburi"/>
                <a:cs typeface="Thonburi"/>
              </a:rPr>
              <a:t>Student Segmentation · MOOC Dataset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4414EF-8619-42A3-8AED-9A97B84FBAB2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1050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sz="1050" b="1" dirty="0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3</a:t>
            </a:r>
            <a:r>
              <a:rPr lang="en-US" sz="1050" b="1" dirty="0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1</a:t>
            </a:r>
            <a:endParaRPr sz="1050" b="1" dirty="0">
              <a:solidFill>
                <a:srgbClr val="4F7CAC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A757CA-7D53-E606-4A8F-373DB53C081B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9334500" cy="139621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lang="en-TH" sz="2550" b="1" dirty="0"/>
              <a:t>Pre-lock Review </a:t>
            </a:r>
            <a:r>
              <a:rPr lang="th-TH" sz="2550" b="1" dirty="0"/>
              <a:t>(</a:t>
            </a:r>
            <a:r>
              <a:rPr lang="en-TH" sz="2550" b="1" dirty="0"/>
              <a:t>ตรวจหลักฐานเหล่านี้ก่อนยืนยันโมเดลสุดท้าย</a:t>
            </a:r>
            <a:r>
              <a:rPr lang="th-TH" sz="2550" b="1" dirty="0"/>
              <a:t>)</a:t>
            </a:r>
            <a:endParaRPr sz="2550" b="1" dirty="0">
              <a:solidFill>
                <a:srgbClr val="173B6C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AE41D6-7F98-27CD-E069-1ADA36827A35}"/>
              </a:ext>
            </a:extLst>
          </p:cNvPr>
          <p:cNvSpPr>
            <a:spLocks noGrp="1"/>
          </p:cNvSpPr>
          <p:nvPr/>
        </p:nvSpPr>
        <p:spPr>
          <a:xfrm>
            <a:off x="609600" y="854449"/>
            <a:ext cx="1104900" cy="47625"/>
          </a:xfrm>
          <a:prstGeom prst="rect">
            <a:avLst/>
          </a:prstGeom>
          <a:solidFill>
            <a:srgbClr val="54C6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B6011F-CA3E-4781-243B-1090D6910479}"/>
              </a:ext>
            </a:extLst>
          </p:cNvPr>
          <p:cNvSpPr>
            <a:spLocks noGrp="1"/>
          </p:cNvSpPr>
          <p:nvPr/>
        </p:nvSpPr>
        <p:spPr>
          <a:xfrm>
            <a:off x="10287000" y="4572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buNone/>
              <a:defRPr sz="1200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r>
              <a:rPr sz="1200" b="1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ขั้นตอน 8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5229B97-3F59-FF6A-CF70-71E00CE3E0ED}"/>
              </a:ext>
            </a:extLst>
          </p:cNvPr>
          <p:cNvSpPr>
            <a:spLocks noGrp="1"/>
          </p:cNvSpPr>
          <p:nvPr/>
        </p:nvSpPr>
        <p:spPr>
          <a:xfrm>
            <a:off x="802901" y="4766462"/>
            <a:ext cx="5524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buNone/>
              <a:defRPr sz="1575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r>
              <a:rPr sz="1575" b="1" dirty="0" err="1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ตรวจให้ครบก่อนล็อกโมเดล</a:t>
            </a:r>
            <a:r>
              <a:rPr sz="1575" b="1" dirty="0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 </a:t>
            </a:r>
            <a:r>
              <a:rPr sz="1575" b="1" dirty="0" err="1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โดยไม่เปิดผลการเรียน</a:t>
            </a:r>
            <a:endParaRPr sz="1575" b="1" dirty="0">
              <a:solidFill>
                <a:srgbClr val="7566B7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74A24FA-8130-553A-B489-8C7E37B42EB6}"/>
              </a:ext>
            </a:extLst>
          </p:cNvPr>
          <p:cNvSpPr>
            <a:spLocks noGrp="1"/>
          </p:cNvSpPr>
          <p:nvPr/>
        </p:nvSpPr>
        <p:spPr>
          <a:xfrm>
            <a:off x="6860801" y="1388351"/>
            <a:ext cx="19050" cy="4095750"/>
          </a:xfrm>
          <a:prstGeom prst="rect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D24758D-7F0B-F0FD-4340-1ECE495494B0}"/>
              </a:ext>
            </a:extLst>
          </p:cNvPr>
          <p:cNvSpPr>
            <a:spLocks noGrp="1"/>
          </p:cNvSpPr>
          <p:nvPr/>
        </p:nvSpPr>
        <p:spPr>
          <a:xfrm>
            <a:off x="8096250" y="1007351"/>
            <a:ext cx="2038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025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2025" b="1" dirty="0" err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หลักฐานเพิ่มเติม</a:t>
            </a:r>
            <a:endParaRPr sz="2025" b="1" dirty="0">
              <a:solidFill>
                <a:srgbClr val="173B6C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3C61090-7A38-C3B1-1367-8CF2A0A31044}"/>
              </a:ext>
            </a:extLst>
          </p:cNvPr>
          <p:cNvSpPr>
            <a:spLocks noGrp="1"/>
          </p:cNvSpPr>
          <p:nvPr/>
        </p:nvSpPr>
        <p:spPr>
          <a:xfrm>
            <a:off x="7162800" y="1706616"/>
            <a:ext cx="5232026" cy="51846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500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sz="1400" b="1" dirty="0" err="1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ความสำคัญจากการสลับค่าตัวแป</a:t>
            </a:r>
            <a:r>
              <a:rPr lang="th-TH" sz="1400" b="1" dirty="0" err="1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ร</a:t>
            </a:r>
            <a:r>
              <a:rPr lang="th-TH" sz="1400" b="1" dirty="0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 </a:t>
            </a:r>
            <a:r>
              <a:rPr sz="1400" b="1" dirty="0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(Permutation Importance)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5E1BA44-EFC7-2FBF-ECC3-E13108C82518}"/>
              </a:ext>
            </a:extLst>
          </p:cNvPr>
          <p:cNvSpPr>
            <a:spLocks noGrp="1"/>
          </p:cNvSpPr>
          <p:nvPr/>
        </p:nvSpPr>
        <p:spPr>
          <a:xfrm>
            <a:off x="7288865" y="2076429"/>
            <a:ext cx="4305300" cy="5570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400" b="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อัตราการดูเนื้อหา</a:t>
            </a:r>
            <a:r>
              <a:rPr sz="1400" b="0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 (</a:t>
            </a:r>
            <a:r>
              <a:rPr sz="1400" b="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view_rate</a:t>
            </a:r>
            <a:r>
              <a:rPr sz="1400" b="0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) </a:t>
            </a:r>
            <a:r>
              <a:rPr sz="1400" b="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สำคัญที่สุด</a:t>
            </a:r>
            <a:r>
              <a:rPr sz="1400" b="0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 </a:t>
            </a:r>
            <a:r>
              <a:rPr sz="1400" b="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โดยค่า</a:t>
            </a:r>
            <a:r>
              <a:rPr sz="1400" b="0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 ARI </a:t>
            </a:r>
            <a:r>
              <a:rPr sz="1400" b="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ลดลงเฉลี่ย</a:t>
            </a:r>
            <a:r>
              <a:rPr sz="1400" b="0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 0.3636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76626F1-3B13-A274-E947-D1B95E5C1684}"/>
              </a:ext>
            </a:extLst>
          </p:cNvPr>
          <p:cNvSpPr>
            <a:spLocks noGrp="1"/>
          </p:cNvSpPr>
          <p:nvPr/>
        </p:nvSpPr>
        <p:spPr>
          <a:xfrm>
            <a:off x="7162800" y="2906246"/>
            <a:ext cx="4823012" cy="5570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500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r>
              <a:rPr sz="1400" b="1" dirty="0" err="1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การตัดกลุ่มตัวแปรออกเพื่อทดสอบ</a:t>
            </a:r>
            <a:r>
              <a:rPr sz="1400" b="1" dirty="0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(Feature-group Ablation)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5AC60F8-4852-1741-4692-F37F2F84AC91}"/>
              </a:ext>
            </a:extLst>
          </p:cNvPr>
          <p:cNvSpPr>
            <a:spLocks noGrp="1"/>
          </p:cNvSpPr>
          <p:nvPr/>
        </p:nvSpPr>
        <p:spPr>
          <a:xfrm>
            <a:off x="7295590" y="3284484"/>
            <a:ext cx="4557431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400" b="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เมื่อตัดกลุ่มตัวแปรปริมาณกิจกรรม</a:t>
            </a:r>
            <a:r>
              <a:rPr sz="1400" b="0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 </a:t>
            </a:r>
            <a:r>
              <a:rPr sz="1400" b="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ค่า</a:t>
            </a:r>
            <a:r>
              <a:rPr sz="1400" b="0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 ARI </a:t>
            </a:r>
            <a:r>
              <a:rPr sz="1400" b="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เหลือ</a:t>
            </a:r>
            <a:r>
              <a:rPr sz="1400" b="0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 0.5561 </a:t>
            </a:r>
            <a:r>
              <a:rPr sz="1400" b="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แสดงว่าโครงสร้างกลุ่มเปลี่ยนชัด</a:t>
            </a:r>
            <a:endParaRPr sz="1400" b="0" dirty="0">
              <a:solidFill>
                <a:srgbClr val="1C2B49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79B212A-4835-5EDD-F78D-067E97BEBA6F}"/>
              </a:ext>
            </a:extLst>
          </p:cNvPr>
          <p:cNvSpPr>
            <a:spLocks noGrp="1"/>
          </p:cNvSpPr>
          <p:nvPr/>
        </p:nvSpPr>
        <p:spPr>
          <a:xfrm>
            <a:off x="7162800" y="4144496"/>
            <a:ext cx="4557432" cy="3212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500" b="1">
                <a:solidFill>
                  <a:srgbClr val="51458B"/>
                </a:solidFill>
                <a:latin typeface="Thonburi"/>
                <a:ea typeface="Thonburi"/>
                <a:cs typeface="Thonburi"/>
              </a:defRPr>
            </a:pPr>
            <a:r>
              <a:rPr sz="1400" b="1" dirty="0" err="1">
                <a:solidFill>
                  <a:srgbClr val="51458B"/>
                </a:solidFill>
                <a:latin typeface="Thonburi"/>
                <a:ea typeface="Thonburi"/>
                <a:cs typeface="Thonburi"/>
              </a:rPr>
              <a:t>การตรวจความเป็นธรรม</a:t>
            </a:r>
            <a:r>
              <a:rPr lang="en-US" sz="1400" b="1" dirty="0">
                <a:solidFill>
                  <a:srgbClr val="51458B"/>
                </a:solidFill>
                <a:latin typeface="Thonburi"/>
                <a:ea typeface="Thonburi"/>
                <a:cs typeface="Thonburi"/>
              </a:rPr>
              <a:t> </a:t>
            </a:r>
            <a:r>
              <a:rPr sz="1400" b="1" dirty="0">
                <a:solidFill>
                  <a:srgbClr val="51458B"/>
                </a:solidFill>
                <a:latin typeface="Thonburi"/>
                <a:ea typeface="Thonburi"/>
                <a:cs typeface="Thonburi"/>
              </a:rPr>
              <a:t>(Fairness Diagnostics)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E92D9BE-C4E4-6226-D532-3F264047C653}"/>
              </a:ext>
            </a:extLst>
          </p:cNvPr>
          <p:cNvSpPr>
            <a:spLocks noGrp="1"/>
          </p:cNvSpPr>
          <p:nvPr/>
        </p:nvSpPr>
        <p:spPr>
          <a:xfrm>
            <a:off x="7307915" y="4565758"/>
            <a:ext cx="42672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400" b="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ไม่ใช้ข้อมูลประชากรศาสตร์สร้างกลุ่มความสัมพันธ์สูงสุดคือประเทศ</a:t>
            </a:r>
            <a:r>
              <a:rPr sz="1400" b="0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 (country) </a:t>
            </a:r>
            <a:r>
              <a:rPr sz="1400" b="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โดย</a:t>
            </a:r>
            <a:r>
              <a:rPr sz="1400" b="0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 Cramér’s V = 0.0812</a:t>
            </a:r>
          </a:p>
        </p:txBody>
      </p:sp>
      <p:pic>
        <p:nvPicPr>
          <p:cNvPr id="48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2401" y="1613008"/>
            <a:ext cx="5905500" cy="295275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0636096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B30D810-6E26-4AD8-B673-6F041751D7AB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933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2325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2325" b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ผลตรวจสอบภายหลังล็อกโมเดล (Post-hoc Validation)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7A17B5-2BE1-43BC-9F0B-199B6094E3D5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104900" cy="47625"/>
          </a:xfrm>
          <a:prstGeom prst="rect">
            <a:avLst/>
          </a:prstGeom>
          <a:solidFill>
            <a:srgbClr val="54C6EB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06B6AD-8994-4785-A0E0-D2AB3C490310}"/>
              </a:ext>
            </a:extLst>
          </p:cNvPr>
          <p:cNvSpPr>
            <a:spLocks noGrp="1"/>
          </p:cNvSpPr>
          <p:nvPr/>
        </p:nvSpPr>
        <p:spPr>
          <a:xfrm>
            <a:off x="9386047" y="457200"/>
            <a:ext cx="2139203" cy="2554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1200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r>
              <a:rPr lang="th-TH" sz="1200" b="1" dirty="0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ขั้นตอน </a:t>
            </a:r>
            <a:r>
              <a:rPr sz="1200" b="1" dirty="0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8 · </a:t>
            </a:r>
            <a:r>
              <a:rPr sz="1200" b="1" dirty="0" err="1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หลัง</a:t>
            </a:r>
            <a:r>
              <a:rPr sz="1200" b="1" dirty="0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 Model Lock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68A063-0C53-46A1-BE89-63B1A7F21873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10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51458B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51458B"/>
                </a:solidFill>
                <a:latin typeface="Thonburi"/>
                <a:ea typeface="Thonburi"/>
                <a:cs typeface="Thonburi"/>
              </a:rPr>
              <a:t>ผลการเรียนใช้ตรวจความเกี่ยวข้องของกลุ่มภายหลังเท่านั้น และไม่มีผลต่อ feature, sampling, tuning หรือการเลือกโมเดล</a:t>
            </a:r>
          </a:p>
        </p:txBody>
      </p:sp>
      <p:graphicFrame>
        <p:nvGraphicFramePr>
          <p:cNvPr id="19" name="Table 18"/>
          <p:cNvGraphicFramePr/>
          <p:nvPr/>
        </p:nvGraphicFramePr>
        <p:xfrm>
          <a:off x="666750" y="1762125"/>
          <a:ext cx="10858500" cy="2952750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ผลลัพธ์</a:t>
                      </a:r>
                    </a:p>
                  </a:txBody>
                  <a:tcPr anchor="ctr">
                    <a:solidFill>
                      <a:srgbClr val="173B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วิธีวัด</a:t>
                      </a:r>
                    </a:p>
                  </a:txBody>
                  <a:tcPr anchor="ctr">
                    <a:solidFill>
                      <a:srgbClr val="173B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ค่า Effect size</a:t>
                      </a:r>
                    </a:p>
                  </a:txBody>
                  <a:tcPr anchor="ctr">
                    <a:solidFill>
                      <a:srgbClr val="173B6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honburi"/>
                          <a:ea typeface="Thonburi"/>
                          <a:cs typeface="Thonburi"/>
                        </a:rPr>
                        <a:t>การใช้ผล</a:t>
                      </a:r>
                    </a:p>
                  </a:txBody>
                  <a:tcPr anchor="ctr">
                    <a:solidFill>
                      <a:srgbClr val="173B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Any certified</a:t>
                      </a:r>
                    </a:p>
                  </a:txBody>
                  <a:tcPr anchor="ctr">
                    <a:solidFill>
                      <a:srgbClr val="EA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Cramér’s 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0.3575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บรรยายความแตกต่างระหว่างกลุ่ม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Any explored</a:t>
                      </a:r>
                    </a:p>
                  </a:txBody>
                  <a:tcPr anchor="ctr">
                    <a:solidFill>
                      <a:srgbClr val="EA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Cramér’s 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0.4884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บรรยายความแตกต่างระหว่างกลุ่ม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Certification rate</a:t>
                      </a:r>
                    </a:p>
                  </a:txBody>
                  <a:tcPr anchor="ctr">
                    <a:solidFill>
                      <a:srgbClr val="EA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Epsilon-squared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0.1277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ใช้ตรวจภายหลัง ไม่ย้อนกลับไปปรับโมเดล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Mean grade</a:t>
                      </a:r>
                    </a:p>
                  </a:txBody>
                  <a:tcPr anchor="ctr">
                    <a:solidFill>
                      <a:srgbClr val="EA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Epsilon-squared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0.3790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ใช้ตรวจภายหลัง ไม่ตีความเป็นเหตุและผล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Incomplete rate</a:t>
                      </a:r>
                    </a:p>
                  </a:txBody>
                  <a:tcPr anchor="ctr">
                    <a:solidFill>
                      <a:srgbClr val="EA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Epsilon-squared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0.0334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63">
                          <a:solidFill>
                            <a:srgbClr val="1C2B49"/>
                          </a:solidFill>
                          <a:latin typeface="Thonburi"/>
                          <a:ea typeface="Thonburi"/>
                          <a:cs typeface="Thonburi"/>
                        </a:rPr>
                        <a:t>รายงานพร้อมข้อจำกัด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B1CA3F4-F040-4C86-82C9-5CEF939FCA7D}"/>
              </a:ext>
            </a:extLst>
          </p:cNvPr>
          <p:cNvSpPr>
            <a:spLocks noGrp="1"/>
          </p:cNvSpPr>
          <p:nvPr/>
        </p:nvSpPr>
        <p:spPr>
          <a:xfrm>
            <a:off x="857250" y="5362575"/>
            <a:ext cx="4953000" cy="514350"/>
          </a:xfrm>
          <a:prstGeom prst="roundRect">
            <a:avLst>
              <a:gd name="adj" fmla="val 13636"/>
            </a:avLst>
          </a:prstGeom>
          <a:solidFill>
            <a:srgbClr val="EAF5FF"/>
          </a:solidFill>
          <a:ln w="9525">
            <a:solidFill>
              <a:srgbClr val="54C6EB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345F25-B7D5-4C92-A0FD-C7303F77356A}"/>
              </a:ext>
            </a:extLst>
          </p:cNvPr>
          <p:cNvSpPr>
            <a:spLocks noGrp="1"/>
          </p:cNvSpPr>
          <p:nvPr/>
        </p:nvSpPr>
        <p:spPr>
          <a:xfrm>
            <a:off x="1095375" y="55245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4167" lnSpcReduction="20000"/>
          </a:bodyPr>
          <a:lstStyle/>
          <a:p>
            <a:pPr algn="l">
              <a:defRPr sz="1500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sz="1500" b="1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Cluster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48D9E0-2E7B-42EA-8897-E8194F59102F}"/>
              </a:ext>
            </a:extLst>
          </p:cNvPr>
          <p:cNvSpPr>
            <a:spLocks noGrp="1"/>
          </p:cNvSpPr>
          <p:nvPr/>
        </p:nvSpPr>
        <p:spPr>
          <a:xfrm>
            <a:off x="2238375" y="55054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explored 32.91% · certified 16.10%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A0F8BB5-F23C-423C-A392-F0484B1E29AB}"/>
              </a:ext>
            </a:extLst>
          </p:cNvPr>
          <p:cNvSpPr>
            <a:spLocks noGrp="1"/>
          </p:cNvSpPr>
          <p:nvPr/>
        </p:nvSpPr>
        <p:spPr>
          <a:xfrm>
            <a:off x="6381750" y="5362575"/>
            <a:ext cx="4953000" cy="514350"/>
          </a:xfrm>
          <a:prstGeom prst="roundRect">
            <a:avLst>
              <a:gd name="adj" fmla="val 13636"/>
            </a:avLst>
          </a:prstGeom>
          <a:solidFill>
            <a:srgbClr val="F1EDFF"/>
          </a:solidFill>
          <a:ln w="9525">
            <a:solidFill>
              <a:srgbClr val="7566B7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6301B5-EEE5-49F3-91C0-D03AB4FBBE33}"/>
              </a:ext>
            </a:extLst>
          </p:cNvPr>
          <p:cNvSpPr>
            <a:spLocks noGrp="1"/>
          </p:cNvSpPr>
          <p:nvPr/>
        </p:nvSpPr>
        <p:spPr>
          <a:xfrm>
            <a:off x="6619875" y="55245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4167" lnSpcReduction="20000"/>
          </a:bodyPr>
          <a:lstStyle/>
          <a:p>
            <a:pPr algn="l">
              <a:defRPr sz="1500" b="1">
                <a:solidFill>
                  <a:srgbClr val="51458B"/>
                </a:solidFill>
                <a:latin typeface="Thonburi"/>
                <a:ea typeface="Thonburi"/>
                <a:cs typeface="Thonburi"/>
              </a:defRPr>
            </a:pPr>
            <a:r>
              <a:rPr sz="1500" b="1">
                <a:solidFill>
                  <a:srgbClr val="51458B"/>
                </a:solidFill>
                <a:latin typeface="Thonburi"/>
                <a:ea typeface="Thonburi"/>
                <a:cs typeface="Thonburi"/>
              </a:rPr>
              <a:t>Cluster 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231ED0-47EC-49E8-A3E4-36B47B62136C}"/>
              </a:ext>
            </a:extLst>
          </p:cNvPr>
          <p:cNvSpPr>
            <a:spLocks noGrp="1"/>
          </p:cNvSpPr>
          <p:nvPr/>
        </p:nvSpPr>
        <p:spPr>
          <a:xfrm>
            <a:off x="7762875" y="55054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35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explored 33.43% · certified 21.15%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C28DCE-158A-488D-BEBA-9A5AC207586E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975" b="0">
                <a:solidFill>
                  <a:srgbClr val="8190A8"/>
                </a:solidFill>
                <a:latin typeface="Thonburi"/>
                <a:ea typeface="Thonburi"/>
                <a:cs typeface="Thonburi"/>
              </a:defRPr>
            </a:pPr>
            <a:r>
              <a:rPr sz="975" b="0">
                <a:solidFill>
                  <a:srgbClr val="8190A8"/>
                </a:solidFill>
                <a:latin typeface="Thonburi"/>
                <a:ea typeface="Thonburi"/>
                <a:cs typeface="Thonburi"/>
              </a:rPr>
              <a:t>Student Segmentation · MOOC Dataset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DE2935-845C-4B5A-9504-66D1E68B6D5D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defRPr sz="1050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sz="1050" b="1" dirty="0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3</a:t>
            </a:r>
            <a:r>
              <a:rPr lang="en-US" sz="1050" b="1" dirty="0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2</a:t>
            </a:r>
            <a:endParaRPr sz="1050" b="1" dirty="0">
              <a:solidFill>
                <a:srgbClr val="4F7CAC"/>
              </a:solidFill>
              <a:latin typeface="Thonburi"/>
              <a:ea typeface="Thonburi"/>
              <a:cs typeface="Thonburi"/>
            </a:endParaRPr>
          </a:p>
        </p:txBody>
      </p:sp>
    </p:spTree>
    <p:extLst>
      <p:ext uri="{BB962C8B-B14F-4D97-AF65-F5344CB8AC3E}">
        <p14:creationId xmlns:p14="http://schemas.microsoft.com/office/powerpoint/2010/main" val="1763320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A25BC5EC-03C8-4626-9D9C-D62AB73E1CA1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933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buNone/>
              <a:defRPr sz="2550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2550" b="1" dirty="0" err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การนำไปใช้งาน</a:t>
            </a:r>
            <a:r>
              <a:rPr sz="2550" b="1" dirty="0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 </a:t>
            </a:r>
            <a:r>
              <a:rPr sz="2550" b="1" dirty="0" err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รายงานผล</a:t>
            </a:r>
            <a:r>
              <a:rPr sz="2550" b="1" dirty="0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 </a:t>
            </a:r>
            <a:r>
              <a:rPr sz="2550" b="1" dirty="0" err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และติดตาม</a:t>
            </a:r>
            <a:endParaRPr sz="2550" b="1" dirty="0">
              <a:solidFill>
                <a:srgbClr val="173B6C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495B32-ECB2-4FF5-ADE7-68E36555EE74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1104900" cy="47625"/>
          </a:xfrm>
          <a:prstGeom prst="rect">
            <a:avLst/>
          </a:prstGeom>
          <a:solidFill>
            <a:srgbClr val="54C6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02DAF8-9F26-4B65-B9E1-FE467C81278B}"/>
              </a:ext>
            </a:extLst>
          </p:cNvPr>
          <p:cNvSpPr>
            <a:spLocks noGrp="1"/>
          </p:cNvSpPr>
          <p:nvPr/>
        </p:nvSpPr>
        <p:spPr>
          <a:xfrm>
            <a:off x="10287000" y="4572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buNone/>
              <a:defRPr sz="1200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r>
              <a:rPr sz="1200" b="1">
                <a:solidFill>
                  <a:srgbClr val="7566B7"/>
                </a:solidFill>
                <a:latin typeface="Thonburi"/>
                <a:ea typeface="Thonburi"/>
                <a:cs typeface="Thonburi"/>
              </a:rPr>
              <a:t>ขั้นตอน 9–11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3F00EB-02BC-4575-893B-C5A0631714F0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4762" lnSpcReduction="20000"/>
          </a:bodyPr>
          <a:lstStyle/>
          <a:p>
            <a:pPr algn="r">
              <a:buNone/>
              <a:defRPr sz="1050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sz="1050" b="1" dirty="0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3</a:t>
            </a:r>
            <a:r>
              <a:rPr lang="en-US" sz="1050" b="1" dirty="0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3</a:t>
            </a:r>
            <a:endParaRPr sz="1050" b="1" dirty="0">
              <a:solidFill>
                <a:srgbClr val="4F7CAC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9103F34-3152-4F6A-84CC-BAFE21474CE4}"/>
              </a:ext>
            </a:extLst>
          </p:cNvPr>
          <p:cNvSpPr>
            <a:spLocks noGrp="1"/>
          </p:cNvSpPr>
          <p:nvPr/>
        </p:nvSpPr>
        <p:spPr>
          <a:xfrm>
            <a:off x="428625" y="1222003"/>
            <a:ext cx="1905000" cy="742950"/>
          </a:xfrm>
          <a:prstGeom prst="roundRect">
            <a:avLst>
              <a:gd name="adj" fmla="val 15385"/>
            </a:avLst>
          </a:prstGeom>
          <a:solidFill>
            <a:srgbClr val="EAF5FF"/>
          </a:solidFill>
          <a:ln w="19050">
            <a:solidFill>
              <a:srgbClr val="4F7CA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CDDD2A-0C6D-452B-8781-FFF11A41CD02}"/>
              </a:ext>
            </a:extLst>
          </p:cNvPr>
          <p:cNvSpPr>
            <a:spLocks noGrp="1"/>
          </p:cNvSpPr>
          <p:nvPr/>
        </p:nvSpPr>
        <p:spPr>
          <a:xfrm>
            <a:off x="542925" y="1431553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350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350" b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ข้อมูลนักศึกษาใหม่</a:t>
            </a:r>
          </a:p>
        </p:txBody>
      </p:sp>
      <p:sp>
        <p:nvSpPr>
          <p:cNvPr id="8" name="Chevron 7">
            <a:extLst>
              <a:ext uri="{FF2B5EF4-FFF2-40B4-BE49-F238E27FC236}">
                <a16:creationId xmlns:a16="http://schemas.microsoft.com/office/drawing/2014/main" id="{E8824EB6-87AF-43B1-BC51-E644F8D42E2F}"/>
              </a:ext>
            </a:extLst>
          </p:cNvPr>
          <p:cNvSpPr>
            <a:spLocks noGrp="1"/>
          </p:cNvSpPr>
          <p:nvPr/>
        </p:nvSpPr>
        <p:spPr>
          <a:xfrm>
            <a:off x="2400300" y="1422028"/>
            <a:ext cx="266700" cy="342900"/>
          </a:xfrm>
          <a:prstGeom prst="chevron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85AA3BC-B3DE-4C1B-A311-5F27FB4A4978}"/>
              </a:ext>
            </a:extLst>
          </p:cNvPr>
          <p:cNvSpPr>
            <a:spLocks noGrp="1"/>
          </p:cNvSpPr>
          <p:nvPr/>
        </p:nvSpPr>
        <p:spPr>
          <a:xfrm>
            <a:off x="2762250" y="1222003"/>
            <a:ext cx="1905000" cy="742950"/>
          </a:xfrm>
          <a:prstGeom prst="roundRect">
            <a:avLst>
              <a:gd name="adj" fmla="val 15385"/>
            </a:avLst>
          </a:prstGeom>
          <a:solidFill>
            <a:srgbClr val="F1EDFF"/>
          </a:solidFill>
          <a:ln w="19050">
            <a:solidFill>
              <a:srgbClr val="7566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Chevron 10">
            <a:extLst>
              <a:ext uri="{FF2B5EF4-FFF2-40B4-BE49-F238E27FC236}">
                <a16:creationId xmlns:a16="http://schemas.microsoft.com/office/drawing/2014/main" id="{64099C9D-FC98-4B8A-BCE1-4374C5EDCCEC}"/>
              </a:ext>
            </a:extLst>
          </p:cNvPr>
          <p:cNvSpPr>
            <a:spLocks noGrp="1"/>
          </p:cNvSpPr>
          <p:nvPr/>
        </p:nvSpPr>
        <p:spPr>
          <a:xfrm>
            <a:off x="4733925" y="1422028"/>
            <a:ext cx="266700" cy="342900"/>
          </a:xfrm>
          <a:prstGeom prst="chevron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8842D45-7E33-47E4-BDC8-482DB64EE6DB}"/>
              </a:ext>
            </a:extLst>
          </p:cNvPr>
          <p:cNvSpPr>
            <a:spLocks noGrp="1"/>
          </p:cNvSpPr>
          <p:nvPr/>
        </p:nvSpPr>
        <p:spPr>
          <a:xfrm>
            <a:off x="5095875" y="1222003"/>
            <a:ext cx="1905000" cy="742950"/>
          </a:xfrm>
          <a:prstGeom prst="roundRect">
            <a:avLst>
              <a:gd name="adj" fmla="val 15385"/>
            </a:avLst>
          </a:prstGeom>
          <a:solidFill>
            <a:srgbClr val="EAF5FF"/>
          </a:solidFill>
          <a:ln w="19050">
            <a:solidFill>
              <a:srgbClr val="54C6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Chevron 13">
            <a:extLst>
              <a:ext uri="{FF2B5EF4-FFF2-40B4-BE49-F238E27FC236}">
                <a16:creationId xmlns:a16="http://schemas.microsoft.com/office/drawing/2014/main" id="{C7DD8836-BE60-4AA0-80C2-D0F33937BAFC}"/>
              </a:ext>
            </a:extLst>
          </p:cNvPr>
          <p:cNvSpPr>
            <a:spLocks noGrp="1"/>
          </p:cNvSpPr>
          <p:nvPr/>
        </p:nvSpPr>
        <p:spPr>
          <a:xfrm>
            <a:off x="7067550" y="1422028"/>
            <a:ext cx="266700" cy="342900"/>
          </a:xfrm>
          <a:prstGeom prst="chevron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A8B30A6-10BF-46A9-AF35-C34A1AA1238C}"/>
              </a:ext>
            </a:extLst>
          </p:cNvPr>
          <p:cNvSpPr>
            <a:spLocks noGrp="1"/>
          </p:cNvSpPr>
          <p:nvPr/>
        </p:nvSpPr>
        <p:spPr>
          <a:xfrm>
            <a:off x="7429500" y="1222003"/>
            <a:ext cx="1905000" cy="742950"/>
          </a:xfrm>
          <a:prstGeom prst="roundRect">
            <a:avLst>
              <a:gd name="adj" fmla="val 15385"/>
            </a:avLst>
          </a:prstGeom>
          <a:solidFill>
            <a:srgbClr val="F1EDFF"/>
          </a:solidFill>
          <a:ln w="19050">
            <a:solidFill>
              <a:srgbClr val="5145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9CB882-D843-4DE5-8211-E36B4E0D0DF8}"/>
              </a:ext>
            </a:extLst>
          </p:cNvPr>
          <p:cNvSpPr>
            <a:spLocks noGrp="1"/>
          </p:cNvSpPr>
          <p:nvPr/>
        </p:nvSpPr>
        <p:spPr>
          <a:xfrm>
            <a:off x="7543800" y="1323478"/>
            <a:ext cx="1676400" cy="53594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350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lang="en-TH" sz="1350" b="1" dirty="0"/>
              <a:t>K-Means </a:t>
            </a:r>
            <a:endParaRPr lang="th-TH" sz="1350" b="1" dirty="0"/>
          </a:p>
          <a:p>
            <a:pPr algn="ctr">
              <a:buNone/>
              <a:defRPr sz="1350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lang="en-TH" sz="1350" b="1" dirty="0"/>
              <a:t>ที่ยืนยันแล้ว</a:t>
            </a:r>
            <a:endParaRPr sz="1350" b="1" dirty="0">
              <a:solidFill>
                <a:srgbClr val="1C2B49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17" name="Chevron 16">
            <a:extLst>
              <a:ext uri="{FF2B5EF4-FFF2-40B4-BE49-F238E27FC236}">
                <a16:creationId xmlns:a16="http://schemas.microsoft.com/office/drawing/2014/main" id="{FB616C0F-C128-4A72-AA06-551E4B8F0042}"/>
              </a:ext>
            </a:extLst>
          </p:cNvPr>
          <p:cNvSpPr>
            <a:spLocks noGrp="1"/>
          </p:cNvSpPr>
          <p:nvPr/>
        </p:nvSpPr>
        <p:spPr>
          <a:xfrm>
            <a:off x="9401175" y="1422028"/>
            <a:ext cx="266700" cy="342900"/>
          </a:xfrm>
          <a:prstGeom prst="chevron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3E93166-7E08-4D60-847A-527C2EA8375D}"/>
              </a:ext>
            </a:extLst>
          </p:cNvPr>
          <p:cNvSpPr>
            <a:spLocks noGrp="1"/>
          </p:cNvSpPr>
          <p:nvPr/>
        </p:nvSpPr>
        <p:spPr>
          <a:xfrm>
            <a:off x="9763125" y="1222003"/>
            <a:ext cx="1905000" cy="742950"/>
          </a:xfrm>
          <a:prstGeom prst="roundRect">
            <a:avLst>
              <a:gd name="adj" fmla="val 15385"/>
            </a:avLst>
          </a:prstGeom>
          <a:solidFill>
            <a:srgbClr val="EAF5FF"/>
          </a:solidFill>
          <a:ln w="19050">
            <a:solidFill>
              <a:srgbClr val="4B9C8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81DDE07-A13F-F288-3CFC-2B20DA5C26F0}"/>
              </a:ext>
            </a:extLst>
          </p:cNvPr>
          <p:cNvSpPr>
            <a:spLocks noGrp="1"/>
          </p:cNvSpPr>
          <p:nvPr/>
        </p:nvSpPr>
        <p:spPr>
          <a:xfrm>
            <a:off x="2608169" y="2573332"/>
            <a:ext cx="8953500" cy="57078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lang="en-TH" sz="1400" dirty="0"/>
              <a:t>รวมขั้นตอนเตรียมข้อมูลและโมเดลไว้ในกระบวนการเดียวกัน ตรวจสอบค่าสูญหาย ชนิดข้อมูล ช่วงค่า นักศึกษาซ้ำ </a:t>
            </a:r>
          </a:p>
          <a:p>
            <a:pPr>
              <a:defRPr sz="1425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lang="en-TH" sz="1400" dirty="0"/>
              <a:t>และป้องกันข้อมูลผลลัพธ์รั่วไหลเข้าสู่โมเดล</a:t>
            </a:r>
            <a:endParaRPr sz="1400" b="0" dirty="0">
              <a:solidFill>
                <a:srgbClr val="1C2B49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D0AB7E6-02B1-48A6-F1E2-7D1B38199F69}"/>
              </a:ext>
            </a:extLst>
          </p:cNvPr>
          <p:cNvSpPr>
            <a:spLocks noGrp="1"/>
          </p:cNvSpPr>
          <p:nvPr/>
        </p:nvSpPr>
        <p:spPr>
          <a:xfrm>
            <a:off x="2581162" y="3524964"/>
            <a:ext cx="9140191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r>
              <a:rPr lang="en-TH" sz="1400" dirty="0">
                <a:latin typeface="Thonburi" pitchFamily="2" charset="-34"/>
                <a:cs typeface="Thonburi" pitchFamily="2" charset="-34"/>
              </a:rPr>
              <a:t>สร้างรายงาน HTML จากไฟล์ผลลัพธ์จริงของระบบ แสดงขั้นตอนการทำงาน การสำรวจข้อมูล การเปรียบเทียบโมเดล ลักษณะของแต่ละกลุ่ม และข้อจำกัดของผลการวิเคราะห์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709E07E-ABD6-F1DC-200E-9EB203829D13}"/>
              </a:ext>
            </a:extLst>
          </p:cNvPr>
          <p:cNvSpPr>
            <a:spLocks noGrp="1"/>
          </p:cNvSpPr>
          <p:nvPr/>
        </p:nvSpPr>
        <p:spPr>
          <a:xfrm>
            <a:off x="2668121" y="4438958"/>
            <a:ext cx="84772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r>
              <a:rPr lang="en-TH" sz="1400" dirty="0">
                <a:latin typeface="Thonburi" pitchFamily="2" charset="-34"/>
                <a:cs typeface="Thonburi" pitchFamily="2" charset="-34"/>
              </a:rPr>
              <a:t>ค่าฐานจากข้อมูลฝึก: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TH" sz="1400" dirty="0">
                <a:latin typeface="Thonburi" pitchFamily="2" charset="-34"/>
                <a:cs typeface="Thonburi" pitchFamily="2" charset="-34"/>
              </a:rPr>
              <a:t>ความไม่แน่นอนของการกำหนดกลุ่ม = 0.505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TH" sz="1400" dirty="0">
                <a:latin typeface="Thonburi" pitchFamily="2" charset="-34"/>
                <a:cs typeface="Thonburi" pitchFamily="2" charset="-34"/>
              </a:rPr>
              <a:t>สัดส่วนข้อมูลผิดปกติ = 1.00%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TH" sz="1400" dirty="0">
                <a:latin typeface="Thonburi" pitchFamily="2" charset="-34"/>
                <a:cs typeface="Thonburi" pitchFamily="2" charset="-34"/>
              </a:rPr>
              <a:t>ความคงที่เมื่อฝึกโมเดลใหม่ = 0.961 ARI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TH" sz="1400" dirty="0">
                <a:latin typeface="Thonburi" pitchFamily="2" charset="-34"/>
                <a:cs typeface="Thonburi" pitchFamily="2" charset="-34"/>
              </a:rPr>
              <a:t>สถานะ not_evaluated เพราะยังไม่มีข้อมูลนักศึกษารุ่นใหม่สำหรับเปรียบเทียบ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DC56C0B-A6B3-5D6C-13B0-60ADAD127748}"/>
              </a:ext>
            </a:extLst>
          </p:cNvPr>
          <p:cNvSpPr>
            <a:spLocks noGrp="1"/>
          </p:cNvSpPr>
          <p:nvPr/>
        </p:nvSpPr>
        <p:spPr>
          <a:xfrm>
            <a:off x="2843213" y="1338207"/>
            <a:ext cx="1676400" cy="54471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350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lang="en-TH" sz="1350" b="1" dirty="0"/>
              <a:t>ตรวจสอบโครงสร้างข้อมู</a:t>
            </a:r>
            <a:endParaRPr sz="1350" b="1" dirty="0">
              <a:solidFill>
                <a:srgbClr val="1C2B49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533454-C667-1763-5D15-B30048BC8001}"/>
              </a:ext>
            </a:extLst>
          </p:cNvPr>
          <p:cNvSpPr>
            <a:spLocks noGrp="1"/>
          </p:cNvSpPr>
          <p:nvPr/>
        </p:nvSpPr>
        <p:spPr>
          <a:xfrm>
            <a:off x="5210175" y="1431553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350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lang="en-TH" sz="1350" b="1" dirty="0"/>
              <a:t>เตรียมข้อมูล</a:t>
            </a:r>
            <a:endParaRPr sz="1350" b="1" dirty="0">
              <a:solidFill>
                <a:srgbClr val="1C2B49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D5EA70-24D9-967A-C1F3-9C5C289DC588}"/>
              </a:ext>
            </a:extLst>
          </p:cNvPr>
          <p:cNvSpPr>
            <a:spLocks noGrp="1"/>
          </p:cNvSpPr>
          <p:nvPr/>
        </p:nvSpPr>
        <p:spPr>
          <a:xfrm>
            <a:off x="9877425" y="1326778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350" b="1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lang="en-TH" sz="1350" b="1" dirty="0"/>
              <a:t>กำหนดกลุ่มนักศึกษา</a:t>
            </a:r>
            <a:endParaRPr sz="1350" b="1" dirty="0">
              <a:solidFill>
                <a:srgbClr val="1C2B49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623B59-C45A-CACA-8F98-F1A48ACFB6A8}"/>
              </a:ext>
            </a:extLst>
          </p:cNvPr>
          <p:cNvSpPr>
            <a:spLocks noGrp="1"/>
          </p:cNvSpPr>
          <p:nvPr/>
        </p:nvSpPr>
        <p:spPr>
          <a:xfrm>
            <a:off x="164726" y="2610157"/>
            <a:ext cx="2597524" cy="7239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875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lang="en-TH" sz="1600" b="1" dirty="0"/>
              <a:t>การนำโมเดลไปใช้งาน (Deployment)</a:t>
            </a:r>
            <a:endParaRPr sz="1600" b="1" dirty="0">
              <a:solidFill>
                <a:srgbClr val="173B6C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A5021B8-7547-8950-869B-7908EE45B673}"/>
              </a:ext>
            </a:extLst>
          </p:cNvPr>
          <p:cNvSpPr>
            <a:spLocks noGrp="1"/>
          </p:cNvSpPr>
          <p:nvPr/>
        </p:nvSpPr>
        <p:spPr>
          <a:xfrm>
            <a:off x="300766" y="3467715"/>
            <a:ext cx="2183242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875" b="1">
                <a:solidFill>
                  <a:srgbClr val="7566B7"/>
                </a:solidFill>
                <a:latin typeface="Thonburi"/>
                <a:ea typeface="Thonburi"/>
                <a:cs typeface="Thonburi"/>
              </a:defRPr>
            </a:pPr>
            <a:r>
              <a:rPr lang="en-TH" sz="1600" b="1" dirty="0"/>
              <a:t>การสื่อสารผลลัพธ์ (Communication)</a:t>
            </a:r>
            <a:endParaRPr sz="1600" b="1" dirty="0">
              <a:solidFill>
                <a:srgbClr val="7566B7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22E2976-0C19-7DAD-A667-DE483D356621}"/>
              </a:ext>
            </a:extLst>
          </p:cNvPr>
          <p:cNvSpPr>
            <a:spLocks noGrp="1"/>
          </p:cNvSpPr>
          <p:nvPr/>
        </p:nvSpPr>
        <p:spPr>
          <a:xfrm>
            <a:off x="164726" y="4438958"/>
            <a:ext cx="2597524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875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lang="en-TH" sz="1600" b="1" dirty="0"/>
              <a:t>การติดตามและบำรุงรักษา (Monitoring)</a:t>
            </a:r>
            <a:endParaRPr sz="1600" b="1" dirty="0">
              <a:solidFill>
                <a:srgbClr val="4F7CAC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5346C9-E8D6-F919-343C-48953EE192E5}"/>
              </a:ext>
            </a:extLst>
          </p:cNvPr>
          <p:cNvSpPr txBox="1"/>
          <p:nvPr/>
        </p:nvSpPr>
        <p:spPr>
          <a:xfrm>
            <a:off x="164726" y="6502750"/>
            <a:ext cx="1093850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H" sz="1000" dirty="0">
                <a:solidFill>
                  <a:schemeClr val="bg1">
                    <a:lumMod val="50000"/>
                  </a:schemeClr>
                </a:solidFill>
                <a:latin typeface="Thonburi" pitchFamily="2" charset="-34"/>
                <a:cs typeface="Thonburi" pitchFamily="2" charset="-34"/>
              </a:rPr>
              <a:t>*ค่าติดตามที่แสดงเป็นค่าฐานจากข้อมูลปัจจุบัน สถานะ not_evaluated หมายถึงยังไม่มีข้อมูลนักศึกษารุ่นใหม่สำหรับเปรียบเทียบ ไม่ได้หมายความว่าระบบล้มเหลว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2A90576-1097-4604-36EF-91A18D0AFDDD}"/>
              </a:ext>
            </a:extLst>
          </p:cNvPr>
          <p:cNvSpPr txBox="1"/>
          <p:nvPr/>
        </p:nvSpPr>
        <p:spPr>
          <a:xfrm>
            <a:off x="300766" y="5769917"/>
            <a:ext cx="114047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TH" sz="1400" dirty="0">
                <a:solidFill>
                  <a:srgbClr val="C00000"/>
                </a:solidFill>
                <a:latin typeface="Thonburi" pitchFamily="2" charset="-34"/>
                <a:cs typeface="Thonburi" pitchFamily="2" charset="-34"/>
              </a:rPr>
              <a:t>หากพบการเปลี่ยนแปลงโครงสร้างข้อมูล (Schema Change) รูปแบบข้อมูลเปลี่ยนไป (Data Drift) หรือคุณภาพการแบ่งกลุ่มลดลง </a:t>
            </a:r>
          </a:p>
          <a:p>
            <a:pPr algn="ctr"/>
            <a:r>
              <a:rPr lang="en-TH" sz="1400" dirty="0">
                <a:solidFill>
                  <a:srgbClr val="C00000"/>
                </a:solidFill>
                <a:latin typeface="Thonburi" pitchFamily="2" charset="-34"/>
                <a:cs typeface="Thonburi" pitchFamily="2" charset="-34"/>
              </a:rPr>
              <a:t>ให้ย้อนกลับไปขั้นตอนที่ 2 เพื่อรวบรวมและตรวจสอบข้อมูลใหม่</a:t>
            </a:r>
          </a:p>
        </p:txBody>
      </p:sp>
    </p:spTree>
    <p:extLst>
      <p:ext uri="{BB962C8B-B14F-4D97-AF65-F5344CB8AC3E}">
        <p14:creationId xmlns:p14="http://schemas.microsoft.com/office/powerpoint/2010/main" val="9536113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E492CA-A0E5-431E-8678-F5FF7E85F0DF}"/>
              </a:ext>
            </a:extLst>
          </p:cNvPr>
          <p:cNvSpPr>
            <a:spLocks noGrp="1"/>
          </p:cNvSpPr>
          <p:nvPr/>
        </p:nvSpPr>
        <p:spPr>
          <a:xfrm>
            <a:off x="400050" y="685021"/>
            <a:ext cx="1104900" cy="47625"/>
          </a:xfrm>
          <a:prstGeom prst="rect">
            <a:avLst/>
          </a:prstGeom>
          <a:solidFill>
            <a:srgbClr val="54C6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A70217-CAAB-40B0-94AC-83B9A88EE0DA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809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975" b="0">
                <a:solidFill>
                  <a:srgbClr val="8190A8"/>
                </a:solidFill>
                <a:latin typeface="Thonburi"/>
                <a:ea typeface="Thonburi"/>
                <a:cs typeface="Thonburi"/>
              </a:defRPr>
            </a:pPr>
            <a:r>
              <a:rPr sz="975" b="0">
                <a:solidFill>
                  <a:srgbClr val="8190A8"/>
                </a:solidFill>
                <a:latin typeface="Thonburi"/>
                <a:ea typeface="Thonburi"/>
                <a:cs typeface="Thonburi"/>
              </a:rPr>
              <a:t>Student Segmentation · MOOC Dataset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427099-314F-44A2-90B4-E078F0519EBC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28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4762" lnSpcReduction="20000"/>
          </a:bodyPr>
          <a:lstStyle/>
          <a:p>
            <a:pPr algn="r">
              <a:buNone/>
              <a:defRPr sz="1050" b="1">
                <a:solidFill>
                  <a:srgbClr val="4F7CAC"/>
                </a:solidFill>
                <a:latin typeface="Thonburi"/>
                <a:ea typeface="Thonburi"/>
                <a:cs typeface="Thonburi"/>
              </a:defRPr>
            </a:pPr>
            <a:r>
              <a:rPr sz="1050" b="1" dirty="0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3</a:t>
            </a:r>
            <a:r>
              <a:rPr lang="en-US" sz="1050" b="1" dirty="0">
                <a:solidFill>
                  <a:srgbClr val="4F7CAC"/>
                </a:solidFill>
                <a:latin typeface="Thonburi"/>
                <a:ea typeface="Thonburi"/>
                <a:cs typeface="Thonburi"/>
              </a:rPr>
              <a:t>4</a:t>
            </a:r>
            <a:endParaRPr sz="1050" b="1" dirty="0">
              <a:solidFill>
                <a:srgbClr val="4F7CAC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646E55-C1AB-4F24-8CA8-EC2ADA7E1DD6}"/>
              </a:ext>
            </a:extLst>
          </p:cNvPr>
          <p:cNvSpPr>
            <a:spLocks noGrp="1"/>
          </p:cNvSpPr>
          <p:nvPr/>
        </p:nvSpPr>
        <p:spPr>
          <a:xfrm>
            <a:off x="6299695" y="1028700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025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2025" b="1" dirty="0" err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สิ่งที่เพิ่มจากต้นฉบับ</a:t>
            </a:r>
            <a:endParaRPr sz="2025" b="1" dirty="0">
              <a:solidFill>
                <a:srgbClr val="173B6C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A3D948-4AB1-46C8-BD9C-34FD9F251FA6}"/>
              </a:ext>
            </a:extLst>
          </p:cNvPr>
          <p:cNvSpPr>
            <a:spLocks noGrp="1"/>
          </p:cNvSpPr>
          <p:nvPr/>
        </p:nvSpPr>
        <p:spPr>
          <a:xfrm>
            <a:off x="6782919" y="1426726"/>
            <a:ext cx="4572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marL="285750" indent="-285750" algn="l">
              <a:buFont typeface="Arial"/>
              <a:buChar char="•"/>
              <a:defRPr sz="150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500" b="0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Data Cleaning</a:t>
            </a:r>
          </a:p>
          <a:p>
            <a:pPr marL="285750" indent="-285750" algn="l">
              <a:buFont typeface="Arial"/>
              <a:buChar char="•"/>
              <a:defRPr sz="150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500" b="0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Model Training </a:t>
            </a:r>
            <a:endParaRPr lang="en-US" sz="1500" b="0" dirty="0">
              <a:solidFill>
                <a:srgbClr val="1C2B49"/>
              </a:solidFill>
              <a:latin typeface="Thonburi"/>
              <a:ea typeface="Thonburi"/>
              <a:cs typeface="Thonburi"/>
            </a:endParaRPr>
          </a:p>
          <a:p>
            <a:pPr marL="285750" indent="-285750" algn="l">
              <a:buFont typeface="Arial"/>
              <a:buChar char="•"/>
              <a:defRPr sz="150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500" b="0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Model Optimization Cycle </a:t>
            </a:r>
            <a:endParaRPr sz="1500" dirty="0">
              <a:solidFill>
                <a:srgbClr val="1C2B49"/>
              </a:solidFill>
              <a:latin typeface="Thonburi"/>
              <a:ea typeface="Thonburi"/>
              <a:cs typeface="Thonburi"/>
            </a:endParaRPr>
          </a:p>
          <a:p>
            <a:pPr marL="285750" indent="-285750" algn="l">
              <a:buFont typeface="Arial"/>
              <a:buChar char="•"/>
              <a:defRPr sz="150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500" b="0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Feedback Loop</a:t>
            </a:r>
          </a:p>
          <a:p>
            <a:pPr marL="285750" indent="-285750" algn="l">
              <a:buFont typeface="Arial"/>
              <a:buChar char="•"/>
              <a:defRPr sz="150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500" b="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Deployment</a:t>
            </a:r>
            <a:r>
              <a:rPr lang="en-US" sz="1500" b="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,</a:t>
            </a:r>
            <a:r>
              <a:rPr sz="1500" b="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Communication</a:t>
            </a:r>
            <a:r>
              <a:rPr sz="1500" b="0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 </a:t>
            </a:r>
            <a:r>
              <a:rPr lang="en-US" sz="1500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,</a:t>
            </a:r>
            <a:r>
              <a:rPr sz="1500" b="0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Monitoring</a:t>
            </a:r>
          </a:p>
          <a:p>
            <a:pPr marL="285750" indent="-285750" algn="l">
              <a:buFont typeface="Arial"/>
              <a:buChar char="•"/>
              <a:defRPr sz="150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500" b="0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Outcome quarantine</a:t>
            </a:r>
          </a:p>
          <a:p>
            <a:pPr marL="285750" indent="-285750" algn="l">
              <a:buFont typeface="Arial"/>
              <a:buChar char="•"/>
              <a:defRPr sz="150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500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M</a:t>
            </a:r>
            <a:r>
              <a:rPr sz="1500" b="0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odel lock</a:t>
            </a:r>
          </a:p>
          <a:p>
            <a:pPr marL="285750" indent="-285750" algn="l">
              <a:buFont typeface="Arial"/>
              <a:buChar char="•"/>
              <a:defRPr sz="150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500" b="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Outputs</a:t>
            </a:r>
            <a:r>
              <a:rPr lang="en-US" sz="150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,</a:t>
            </a:r>
            <a:r>
              <a:rPr sz="1500" b="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Checksums</a:t>
            </a:r>
            <a:r>
              <a:rPr lang="en-US" sz="1500" b="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,</a:t>
            </a:r>
            <a:r>
              <a:rPr sz="150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L</a:t>
            </a:r>
            <a:r>
              <a:rPr sz="1500" b="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ogs</a:t>
            </a:r>
            <a:r>
              <a:rPr sz="1500" b="0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 </a:t>
            </a:r>
            <a:r>
              <a:rPr lang="en-US" sz="1500" b="0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,</a:t>
            </a:r>
            <a:r>
              <a:rPr sz="1500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T</a:t>
            </a:r>
            <a:r>
              <a:rPr sz="1500" b="0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ests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0A1240-510C-44C3-905B-0CA1CC4A07FB}"/>
              </a:ext>
            </a:extLst>
          </p:cNvPr>
          <p:cNvSpPr>
            <a:spLocks noGrp="1"/>
          </p:cNvSpPr>
          <p:nvPr/>
        </p:nvSpPr>
        <p:spPr>
          <a:xfrm flipH="1">
            <a:off x="5988674" y="488577"/>
            <a:ext cx="107326" cy="4746251"/>
          </a:xfrm>
          <a:prstGeom prst="rect">
            <a:avLst/>
          </a:prstGeom>
          <a:solidFill>
            <a:srgbClr val="D8E2F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AAEF29-7EB1-4400-9EAE-A57DD7B9AD32}"/>
              </a:ext>
            </a:extLst>
          </p:cNvPr>
          <p:cNvSpPr>
            <a:spLocks noGrp="1"/>
          </p:cNvSpPr>
          <p:nvPr/>
        </p:nvSpPr>
        <p:spPr>
          <a:xfrm>
            <a:off x="6586507" y="3557588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025" b="1">
                <a:solidFill>
                  <a:srgbClr val="51458B"/>
                </a:solidFill>
                <a:latin typeface="Thonburi"/>
                <a:ea typeface="Thonburi"/>
                <a:cs typeface="Thonburi"/>
              </a:defRPr>
            </a:pPr>
            <a:r>
              <a:rPr sz="2025" b="1">
                <a:solidFill>
                  <a:srgbClr val="51458B"/>
                </a:solidFill>
                <a:latin typeface="Thonburi"/>
                <a:ea typeface="Thonburi"/>
                <a:cs typeface="Thonburi"/>
              </a:rPr>
              <a:t>ผลลัพธ์ที่ได้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D61AE6-D992-47DB-9E55-596121F9D7B8}"/>
              </a:ext>
            </a:extLst>
          </p:cNvPr>
          <p:cNvSpPr>
            <a:spLocks noGrp="1"/>
          </p:cNvSpPr>
          <p:nvPr/>
        </p:nvSpPr>
        <p:spPr>
          <a:xfrm>
            <a:off x="6725771" y="4029074"/>
            <a:ext cx="4572000" cy="122193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marL="285750" indent="-285750" algn="l">
              <a:buFont typeface="Arial"/>
              <a:buChar char="•"/>
              <a:defRPr sz="150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500" b="0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K-Means </a:t>
            </a:r>
            <a:r>
              <a:rPr sz="1500" b="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แบ่งนักศึกษาเป็น</a:t>
            </a:r>
            <a:r>
              <a:rPr sz="1500" b="0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 4 </a:t>
            </a:r>
            <a:r>
              <a:rPr sz="1500" b="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กลุ่ม</a:t>
            </a:r>
            <a:endParaRPr sz="1500" b="0" dirty="0">
              <a:solidFill>
                <a:srgbClr val="1C2B49"/>
              </a:solidFill>
              <a:latin typeface="Thonburi"/>
              <a:ea typeface="Thonburi"/>
              <a:cs typeface="Thonburi"/>
            </a:endParaRPr>
          </a:p>
          <a:p>
            <a:pPr marL="285750" indent="-285750">
              <a:buFont typeface="Arial"/>
              <a:buChar char="•"/>
              <a:defRPr sz="150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lang="en-TH" sz="1500" dirty="0"/>
              <a:t>ฝึกโมเดลกับนักศึกษา 335,650 คน</a:t>
            </a:r>
            <a:endParaRPr lang="th-TH" sz="1500" dirty="0"/>
          </a:p>
          <a:p>
            <a:pPr marL="285750" indent="-285750">
              <a:buFont typeface="Arial"/>
              <a:buChar char="•"/>
              <a:defRPr sz="150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lang="en-TH" sz="1500" dirty="0"/>
              <a:t>ความคงที่ของกลุ่ม (ARI) = 0.9803</a:t>
            </a:r>
            <a:endParaRPr lang="th-TH" sz="1500" dirty="0"/>
          </a:p>
          <a:p>
            <a:pPr marL="285750" indent="-285750">
              <a:buFont typeface="Arial"/>
              <a:buChar char="•"/>
              <a:defRPr sz="150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lang="en-TH" sz="1500" dirty="0"/>
              <a:t>กระบวนการนำไปใช้ผ่านการทดสอบ 10/10</a:t>
            </a:r>
            <a:endParaRPr lang="th-TH" sz="1500" dirty="0"/>
          </a:p>
          <a:p>
            <a:pPr marL="285750" indent="-285750">
              <a:buFont typeface="Arial"/>
              <a:buChar char="•"/>
              <a:defRPr sz="150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lang="en-TH" sz="1500" dirty="0"/>
              <a:t>ไฟล์หลักฐานครบ 75/75 รายกา</a:t>
            </a:r>
            <a:r>
              <a:rPr lang="th-TH" sz="1500" dirty="0" err="1"/>
              <a:t>ร</a:t>
            </a:r>
            <a:endParaRPr sz="1500" b="0" dirty="0">
              <a:solidFill>
                <a:srgbClr val="1C2B49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BA05890-2C6E-4DA9-A687-8770A06CC49B}"/>
              </a:ext>
            </a:extLst>
          </p:cNvPr>
          <p:cNvSpPr>
            <a:spLocks noGrp="1"/>
          </p:cNvSpPr>
          <p:nvPr/>
        </p:nvSpPr>
        <p:spPr>
          <a:xfrm>
            <a:off x="952500" y="5381625"/>
            <a:ext cx="10191750" cy="876300"/>
          </a:xfrm>
          <a:prstGeom prst="roundRect">
            <a:avLst>
              <a:gd name="adj" fmla="val 13043"/>
            </a:avLst>
          </a:prstGeom>
          <a:solidFill>
            <a:srgbClr val="173B6C"/>
          </a:solidFill>
          <a:ln w="0">
            <a:solidFill>
              <a:srgbClr val="173B6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6E9033-A365-4D74-B5FB-22887A643F5B}"/>
              </a:ext>
            </a:extLst>
          </p:cNvPr>
          <p:cNvSpPr>
            <a:spLocks noGrp="1"/>
          </p:cNvSpPr>
          <p:nvPr/>
        </p:nvSpPr>
        <p:spPr>
          <a:xfrm>
            <a:off x="1190625" y="5572125"/>
            <a:ext cx="1238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650" b="1">
                <a:solidFill>
                  <a:srgbClr val="8FD3F4"/>
                </a:solidFill>
                <a:latin typeface="Thonburi"/>
                <a:ea typeface="Thonburi"/>
                <a:cs typeface="Thonburi"/>
              </a:defRPr>
            </a:pPr>
            <a:r>
              <a:rPr sz="1650" b="1">
                <a:solidFill>
                  <a:srgbClr val="8FD3F4"/>
                </a:solidFill>
                <a:latin typeface="Thonburi"/>
                <a:ea typeface="Thonburi"/>
                <a:cs typeface="Thonburi"/>
              </a:rPr>
              <a:t>ข้อสรุป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A67ED2-4E6C-4353-92D0-071FC3025E8E}"/>
              </a:ext>
            </a:extLst>
          </p:cNvPr>
          <p:cNvSpPr>
            <a:spLocks noGrp="1"/>
          </p:cNvSpPr>
          <p:nvPr/>
        </p:nvSpPr>
        <p:spPr>
          <a:xfrm>
            <a:off x="2080063" y="5553075"/>
            <a:ext cx="81438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38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400" b="1" dirty="0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Workflow </a:t>
            </a:r>
            <a:r>
              <a:rPr sz="1400" b="1" dirty="0" err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ที่เหมาะสมช่วยลดความผิดพลาด</a:t>
            </a:r>
            <a:r>
              <a:rPr sz="1400" b="1" dirty="0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ทำให้กระบวนการตรวจสอบได้</a:t>
            </a:r>
            <a:r>
              <a:rPr sz="1400" b="1" dirty="0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และนำผลไปใช้อย่างระมัดระวัง</a:t>
            </a:r>
            <a:endParaRPr sz="1400" b="1" dirty="0">
              <a:solidFill>
                <a:srgbClr val="FFFFFF"/>
              </a:solidFill>
              <a:latin typeface="Thonburi"/>
              <a:ea typeface="Thonburi"/>
              <a:cs typeface="Thonburi"/>
            </a:endParaRPr>
          </a:p>
          <a:p>
            <a:pPr algn="ctr">
              <a:buNone/>
              <a:defRPr sz="1238" b="1">
                <a:solidFill>
                  <a:srgbClr val="FFFFFF"/>
                </a:solidFill>
                <a:latin typeface="Thonburi"/>
                <a:ea typeface="Thonburi"/>
                <a:cs typeface="Thonburi"/>
              </a:defRPr>
            </a:pPr>
            <a:r>
              <a:rPr sz="1400" b="1" dirty="0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Workflow </a:t>
            </a:r>
            <a:r>
              <a:rPr sz="1400" b="1" dirty="0" err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เพิ่มความน่าเชื่อถือ</a:t>
            </a:r>
            <a:r>
              <a:rPr sz="1400" b="1" dirty="0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Thonburi"/>
                <a:ea typeface="Thonburi"/>
                <a:cs typeface="Thonburi"/>
              </a:rPr>
              <a:t>แต่ไม่รับประกันว่าผลลัพธ์จะถูกต้องสมบูรณ์</a:t>
            </a:r>
            <a:endParaRPr sz="1400" b="1" dirty="0">
              <a:solidFill>
                <a:srgbClr val="FFFFFF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7E970E-53A3-CB1D-5762-78E41B9E660B}"/>
              </a:ext>
            </a:extLst>
          </p:cNvPr>
          <p:cNvSpPr>
            <a:spLocks noGrp="1"/>
          </p:cNvSpPr>
          <p:nvPr/>
        </p:nvSpPr>
        <p:spPr>
          <a:xfrm>
            <a:off x="666750" y="1239931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025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2025" b="1" dirty="0" err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ข้อจำกัดของการวิเคราะห์</a:t>
            </a:r>
            <a:endParaRPr sz="2025" b="1" dirty="0">
              <a:solidFill>
                <a:srgbClr val="173B6C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33C11C-C1C9-4A69-61FE-86D7348689FA}"/>
              </a:ext>
            </a:extLst>
          </p:cNvPr>
          <p:cNvSpPr>
            <a:spLocks noGrp="1"/>
          </p:cNvSpPr>
          <p:nvPr/>
        </p:nvSpPr>
        <p:spPr>
          <a:xfrm>
            <a:off x="666750" y="2047875"/>
            <a:ext cx="5162550" cy="13811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marL="285750" indent="-285750" algn="l">
              <a:buFont typeface="Arial"/>
              <a:buChar char="•"/>
              <a:defRPr sz="150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400" b="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ข้อมูล</a:t>
            </a:r>
            <a:r>
              <a:rPr sz="1400" b="0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 MOOC </a:t>
            </a:r>
            <a:r>
              <a:rPr lang="th-TH" sz="1400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เป็นข้อมูล</a:t>
            </a:r>
            <a:r>
              <a:rPr sz="1400" b="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ในอดีตอาจไม่</a:t>
            </a:r>
            <a:r>
              <a:rPr lang="th-TH" sz="1400" b="0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สามารถ</a:t>
            </a:r>
            <a:r>
              <a:rPr sz="1400" b="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แทนผู้เรียนปัจจุบัน</a:t>
            </a:r>
            <a:endParaRPr sz="1400" b="0" dirty="0">
              <a:solidFill>
                <a:srgbClr val="1C2B49"/>
              </a:solidFill>
              <a:latin typeface="Thonburi"/>
              <a:ea typeface="Thonburi"/>
              <a:cs typeface="Thonburi"/>
            </a:endParaRPr>
          </a:p>
          <a:p>
            <a:pPr marL="285750" indent="-285750" algn="l">
              <a:buFont typeface="Arial"/>
              <a:buChar char="•"/>
              <a:defRPr sz="150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400" b="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การรวมหนึ่งแถวต่อคนทำให้ลำดับเวลาและบริบทรายวิชาหายไป</a:t>
            </a:r>
            <a:endParaRPr sz="1400" b="0" dirty="0">
              <a:solidFill>
                <a:srgbClr val="1C2B49"/>
              </a:solidFill>
              <a:latin typeface="Thonburi"/>
              <a:ea typeface="Thonburi"/>
              <a:cs typeface="Thonburi"/>
            </a:endParaRPr>
          </a:p>
          <a:p>
            <a:pPr marL="285750" indent="-285750" algn="l">
              <a:buFont typeface="Arial"/>
              <a:buChar char="•"/>
              <a:defRPr sz="150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400" b="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กลุ่มมีความเสถียรสูงแต่ยังทับซ้อนบางส่วน</a:t>
            </a:r>
            <a:endParaRPr sz="1400" dirty="0">
              <a:solidFill>
                <a:srgbClr val="1C2B49"/>
              </a:solidFill>
              <a:latin typeface="Thonburi"/>
              <a:ea typeface="Thonburi"/>
              <a:cs typeface="Thonburi"/>
            </a:endParaRPr>
          </a:p>
          <a:p>
            <a:pPr marL="285750" indent="-285750" algn="l">
              <a:buFont typeface="Arial"/>
              <a:buChar char="•"/>
              <a:defRPr sz="150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sz="1400" b="0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Video missing 56.82% </a:t>
            </a:r>
            <a:r>
              <a:rPr sz="1400" b="0" dirty="0" err="1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จึงไม่ใช้ใน</a:t>
            </a:r>
            <a:r>
              <a:rPr sz="1400" b="0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 core mode</a:t>
            </a:r>
            <a:r>
              <a:rPr lang="en-US" sz="1400" b="0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l</a:t>
            </a:r>
          </a:p>
          <a:p>
            <a:pPr marL="285750" indent="-285750" algn="l">
              <a:buFont typeface="Arial"/>
              <a:buChar char="•"/>
              <a:defRPr sz="1500" b="0">
                <a:solidFill>
                  <a:srgbClr val="1C2B49"/>
                </a:solidFill>
                <a:latin typeface="Thonburi"/>
                <a:ea typeface="Thonburi"/>
                <a:cs typeface="Thonburi"/>
              </a:defRPr>
            </a:pPr>
            <a:r>
              <a:rPr lang="th-TH" sz="1400" b="0" dirty="0">
                <a:solidFill>
                  <a:srgbClr val="1C2B49"/>
                </a:solidFill>
                <a:latin typeface="Thonburi"/>
                <a:ea typeface="Thonburi"/>
                <a:cs typeface="Thonburi"/>
              </a:rPr>
              <a:t>ไม่รับประกันประโยชน์หรือความเป็นธรรม</a:t>
            </a:r>
            <a:endParaRPr lang="th-TH" sz="1400" dirty="0">
              <a:solidFill>
                <a:srgbClr val="1C2B49"/>
              </a:solidFill>
              <a:latin typeface="Thonburi"/>
              <a:ea typeface="Thonburi"/>
              <a:cs typeface="Thonbu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73136F-3A5C-6A52-D8C1-F31DB4A4306D}"/>
              </a:ext>
            </a:extLst>
          </p:cNvPr>
          <p:cNvSpPr txBox="1"/>
          <p:nvPr/>
        </p:nvSpPr>
        <p:spPr>
          <a:xfrm>
            <a:off x="666750" y="3819525"/>
            <a:ext cx="503617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TH" sz="1400" dirty="0">
                <a:latin typeface="Thonburi" pitchFamily="2" charset="-34"/>
                <a:cs typeface="Thonburi" pitchFamily="2" charset="-34"/>
              </a:rPr>
              <a:t>ตรวจสอบกับนักศึกษารุ่นใหม่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TH" sz="1400" dirty="0">
                <a:latin typeface="Thonburi" pitchFamily="2" charset="-34"/>
                <a:cs typeface="Thonburi" pitchFamily="2" charset="-34"/>
              </a:rPr>
              <a:t>ให้ผู้เชี่ยวชาญด้านการศึกษาช่วยตรวจความหมายของแต่ละกลุ่ม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TH" sz="1400" dirty="0">
                <a:latin typeface="Thonburi" pitchFamily="2" charset="-34"/>
                <a:cs typeface="Thonburi" pitchFamily="2" charset="-34"/>
              </a:rPr>
              <a:t>ประเมินผลของมาตรการช่วยเหลือก่อนใช้งานในวงกว้าง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TH" sz="1400" dirty="0">
                <a:latin typeface="Thonburi" pitchFamily="2" charset="-34"/>
                <a:cs typeface="Thonburi" pitchFamily="2" charset="-34"/>
              </a:rPr>
              <a:t>ติดตาม Cluster 3 ซึ่งมีเพียง 1.56% อย่างระมัดระวัง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TH" sz="1400" dirty="0">
                <a:latin typeface="Thonburi" pitchFamily="2" charset="-34"/>
                <a:cs typeface="Thonburi" pitchFamily="2" charset="-34"/>
              </a:rPr>
              <a:t>ฝึกโมเดลใหม่เมื่อข้อมูลหรือหลักสูตรเปลี่ยนไป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5B0E44-7203-9B39-4E02-998E6F66BE9C}"/>
              </a:ext>
            </a:extLst>
          </p:cNvPr>
          <p:cNvSpPr>
            <a:spLocks noGrp="1"/>
          </p:cNvSpPr>
          <p:nvPr/>
        </p:nvSpPr>
        <p:spPr>
          <a:xfrm>
            <a:off x="669706" y="3371850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</a:pPr>
            <a:r>
              <a:rPr lang="en-TH" sz="2000" b="1" dirty="0">
                <a:solidFill>
                  <a:srgbClr val="163B6C"/>
                </a:solidFill>
                <a:latin typeface="Thonburi" pitchFamily="2" charset="-34"/>
                <a:cs typeface="Thonburi" pitchFamily="2" charset="-34"/>
              </a:rPr>
              <a:t>ขั้นตอนต่อไป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68D703-47C3-E2D5-86BD-40FA52BDB81D}"/>
              </a:ext>
            </a:extLst>
          </p:cNvPr>
          <p:cNvSpPr txBox="1"/>
          <p:nvPr/>
        </p:nvSpPr>
        <p:spPr>
          <a:xfrm>
            <a:off x="248520" y="229597"/>
            <a:ext cx="6098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H" sz="2800" b="1" dirty="0">
                <a:solidFill>
                  <a:srgbClr val="163B6C"/>
                </a:solidFill>
                <a:latin typeface="Thonburi" pitchFamily="2" charset="-34"/>
                <a:cs typeface="Thonburi" pitchFamily="2" charset="-34"/>
              </a:rPr>
              <a:t>สรุปการพัฒนา Workflow และผลที่ได้</a:t>
            </a:r>
          </a:p>
        </p:txBody>
      </p:sp>
    </p:spTree>
    <p:extLst>
      <p:ext uri="{BB962C8B-B14F-4D97-AF65-F5344CB8AC3E}">
        <p14:creationId xmlns:p14="http://schemas.microsoft.com/office/powerpoint/2010/main" val="1505833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5910592-53EE-4F37-1490-8CEDF4DB4577}"/>
              </a:ext>
            </a:extLst>
          </p:cNvPr>
          <p:cNvSpPr>
            <a:spLocks noGrp="1"/>
          </p:cNvSpPr>
          <p:nvPr/>
        </p:nvSpPr>
        <p:spPr>
          <a:xfrm>
            <a:off x="728454" y="1578688"/>
            <a:ext cx="5257800" cy="7317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3450" b="1">
                <a:solidFill>
                  <a:srgbClr val="173B6C"/>
                </a:solidFill>
                <a:latin typeface="Thonburi"/>
                <a:ea typeface="Thonburi"/>
                <a:cs typeface="Thonburi"/>
              </a:defRPr>
            </a:pPr>
            <a:r>
              <a:rPr sz="7200" b="1">
                <a:solidFill>
                  <a:srgbClr val="173B6C"/>
                </a:solidFill>
                <a:latin typeface="Thonburi"/>
                <a:ea typeface="Thonburi"/>
                <a:cs typeface="Thonburi"/>
              </a:rPr>
              <a:t>ขอบคุณค่ะ</a:t>
            </a:r>
          </a:p>
        </p:txBody>
      </p:sp>
    </p:spTree>
    <p:extLst>
      <p:ext uri="{BB962C8B-B14F-4D97-AF65-F5344CB8AC3E}">
        <p14:creationId xmlns:p14="http://schemas.microsoft.com/office/powerpoint/2010/main" val="377738318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6335</Words>
  <Application>Microsoft Macintosh PowerPoint</Application>
  <DocSecurity>0</DocSecurity>
  <PresentationFormat>Widescreen</PresentationFormat>
  <Paragraphs>872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Thonburi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Chutimon NUNTHASENA</cp:lastModifiedBy>
  <cp:revision>11</cp:revision>
  <dcterms:created xsi:type="dcterms:W3CDTF">2026-09-11T00:13:49Z</dcterms:created>
  <dcterms:modified xsi:type="dcterms:W3CDTF">2026-09-11T04:26:30Z</dcterms:modified>
</cp:coreProperties>
</file>