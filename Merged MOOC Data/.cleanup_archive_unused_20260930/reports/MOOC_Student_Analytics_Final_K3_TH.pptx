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2192000" cy="6858000"/>
  <p:notesSz cx="6858000" cy="9144000"/>
  <p:defaultTextStyle>
    <a:defPPr>
      <a:defRPr lang="en-T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22"/>
  </p:normalViewPr>
  <p:slideViewPr>
    <p:cSldViewPr snapToGrid="0">
      <p:cViewPr varScale="1">
        <p:scale>
          <a:sx n="113" d="100"/>
          <a:sy n="113" d="100"/>
        </p:scale>
        <p:origin x="5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Final K=3 source: Un/outputs/tables/k_selection_metrics.csv. K=3 selected_by_gap_one_se=True.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Model family K=3 source: Un/outputs/tables/unsupervised_model_comparison.csv.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Final segmentation summary uses K=3 cluster_profiles.csv and selected model K-Means K=3.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4D66564-BA80-46B1-87E6-1982842432BA}"/>
              </a:ext>
            </a:extLst>
          </p:cNvPr>
          <p:cNvSpPr>
            <a:spLocks noGrp="1"/>
          </p:cNvSpPr>
          <p:nvPr/>
        </p:nvSpPr>
        <p:spPr>
          <a:xfrm rot="16200000">
            <a:off x="1419542" y="-11115"/>
            <a:ext cx="66675" cy="1143000"/>
          </a:xfrm>
          <a:prstGeom prst="rect">
            <a:avLst/>
          </a:prstGeom>
          <a:solidFill>
            <a:srgbClr val="002060"/>
          </a:solidFill>
          <a:ln w="9525">
            <a:solidFill>
              <a:srgbClr val="004A7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0362A7-8B87-47A9-A24A-67A2AE871063}"/>
              </a:ext>
            </a:extLst>
          </p:cNvPr>
          <p:cNvSpPr>
            <a:spLocks noGrp="1"/>
          </p:cNvSpPr>
          <p:nvPr/>
        </p:nvSpPr>
        <p:spPr>
          <a:xfrm>
            <a:off x="2687955" y="2466975"/>
            <a:ext cx="9334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5181" lnSpcReduction="10000"/>
          </a:bodyPr>
          <a:lstStyle/>
          <a:p>
            <a:pPr>
              <a:buNone/>
              <a:defRPr sz="3450" b="1" i="0">
                <a:solidFill>
                  <a:srgbClr val="004A73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004A73"/>
                </a:solidFill>
                <a:latin typeface="Arial"/>
                <a:ea typeface="Arial"/>
                <a:cs typeface="Arial"/>
              </a:rPr>
              <a:t>MOOC Student Analytics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23C3C50-EA0E-4CD5-95F7-11288A30B5C7}"/>
              </a:ext>
            </a:extLst>
          </p:cNvPr>
          <p:cNvSpPr>
            <a:spLocks noGrp="1"/>
          </p:cNvSpPr>
          <p:nvPr/>
        </p:nvSpPr>
        <p:spPr>
          <a:xfrm>
            <a:off x="2716530" y="3067050"/>
            <a:ext cx="93345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65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Merged learner behavior, segmentation, supervised prediction, deep learning and LLM evidence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F99BC9-0335-41FB-9878-3108F5C6166E}"/>
              </a:ext>
            </a:extLst>
          </p:cNvPr>
          <p:cNvSpPr>
            <a:spLocks noGrp="1"/>
          </p:cNvSpPr>
          <p:nvPr/>
        </p:nvSpPr>
        <p:spPr>
          <a:xfrm>
            <a:off x="762000" y="6438900"/>
            <a:ext cx="8763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900" b="0" i="1">
                <a:solidFill>
                  <a:srgbClr val="7A7A7A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7A7A7A"/>
                </a:solidFill>
                <a:latin typeface="Arial"/>
                <a:ea typeface="Arial"/>
                <a:cs typeface="Arial"/>
              </a:rPr>
              <a:t>Prepared from current Merged MOOC Data, Sup and Un project outputs</a:t>
            </a:r>
          </a:p>
        </p:txBody>
      </p:sp>
      <p:pic>
        <p:nvPicPr>
          <p:cNvPr id="13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805" y="1831975"/>
            <a:ext cx="2470150" cy="247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807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CF69384-08B6-48FB-8F1D-EE5D1E85A890}"/>
              </a:ext>
            </a:extLst>
          </p:cNvPr>
          <p:cNvSpPr>
            <a:spLocks noGrp="1"/>
          </p:cNvSpPr>
          <p:nvPr/>
        </p:nvSpPr>
        <p:spPr>
          <a:xfrm>
            <a:off x="704850" y="400050"/>
            <a:ext cx="57150" cy="819150"/>
          </a:xfrm>
          <a:prstGeom prst="rect">
            <a:avLst/>
          </a:prstGeom>
          <a:solidFill>
            <a:srgbClr val="004A73"/>
          </a:solidFill>
          <a:ln w="9525">
            <a:solidFill>
              <a:srgbClr val="004A7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9DCB3D3-D9DF-4EBB-BA5E-415AFB480ED2}"/>
              </a:ext>
            </a:extLst>
          </p:cNvPr>
          <p:cNvSpPr>
            <a:spLocks noGrp="1"/>
          </p:cNvSpPr>
          <p:nvPr/>
        </p:nvSpPr>
        <p:spPr>
          <a:xfrm>
            <a:off x="1000125" y="4000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2850" b="1" i="0">
                <a:solidFill>
                  <a:srgbClr val="004A73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04A73"/>
                </a:solidFill>
                <a:latin typeface="Arial"/>
                <a:ea typeface="Arial"/>
                <a:cs typeface="Arial"/>
              </a:rPr>
              <a:t>Agenda and evidence map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DE9162C-E942-4F82-9E5E-BA636855305F}"/>
              </a:ext>
            </a:extLst>
          </p:cNvPr>
          <p:cNvSpPr>
            <a:spLocks noGrp="1"/>
          </p:cNvSpPr>
          <p:nvPr/>
        </p:nvSpPr>
        <p:spPr>
          <a:xfrm>
            <a:off x="1028700" y="981075"/>
            <a:ext cx="9906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50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เล่าตาม pipeline จริง ไม่ใช่แค่ผลลัพธ์สุดท้าย</a:t>
            </a:r>
          </a:p>
        </p:txBody>
      </p:sp>
      <p:graphicFrame>
        <p:nvGraphicFramePr>
          <p:cNvPr id="12" name="Table 9"/>
          <p:cNvGraphicFramePr/>
          <p:nvPr/>
        </p:nvGraphicFramePr>
        <p:xfrm>
          <a:off x="1190625" y="1619250"/>
          <a:ext cx="9810750" cy="3428999"/>
        </p:xfrm>
        <a:graphic>
          <a:graphicData uri="http://schemas.openxmlformats.org/drawingml/2006/table">
            <a:tbl>
              <a:tblPr/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1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9857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Part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the slides show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1. Data foundation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แหล่งข้อมูล, grain, merge logic, cleaning audit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2. EDA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distribution, missingness, sparsity, correlation, outliers, video quality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3. Unsupervised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K selection, model family, persona size, radar, PCA, posthoc outcome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4. Supervised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split, candidate models, confusion matrix, ROC/PR, errors, feature importance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5. Deep and LLM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MLP comparison, Gemini full test, Ollama pilot, provider 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6. Recommendation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ผลหลัง merged, limitation, deployment and monitoring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9EB02D6A-FD6A-443C-8C1E-DC5B057A7821}"/>
              </a:ext>
            </a:extLst>
          </p:cNvPr>
          <p:cNvSpPr>
            <a:spLocks noGrp="1"/>
          </p:cNvSpPr>
          <p:nvPr/>
        </p:nvSpPr>
        <p:spPr>
          <a:xfrm>
            <a:off x="762000" y="6438900"/>
            <a:ext cx="8763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900" b="0" i="1">
                <a:solidFill>
                  <a:srgbClr val="7A7A7A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7A7A7A"/>
                </a:solidFill>
                <a:latin typeface="Arial"/>
                <a:ea typeface="Arial"/>
                <a:cs typeface="Arial"/>
              </a:rPr>
              <a:t>MOOC Student Analytics | HarvardX-MITx learner behavior pipeline</a:t>
            </a:r>
          </a:p>
        </p:txBody>
      </p:sp>
    </p:spTree>
    <p:extLst>
      <p:ext uri="{BB962C8B-B14F-4D97-AF65-F5344CB8AC3E}">
        <p14:creationId xmlns:p14="http://schemas.microsoft.com/office/powerpoint/2010/main" val="1271052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1A3DA97-0D4A-454D-AD08-6400648F6377}"/>
              </a:ext>
            </a:extLst>
          </p:cNvPr>
          <p:cNvSpPr>
            <a:spLocks noGrp="1"/>
          </p:cNvSpPr>
          <p:nvPr/>
        </p:nvSpPr>
        <p:spPr>
          <a:xfrm>
            <a:off x="704850" y="400050"/>
            <a:ext cx="57150" cy="819150"/>
          </a:xfrm>
          <a:prstGeom prst="rect">
            <a:avLst/>
          </a:prstGeom>
          <a:solidFill>
            <a:srgbClr val="004A73"/>
          </a:solidFill>
          <a:ln w="9525">
            <a:solidFill>
              <a:srgbClr val="004A7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E84699-D59D-47D0-9C13-231448BB9E87}"/>
              </a:ext>
            </a:extLst>
          </p:cNvPr>
          <p:cNvSpPr>
            <a:spLocks noGrp="1"/>
          </p:cNvSpPr>
          <p:nvPr/>
        </p:nvSpPr>
        <p:spPr>
          <a:xfrm>
            <a:off x="1000125" y="4000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2850" b="1" i="0">
                <a:solidFill>
                  <a:srgbClr val="004A73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04A73"/>
                </a:solidFill>
                <a:latin typeface="Arial"/>
                <a:ea typeface="Arial"/>
                <a:cs typeface="Arial"/>
              </a:rPr>
              <a:t>Problem definition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3A9237-51B0-4C20-B01E-63F1235D1639}"/>
              </a:ext>
            </a:extLst>
          </p:cNvPr>
          <p:cNvSpPr>
            <a:spLocks noGrp="1"/>
          </p:cNvSpPr>
          <p:nvPr/>
        </p:nvSpPr>
        <p:spPr>
          <a:xfrm>
            <a:off x="1028700" y="981075"/>
            <a:ext cx="9906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50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โจทย์หลักคือเข้าใจพฤติกรรมผู้เรียนและทำนายผลลัพธ์การเรียนจากข้อมูล MOOC ขนาดใหญ่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BA416F-9E2F-4626-8356-C6ACA8FE3F88}"/>
              </a:ext>
            </a:extLst>
          </p:cNvPr>
          <p:cNvSpPr>
            <a:spLocks noGrp="1"/>
          </p:cNvSpPr>
          <p:nvPr/>
        </p:nvSpPr>
        <p:spPr>
          <a:xfrm>
            <a:off x="1428750" y="1762125"/>
            <a:ext cx="9334500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675"/>
          </a:bodyPr>
          <a:lstStyle/>
          <a:p>
            <a:pPr>
              <a:buNone/>
              <a:defRPr sz="1650" b="0" i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• Unit of analysis หลักหลัง merge คือหนึ่งแถวต่อ learner ที่รวมพฤติกรรมข้าม course-run อย่างมี audit trail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C6CDB2-8F1A-4629-9858-FBD8BCA1BBD9}"/>
              </a:ext>
            </a:extLst>
          </p:cNvPr>
          <p:cNvSpPr>
            <a:spLocks noGrp="1"/>
          </p:cNvSpPr>
          <p:nvPr/>
        </p:nvSpPr>
        <p:spPr>
          <a:xfrm>
            <a:off x="1428750" y="2190750"/>
            <a:ext cx="9334500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650" b="0" i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• Unsupervised track ใช้เพื่อหา persona หรือกลุ่มพฤติกรรมโดยไม่ใช้ target เป็นตัวนำ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66B662-19D6-462A-AAFE-6BD26B878C8C}"/>
              </a:ext>
            </a:extLst>
          </p:cNvPr>
          <p:cNvSpPr>
            <a:spLocks noGrp="1"/>
          </p:cNvSpPr>
          <p:nvPr/>
        </p:nvSpPr>
        <p:spPr>
          <a:xfrm>
            <a:off x="1428750" y="2619375"/>
            <a:ext cx="9334500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650" b="0" i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• Supervised track ใช้ทำนาย certified/completion outcome ด้วย split ที่กัน leakage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12A523-F382-4E81-AF44-38394EF68B4A}"/>
              </a:ext>
            </a:extLst>
          </p:cNvPr>
          <p:cNvSpPr>
            <a:spLocks noGrp="1"/>
          </p:cNvSpPr>
          <p:nvPr/>
        </p:nvSpPr>
        <p:spPr>
          <a:xfrm>
            <a:off x="1428750" y="3048000"/>
            <a:ext cx="9334500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650" b="0" i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• Deep and LLM track ใช้เปรียบเทียบวิธีที่ซับซ้อนกว่า tabular ML และอธิบายขอบเขตการใช้งานจริง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503587-D969-4FFF-90BC-2F581714C876}"/>
              </a:ext>
            </a:extLst>
          </p:cNvPr>
          <p:cNvSpPr>
            <a:spLocks noGrp="1"/>
          </p:cNvSpPr>
          <p:nvPr/>
        </p:nvSpPr>
        <p:spPr>
          <a:xfrm>
            <a:off x="2524125" y="4130040"/>
            <a:ext cx="21907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912" lnSpcReduction="10000"/>
          </a:bodyPr>
          <a:lstStyle/>
          <a:p>
            <a:pPr>
              <a:buNone/>
              <a:defRPr sz="2550" b="1" i="0">
                <a:solidFill>
                  <a:srgbClr val="004A73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04A73"/>
                </a:solidFill>
                <a:latin typeface="Arial"/>
                <a:ea typeface="Arial"/>
                <a:cs typeface="Arial"/>
              </a:rPr>
              <a:t>755,144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E456B9-EA13-4469-A98E-23FEE092A1C1}"/>
              </a:ext>
            </a:extLst>
          </p:cNvPr>
          <p:cNvSpPr>
            <a:spLocks noGrp="1"/>
          </p:cNvSpPr>
          <p:nvPr/>
        </p:nvSpPr>
        <p:spPr>
          <a:xfrm>
            <a:off x="2524125" y="4714875"/>
            <a:ext cx="21907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125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Raw harmonized rows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300DEF-1AEC-415C-B23F-D4C54E51AEFF}"/>
              </a:ext>
            </a:extLst>
          </p:cNvPr>
          <p:cNvSpPr>
            <a:spLocks noGrp="1"/>
          </p:cNvSpPr>
          <p:nvPr/>
        </p:nvSpPr>
        <p:spPr>
          <a:xfrm>
            <a:off x="5381625" y="4109085"/>
            <a:ext cx="21907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912" lnSpcReduction="10000"/>
          </a:bodyPr>
          <a:lstStyle/>
          <a:p>
            <a:pPr>
              <a:buNone/>
              <a:defRPr sz="2550" b="1" i="0">
                <a:solidFill>
                  <a:srgbClr val="2D7F5E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2D7F5E"/>
                </a:solidFill>
                <a:latin typeface="Arial"/>
                <a:ea typeface="Arial"/>
                <a:cs typeface="Arial"/>
              </a:rPr>
              <a:t>446,766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BFB490B-2C0A-4C84-87A0-E2960100F93A}"/>
              </a:ext>
            </a:extLst>
          </p:cNvPr>
          <p:cNvSpPr>
            <a:spLocks noGrp="1"/>
          </p:cNvSpPr>
          <p:nvPr/>
        </p:nvSpPr>
        <p:spPr>
          <a:xfrm>
            <a:off x="5381625" y="4693920"/>
            <a:ext cx="21907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125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Unique learners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B41BD20-67C7-421E-99C5-8D5038922A20}"/>
              </a:ext>
            </a:extLst>
          </p:cNvPr>
          <p:cNvSpPr>
            <a:spLocks noGrp="1"/>
          </p:cNvSpPr>
          <p:nvPr/>
        </p:nvSpPr>
        <p:spPr>
          <a:xfrm>
            <a:off x="7905750" y="4156710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912" lnSpcReduction="10000"/>
          </a:bodyPr>
          <a:lstStyle/>
          <a:p>
            <a:pPr>
              <a:buNone/>
              <a:defRPr sz="2550" b="1" i="0">
                <a:solidFill>
                  <a:srgbClr val="D97924"/>
                </a:solidFill>
                <a:latin typeface="Arial"/>
                <a:ea typeface="Arial"/>
                <a:cs typeface="Arial"/>
              </a:defRPr>
            </a:pPr>
            <a:r>
              <a:rPr sz="2550" b="1"/>
              <a:t>575,060</a:t>
            </a:r>
            <a:endParaRPr sz="2550" b="1" i="0">
              <a:solidFill>
                <a:srgbClr val="D9792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ABA2C8-7C1B-43C0-B402-2763770E8B94}"/>
              </a:ext>
            </a:extLst>
          </p:cNvPr>
          <p:cNvSpPr>
            <a:spLocks noGrp="1"/>
          </p:cNvSpPr>
          <p:nvPr/>
        </p:nvSpPr>
        <p:spPr>
          <a:xfrm>
            <a:off x="7572375" y="4714875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125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Course-run rows if preserved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6F96876-ADDE-450D-AA37-ADCFBAE4FF97}"/>
              </a:ext>
            </a:extLst>
          </p:cNvPr>
          <p:cNvSpPr>
            <a:spLocks noGrp="1"/>
          </p:cNvSpPr>
          <p:nvPr/>
        </p:nvSpPr>
        <p:spPr>
          <a:xfrm>
            <a:off x="762000" y="6438900"/>
            <a:ext cx="8763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900" b="0" i="1">
                <a:solidFill>
                  <a:srgbClr val="7A7A7A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7A7A7A"/>
                </a:solidFill>
                <a:latin typeface="Arial"/>
                <a:ea typeface="Arial"/>
                <a:cs typeface="Arial"/>
              </a:rPr>
              <a:t>MOOC Student Analytics | HarvardX-MITx learner behavior pipeline</a:t>
            </a:r>
          </a:p>
        </p:txBody>
      </p:sp>
    </p:spTree>
    <p:extLst>
      <p:ext uri="{BB962C8B-B14F-4D97-AF65-F5344CB8AC3E}">
        <p14:creationId xmlns:p14="http://schemas.microsoft.com/office/powerpoint/2010/main" val="2085993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8A92F60-DE83-46B8-AF01-BC79EF8972C9}"/>
              </a:ext>
            </a:extLst>
          </p:cNvPr>
          <p:cNvSpPr>
            <a:spLocks noGrp="1"/>
          </p:cNvSpPr>
          <p:nvPr/>
        </p:nvSpPr>
        <p:spPr>
          <a:xfrm>
            <a:off x="704850" y="400050"/>
            <a:ext cx="57150" cy="819150"/>
          </a:xfrm>
          <a:prstGeom prst="rect">
            <a:avLst/>
          </a:prstGeom>
          <a:solidFill>
            <a:srgbClr val="004A73"/>
          </a:solidFill>
          <a:ln w="9525">
            <a:solidFill>
              <a:srgbClr val="004A7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CDC24D2-A1F7-467E-A7B8-329CE1297D92}"/>
              </a:ext>
            </a:extLst>
          </p:cNvPr>
          <p:cNvSpPr>
            <a:spLocks noGrp="1"/>
          </p:cNvSpPr>
          <p:nvPr/>
        </p:nvSpPr>
        <p:spPr>
          <a:xfrm>
            <a:off x="1000125" y="4000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2850" b="1" i="0">
                <a:solidFill>
                  <a:srgbClr val="004A73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04A73"/>
                </a:solidFill>
                <a:latin typeface="Arial"/>
                <a:ea typeface="Arial"/>
                <a:cs typeface="Arial"/>
              </a:rPr>
              <a:t>Merged data foundation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5ED1DA-9A77-4473-BF87-98D34AA55701}"/>
              </a:ext>
            </a:extLst>
          </p:cNvPr>
          <p:cNvSpPr>
            <a:spLocks noGrp="1"/>
          </p:cNvSpPr>
          <p:nvPr/>
        </p:nvSpPr>
        <p:spPr>
          <a:xfrm>
            <a:off x="1028700" y="981075"/>
            <a:ext cx="9906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50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การ merge ใหม่ทำให้เห็นทั้งภาพ learner-level และ course-run-level ชัดขึ้น</a:t>
            </a:r>
          </a:p>
        </p:txBody>
      </p:sp>
      <p:graphicFrame>
        <p:nvGraphicFramePr>
          <p:cNvPr id="12" name="Table 9"/>
          <p:cNvGraphicFramePr/>
          <p:nvPr>
            <p:extLst>
              <p:ext uri="{D42A27DB-BD31-4B8C-83A1-F6EECF244321}">
                <p14:modId xmlns:p14="http://schemas.microsoft.com/office/powerpoint/2010/main" val="3161231032"/>
              </p:ext>
            </p:extLst>
          </p:nvPr>
        </p:nvGraphicFramePr>
        <p:xfrm>
          <a:off x="904875" y="1557338"/>
          <a:ext cx="10382250" cy="2952750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9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2125">
                <a:tc>
                  <a:txBody>
                    <a:bodyPr/>
                    <a:lstStyle/>
                    <a:p>
                      <a:r>
                        <a:rPr sz="10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Current value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Meaning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Raw harmonized rows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755,144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ข้อมูลตั้งต้นหลังรวมแหล่งข้อมูล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Unique students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446,766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จำนวนผู้เรียนไม่ซ้ำ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Student-course enrollments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575,060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key เดิมหลัง clean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Course-run enrollments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624,674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จำนวนที่ควรรักษาเมื่อแยก offering/run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Collapsed multi-run groups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49,614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 dirty="0" err="1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กลุ่มที่</a:t>
                      </a:r>
                      <a:r>
                        <a:rPr sz="975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 key </a:t>
                      </a:r>
                      <a:r>
                        <a:rPr sz="975" dirty="0" err="1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เดิมรวม</a:t>
                      </a:r>
                      <a:r>
                        <a:rPr sz="975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 course-run </a:t>
                      </a:r>
                      <a:r>
                        <a:rPr sz="975" dirty="0" err="1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เข้าด้วยกัน</a:t>
                      </a:r>
                      <a:endParaRPr sz="975" dirty="0">
                        <a:solidFill>
                          <a:srgbClr val="222222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C1A006A7-DF10-4F1D-AE3A-B209D488AF4E}"/>
              </a:ext>
            </a:extLst>
          </p:cNvPr>
          <p:cNvSpPr>
            <a:spLocks noGrp="1"/>
          </p:cNvSpPr>
          <p:nvPr/>
        </p:nvSpPr>
        <p:spPr>
          <a:xfrm>
            <a:off x="1143000" y="4905375"/>
            <a:ext cx="9906000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6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650" b="0" i="0" dirty="0" err="1">
                <a:solidFill>
                  <a:srgbClr val="333333"/>
                </a:solidFill>
                <a:latin typeface="Arial"/>
                <a:ea typeface="Arial"/>
                <a:cs typeface="Arial"/>
              </a:rPr>
              <a:t>หลัง</a:t>
            </a:r>
            <a:r>
              <a:rPr sz="1650" b="0" i="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recheck </a:t>
            </a:r>
            <a:r>
              <a:rPr sz="1650" b="0" i="0" dirty="0" err="1">
                <a:solidFill>
                  <a:srgbClr val="333333"/>
                </a:solidFill>
                <a:latin typeface="Arial"/>
                <a:ea typeface="Arial"/>
                <a:cs typeface="Arial"/>
              </a:rPr>
              <a:t>พบว่า</a:t>
            </a:r>
            <a:r>
              <a:rPr sz="1650" b="0" i="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key </a:t>
            </a:r>
            <a:r>
              <a:rPr sz="1650" b="0" i="0" dirty="0" err="1">
                <a:solidFill>
                  <a:srgbClr val="333333"/>
                </a:solidFill>
                <a:latin typeface="Arial"/>
                <a:ea typeface="Arial"/>
                <a:cs typeface="Arial"/>
              </a:rPr>
              <a:t>แบบ</a:t>
            </a:r>
            <a:r>
              <a:rPr sz="1650" b="0" i="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0" i="0" dirty="0" err="1">
                <a:solidFill>
                  <a:srgbClr val="333333"/>
                </a:solidFill>
                <a:latin typeface="Arial"/>
                <a:ea typeface="Arial"/>
                <a:cs typeface="Arial"/>
              </a:rPr>
              <a:t>userid</a:t>
            </a:r>
            <a:r>
              <a:rPr sz="1650" b="0" i="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+ course </a:t>
            </a:r>
            <a:r>
              <a:rPr sz="1650" b="0" i="0" dirty="0" err="1">
                <a:solidFill>
                  <a:srgbClr val="333333"/>
                </a:solidFill>
                <a:latin typeface="Arial"/>
                <a:ea typeface="Arial"/>
                <a:cs typeface="Arial"/>
              </a:rPr>
              <a:t>อาจทำให้</a:t>
            </a:r>
            <a:r>
              <a:rPr sz="1650" b="0" i="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course-run </a:t>
            </a:r>
            <a:r>
              <a:rPr sz="1650" b="0" i="0" dirty="0" err="1">
                <a:solidFill>
                  <a:srgbClr val="333333"/>
                </a:solidFill>
                <a:latin typeface="Arial"/>
                <a:ea typeface="Arial"/>
                <a:cs typeface="Arial"/>
              </a:rPr>
              <a:t>บางส่วนถูก</a:t>
            </a:r>
            <a:r>
              <a:rPr sz="1650" b="0" i="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collapse </a:t>
            </a:r>
            <a:r>
              <a:rPr sz="1650" b="0" i="0" dirty="0" err="1">
                <a:solidFill>
                  <a:srgbClr val="333333"/>
                </a:solidFill>
                <a:latin typeface="Arial"/>
                <a:ea typeface="Arial"/>
                <a:cs typeface="Arial"/>
              </a:rPr>
              <a:t>จึงต้องรายงาน</a:t>
            </a:r>
            <a:r>
              <a:rPr sz="1650" b="0" i="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caveat </a:t>
            </a:r>
            <a:r>
              <a:rPr sz="1650" b="0" i="0" dirty="0" err="1">
                <a:solidFill>
                  <a:srgbClr val="333333"/>
                </a:solidFill>
                <a:latin typeface="Arial"/>
                <a:ea typeface="Arial"/>
                <a:cs typeface="Arial"/>
              </a:rPr>
              <a:t>นี้บน</a:t>
            </a:r>
            <a:r>
              <a:rPr sz="1650" b="0" i="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dashboard/slide </a:t>
            </a:r>
            <a:r>
              <a:rPr sz="1650" b="0" i="0" dirty="0" err="1">
                <a:solidFill>
                  <a:srgbClr val="333333"/>
                </a:solidFill>
                <a:latin typeface="Arial"/>
                <a:ea typeface="Arial"/>
                <a:cs typeface="Arial"/>
              </a:rPr>
              <a:t>และแยกการตีความ</a:t>
            </a:r>
            <a:r>
              <a:rPr sz="1650" b="0" i="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learner-level </a:t>
            </a:r>
            <a:r>
              <a:rPr sz="1650" b="0" i="0" dirty="0" err="1">
                <a:solidFill>
                  <a:srgbClr val="333333"/>
                </a:solidFill>
                <a:latin typeface="Arial"/>
                <a:ea typeface="Arial"/>
                <a:cs typeface="Arial"/>
              </a:rPr>
              <a:t>ออกจาก</a:t>
            </a:r>
            <a:r>
              <a:rPr sz="1650" b="0" i="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enrollment-level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F2C3D5-3AD2-4A30-8EFB-9520E110FC44}"/>
              </a:ext>
            </a:extLst>
          </p:cNvPr>
          <p:cNvSpPr>
            <a:spLocks noGrp="1"/>
          </p:cNvSpPr>
          <p:nvPr/>
        </p:nvSpPr>
        <p:spPr>
          <a:xfrm>
            <a:off x="762000" y="6438900"/>
            <a:ext cx="8763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900" b="0" i="1">
                <a:solidFill>
                  <a:srgbClr val="7A7A7A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7A7A7A"/>
                </a:solidFill>
                <a:latin typeface="Arial"/>
                <a:ea typeface="Arial"/>
                <a:cs typeface="Arial"/>
              </a:rPr>
              <a:t>Source: outputs/reproducibility/data_reclean_audit_summary.json</a:t>
            </a:r>
          </a:p>
        </p:txBody>
      </p:sp>
    </p:spTree>
    <p:extLst>
      <p:ext uri="{BB962C8B-B14F-4D97-AF65-F5344CB8AC3E}">
        <p14:creationId xmlns:p14="http://schemas.microsoft.com/office/powerpoint/2010/main" val="1174803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B339CE4-EC76-491F-BA29-5B35EA19F76B}"/>
              </a:ext>
            </a:extLst>
          </p:cNvPr>
          <p:cNvSpPr>
            <a:spLocks noGrp="1"/>
          </p:cNvSpPr>
          <p:nvPr/>
        </p:nvSpPr>
        <p:spPr>
          <a:xfrm>
            <a:off x="704850" y="400050"/>
            <a:ext cx="57150" cy="819150"/>
          </a:xfrm>
          <a:prstGeom prst="rect">
            <a:avLst/>
          </a:prstGeom>
          <a:solidFill>
            <a:srgbClr val="004A73"/>
          </a:solidFill>
          <a:ln w="9525">
            <a:solidFill>
              <a:srgbClr val="004A7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24F18EA-4B18-41EC-96BC-DB6A107D468C}"/>
              </a:ext>
            </a:extLst>
          </p:cNvPr>
          <p:cNvSpPr>
            <a:spLocks noGrp="1"/>
          </p:cNvSpPr>
          <p:nvPr/>
        </p:nvSpPr>
        <p:spPr>
          <a:xfrm>
            <a:off x="1000125" y="4000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2850" b="1" i="0">
                <a:solidFill>
                  <a:srgbClr val="004A73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04A73"/>
                </a:solidFill>
                <a:latin typeface="Arial"/>
                <a:ea typeface="Arial"/>
                <a:cs typeface="Arial"/>
              </a:rPr>
              <a:t>Data cleaning audit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9BF7C3-5EF7-4B25-B0A6-989C0A605FEF}"/>
              </a:ext>
            </a:extLst>
          </p:cNvPr>
          <p:cNvSpPr>
            <a:spLocks noGrp="1"/>
          </p:cNvSpPr>
          <p:nvPr/>
        </p:nvSpPr>
        <p:spPr>
          <a:xfrm>
            <a:off x="1028700" y="981075"/>
            <a:ext cx="9906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50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ขั้นตอนทำความสะอาดข้อมูลถูกบันทึกเป็น issue, decision และจำนวน record ที่กระทบ</a:t>
            </a:r>
          </a:p>
        </p:txBody>
      </p:sp>
      <p:graphicFrame>
        <p:nvGraphicFramePr>
          <p:cNvPr id="12" name="Table 9"/>
          <p:cNvGraphicFramePr/>
          <p:nvPr/>
        </p:nvGraphicFramePr>
        <p:xfrm>
          <a:off x="666750" y="1524000"/>
          <a:ext cx="10477500" cy="3810002"/>
        </p:xfrm>
        <a:graphic>
          <a:graphicData uri="http://schemas.openxmlformats.org/drawingml/2006/table">
            <a:tbl>
              <a:tblPr/>
              <a:tblGrid>
                <a:gridCol w="23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72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4286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Issue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Decision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Affected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Source-first cleaning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Clean each source before reconciliation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755,144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Cross-source overlap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Official-source-first non-null coalescing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180,084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Video sentinel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Convert 197757 to missing before merge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255,528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Invalid 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Convert invalid age to missing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745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Reversed dates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Swap valid inverted date pairs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1,846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Outcome consistency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Quarantine contradictions for supervised eligibility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445880DC-D870-477B-8759-DF681E6047F0}"/>
              </a:ext>
            </a:extLst>
          </p:cNvPr>
          <p:cNvSpPr>
            <a:spLocks noGrp="1"/>
          </p:cNvSpPr>
          <p:nvPr/>
        </p:nvSpPr>
        <p:spPr>
          <a:xfrm>
            <a:off x="952500" y="5619750"/>
            <a:ext cx="100012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9197"/>
          </a:bodyPr>
          <a:lstStyle/>
          <a:p>
            <a:pPr>
              <a:buNone/>
              <a:defRPr sz="15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ประเด็นสำคัญ: การ clean ไม่ได้ลบข้อมูลทิ้งแบบง่าย ๆ แต่แยก invalid/sentinel/quarantine เพื่อให้ downstream track ใช้ข้อมูลถูกประเภทและลด leakage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7A07F7-F8E4-4DF2-A033-18753BF65F75}"/>
              </a:ext>
            </a:extLst>
          </p:cNvPr>
          <p:cNvSpPr>
            <a:spLocks noGrp="1"/>
          </p:cNvSpPr>
          <p:nvPr/>
        </p:nvSpPr>
        <p:spPr>
          <a:xfrm>
            <a:off x="762000" y="6438900"/>
            <a:ext cx="8763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900" b="0" i="1">
                <a:solidFill>
                  <a:srgbClr val="7A7A7A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7A7A7A"/>
                </a:solidFill>
                <a:latin typeface="Arial"/>
                <a:ea typeface="Arial"/>
                <a:cs typeface="Arial"/>
              </a:rPr>
              <a:t>Source: outputs/tables/cleaning_summary.csv</a:t>
            </a:r>
          </a:p>
        </p:txBody>
      </p:sp>
    </p:spTree>
    <p:extLst>
      <p:ext uri="{BB962C8B-B14F-4D97-AF65-F5344CB8AC3E}">
        <p14:creationId xmlns:p14="http://schemas.microsoft.com/office/powerpoint/2010/main" val="1671834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BF695E9-DF7B-4EFC-A0B5-CAAD2016F549}"/>
              </a:ext>
            </a:extLst>
          </p:cNvPr>
          <p:cNvSpPr>
            <a:spLocks noGrp="1"/>
          </p:cNvSpPr>
          <p:nvPr/>
        </p:nvSpPr>
        <p:spPr>
          <a:xfrm>
            <a:off x="704850" y="400050"/>
            <a:ext cx="57150" cy="819150"/>
          </a:xfrm>
          <a:prstGeom prst="rect">
            <a:avLst/>
          </a:prstGeom>
          <a:solidFill>
            <a:srgbClr val="004A73"/>
          </a:solidFill>
          <a:ln w="9525">
            <a:solidFill>
              <a:srgbClr val="004A7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8F45EBF-232E-40D5-87FF-D1407536E2FF}"/>
              </a:ext>
            </a:extLst>
          </p:cNvPr>
          <p:cNvSpPr>
            <a:spLocks noGrp="1"/>
          </p:cNvSpPr>
          <p:nvPr/>
        </p:nvSpPr>
        <p:spPr>
          <a:xfrm>
            <a:off x="1000125" y="4000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2850" b="1" i="0">
                <a:solidFill>
                  <a:srgbClr val="004A73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04A73"/>
                </a:solidFill>
                <a:latin typeface="Arial"/>
                <a:ea typeface="Arial"/>
                <a:cs typeface="Arial"/>
              </a:rPr>
              <a:t>Missingness and zero profile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CA9974-DA07-40AD-B899-829860452FA5}"/>
              </a:ext>
            </a:extLst>
          </p:cNvPr>
          <p:cNvSpPr>
            <a:spLocks noGrp="1"/>
          </p:cNvSpPr>
          <p:nvPr/>
        </p:nvSpPr>
        <p:spPr>
          <a:xfrm>
            <a:off x="1028700" y="981075"/>
            <a:ext cx="9906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50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ตรวจ missing, zero และ sparsity ก่อนสรุปพฤติกรรมผู้เรียน</a:t>
            </a:r>
          </a:p>
        </p:txBody>
      </p:sp>
      <p:pic>
        <p:nvPicPr>
          <p:cNvPr id="12" name="Picture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119721" y="1476375"/>
            <a:ext cx="5952558" cy="40957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DC2142B-328B-4C7C-AC6C-F32DFBF3BD37}"/>
              </a:ext>
            </a:extLst>
          </p:cNvPr>
          <p:cNvSpPr>
            <a:spLocks noGrp="1"/>
          </p:cNvSpPr>
          <p:nvPr/>
        </p:nvSpPr>
        <p:spPr>
          <a:xfrm>
            <a:off x="1285875" y="5715000"/>
            <a:ext cx="96202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292"/>
          </a:bodyPr>
          <a:lstStyle/>
          <a:p>
            <a:pPr>
              <a:buNone/>
              <a:defRPr sz="1425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กราฟนี้ใช้ตรวจว่าคอลัมน์ใดเป็น missing จริง คอลัมน์ใดมีค่า 0 ตามธรรมชาติ และคอลัมน์ใดเสี่ยงต่อ outlier ก่อนนำไปทำ feature engineering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99300-52D6-4531-BC86-D03916908B28}"/>
              </a:ext>
            </a:extLst>
          </p:cNvPr>
          <p:cNvSpPr>
            <a:spLocks noGrp="1"/>
          </p:cNvSpPr>
          <p:nvPr/>
        </p:nvSpPr>
        <p:spPr>
          <a:xfrm>
            <a:off x="762000" y="6438900"/>
            <a:ext cx="8763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900" b="0" i="1">
                <a:solidFill>
                  <a:srgbClr val="7A7A7A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7A7A7A"/>
                </a:solidFill>
                <a:latin typeface="Arial"/>
                <a:ea typeface="Arial"/>
                <a:cs typeface="Arial"/>
              </a:rPr>
              <a:t>MOOC Student Analytics | HarvardX-MITx learner behavior pipeline</a:t>
            </a:r>
          </a:p>
        </p:txBody>
      </p:sp>
    </p:spTree>
    <p:extLst>
      <p:ext uri="{BB962C8B-B14F-4D97-AF65-F5344CB8AC3E}">
        <p14:creationId xmlns:p14="http://schemas.microsoft.com/office/powerpoint/2010/main" val="1126603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119007F-832E-4C9B-AF89-661577B2B080}"/>
              </a:ext>
            </a:extLst>
          </p:cNvPr>
          <p:cNvSpPr>
            <a:spLocks noGrp="1"/>
          </p:cNvSpPr>
          <p:nvPr/>
        </p:nvSpPr>
        <p:spPr>
          <a:xfrm>
            <a:off x="704850" y="400050"/>
            <a:ext cx="57150" cy="819150"/>
          </a:xfrm>
          <a:prstGeom prst="rect">
            <a:avLst/>
          </a:prstGeom>
          <a:solidFill>
            <a:srgbClr val="004A73"/>
          </a:solidFill>
          <a:ln w="9525">
            <a:solidFill>
              <a:srgbClr val="004A7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28875A-B1AA-4AA1-BFDE-6628926D0892}"/>
              </a:ext>
            </a:extLst>
          </p:cNvPr>
          <p:cNvSpPr>
            <a:spLocks noGrp="1"/>
          </p:cNvSpPr>
          <p:nvPr/>
        </p:nvSpPr>
        <p:spPr>
          <a:xfrm>
            <a:off x="1000125" y="4000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2850" b="1" i="0">
                <a:solidFill>
                  <a:srgbClr val="004A73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04A73"/>
                </a:solidFill>
                <a:latin typeface="Arial"/>
                <a:ea typeface="Arial"/>
                <a:cs typeface="Arial"/>
              </a:rPr>
              <a:t>Behavior distributions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7525E6-3E36-4778-A3A8-88EF54F8DCD2}"/>
              </a:ext>
            </a:extLst>
          </p:cNvPr>
          <p:cNvSpPr>
            <a:spLocks noGrp="1"/>
          </p:cNvSpPr>
          <p:nvPr/>
        </p:nvSpPr>
        <p:spPr>
          <a:xfrm>
            <a:off x="1028700" y="981075"/>
            <a:ext cx="9906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50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พฤติกรรมผู้เรียนมี skew สูง จึงต้องใช้ transformation และ robust features</a:t>
            </a:r>
          </a:p>
        </p:txBody>
      </p:sp>
      <p:pic>
        <p:nvPicPr>
          <p:cNvPr id="12" name="Picture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582507" y="1428750"/>
            <a:ext cx="5026985" cy="40957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7A2FF82-06EF-4EEF-9316-FDA461C801A4}"/>
              </a:ext>
            </a:extLst>
          </p:cNvPr>
          <p:cNvSpPr>
            <a:spLocks noGrp="1"/>
          </p:cNvSpPr>
          <p:nvPr/>
        </p:nvSpPr>
        <p:spPr>
          <a:xfrm>
            <a:off x="1190625" y="5715000"/>
            <a:ext cx="98107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629"/>
          </a:bodyPr>
          <a:lstStyle/>
          <a:p>
            <a:pPr>
              <a:buNone/>
              <a:defRPr sz="1425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distribution ของ events, active days, chapters และ video activity ไม่สมมาตร ผู้เรียนส่วนใหญ่กิจกรรมน้อย แต่มีผู้เรียนกลุ่มเล็กที่ active สูงมาก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5934DA-5471-40C4-B076-AD9376A95A57}"/>
              </a:ext>
            </a:extLst>
          </p:cNvPr>
          <p:cNvSpPr>
            <a:spLocks noGrp="1"/>
          </p:cNvSpPr>
          <p:nvPr/>
        </p:nvSpPr>
        <p:spPr>
          <a:xfrm>
            <a:off x="762000" y="6438900"/>
            <a:ext cx="8763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900" b="0" i="1">
                <a:solidFill>
                  <a:srgbClr val="7A7A7A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7A7A7A"/>
                </a:solidFill>
                <a:latin typeface="Arial"/>
                <a:ea typeface="Arial"/>
                <a:cs typeface="Arial"/>
              </a:rPr>
              <a:t>MOOC Student Analytics | HarvardX-MITx learner behavior pipeline</a:t>
            </a:r>
          </a:p>
        </p:txBody>
      </p:sp>
    </p:spTree>
    <p:extLst>
      <p:ext uri="{BB962C8B-B14F-4D97-AF65-F5344CB8AC3E}">
        <p14:creationId xmlns:p14="http://schemas.microsoft.com/office/powerpoint/2010/main" val="3825787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44D0BB2-E2DB-49F8-9CF0-14587E71947C}"/>
              </a:ext>
            </a:extLst>
          </p:cNvPr>
          <p:cNvSpPr>
            <a:spLocks noGrp="1"/>
          </p:cNvSpPr>
          <p:nvPr/>
        </p:nvSpPr>
        <p:spPr>
          <a:xfrm>
            <a:off x="704850" y="400050"/>
            <a:ext cx="57150" cy="819150"/>
          </a:xfrm>
          <a:prstGeom prst="rect">
            <a:avLst/>
          </a:prstGeom>
          <a:solidFill>
            <a:srgbClr val="004A73"/>
          </a:solidFill>
          <a:ln w="9525">
            <a:solidFill>
              <a:srgbClr val="004A7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B1C4F32-2C7C-43CD-8546-BD2FB76A34A3}"/>
              </a:ext>
            </a:extLst>
          </p:cNvPr>
          <p:cNvSpPr>
            <a:spLocks noGrp="1"/>
          </p:cNvSpPr>
          <p:nvPr/>
        </p:nvSpPr>
        <p:spPr>
          <a:xfrm>
            <a:off x="1000125" y="4000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2850" b="1" i="0">
                <a:solidFill>
                  <a:srgbClr val="004A73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04A73"/>
                </a:solidFill>
                <a:latin typeface="Arial"/>
                <a:ea typeface="Arial"/>
                <a:cs typeface="Arial"/>
              </a:rPr>
              <a:t>Correlation and relationships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31EC49-7D70-4A54-9566-FBF24A6F8263}"/>
              </a:ext>
            </a:extLst>
          </p:cNvPr>
          <p:cNvSpPr>
            <a:spLocks noGrp="1"/>
          </p:cNvSpPr>
          <p:nvPr/>
        </p:nvSpPr>
        <p:spPr>
          <a:xfrm>
            <a:off x="1028700" y="981075"/>
            <a:ext cx="9906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50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ตรวจความสัมพันธ์ของ feature เพื่อลด feature ซ้ำและเลือก feature สำคัญ</a:t>
            </a:r>
          </a:p>
        </p:txBody>
      </p:sp>
      <p:pic>
        <p:nvPicPr>
          <p:cNvPr id="12" name="Picture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495675" y="1428750"/>
            <a:ext cx="4914900" cy="40957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7F495A9-CBEC-4896-A730-723D7EF2C32A}"/>
              </a:ext>
            </a:extLst>
          </p:cNvPr>
          <p:cNvSpPr>
            <a:spLocks noGrp="1"/>
          </p:cNvSpPr>
          <p:nvPr/>
        </p:nvSpPr>
        <p:spPr>
          <a:xfrm>
            <a:off x="1285875" y="5715000"/>
            <a:ext cx="96202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3539"/>
          </a:bodyPr>
          <a:lstStyle/>
          <a:p>
            <a:pPr>
              <a:buNone/>
              <a:defRPr sz="1425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correlation ช่วยบอกว่าพฤติกรรมบางชุดซ้ำกัน เช่น activity, chapter progress และ video engagement จึงควรใช้ feature screening ก่อนเข้าโมเดล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0D6FAF-6071-43B3-838C-678518014CC1}"/>
              </a:ext>
            </a:extLst>
          </p:cNvPr>
          <p:cNvSpPr>
            <a:spLocks noGrp="1"/>
          </p:cNvSpPr>
          <p:nvPr/>
        </p:nvSpPr>
        <p:spPr>
          <a:xfrm>
            <a:off x="762000" y="6438900"/>
            <a:ext cx="8763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900" b="0" i="1">
                <a:solidFill>
                  <a:srgbClr val="7A7A7A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7A7A7A"/>
                </a:solidFill>
                <a:latin typeface="Arial"/>
                <a:ea typeface="Arial"/>
                <a:cs typeface="Arial"/>
              </a:rPr>
              <a:t>MOOC Student Analytics | HarvardX-MITx learner behavior pipeline</a:t>
            </a:r>
          </a:p>
        </p:txBody>
      </p:sp>
    </p:spTree>
    <p:extLst>
      <p:ext uri="{BB962C8B-B14F-4D97-AF65-F5344CB8AC3E}">
        <p14:creationId xmlns:p14="http://schemas.microsoft.com/office/powerpoint/2010/main" val="1488582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64BAE76-DE8C-444E-9E84-3317478C1A27}"/>
              </a:ext>
            </a:extLst>
          </p:cNvPr>
          <p:cNvSpPr>
            <a:spLocks noGrp="1"/>
          </p:cNvSpPr>
          <p:nvPr/>
        </p:nvSpPr>
        <p:spPr>
          <a:xfrm>
            <a:off x="704850" y="400050"/>
            <a:ext cx="57150" cy="819150"/>
          </a:xfrm>
          <a:prstGeom prst="rect">
            <a:avLst/>
          </a:prstGeom>
          <a:solidFill>
            <a:srgbClr val="004A73"/>
          </a:solidFill>
          <a:ln w="9525">
            <a:solidFill>
              <a:srgbClr val="004A7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40401C-23BE-4CCA-91C8-92469D2C3835}"/>
              </a:ext>
            </a:extLst>
          </p:cNvPr>
          <p:cNvSpPr>
            <a:spLocks noGrp="1"/>
          </p:cNvSpPr>
          <p:nvPr/>
        </p:nvSpPr>
        <p:spPr>
          <a:xfrm>
            <a:off x="1000125" y="4000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2850" b="1" i="0">
                <a:solidFill>
                  <a:srgbClr val="004A73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04A73"/>
                </a:solidFill>
                <a:latin typeface="Arial"/>
                <a:ea typeface="Arial"/>
                <a:cs typeface="Arial"/>
              </a:rPr>
              <a:t>Outliers and video quality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E4AE50-3FBE-42AE-BBF6-84178AE072C5}"/>
              </a:ext>
            </a:extLst>
          </p:cNvPr>
          <p:cNvSpPr>
            <a:spLocks noGrp="1"/>
          </p:cNvSpPr>
          <p:nvPr/>
        </p:nvSpPr>
        <p:spPr>
          <a:xfrm>
            <a:off x="1028700" y="981075"/>
            <a:ext cx="9906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50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แยก outlier เชิงกิจกรรมและคุณภาพ video ก่อนตีความ segment</a:t>
            </a:r>
          </a:p>
        </p:txBody>
      </p:sp>
      <p:pic>
        <p:nvPicPr>
          <p:cNvPr id="14" name="Picture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95300" y="1446269"/>
            <a:ext cx="5334000" cy="3774962"/>
          </a:xfrm>
          <a:prstGeom prst="rect">
            <a:avLst/>
          </a:prstGeom>
        </p:spPr>
      </p:pic>
      <p:pic>
        <p:nvPicPr>
          <p:cNvPr id="15" name="Picture 1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989499" y="1446269"/>
            <a:ext cx="5829552" cy="371628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5456322-C34B-4895-8F9B-CCB2A0052C22}"/>
              </a:ext>
            </a:extLst>
          </p:cNvPr>
          <p:cNvSpPr>
            <a:spLocks noGrp="1"/>
          </p:cNvSpPr>
          <p:nvPr/>
        </p:nvSpPr>
        <p:spPr>
          <a:xfrm>
            <a:off x="904875" y="5572125"/>
            <a:ext cx="10287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6287"/>
          </a:bodyPr>
          <a:lstStyle/>
          <a:p>
            <a:pPr>
              <a:buNone/>
              <a:defRPr sz="1425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outlier ไม่ได้แปลว่าข้อมูลผิดเสมอไป ใน MOOC ผู้เรียน active สูงมากอาจเป็นกลุ่มที่มีความหมาย ส่วน video sentinel ต้องแปลงเป็น missing ก่อนวิเคราะห์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CF10B0-0B9A-447A-941C-D7A0AB2E19D7}"/>
              </a:ext>
            </a:extLst>
          </p:cNvPr>
          <p:cNvSpPr>
            <a:spLocks noGrp="1"/>
          </p:cNvSpPr>
          <p:nvPr/>
        </p:nvSpPr>
        <p:spPr>
          <a:xfrm>
            <a:off x="762000" y="6438900"/>
            <a:ext cx="8763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900" b="0" i="1">
                <a:solidFill>
                  <a:srgbClr val="7A7A7A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7A7A7A"/>
                </a:solidFill>
                <a:latin typeface="Arial"/>
                <a:ea typeface="Arial"/>
                <a:cs typeface="Arial"/>
              </a:rPr>
              <a:t>MOOC Student Analytics | HarvardX-MITx learner behavior pipeline</a:t>
            </a:r>
          </a:p>
        </p:txBody>
      </p:sp>
    </p:spTree>
    <p:extLst>
      <p:ext uri="{BB962C8B-B14F-4D97-AF65-F5344CB8AC3E}">
        <p14:creationId xmlns:p14="http://schemas.microsoft.com/office/powerpoint/2010/main" val="12582555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FC692D6-BDA9-473E-BB24-4C93287B1BB4}"/>
              </a:ext>
            </a:extLst>
          </p:cNvPr>
          <p:cNvSpPr>
            <a:spLocks noGrp="1"/>
          </p:cNvSpPr>
          <p:nvPr/>
        </p:nvSpPr>
        <p:spPr>
          <a:xfrm>
            <a:off x="704850" y="400050"/>
            <a:ext cx="57150" cy="819150"/>
          </a:xfrm>
          <a:prstGeom prst="rect">
            <a:avLst/>
          </a:prstGeom>
          <a:solidFill>
            <a:srgbClr val="004A73"/>
          </a:solidFill>
          <a:ln w="9525">
            <a:solidFill>
              <a:srgbClr val="004A7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0897B6-54B7-46F5-8605-12B89040C5C3}"/>
              </a:ext>
            </a:extLst>
          </p:cNvPr>
          <p:cNvSpPr>
            <a:spLocks noGrp="1"/>
          </p:cNvSpPr>
          <p:nvPr/>
        </p:nvSpPr>
        <p:spPr>
          <a:xfrm>
            <a:off x="1000125" y="4000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2850" b="1" i="0">
                <a:solidFill>
                  <a:srgbClr val="004A73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04A73"/>
                </a:solidFill>
                <a:latin typeface="Arial"/>
                <a:ea typeface="Arial"/>
                <a:cs typeface="Arial"/>
              </a:rPr>
              <a:t>Why merged data improved the analysis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F1AFA7-8BCA-49C4-A16F-37F3F438BE1D}"/>
              </a:ext>
            </a:extLst>
          </p:cNvPr>
          <p:cNvSpPr>
            <a:spLocks noGrp="1"/>
          </p:cNvSpPr>
          <p:nvPr/>
        </p:nvSpPr>
        <p:spPr>
          <a:xfrm>
            <a:off x="1028700" y="981075"/>
            <a:ext cx="9906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50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merged pipeline ทำให้ผลลัพธ์ตีความได้ครบกว่าแยก Sup/Un แบบเดิม</a:t>
            </a:r>
          </a:p>
        </p:txBody>
      </p:sp>
      <p:graphicFrame>
        <p:nvGraphicFramePr>
          <p:cNvPr id="12" name="Table 9"/>
          <p:cNvGraphicFramePr/>
          <p:nvPr/>
        </p:nvGraphicFramePr>
        <p:xfrm>
          <a:off x="666750" y="1476375"/>
          <a:ext cx="10858500" cy="4000500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5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Improvement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Before risk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After merge/recheck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Data grain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อาจปน learner, course และ course-run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แยก learner-level, student-course และ course-run audit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Video fields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sentinel 197757 อาจถูกตีความเป็นค่าจริง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convert เป็น missing ก่อน merge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Outcomes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contradictions เสี่ยงปน supervised labels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quarantine inconsistent outcomes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EDA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ดูแยกบาง track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รวม data quality, behavior, outcome, segment และ model comparison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Model story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ผลกระจายหลายโฟลเดอร์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เล่าเป็น pipeline เดียวพร้อมตารางเปรียบเทียบ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1C34C5CC-0650-46DB-9CF4-5DFAF6C4460A}"/>
              </a:ext>
            </a:extLst>
          </p:cNvPr>
          <p:cNvSpPr>
            <a:spLocks noGrp="1"/>
          </p:cNvSpPr>
          <p:nvPr/>
        </p:nvSpPr>
        <p:spPr>
          <a:xfrm>
            <a:off x="857250" y="5762625"/>
            <a:ext cx="104775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182"/>
          </a:bodyPr>
          <a:lstStyle/>
          <a:p>
            <a:pPr>
              <a:buNone/>
              <a:defRPr sz="1425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ผลที่ดีขึ้นหลักคือความน่าเชื่อถือและ traceability ไม่ใช่แค่คะแนนโมเดลสูงขึ้น เพราะเรารู้ว่าแต่ละค่ามาจาก grain ไหนและผ่าน cleaning rule อะไร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8F611A-7C0F-42C4-BBA3-C94EA60840E2}"/>
              </a:ext>
            </a:extLst>
          </p:cNvPr>
          <p:cNvSpPr>
            <a:spLocks noGrp="1"/>
          </p:cNvSpPr>
          <p:nvPr/>
        </p:nvSpPr>
        <p:spPr>
          <a:xfrm>
            <a:off x="762000" y="6438900"/>
            <a:ext cx="8763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900" b="0" i="1">
                <a:solidFill>
                  <a:srgbClr val="7A7A7A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7A7A7A"/>
                </a:solidFill>
                <a:latin typeface="Arial"/>
                <a:ea typeface="Arial"/>
                <a:cs typeface="Arial"/>
              </a:rPr>
              <a:t>MOOC Student Analytics | HarvardX-MITx learner behavior pipeline</a:t>
            </a:r>
          </a:p>
        </p:txBody>
      </p:sp>
    </p:spTree>
    <p:extLst>
      <p:ext uri="{BB962C8B-B14F-4D97-AF65-F5344CB8AC3E}">
        <p14:creationId xmlns:p14="http://schemas.microsoft.com/office/powerpoint/2010/main" val="18350121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AEAB643-D442-439E-B8BA-0ACE7DF24519}"/>
              </a:ext>
            </a:extLst>
          </p:cNvPr>
          <p:cNvSpPr>
            <a:spLocks noGrp="1"/>
          </p:cNvSpPr>
          <p:nvPr/>
        </p:nvSpPr>
        <p:spPr>
          <a:xfrm>
            <a:off x="704850" y="400050"/>
            <a:ext cx="57150" cy="819150"/>
          </a:xfrm>
          <a:prstGeom prst="rect">
            <a:avLst/>
          </a:prstGeom>
          <a:solidFill>
            <a:srgbClr val="004A73"/>
          </a:solidFill>
          <a:ln w="9525">
            <a:solidFill>
              <a:srgbClr val="004A7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0677A1-3C4F-4B14-9552-3807474ACABD}"/>
              </a:ext>
            </a:extLst>
          </p:cNvPr>
          <p:cNvSpPr>
            <a:spLocks noGrp="1"/>
          </p:cNvSpPr>
          <p:nvPr/>
        </p:nvSpPr>
        <p:spPr>
          <a:xfrm>
            <a:off x="1000125" y="4000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2700" b="1" i="0">
                <a:solidFill>
                  <a:srgbClr val="004A73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04A73"/>
                </a:solidFill>
                <a:latin typeface="Arial"/>
                <a:ea typeface="Arial"/>
                <a:cs typeface="Arial"/>
              </a:rPr>
              <a:t>Unsupervised K selection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3B65E1-8F2F-4B59-87B2-1E814F30BAB4}"/>
              </a:ext>
            </a:extLst>
          </p:cNvPr>
          <p:cNvSpPr>
            <a:spLocks noGrp="1"/>
          </p:cNvSpPr>
          <p:nvPr/>
        </p:nvSpPr>
        <p:spPr>
          <a:xfrm>
            <a:off x="1028700" y="981075"/>
            <a:ext cx="9906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425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Final K = 3 groups from the multi-metric K audit</a:t>
            </a:r>
          </a:p>
        </p:txBody>
      </p:sp>
      <p:pic>
        <p:nvPicPr>
          <p:cNvPr id="12" name="Picture 9"/>
          <p:cNvPicPr>
            <a:picLocks noChangeAspect="1"/>
          </p:cNvPicPr>
          <p:nvPr/>
        </p:nvPicPr>
        <p:blipFill>
          <a:blip r:embed="rId3"/>
          <a:srcRect l="3263" r="3263"/>
          <a:stretch>
            <a:fillRect/>
          </a:stretch>
        </p:blipFill>
        <p:spPr>
          <a:xfrm>
            <a:off x="2612664" y="1381125"/>
            <a:ext cx="6966671" cy="40957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2F674D1-2C12-4950-B660-24F53A7B2CBD}"/>
              </a:ext>
            </a:extLst>
          </p:cNvPr>
          <p:cNvSpPr>
            <a:spLocks noGrp="1"/>
          </p:cNvSpPr>
          <p:nvPr/>
        </p:nvSpPr>
        <p:spPr>
          <a:xfrm>
            <a:off x="472440" y="5715000"/>
            <a:ext cx="1134237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364"/>
          </a:bodyPr>
          <a:lstStyle/>
          <a:p>
            <a:pPr>
              <a:buNone/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ค่า K สุดท้ายของงานนี้คือ 3 กลุ่ม เพราะคะแนนรวมหลายตัวชี้วัดเลือก K=3 โดยเฉพาะ Silhouette, Davies-Bouldin, Calinski-Harabasz, ARI และ NMI ให้ผลที่เสถียรและตีความได้ดีที่สุดในงานนี้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72D087-0B32-48FB-8277-C1B0328A9F8C}"/>
              </a:ext>
            </a:extLst>
          </p:cNvPr>
          <p:cNvSpPr>
            <a:spLocks noGrp="1"/>
          </p:cNvSpPr>
          <p:nvPr/>
        </p:nvSpPr>
        <p:spPr>
          <a:xfrm>
            <a:off x="762000" y="6438900"/>
            <a:ext cx="8763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900" b="0" i="1">
                <a:solidFill>
                  <a:srgbClr val="7A7A7A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7A7A7A"/>
                </a:solidFill>
                <a:latin typeface="Arial"/>
                <a:ea typeface="Arial"/>
                <a:cs typeface="Arial"/>
              </a:rPr>
              <a:t>Source: Un/outputs/tables/k_selection_metrics.csv and Un/outputs/figures/modeling/k_selection_four_metrics.png</a:t>
            </a:r>
          </a:p>
        </p:txBody>
      </p:sp>
    </p:spTree>
    <p:extLst>
      <p:ext uri="{BB962C8B-B14F-4D97-AF65-F5344CB8AC3E}">
        <p14:creationId xmlns:p14="http://schemas.microsoft.com/office/powerpoint/2010/main" val="14979942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6E083D7-76CC-4136-AE15-B7BC64485563}"/>
              </a:ext>
            </a:extLst>
          </p:cNvPr>
          <p:cNvSpPr>
            <a:spLocks noGrp="1"/>
          </p:cNvSpPr>
          <p:nvPr/>
        </p:nvSpPr>
        <p:spPr>
          <a:xfrm>
            <a:off x="704850" y="400050"/>
            <a:ext cx="57150" cy="819150"/>
          </a:xfrm>
          <a:prstGeom prst="rect">
            <a:avLst/>
          </a:prstGeom>
          <a:solidFill>
            <a:srgbClr val="004A73"/>
          </a:solidFill>
          <a:ln w="9525">
            <a:solidFill>
              <a:srgbClr val="004A7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EE9250-B38A-4DB5-9C7F-16FE83159F6F}"/>
              </a:ext>
            </a:extLst>
          </p:cNvPr>
          <p:cNvSpPr>
            <a:spLocks noGrp="1"/>
          </p:cNvSpPr>
          <p:nvPr/>
        </p:nvSpPr>
        <p:spPr>
          <a:xfrm>
            <a:off x="1000125" y="4000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2700" b="1" i="0">
                <a:solidFill>
                  <a:srgbClr val="004A73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04A73"/>
                </a:solidFill>
                <a:latin typeface="Arial"/>
                <a:ea typeface="Arial"/>
                <a:cs typeface="Arial"/>
              </a:rPr>
              <a:t>K=3 decision evidence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1F779B8-0E8D-4F70-BA89-39C2C620B25E}"/>
              </a:ext>
            </a:extLst>
          </p:cNvPr>
          <p:cNvSpPr>
            <a:spLocks noGrp="1"/>
          </p:cNvSpPr>
          <p:nvPr/>
        </p:nvSpPr>
        <p:spPr>
          <a:xfrm>
            <a:off x="1028700" y="981075"/>
            <a:ext cx="9906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425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ตารางนี้อธิบายว่าทำไม final segmentation ใช้ 3 กลุ่ม</a:t>
            </a:r>
          </a:p>
        </p:txBody>
      </p:sp>
      <p:graphicFrame>
        <p:nvGraphicFramePr>
          <p:cNvPr id="12" name="Table 9"/>
          <p:cNvGraphicFramePr/>
          <p:nvPr/>
        </p:nvGraphicFramePr>
        <p:xfrm>
          <a:off x="952500" y="1524000"/>
          <a:ext cx="10287000" cy="3333750"/>
        </p:xfrm>
        <a:graphic>
          <a:graphicData uri="http://schemas.openxmlformats.org/drawingml/2006/table">
            <a:tbl>
              <a:tblPr/>
              <a:tblGrid>
                <a:gridCol w="247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562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Direction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Best / selected evidence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Silhouette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Higher is better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K=2 highest, but too coarse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Davies-Bouldin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Lower is better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K=3 in merged audit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Calinski-Harabasz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Higher is better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K=3 in merged audit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Gap statistic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Higher with one-SE 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K=3 in merged audit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Stability ARI/NMI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Higher is better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Checks robustness, not final answer alone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C5D5A306-4046-4C82-8AAE-243848E14987}"/>
              </a:ext>
            </a:extLst>
          </p:cNvPr>
          <p:cNvSpPr>
            <a:spLocks noGrp="1"/>
          </p:cNvSpPr>
          <p:nvPr/>
        </p:nvSpPr>
        <p:spPr>
          <a:xfrm>
            <a:off x="704850" y="5286375"/>
            <a:ext cx="1090803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K=3 ถูกเลือกจากคะแนนรวมหลายตัวชี้วัด โดย K-Means ให้ Silhouette 0.9435, Davies-Bouldin 0.1940, Calinski-Harabasz 39,073.3, ARI 1.0000 และ runtime 0.0185 วินาที จึงใช้เป็น final segmentation ของงานนี้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462A0B-91CC-44EE-98AA-D9FBB0C38DBD}"/>
              </a:ext>
            </a:extLst>
          </p:cNvPr>
          <p:cNvSpPr>
            <a:spLocks noGrp="1"/>
          </p:cNvSpPr>
          <p:nvPr/>
        </p:nvSpPr>
        <p:spPr>
          <a:xfrm>
            <a:off x="762000" y="6438900"/>
            <a:ext cx="8763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900" b="0" i="1">
                <a:solidFill>
                  <a:srgbClr val="7A7A7A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7A7A7A"/>
                </a:solidFill>
                <a:latin typeface="Arial"/>
                <a:ea typeface="Arial"/>
                <a:cs typeface="Arial"/>
              </a:rPr>
              <a:t>MOOC Student Analytics | HarvardX-MITx learner behavior pipeline</a:t>
            </a:r>
          </a:p>
        </p:txBody>
      </p:sp>
    </p:spTree>
    <p:extLst>
      <p:ext uri="{BB962C8B-B14F-4D97-AF65-F5344CB8AC3E}">
        <p14:creationId xmlns:p14="http://schemas.microsoft.com/office/powerpoint/2010/main" val="6300485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4014215-5DCB-4F43-8524-A5720F266B78}"/>
              </a:ext>
            </a:extLst>
          </p:cNvPr>
          <p:cNvSpPr>
            <a:spLocks noGrp="1"/>
          </p:cNvSpPr>
          <p:nvPr/>
        </p:nvSpPr>
        <p:spPr>
          <a:xfrm>
            <a:off x="704850" y="400050"/>
            <a:ext cx="57150" cy="819150"/>
          </a:xfrm>
          <a:prstGeom prst="rect">
            <a:avLst/>
          </a:prstGeom>
          <a:solidFill>
            <a:srgbClr val="004A73"/>
          </a:solidFill>
          <a:ln w="9525">
            <a:solidFill>
              <a:srgbClr val="004A7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6BB6285-D50A-4110-BF71-6E820AA5059B}"/>
              </a:ext>
            </a:extLst>
          </p:cNvPr>
          <p:cNvSpPr>
            <a:spLocks noGrp="1"/>
          </p:cNvSpPr>
          <p:nvPr/>
        </p:nvSpPr>
        <p:spPr>
          <a:xfrm>
            <a:off x="1000125" y="4000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2850" b="1" i="0">
                <a:solidFill>
                  <a:srgbClr val="004A73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04A73"/>
                </a:solidFill>
                <a:latin typeface="Arial"/>
                <a:ea typeface="Arial"/>
                <a:cs typeface="Arial"/>
              </a:rPr>
              <a:t>Unsupervised model family comparison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4E141E-2868-441D-A695-2E982085A352}"/>
              </a:ext>
            </a:extLst>
          </p:cNvPr>
          <p:cNvSpPr>
            <a:spLocks noGrp="1"/>
          </p:cNvSpPr>
          <p:nvPr/>
        </p:nvSpPr>
        <p:spPr>
          <a:xfrm>
            <a:off x="1028700" y="981075"/>
            <a:ext cx="9906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50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ทดลองหลาย family ก่อนล็อกโมเดล ไม่เลือกจาก K อย่างเดียว</a:t>
            </a:r>
          </a:p>
        </p:txBody>
      </p:sp>
      <p:pic>
        <p:nvPicPr>
          <p:cNvPr id="12" name="Picture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095500" y="1381125"/>
            <a:ext cx="8001000" cy="40005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7DD8DDC-AB7E-4076-A560-A2A4EAC4C6F1}"/>
              </a:ext>
            </a:extLst>
          </p:cNvPr>
          <p:cNvSpPr>
            <a:spLocks noGrp="1"/>
          </p:cNvSpPr>
          <p:nvPr/>
        </p:nvSpPr>
        <p:spPr>
          <a:xfrm>
            <a:off x="1190625" y="5619750"/>
            <a:ext cx="9810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6629"/>
          </a:bodyPr>
          <a:lstStyle/>
          <a:p>
            <a:pPr>
              <a:buNone/>
              <a:defRPr sz="1425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K-Means K=3 ให้ผลดีที่สุดในตารางเปรียบเทียบหลักของ Un track โดยมี composite score สูงสุดและ runtime ต่ำ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BB8789-D3E6-4F48-B4E9-73F83A760B8F}"/>
              </a:ext>
            </a:extLst>
          </p:cNvPr>
          <p:cNvSpPr>
            <a:spLocks noGrp="1"/>
          </p:cNvSpPr>
          <p:nvPr/>
        </p:nvSpPr>
        <p:spPr>
          <a:xfrm>
            <a:off x="762000" y="6438900"/>
            <a:ext cx="8763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900" b="0" i="1">
                <a:solidFill>
                  <a:srgbClr val="7A7A7A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7A7A7A"/>
                </a:solidFill>
                <a:latin typeface="Arial"/>
                <a:ea typeface="Arial"/>
                <a:cs typeface="Arial"/>
              </a:rPr>
              <a:t>Source: Un/outputs/tables/unsupervised_model_comparison.csv</a:t>
            </a:r>
          </a:p>
        </p:txBody>
      </p:sp>
    </p:spTree>
    <p:extLst>
      <p:ext uri="{BB962C8B-B14F-4D97-AF65-F5344CB8AC3E}">
        <p14:creationId xmlns:p14="http://schemas.microsoft.com/office/powerpoint/2010/main" val="12785923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E709B2C-E40C-4EE6-8396-F0E8B40EFCC1}"/>
              </a:ext>
            </a:extLst>
          </p:cNvPr>
          <p:cNvSpPr>
            <a:spLocks noGrp="1"/>
          </p:cNvSpPr>
          <p:nvPr/>
        </p:nvSpPr>
        <p:spPr>
          <a:xfrm>
            <a:off x="704850" y="400050"/>
            <a:ext cx="57150" cy="819150"/>
          </a:xfrm>
          <a:prstGeom prst="rect">
            <a:avLst/>
          </a:prstGeom>
          <a:solidFill>
            <a:srgbClr val="004A73"/>
          </a:solidFill>
          <a:ln w="9525">
            <a:solidFill>
              <a:srgbClr val="004A7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19963A-64A0-41C1-86D0-C2EAEBB46A40}"/>
              </a:ext>
            </a:extLst>
          </p:cNvPr>
          <p:cNvSpPr>
            <a:spLocks noGrp="1"/>
          </p:cNvSpPr>
          <p:nvPr/>
        </p:nvSpPr>
        <p:spPr>
          <a:xfrm>
            <a:off x="1000125" y="4000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2850" b="1" i="0">
                <a:solidFill>
                  <a:srgbClr val="004A73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04A73"/>
                </a:solidFill>
                <a:latin typeface="Arial"/>
                <a:ea typeface="Arial"/>
                <a:cs typeface="Arial"/>
              </a:rPr>
              <a:t>Persona size and behavior radar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1A7E032-7477-46B4-BBBB-670E51B845EA}"/>
              </a:ext>
            </a:extLst>
          </p:cNvPr>
          <p:cNvSpPr>
            <a:spLocks noGrp="1"/>
          </p:cNvSpPr>
          <p:nvPr/>
        </p:nvSpPr>
        <p:spPr>
          <a:xfrm>
            <a:off x="1028700" y="981075"/>
            <a:ext cx="9906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50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Final Un track แบ่งผู้เรียนเป็น 3 persona ตาม pattern พฤติกรรม</a:t>
            </a:r>
          </a:p>
        </p:txBody>
      </p:sp>
      <p:pic>
        <p:nvPicPr>
          <p:cNvPr id="14" name="Picture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7250" y="1873649"/>
            <a:ext cx="4762500" cy="2872578"/>
          </a:xfrm>
          <a:prstGeom prst="rect">
            <a:avLst/>
          </a:prstGeom>
        </p:spPr>
      </p:pic>
      <p:pic>
        <p:nvPicPr>
          <p:cNvPr id="15" name="Picture 1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518990" y="1428750"/>
            <a:ext cx="4297520" cy="376237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6EFBD73-9B68-4DF4-A7C3-FB75CF5A6ED4}"/>
              </a:ext>
            </a:extLst>
          </p:cNvPr>
          <p:cNvSpPr>
            <a:spLocks noGrp="1"/>
          </p:cNvSpPr>
          <p:nvPr/>
        </p:nvSpPr>
        <p:spPr>
          <a:xfrm>
            <a:off x="1000125" y="5572125"/>
            <a:ext cx="100965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5545"/>
          </a:bodyPr>
          <a:lstStyle/>
          <a:p>
            <a:pPr>
              <a:buNone/>
              <a:defRPr sz="1425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Cluster มีสัดส่วนประมาณ 13.8%, 18.5%, 16.5%, 29.1% และ 22.1% ทำให้ตีความเป็น persona ได้สมดุลกว่าการแบ่งที่กลุ่มหนึ่งใหญ่เกินไป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A26C99-B54E-410A-BEE3-24A14B4C5CD2}"/>
              </a:ext>
            </a:extLst>
          </p:cNvPr>
          <p:cNvSpPr>
            <a:spLocks noGrp="1"/>
          </p:cNvSpPr>
          <p:nvPr/>
        </p:nvSpPr>
        <p:spPr>
          <a:xfrm>
            <a:off x="762000" y="6438900"/>
            <a:ext cx="8763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900" b="0" i="1">
                <a:solidFill>
                  <a:srgbClr val="7A7A7A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7A7A7A"/>
                </a:solidFill>
                <a:latin typeface="Arial"/>
                <a:ea typeface="Arial"/>
                <a:cs typeface="Arial"/>
              </a:rPr>
              <a:t>Source: Un/outputs/tables/cluster_profiles.csv</a:t>
            </a:r>
          </a:p>
        </p:txBody>
      </p:sp>
    </p:spTree>
    <p:extLst>
      <p:ext uri="{BB962C8B-B14F-4D97-AF65-F5344CB8AC3E}">
        <p14:creationId xmlns:p14="http://schemas.microsoft.com/office/powerpoint/2010/main" val="17044347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EAAE603-35B2-4C9C-925A-C59AECD0E7B0}"/>
              </a:ext>
            </a:extLst>
          </p:cNvPr>
          <p:cNvSpPr>
            <a:spLocks noGrp="1"/>
          </p:cNvSpPr>
          <p:nvPr/>
        </p:nvSpPr>
        <p:spPr>
          <a:xfrm>
            <a:off x="704850" y="400050"/>
            <a:ext cx="57150" cy="819150"/>
          </a:xfrm>
          <a:prstGeom prst="rect">
            <a:avLst/>
          </a:prstGeom>
          <a:solidFill>
            <a:srgbClr val="004A73"/>
          </a:solidFill>
          <a:ln w="9525">
            <a:solidFill>
              <a:srgbClr val="004A7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2BE796-3008-44A2-9F0A-C8B34B048462}"/>
              </a:ext>
            </a:extLst>
          </p:cNvPr>
          <p:cNvSpPr>
            <a:spLocks noGrp="1"/>
          </p:cNvSpPr>
          <p:nvPr/>
        </p:nvSpPr>
        <p:spPr>
          <a:xfrm>
            <a:off x="1000125" y="4000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2850" b="1" i="0">
                <a:solidFill>
                  <a:srgbClr val="004A73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04A73"/>
                </a:solidFill>
                <a:latin typeface="Arial"/>
                <a:ea typeface="Arial"/>
                <a:cs typeface="Arial"/>
              </a:rPr>
              <a:t>PCA projection and posthoc outcomes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5AD48A-2600-4CB0-B672-4425386FEDD5}"/>
              </a:ext>
            </a:extLst>
          </p:cNvPr>
          <p:cNvSpPr>
            <a:spLocks noGrp="1"/>
          </p:cNvSpPr>
          <p:nvPr/>
        </p:nvSpPr>
        <p:spPr>
          <a:xfrm>
            <a:off x="1028700" y="981075"/>
            <a:ext cx="9906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50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ตรวจว่า segment แยกเชิงพฤติกรรมและสัมพันธ์กับ outcome จริงหรือไม่</a:t>
            </a:r>
          </a:p>
        </p:txBody>
      </p:sp>
      <p:pic>
        <p:nvPicPr>
          <p:cNvPr id="14" name="Picture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417265" y="1381125"/>
            <a:ext cx="3737720" cy="3905250"/>
          </a:xfrm>
          <a:prstGeom prst="rect">
            <a:avLst/>
          </a:prstGeom>
        </p:spPr>
      </p:pic>
      <p:pic>
        <p:nvPicPr>
          <p:cNvPr id="15" name="Picture 1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191250" y="2476423"/>
            <a:ext cx="5334000" cy="171465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D0929B6-A364-4757-B7C2-50EB6C45B09D}"/>
              </a:ext>
            </a:extLst>
          </p:cNvPr>
          <p:cNvSpPr>
            <a:spLocks noGrp="1"/>
          </p:cNvSpPr>
          <p:nvPr/>
        </p:nvSpPr>
        <p:spPr>
          <a:xfrm>
            <a:off x="904875" y="5572125"/>
            <a:ext cx="102870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097"/>
          </a:bodyPr>
          <a:lstStyle/>
          <a:p>
            <a:pPr>
              <a:buNone/>
              <a:defRPr sz="1425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posthoc validation ไม่ได้ใช้เลือกโมเดล แต่ใช้ตรวจว่ากลุ่มพฤติกรรมมีความสัมพันธ์กับ certification, mean grade และ incomplete rate อย่างมีนัยสำคัญ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2C8D37-28B6-49F6-9A73-05116F71B0C2}"/>
              </a:ext>
            </a:extLst>
          </p:cNvPr>
          <p:cNvSpPr>
            <a:spLocks noGrp="1"/>
          </p:cNvSpPr>
          <p:nvPr/>
        </p:nvSpPr>
        <p:spPr>
          <a:xfrm>
            <a:off x="762000" y="6438900"/>
            <a:ext cx="8763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900" b="0" i="1">
                <a:solidFill>
                  <a:srgbClr val="7A7A7A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7A7A7A"/>
                </a:solidFill>
                <a:latin typeface="Arial"/>
                <a:ea typeface="Arial"/>
                <a:cs typeface="Arial"/>
              </a:rPr>
              <a:t>MOOC Student Analytics | HarvardX-MITx learner behavior pipeline</a:t>
            </a:r>
          </a:p>
        </p:txBody>
      </p:sp>
    </p:spTree>
    <p:extLst>
      <p:ext uri="{BB962C8B-B14F-4D97-AF65-F5344CB8AC3E}">
        <p14:creationId xmlns:p14="http://schemas.microsoft.com/office/powerpoint/2010/main" val="8037230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6275AE6-9E31-4C67-9EF0-99ACA0D4E794}"/>
              </a:ext>
            </a:extLst>
          </p:cNvPr>
          <p:cNvSpPr>
            <a:spLocks noGrp="1"/>
          </p:cNvSpPr>
          <p:nvPr/>
        </p:nvSpPr>
        <p:spPr>
          <a:xfrm>
            <a:off x="704850" y="400050"/>
            <a:ext cx="57150" cy="819150"/>
          </a:xfrm>
          <a:prstGeom prst="rect">
            <a:avLst/>
          </a:prstGeom>
          <a:solidFill>
            <a:srgbClr val="004A73"/>
          </a:solidFill>
          <a:ln w="9525">
            <a:solidFill>
              <a:srgbClr val="004A7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A95AA4-A6EA-4D9A-8686-1C3981C9CDC7}"/>
              </a:ext>
            </a:extLst>
          </p:cNvPr>
          <p:cNvSpPr>
            <a:spLocks noGrp="1"/>
          </p:cNvSpPr>
          <p:nvPr/>
        </p:nvSpPr>
        <p:spPr>
          <a:xfrm>
            <a:off x="1000125" y="4000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2850" b="1" i="0">
                <a:solidFill>
                  <a:srgbClr val="004A73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04A73"/>
                </a:solidFill>
                <a:latin typeface="Arial"/>
                <a:ea typeface="Arial"/>
                <a:cs typeface="Arial"/>
              </a:rPr>
              <a:t>Supervised prediction setup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9D61C8-7717-4A91-A60D-5E0E85FCF46E}"/>
              </a:ext>
            </a:extLst>
          </p:cNvPr>
          <p:cNvSpPr>
            <a:spLocks noGrp="1"/>
          </p:cNvSpPr>
          <p:nvPr/>
        </p:nvSpPr>
        <p:spPr>
          <a:xfrm>
            <a:off x="1028700" y="981075"/>
            <a:ext cx="9906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50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Supervised track ทำนาย certified learner ด้วย split ที่กัน leakage</a:t>
            </a:r>
          </a:p>
        </p:txBody>
      </p:sp>
      <p:graphicFrame>
        <p:nvGraphicFramePr>
          <p:cNvPr id="12" name="Table 9"/>
          <p:cNvGraphicFramePr/>
          <p:nvPr/>
        </p:nvGraphicFramePr>
        <p:xfrm>
          <a:off x="1428750" y="1476375"/>
          <a:ext cx="9334500" cy="3667125"/>
        </p:xfrm>
        <a:graphic>
          <a:graphicData uri="http://schemas.openxmlformats.org/drawingml/2006/table">
            <a:tbl>
              <a:tblPr/>
              <a:tblGrid>
                <a:gridCol w="409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3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387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Item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Value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Student-level rows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335,650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Certified completers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13,881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Completion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4.136%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Train / validation /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234,955 / 50,347 / 50,348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Test positives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2,082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Anti-leakage 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split before fitting any pipeline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C221A0C5-5BEF-446A-9ABD-0CA6D19AC3D4}"/>
              </a:ext>
            </a:extLst>
          </p:cNvPr>
          <p:cNvSpPr>
            <a:spLocks noGrp="1"/>
          </p:cNvSpPr>
          <p:nvPr/>
        </p:nvSpPr>
        <p:spPr>
          <a:xfrm>
            <a:off x="1476375" y="5524500"/>
            <a:ext cx="92392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8093" lnSpcReduction="20000"/>
          </a:bodyPr>
          <a:lstStyle/>
          <a:p>
            <a:pPr>
              <a:buNone/>
              <a:defRPr sz="1575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class imbalance สูงมาก จึงใช้ ROC-AUC, PR-AUC, recall, precision, F1 และ threshold optimization แทนการดู accuracy อย่างเดียว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9C398A-6EB7-4439-852F-3B75DCAA76D6}"/>
              </a:ext>
            </a:extLst>
          </p:cNvPr>
          <p:cNvSpPr>
            <a:spLocks noGrp="1"/>
          </p:cNvSpPr>
          <p:nvPr/>
        </p:nvSpPr>
        <p:spPr>
          <a:xfrm>
            <a:off x="762000" y="6438900"/>
            <a:ext cx="8763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900" b="0" i="1">
                <a:solidFill>
                  <a:srgbClr val="7A7A7A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7A7A7A"/>
                </a:solidFill>
                <a:latin typeface="Arial"/>
                <a:ea typeface="Arial"/>
                <a:cs typeface="Arial"/>
              </a:rPr>
              <a:t>Sources: Sup/data/processed/cleaning_audit.json and Sup/outputs/reproducibility/split_summary.json</a:t>
            </a:r>
          </a:p>
        </p:txBody>
      </p:sp>
    </p:spTree>
    <p:extLst>
      <p:ext uri="{BB962C8B-B14F-4D97-AF65-F5344CB8AC3E}">
        <p14:creationId xmlns:p14="http://schemas.microsoft.com/office/powerpoint/2010/main" val="9353874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B7D40C0-5A2F-43C9-B9AE-D21409C77D2B}"/>
              </a:ext>
            </a:extLst>
          </p:cNvPr>
          <p:cNvSpPr>
            <a:spLocks noGrp="1"/>
          </p:cNvSpPr>
          <p:nvPr/>
        </p:nvSpPr>
        <p:spPr>
          <a:xfrm>
            <a:off x="704850" y="400050"/>
            <a:ext cx="57150" cy="819150"/>
          </a:xfrm>
          <a:prstGeom prst="rect">
            <a:avLst/>
          </a:prstGeom>
          <a:solidFill>
            <a:srgbClr val="004A73"/>
          </a:solidFill>
          <a:ln w="9525">
            <a:solidFill>
              <a:srgbClr val="004A7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2F1AFF2-4F0C-4D8D-86B2-FFEDA184B6E8}"/>
              </a:ext>
            </a:extLst>
          </p:cNvPr>
          <p:cNvSpPr>
            <a:spLocks noGrp="1"/>
          </p:cNvSpPr>
          <p:nvPr/>
        </p:nvSpPr>
        <p:spPr>
          <a:xfrm>
            <a:off x="1000125" y="4000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2850" b="1" i="0">
                <a:solidFill>
                  <a:srgbClr val="004A73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04A73"/>
                </a:solidFill>
                <a:latin typeface="Arial"/>
                <a:ea typeface="Arial"/>
                <a:cs typeface="Arial"/>
              </a:rPr>
              <a:t>Supervised EDA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9C04E8F-140D-4018-AAFD-3039BF5A536E}"/>
              </a:ext>
            </a:extLst>
          </p:cNvPr>
          <p:cNvSpPr>
            <a:spLocks noGrp="1"/>
          </p:cNvSpPr>
          <p:nvPr/>
        </p:nvSpPr>
        <p:spPr>
          <a:xfrm>
            <a:off x="1028700" y="981075"/>
            <a:ext cx="9906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50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ก่อนเทรนโมเดลต้องดู class imbalance และพฤติกรรมของ completer/non-completer</a:t>
            </a:r>
          </a:p>
        </p:txBody>
      </p:sp>
      <p:pic>
        <p:nvPicPr>
          <p:cNvPr id="14" name="Picture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09625" y="2476500"/>
            <a:ext cx="4953000" cy="1714500"/>
          </a:xfrm>
          <a:prstGeom prst="rect">
            <a:avLst/>
          </a:prstGeom>
        </p:spPr>
      </p:pic>
      <p:pic>
        <p:nvPicPr>
          <p:cNvPr id="15" name="Picture 1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223000" y="1428750"/>
            <a:ext cx="5080000" cy="3810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A6D1F69-45FA-4070-B25F-45DC8AF5CDCC}"/>
              </a:ext>
            </a:extLst>
          </p:cNvPr>
          <p:cNvSpPr>
            <a:spLocks noGrp="1"/>
          </p:cNvSpPr>
          <p:nvPr/>
        </p:nvSpPr>
        <p:spPr>
          <a:xfrm>
            <a:off x="1000125" y="5572125"/>
            <a:ext cx="100965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6508"/>
          </a:bodyPr>
          <a:lstStyle/>
          <a:p>
            <a:pPr>
              <a:buNone/>
              <a:defRPr sz="1425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ผู้เรียน certified มีสัดส่วนเพียง 4.136% แต่มี activity ต่างจากกลุ่มอื่นชัดเจน ทำให้ threshold และ PR-AUC สำคัญมากกว่าความแม่นยำรวม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68C1E7-EC53-4925-AC56-D2F796CD081E}"/>
              </a:ext>
            </a:extLst>
          </p:cNvPr>
          <p:cNvSpPr>
            <a:spLocks noGrp="1"/>
          </p:cNvSpPr>
          <p:nvPr/>
        </p:nvSpPr>
        <p:spPr>
          <a:xfrm>
            <a:off x="762000" y="6438900"/>
            <a:ext cx="8763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900" b="0" i="1">
                <a:solidFill>
                  <a:srgbClr val="7A7A7A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7A7A7A"/>
                </a:solidFill>
                <a:latin typeface="Arial"/>
                <a:ea typeface="Arial"/>
                <a:cs typeface="Arial"/>
              </a:rPr>
              <a:t>MOOC Student Analytics | HarvardX-MITx learner behavior pipeline</a:t>
            </a:r>
          </a:p>
        </p:txBody>
      </p:sp>
    </p:spTree>
    <p:extLst>
      <p:ext uri="{BB962C8B-B14F-4D97-AF65-F5344CB8AC3E}">
        <p14:creationId xmlns:p14="http://schemas.microsoft.com/office/powerpoint/2010/main" val="16249871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2D1F616-5D71-488F-817D-022FE208B9D9}"/>
              </a:ext>
            </a:extLst>
          </p:cNvPr>
          <p:cNvSpPr>
            <a:spLocks noGrp="1"/>
          </p:cNvSpPr>
          <p:nvPr/>
        </p:nvSpPr>
        <p:spPr>
          <a:xfrm>
            <a:off x="704850" y="400050"/>
            <a:ext cx="57150" cy="819150"/>
          </a:xfrm>
          <a:prstGeom prst="rect">
            <a:avLst/>
          </a:prstGeom>
          <a:solidFill>
            <a:srgbClr val="004A73"/>
          </a:solidFill>
          <a:ln w="9525">
            <a:solidFill>
              <a:srgbClr val="004A7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C71FB6F-80E3-47D2-9386-C0F6AC8A7718}"/>
              </a:ext>
            </a:extLst>
          </p:cNvPr>
          <p:cNvSpPr>
            <a:spLocks noGrp="1"/>
          </p:cNvSpPr>
          <p:nvPr/>
        </p:nvSpPr>
        <p:spPr>
          <a:xfrm>
            <a:off x="1000125" y="4000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2850" b="1" i="0">
                <a:solidFill>
                  <a:srgbClr val="004A73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04A73"/>
                </a:solidFill>
                <a:latin typeface="Arial"/>
                <a:ea typeface="Arial"/>
                <a:cs typeface="Arial"/>
              </a:rPr>
              <a:t>Supervised model comparison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9279999-9776-4477-947C-62450CB058CC}"/>
              </a:ext>
            </a:extLst>
          </p:cNvPr>
          <p:cNvSpPr>
            <a:spLocks noGrp="1"/>
          </p:cNvSpPr>
          <p:nvPr/>
        </p:nvSpPr>
        <p:spPr>
          <a:xfrm>
            <a:off x="1028700" y="981075"/>
            <a:ext cx="9906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50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Random Forest เป็น champion จาก balance ของ PR-AUC, F1 และ recall</a:t>
            </a:r>
          </a:p>
        </p:txBody>
      </p:sp>
      <p:pic>
        <p:nvPicPr>
          <p:cNvPr id="13" name="Picture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017395" y="1428750"/>
            <a:ext cx="8157210" cy="3905250"/>
          </a:xfrm>
          <a:prstGeom prst="rect">
            <a:avLst/>
          </a:prstGeom>
        </p:spPr>
      </p:pic>
      <p:graphicFrame>
        <p:nvGraphicFramePr>
          <p:cNvPr id="14" name="Table 10"/>
          <p:cNvGraphicFramePr/>
          <p:nvPr/>
        </p:nvGraphicFramePr>
        <p:xfrm>
          <a:off x="1143000" y="5619750"/>
          <a:ext cx="9906000" cy="742950"/>
        </p:xfrm>
        <a:graphic>
          <a:graphicData uri="http://schemas.openxmlformats.org/drawingml/2006/table">
            <a:tbl>
              <a:tblPr/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Champion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ROC-AUC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PR-AUC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F1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Precision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Recall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Accuracy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Random Forest d15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0.9933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0.8476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0.7889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0.7422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0.8420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0.9814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799F4F8D-F136-48CC-921E-4A5CB9EEB0BD}"/>
              </a:ext>
            </a:extLst>
          </p:cNvPr>
          <p:cNvSpPr>
            <a:spLocks noGrp="1"/>
          </p:cNvSpPr>
          <p:nvPr/>
        </p:nvSpPr>
        <p:spPr>
          <a:xfrm>
            <a:off x="762000" y="6438900"/>
            <a:ext cx="8763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900" b="0" i="1">
                <a:solidFill>
                  <a:srgbClr val="7A7A7A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7A7A7A"/>
                </a:solidFill>
                <a:latin typeface="Arial"/>
                <a:ea typeface="Arial"/>
                <a:cs typeface="Arial"/>
              </a:rPr>
              <a:t>Source: Sup/outputs/tables/test_evaluation_summary.csv</a:t>
            </a:r>
          </a:p>
        </p:txBody>
      </p:sp>
    </p:spTree>
    <p:extLst>
      <p:ext uri="{BB962C8B-B14F-4D97-AF65-F5344CB8AC3E}">
        <p14:creationId xmlns:p14="http://schemas.microsoft.com/office/powerpoint/2010/main" val="19048425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E15C5B0-44DF-4D70-BF1F-8849D221708B}"/>
              </a:ext>
            </a:extLst>
          </p:cNvPr>
          <p:cNvSpPr>
            <a:spLocks noGrp="1"/>
          </p:cNvSpPr>
          <p:nvPr/>
        </p:nvSpPr>
        <p:spPr>
          <a:xfrm>
            <a:off x="704850" y="400050"/>
            <a:ext cx="57150" cy="819150"/>
          </a:xfrm>
          <a:prstGeom prst="rect">
            <a:avLst/>
          </a:prstGeom>
          <a:solidFill>
            <a:srgbClr val="004A73"/>
          </a:solidFill>
          <a:ln w="9525">
            <a:solidFill>
              <a:srgbClr val="004A7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8E4F64-8B13-4DDE-9936-EAC7C173398B}"/>
              </a:ext>
            </a:extLst>
          </p:cNvPr>
          <p:cNvSpPr>
            <a:spLocks noGrp="1"/>
          </p:cNvSpPr>
          <p:nvPr/>
        </p:nvSpPr>
        <p:spPr>
          <a:xfrm>
            <a:off x="1000125" y="4000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2850" b="1" i="0">
                <a:solidFill>
                  <a:srgbClr val="004A73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04A73"/>
                </a:solidFill>
                <a:latin typeface="Arial"/>
                <a:ea typeface="Arial"/>
                <a:cs typeface="Arial"/>
              </a:rPr>
              <a:t>Confusion matrix and error analysis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21E834-A8CD-4CDE-B101-8D1B567EAA9C}"/>
              </a:ext>
            </a:extLst>
          </p:cNvPr>
          <p:cNvSpPr>
            <a:spLocks noGrp="1"/>
          </p:cNvSpPr>
          <p:nvPr/>
        </p:nvSpPr>
        <p:spPr>
          <a:xfrm>
            <a:off x="1028700" y="981075"/>
            <a:ext cx="9906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50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ผลลัพธ์ต้องอ่านร่วมกับ false negative และ false positive</a:t>
            </a:r>
          </a:p>
        </p:txBody>
      </p:sp>
      <p:pic>
        <p:nvPicPr>
          <p:cNvPr id="14" name="Picture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6750" y="1605966"/>
            <a:ext cx="5429250" cy="3455568"/>
          </a:xfrm>
          <a:prstGeom prst="rect">
            <a:avLst/>
          </a:prstGeom>
        </p:spPr>
      </p:pic>
      <p:graphicFrame>
        <p:nvGraphicFramePr>
          <p:cNvPr id="15" name="Table 11"/>
          <p:cNvGraphicFramePr/>
          <p:nvPr/>
        </p:nvGraphicFramePr>
        <p:xfrm>
          <a:off x="6381750" y="1571625"/>
          <a:ext cx="5143500" cy="2714625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78656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Type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Count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 events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 active days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 prob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8656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Correct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49,410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408.0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5.95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0.0566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8656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False negative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329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1,676.7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21.16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0.5860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8656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False 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609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4,322.7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42.51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0.9389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34E79391-F112-4A07-914C-0ED6220D8E7F}"/>
              </a:ext>
            </a:extLst>
          </p:cNvPr>
          <p:cNvSpPr>
            <a:spLocks noGrp="1"/>
          </p:cNvSpPr>
          <p:nvPr/>
        </p:nvSpPr>
        <p:spPr>
          <a:xfrm>
            <a:off x="6334125" y="4619625"/>
            <a:ext cx="5191125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False negatives คือ completer ที่ถูกพลาด ส่วน false positives คือผู้เรียน active สูงแต่ไม่ certified จึงควรใช้โมเดลเพื่อจัดลำดับ intervention ไม่ใช่ตัดสินผลลัพธ์แบบเด็ดขาด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547A0A-750B-4F3A-837F-DFB63D474B8B}"/>
              </a:ext>
            </a:extLst>
          </p:cNvPr>
          <p:cNvSpPr>
            <a:spLocks noGrp="1"/>
          </p:cNvSpPr>
          <p:nvPr/>
        </p:nvSpPr>
        <p:spPr>
          <a:xfrm>
            <a:off x="762000" y="6438900"/>
            <a:ext cx="8763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900" b="0" i="1">
                <a:solidFill>
                  <a:srgbClr val="7A7A7A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7A7A7A"/>
                </a:solidFill>
                <a:latin typeface="Arial"/>
                <a:ea typeface="Arial"/>
                <a:cs typeface="Arial"/>
              </a:rPr>
              <a:t>Source: Sup/outputs/tables/error_analysis.csv</a:t>
            </a:r>
          </a:p>
        </p:txBody>
      </p:sp>
    </p:spTree>
    <p:extLst>
      <p:ext uri="{BB962C8B-B14F-4D97-AF65-F5344CB8AC3E}">
        <p14:creationId xmlns:p14="http://schemas.microsoft.com/office/powerpoint/2010/main" val="20577161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7F83639-00B4-42A0-9383-F7D06A22C3EE}"/>
              </a:ext>
            </a:extLst>
          </p:cNvPr>
          <p:cNvSpPr>
            <a:spLocks noGrp="1"/>
          </p:cNvSpPr>
          <p:nvPr/>
        </p:nvSpPr>
        <p:spPr>
          <a:xfrm>
            <a:off x="704850" y="400050"/>
            <a:ext cx="57150" cy="819150"/>
          </a:xfrm>
          <a:prstGeom prst="rect">
            <a:avLst/>
          </a:prstGeom>
          <a:solidFill>
            <a:srgbClr val="004A73"/>
          </a:solidFill>
          <a:ln w="9525">
            <a:solidFill>
              <a:srgbClr val="004A7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3BEEC7-E825-4084-AC37-D8C05FE9D10D}"/>
              </a:ext>
            </a:extLst>
          </p:cNvPr>
          <p:cNvSpPr>
            <a:spLocks noGrp="1"/>
          </p:cNvSpPr>
          <p:nvPr/>
        </p:nvSpPr>
        <p:spPr>
          <a:xfrm>
            <a:off x="1000125" y="4000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2850" b="1" i="0">
                <a:solidFill>
                  <a:srgbClr val="004A73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04A73"/>
                </a:solidFill>
                <a:latin typeface="Arial"/>
                <a:ea typeface="Arial"/>
                <a:cs typeface="Arial"/>
              </a:rPr>
              <a:t>ROC, PR and calibration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4B7559-90C1-43E5-9BD8-755576AF146E}"/>
              </a:ext>
            </a:extLst>
          </p:cNvPr>
          <p:cNvSpPr>
            <a:spLocks noGrp="1"/>
          </p:cNvSpPr>
          <p:nvPr/>
        </p:nvSpPr>
        <p:spPr>
          <a:xfrm>
            <a:off x="1028700" y="981075"/>
            <a:ext cx="9906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50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ตรวจความสามารถแยกกลุ่มและความน่าเชื่อถือของ probability</a:t>
            </a:r>
          </a:p>
        </p:txBody>
      </p:sp>
      <p:pic>
        <p:nvPicPr>
          <p:cNvPr id="16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23875" y="2074201"/>
            <a:ext cx="3619500" cy="2328598"/>
          </a:xfrm>
          <a:prstGeom prst="rect">
            <a:avLst/>
          </a:prstGeom>
        </p:spPr>
      </p:pic>
      <p:pic>
        <p:nvPicPr>
          <p:cNvPr id="17" name="Picture 1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286250" y="2074201"/>
            <a:ext cx="3619500" cy="2328598"/>
          </a:xfrm>
          <a:prstGeom prst="rect">
            <a:avLst/>
          </a:prstGeom>
        </p:spPr>
      </p:pic>
      <p:pic>
        <p:nvPicPr>
          <p:cNvPr id="18" name="Picture 13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048625" y="2068549"/>
            <a:ext cx="3619500" cy="233990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3D9AA98-92D6-45E7-A3DC-8B980569C812}"/>
              </a:ext>
            </a:extLst>
          </p:cNvPr>
          <p:cNvSpPr>
            <a:spLocks noGrp="1"/>
          </p:cNvSpPr>
          <p:nvPr/>
        </p:nvSpPr>
        <p:spPr>
          <a:xfrm>
            <a:off x="904875" y="5572125"/>
            <a:ext cx="102870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987"/>
          </a:bodyPr>
          <a:lstStyle/>
          <a:p>
            <a:pPr>
              <a:buNone/>
              <a:defRPr sz="1425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ROC-AUC สูงมาก แต่เพราะ positive class น้อย PR curve และ calibration สำคัญต่อการใช้งานจริง โดยเฉพาะการเลือก threshold ที่ลด missed completer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808662-BF1E-42BF-B97A-4FB3BF5E4324}"/>
              </a:ext>
            </a:extLst>
          </p:cNvPr>
          <p:cNvSpPr>
            <a:spLocks noGrp="1"/>
          </p:cNvSpPr>
          <p:nvPr/>
        </p:nvSpPr>
        <p:spPr>
          <a:xfrm>
            <a:off x="762000" y="6438900"/>
            <a:ext cx="8763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900" b="0" i="1">
                <a:solidFill>
                  <a:srgbClr val="7A7A7A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7A7A7A"/>
                </a:solidFill>
                <a:latin typeface="Arial"/>
                <a:ea typeface="Arial"/>
                <a:cs typeface="Arial"/>
              </a:rPr>
              <a:t>MOOC Student Analytics | HarvardX-MITx learner behavior pipeline</a:t>
            </a:r>
          </a:p>
        </p:txBody>
      </p:sp>
    </p:spTree>
    <p:extLst>
      <p:ext uri="{BB962C8B-B14F-4D97-AF65-F5344CB8AC3E}">
        <p14:creationId xmlns:p14="http://schemas.microsoft.com/office/powerpoint/2010/main" val="4758477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7F4CD45-D4DA-49FC-B1F0-99C13081DA88}"/>
              </a:ext>
            </a:extLst>
          </p:cNvPr>
          <p:cNvSpPr>
            <a:spLocks noGrp="1"/>
          </p:cNvSpPr>
          <p:nvPr/>
        </p:nvSpPr>
        <p:spPr>
          <a:xfrm>
            <a:off x="704850" y="400050"/>
            <a:ext cx="57150" cy="819150"/>
          </a:xfrm>
          <a:prstGeom prst="rect">
            <a:avLst/>
          </a:prstGeom>
          <a:solidFill>
            <a:srgbClr val="004A73"/>
          </a:solidFill>
          <a:ln w="9525">
            <a:solidFill>
              <a:srgbClr val="004A7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8D5E840-9AD2-4ECD-B14E-CC5A105881C4}"/>
              </a:ext>
            </a:extLst>
          </p:cNvPr>
          <p:cNvSpPr>
            <a:spLocks noGrp="1"/>
          </p:cNvSpPr>
          <p:nvPr/>
        </p:nvSpPr>
        <p:spPr>
          <a:xfrm>
            <a:off x="1000125" y="4000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2850" b="1" i="0">
                <a:solidFill>
                  <a:srgbClr val="004A73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04A73"/>
                </a:solidFill>
                <a:latin typeface="Arial"/>
                <a:ea typeface="Arial"/>
                <a:cs typeface="Arial"/>
              </a:rPr>
              <a:t>Feature importance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CA3D6B-3DCE-4ED1-B6BD-D32EC3664B4A}"/>
              </a:ext>
            </a:extLst>
          </p:cNvPr>
          <p:cNvSpPr>
            <a:spLocks noGrp="1"/>
          </p:cNvSpPr>
          <p:nvPr/>
        </p:nvSpPr>
        <p:spPr>
          <a:xfrm>
            <a:off x="1028700" y="981075"/>
            <a:ext cx="9906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50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โมเดลพึ่งพา feature เชิง activity และ course progress เป็นหลัก</a:t>
            </a:r>
          </a:p>
        </p:txBody>
      </p:sp>
      <p:pic>
        <p:nvPicPr>
          <p:cNvPr id="12" name="Picture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078923" y="1381125"/>
            <a:ext cx="6034154" cy="39052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D85BD41-122F-4380-9DA6-E4C8831B404F}"/>
              </a:ext>
            </a:extLst>
          </p:cNvPr>
          <p:cNvSpPr>
            <a:spLocks noGrp="1"/>
          </p:cNvSpPr>
          <p:nvPr/>
        </p:nvSpPr>
        <p:spPr>
          <a:xfrm>
            <a:off x="1238250" y="5572125"/>
            <a:ext cx="97155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7325" lnSpcReduction="10000"/>
          </a:bodyPr>
          <a:lstStyle/>
          <a:p>
            <a:pPr>
              <a:buNone/>
              <a:defRPr sz="1425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feature สำคัญสูงสุดคือ max_chapters_single_course, total_chapters, total_active_days, overall_span_days, max_events_single_course และ total_events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53D5F6-2C49-4903-969C-7847BD6B59CB}"/>
              </a:ext>
            </a:extLst>
          </p:cNvPr>
          <p:cNvSpPr>
            <a:spLocks noGrp="1"/>
          </p:cNvSpPr>
          <p:nvPr/>
        </p:nvSpPr>
        <p:spPr>
          <a:xfrm>
            <a:off x="762000" y="6438900"/>
            <a:ext cx="8763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900" b="0" i="1">
                <a:solidFill>
                  <a:srgbClr val="7A7A7A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7A7A7A"/>
                </a:solidFill>
                <a:latin typeface="Arial"/>
                <a:ea typeface="Arial"/>
                <a:cs typeface="Arial"/>
              </a:rPr>
              <a:t>Source: Sup/outputs/tables/feature_importance.csv</a:t>
            </a:r>
          </a:p>
        </p:txBody>
      </p:sp>
    </p:spTree>
    <p:extLst>
      <p:ext uri="{BB962C8B-B14F-4D97-AF65-F5344CB8AC3E}">
        <p14:creationId xmlns:p14="http://schemas.microsoft.com/office/powerpoint/2010/main" val="1144716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6F27750-29B0-4FDA-A690-6D19971AE8F5}"/>
              </a:ext>
            </a:extLst>
          </p:cNvPr>
          <p:cNvSpPr>
            <a:spLocks noGrp="1"/>
          </p:cNvSpPr>
          <p:nvPr/>
        </p:nvSpPr>
        <p:spPr>
          <a:xfrm>
            <a:off x="704850" y="400050"/>
            <a:ext cx="57150" cy="819150"/>
          </a:xfrm>
          <a:prstGeom prst="rect">
            <a:avLst/>
          </a:prstGeom>
          <a:solidFill>
            <a:srgbClr val="004A73"/>
          </a:solidFill>
          <a:ln w="9525">
            <a:solidFill>
              <a:srgbClr val="004A7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5FDB780-A3C3-4601-845A-776EED8DA080}"/>
              </a:ext>
            </a:extLst>
          </p:cNvPr>
          <p:cNvSpPr>
            <a:spLocks noGrp="1"/>
          </p:cNvSpPr>
          <p:nvPr/>
        </p:nvSpPr>
        <p:spPr>
          <a:xfrm>
            <a:off x="1000125" y="4000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2850" b="1" i="0">
                <a:solidFill>
                  <a:srgbClr val="004A73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04A73"/>
                </a:solidFill>
                <a:latin typeface="Arial"/>
                <a:ea typeface="Arial"/>
                <a:cs typeface="Arial"/>
              </a:rPr>
              <a:t>Deep learning track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2091B89-204D-4D0A-8DAC-8AF8BE2DDE7D}"/>
              </a:ext>
            </a:extLst>
          </p:cNvPr>
          <p:cNvSpPr>
            <a:spLocks noGrp="1"/>
          </p:cNvSpPr>
          <p:nvPr/>
        </p:nvSpPr>
        <p:spPr>
          <a:xfrm>
            <a:off x="1028700" y="981075"/>
            <a:ext cx="9906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50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MLP ให้ผลใกล้ supervised champion แต่ยังต้องดู runtime และการอธิบายผล</a:t>
            </a:r>
          </a:p>
        </p:txBody>
      </p:sp>
      <p:pic>
        <p:nvPicPr>
          <p:cNvPr id="14" name="Picture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628900" y="1651165"/>
            <a:ext cx="6381750" cy="2382190"/>
          </a:xfrm>
          <a:prstGeom prst="rect">
            <a:avLst/>
          </a:prstGeom>
        </p:spPr>
      </p:pic>
      <p:graphicFrame>
        <p:nvGraphicFramePr>
          <p:cNvPr id="15" name="Table 11"/>
          <p:cNvGraphicFramePr/>
          <p:nvPr/>
        </p:nvGraphicFramePr>
        <p:xfrm>
          <a:off x="1752600" y="4484370"/>
          <a:ext cx="4667250" cy="114300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Selected deep model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PR-AUC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ROC-AUC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F1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Recall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Precision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MLP 128,64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0.8388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0.9947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0.7917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0.8421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0.7470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1D1865FE-9930-42AD-AF74-DB8E5423FA1A}"/>
              </a:ext>
            </a:extLst>
          </p:cNvPr>
          <p:cNvSpPr>
            <a:spLocks noGrp="1"/>
          </p:cNvSpPr>
          <p:nvPr/>
        </p:nvSpPr>
        <p:spPr>
          <a:xfrm>
            <a:off x="6724650" y="4484370"/>
            <a:ext cx="3714750" cy="11906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Deep model ชนะบาง metric เช่น ROC-AUC และ F1 ใกล้เคียงมาก แต่ Random Forest ยังตีความง่ายกว่าและมี feature importance ที่ตรงกับพฤติกรรมผู้เรียน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882492-4CF1-400D-936C-C12FDD0D5AC0}"/>
              </a:ext>
            </a:extLst>
          </p:cNvPr>
          <p:cNvSpPr>
            <a:spLocks noGrp="1"/>
          </p:cNvSpPr>
          <p:nvPr/>
        </p:nvSpPr>
        <p:spPr>
          <a:xfrm>
            <a:off x="762000" y="6438900"/>
            <a:ext cx="8763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900" b="0" i="1">
                <a:solidFill>
                  <a:srgbClr val="7A7A7A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7A7A7A"/>
                </a:solidFill>
                <a:latin typeface="Arial"/>
                <a:ea typeface="Arial"/>
                <a:cs typeface="Arial"/>
              </a:rPr>
              <a:t>Source: outputs/tables/deep_learning_model_comparison.csv</a:t>
            </a:r>
          </a:p>
        </p:txBody>
      </p:sp>
    </p:spTree>
    <p:extLst>
      <p:ext uri="{BB962C8B-B14F-4D97-AF65-F5344CB8AC3E}">
        <p14:creationId xmlns:p14="http://schemas.microsoft.com/office/powerpoint/2010/main" val="15395175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F9EFC4E-7C22-4745-8B27-3D92A0D398C8}"/>
              </a:ext>
            </a:extLst>
          </p:cNvPr>
          <p:cNvSpPr>
            <a:spLocks noGrp="1"/>
          </p:cNvSpPr>
          <p:nvPr/>
        </p:nvSpPr>
        <p:spPr>
          <a:xfrm>
            <a:off x="704850" y="400050"/>
            <a:ext cx="57150" cy="819150"/>
          </a:xfrm>
          <a:prstGeom prst="rect">
            <a:avLst/>
          </a:prstGeom>
          <a:solidFill>
            <a:srgbClr val="004A73"/>
          </a:solidFill>
          <a:ln w="9525">
            <a:solidFill>
              <a:srgbClr val="004A7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03ABC7-95E6-460D-AA63-F73C3B477936}"/>
              </a:ext>
            </a:extLst>
          </p:cNvPr>
          <p:cNvSpPr>
            <a:spLocks noGrp="1"/>
          </p:cNvSpPr>
          <p:nvPr/>
        </p:nvSpPr>
        <p:spPr>
          <a:xfrm>
            <a:off x="1000125" y="4000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2850" b="1" i="0">
                <a:solidFill>
                  <a:srgbClr val="004A73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04A73"/>
                </a:solidFill>
                <a:latin typeface="Arial"/>
                <a:ea typeface="Arial"/>
                <a:cs typeface="Arial"/>
              </a:rPr>
              <a:t>LLM and transformer track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77E3EA-5A58-48F0-8402-619BF127531B}"/>
              </a:ext>
            </a:extLst>
          </p:cNvPr>
          <p:cNvSpPr>
            <a:spLocks noGrp="1"/>
          </p:cNvSpPr>
          <p:nvPr/>
        </p:nvSpPr>
        <p:spPr>
          <a:xfrm>
            <a:off x="1028700" y="981075"/>
            <a:ext cx="9906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50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LLM ใช้แปลงพฤติกรรมผู้เรียนเป็นข้อความแล้วประเมินผ่านโมเดล AI ที่รันได้จริง</a:t>
            </a:r>
          </a:p>
        </p:txBody>
      </p:sp>
      <p:pic>
        <p:nvPicPr>
          <p:cNvPr id="14" name="Picture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14375" y="1470772"/>
            <a:ext cx="5143500" cy="3630706"/>
          </a:xfrm>
          <a:prstGeom prst="rect">
            <a:avLst/>
          </a:prstGeom>
        </p:spPr>
      </p:pic>
      <p:pic>
        <p:nvPicPr>
          <p:cNvPr id="15" name="Picture 1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191250" y="2013469"/>
            <a:ext cx="5143500" cy="254531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FA62264-BBB0-4652-A05A-8C258D9C718D}"/>
              </a:ext>
            </a:extLst>
          </p:cNvPr>
          <p:cNvSpPr>
            <a:spLocks noGrp="1"/>
          </p:cNvSpPr>
          <p:nvPr/>
        </p:nvSpPr>
        <p:spPr>
          <a:xfrm>
            <a:off x="857250" y="5572125"/>
            <a:ext cx="104775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ผลจริงที่ครบคือ Gemini full test 1,800 students: Accuracy 0.9628, Precision 0.4615, Recall 0.9310, F1 0.6171, ROC-AUC 0.9810 ส่วน OpenAI/Claude simulated ถูก quarantine ไม่ใช้เป็นผลจริง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D75565-1682-4343-8A68-7D0C68F61F1F}"/>
              </a:ext>
            </a:extLst>
          </p:cNvPr>
          <p:cNvSpPr>
            <a:spLocks noGrp="1"/>
          </p:cNvSpPr>
          <p:nvPr/>
        </p:nvSpPr>
        <p:spPr>
          <a:xfrm>
            <a:off x="762000" y="6438900"/>
            <a:ext cx="8763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900" b="0" i="1">
                <a:solidFill>
                  <a:srgbClr val="7A7A7A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7A7A7A"/>
                </a:solidFill>
                <a:latin typeface="Arial"/>
                <a:ea typeface="Arial"/>
                <a:cs typeface="Arial"/>
              </a:rPr>
              <a:t>Source: outputs/tables/llm_comparative_model_comparison.csv and llm_api_provider_status.csv</a:t>
            </a:r>
          </a:p>
        </p:txBody>
      </p:sp>
    </p:spTree>
    <p:extLst>
      <p:ext uri="{BB962C8B-B14F-4D97-AF65-F5344CB8AC3E}">
        <p14:creationId xmlns:p14="http://schemas.microsoft.com/office/powerpoint/2010/main" val="14062840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43887DF-4944-40DB-9369-4E908AD1631E}"/>
              </a:ext>
            </a:extLst>
          </p:cNvPr>
          <p:cNvSpPr>
            <a:spLocks noGrp="1"/>
          </p:cNvSpPr>
          <p:nvPr/>
        </p:nvSpPr>
        <p:spPr>
          <a:xfrm>
            <a:off x="704850" y="400050"/>
            <a:ext cx="57150" cy="819150"/>
          </a:xfrm>
          <a:prstGeom prst="rect">
            <a:avLst/>
          </a:prstGeom>
          <a:solidFill>
            <a:srgbClr val="004A73"/>
          </a:solidFill>
          <a:ln w="9525">
            <a:solidFill>
              <a:srgbClr val="004A7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49119E9-968B-40BF-A906-7D1E531CA4E5}"/>
              </a:ext>
            </a:extLst>
          </p:cNvPr>
          <p:cNvSpPr>
            <a:spLocks noGrp="1"/>
          </p:cNvSpPr>
          <p:nvPr/>
        </p:nvSpPr>
        <p:spPr>
          <a:xfrm>
            <a:off x="1000125" y="4000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2850" b="1" i="0">
                <a:solidFill>
                  <a:srgbClr val="004A73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04A73"/>
                </a:solidFill>
                <a:latin typeface="Arial"/>
                <a:ea typeface="Arial"/>
                <a:cs typeface="Arial"/>
              </a:rPr>
              <a:t>All-track comparison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C20DD06-FB52-41DD-B0F6-05E889B7DD27}"/>
              </a:ext>
            </a:extLst>
          </p:cNvPr>
          <p:cNvSpPr>
            <a:spLocks noGrp="1"/>
          </p:cNvSpPr>
          <p:nvPr/>
        </p:nvSpPr>
        <p:spPr>
          <a:xfrm>
            <a:off x="1028700" y="981075"/>
            <a:ext cx="9906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50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เปรียบเทียบผลจาก Un, Sup, Deep และ LLM ใน narrative เดียว</a:t>
            </a:r>
          </a:p>
        </p:txBody>
      </p:sp>
      <p:pic>
        <p:nvPicPr>
          <p:cNvPr id="12" name="Picture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109945" y="1381125"/>
            <a:ext cx="7972109" cy="3810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B46F1F1-991D-4285-AB5D-A829B8457FE0}"/>
              </a:ext>
            </a:extLst>
          </p:cNvPr>
          <p:cNvSpPr>
            <a:spLocks noGrp="1"/>
          </p:cNvSpPr>
          <p:nvPr/>
        </p:nvSpPr>
        <p:spPr>
          <a:xfrm>
            <a:off x="1000125" y="5572125"/>
            <a:ext cx="10096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8148"/>
          </a:bodyPr>
          <a:lstStyle/>
          <a:p>
            <a:pPr>
              <a:buNone/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ผลรวมชี้ว่า tabular supervised และ deep learning เหมาะกับ prediction ส่วน unsupervised เหมาะกับ persona และ LLM เหมาะกับการอธิบายพฤติกรรมจากข้อความ แต่มีข้อจำกัดเรื่อง cost, API และ comparability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76ED29-DB1C-46A5-AEDF-B96688648EB3}"/>
              </a:ext>
            </a:extLst>
          </p:cNvPr>
          <p:cNvSpPr>
            <a:spLocks noGrp="1"/>
          </p:cNvSpPr>
          <p:nvPr/>
        </p:nvSpPr>
        <p:spPr>
          <a:xfrm>
            <a:off x="762000" y="6438900"/>
            <a:ext cx="8763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900" b="0" i="1">
                <a:solidFill>
                  <a:srgbClr val="7A7A7A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7A7A7A"/>
                </a:solidFill>
                <a:latin typeface="Arial"/>
                <a:ea typeface="Arial"/>
                <a:cs typeface="Arial"/>
              </a:rPr>
              <a:t>MOOC Student Analytics | HarvardX-MITx learner behavior pipeline</a:t>
            </a:r>
          </a:p>
        </p:txBody>
      </p:sp>
    </p:spTree>
    <p:extLst>
      <p:ext uri="{BB962C8B-B14F-4D97-AF65-F5344CB8AC3E}">
        <p14:creationId xmlns:p14="http://schemas.microsoft.com/office/powerpoint/2010/main" val="10931367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4FE320A-6D8F-48D0-BDBA-3A327A7E8D5D}"/>
              </a:ext>
            </a:extLst>
          </p:cNvPr>
          <p:cNvSpPr>
            <a:spLocks noGrp="1"/>
          </p:cNvSpPr>
          <p:nvPr/>
        </p:nvSpPr>
        <p:spPr>
          <a:xfrm>
            <a:off x="704850" y="400050"/>
            <a:ext cx="57150" cy="819150"/>
          </a:xfrm>
          <a:prstGeom prst="rect">
            <a:avLst/>
          </a:prstGeom>
          <a:solidFill>
            <a:srgbClr val="004A73"/>
          </a:solidFill>
          <a:ln w="9525">
            <a:solidFill>
              <a:srgbClr val="004A7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C7A155-46B7-48C7-99F1-BB76D19D7406}"/>
              </a:ext>
            </a:extLst>
          </p:cNvPr>
          <p:cNvSpPr>
            <a:spLocks noGrp="1"/>
          </p:cNvSpPr>
          <p:nvPr/>
        </p:nvSpPr>
        <p:spPr>
          <a:xfrm>
            <a:off x="1000125" y="4000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2850" b="1" i="0">
                <a:solidFill>
                  <a:srgbClr val="004A73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04A73"/>
                </a:solidFill>
                <a:latin typeface="Arial"/>
                <a:ea typeface="Arial"/>
                <a:cs typeface="Arial"/>
              </a:rPr>
              <a:t>Deployment and monitoring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18A6F0-9E59-42F0-9EED-DA09F8A4E26A}"/>
              </a:ext>
            </a:extLst>
          </p:cNvPr>
          <p:cNvSpPr>
            <a:spLocks noGrp="1"/>
          </p:cNvSpPr>
          <p:nvPr/>
        </p:nvSpPr>
        <p:spPr>
          <a:xfrm>
            <a:off x="1028700" y="981075"/>
            <a:ext cx="9906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50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ผลลัพธ์ถูกเตรียมเป็น pipeline, schema และ dashboard เพื่อตรวจซ้ำได้</a:t>
            </a:r>
          </a:p>
        </p:txBody>
      </p:sp>
      <p:graphicFrame>
        <p:nvGraphicFramePr>
          <p:cNvPr id="12" name="Table 9"/>
          <p:cNvGraphicFramePr/>
          <p:nvPr/>
        </p:nvGraphicFramePr>
        <p:xfrm>
          <a:off x="1143000" y="1571625"/>
          <a:ext cx="9906000" cy="3143250"/>
        </p:xfrm>
        <a:graphic>
          <a:graphicData uri="http://schemas.openxmlformats.org/drawingml/2006/table">
            <a:tbl>
              <a:tblPr/>
              <a:tblGrid>
                <a:gridCol w="3333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72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387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Artifact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Purpose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student_segmentation_report.html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dashboard รวมผล data, EDA, Un/Sup/Deep/LLM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clustering_pipeline.joblib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deployment artifact สำหรับ segment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supervised_model.joblib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deployment artifact สำหรับ risk prediction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input_schema.json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ตรวจ schema ก่อน inference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monitoring PSI report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ตรวจ drift และ trigger retraining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201BDC1B-4B86-468D-960E-572467FE8032}"/>
              </a:ext>
            </a:extLst>
          </p:cNvPr>
          <p:cNvSpPr>
            <a:spLocks noGrp="1"/>
          </p:cNvSpPr>
          <p:nvPr/>
        </p:nvSpPr>
        <p:spPr>
          <a:xfrm>
            <a:off x="1333500" y="5191125"/>
            <a:ext cx="9525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575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ควร monitor distribution ของ feature, persona share, recall/F1 และ data drift เพราะ MOOC behavior อาจเปลี่ยนตาม course offering และ platform design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54F940-92D9-4FC7-A29C-33BB0C1B36D7}"/>
              </a:ext>
            </a:extLst>
          </p:cNvPr>
          <p:cNvSpPr>
            <a:spLocks noGrp="1"/>
          </p:cNvSpPr>
          <p:nvPr/>
        </p:nvSpPr>
        <p:spPr>
          <a:xfrm>
            <a:off x="762000" y="6438900"/>
            <a:ext cx="8763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900" b="0" i="1">
                <a:solidFill>
                  <a:srgbClr val="7A7A7A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7A7A7A"/>
                </a:solidFill>
                <a:latin typeface="Arial"/>
                <a:ea typeface="Arial"/>
                <a:cs typeface="Arial"/>
              </a:rPr>
              <a:t>MOOC Student Analytics | HarvardX-MITx learner behavior pipeline</a:t>
            </a:r>
          </a:p>
        </p:txBody>
      </p:sp>
    </p:spTree>
    <p:extLst>
      <p:ext uri="{BB962C8B-B14F-4D97-AF65-F5344CB8AC3E}">
        <p14:creationId xmlns:p14="http://schemas.microsoft.com/office/powerpoint/2010/main" val="9687386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4AD4762-B13F-4B84-A5BB-1A6C515DFBF2}"/>
              </a:ext>
            </a:extLst>
          </p:cNvPr>
          <p:cNvSpPr>
            <a:spLocks noGrp="1"/>
          </p:cNvSpPr>
          <p:nvPr/>
        </p:nvSpPr>
        <p:spPr>
          <a:xfrm>
            <a:off x="704850" y="400050"/>
            <a:ext cx="57150" cy="819150"/>
          </a:xfrm>
          <a:prstGeom prst="rect">
            <a:avLst/>
          </a:prstGeom>
          <a:solidFill>
            <a:srgbClr val="004A73"/>
          </a:solidFill>
          <a:ln w="9525">
            <a:solidFill>
              <a:srgbClr val="004A7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853364-5BC0-4649-B85C-FFE10DF5E698}"/>
              </a:ext>
            </a:extLst>
          </p:cNvPr>
          <p:cNvSpPr>
            <a:spLocks noGrp="1"/>
          </p:cNvSpPr>
          <p:nvPr/>
        </p:nvSpPr>
        <p:spPr>
          <a:xfrm>
            <a:off x="1000125" y="4000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2850" b="1" i="0">
                <a:solidFill>
                  <a:srgbClr val="004A73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04A73"/>
                </a:solidFill>
                <a:latin typeface="Arial"/>
                <a:ea typeface="Arial"/>
                <a:cs typeface="Arial"/>
              </a:rPr>
              <a:t>Main findings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BCEEDA-DA46-44CF-98C9-5BE93766A508}"/>
              </a:ext>
            </a:extLst>
          </p:cNvPr>
          <p:cNvSpPr>
            <a:spLocks noGrp="1"/>
          </p:cNvSpPr>
          <p:nvPr/>
        </p:nvSpPr>
        <p:spPr>
          <a:xfrm>
            <a:off x="1028700" y="981075"/>
            <a:ext cx="9906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50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ข้อสรุปที่ใช้เล่าในห้องนำเสนอ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EB89E9-0E7B-4302-9780-2793E1B9B384}"/>
              </a:ext>
            </a:extLst>
          </p:cNvPr>
          <p:cNvSpPr>
            <a:spLocks noGrp="1"/>
          </p:cNvSpPr>
          <p:nvPr/>
        </p:nvSpPr>
        <p:spPr>
          <a:xfrm>
            <a:off x="1143000" y="1571625"/>
            <a:ext cx="9906000" cy="5810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575" b="0" i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• Merged pipeline ทำให้ grain และ cleaning audit ชัดขึ้น โดยเฉพาะ course-run issue ที่ต้องแยกจาก learner-level analysis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5E3E54-E230-452F-94C4-BDCDB5361B87}"/>
              </a:ext>
            </a:extLst>
          </p:cNvPr>
          <p:cNvSpPr>
            <a:spLocks noGrp="1"/>
          </p:cNvSpPr>
          <p:nvPr/>
        </p:nvSpPr>
        <p:spPr>
          <a:xfrm>
            <a:off x="1143000" y="2095500"/>
            <a:ext cx="9906000" cy="5810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575" b="0" i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• EDA ยืนยันว่า behavior data มี skew, sparsity และ outlier สูง จึงต้องใช้ robust transformation และ feature screening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798986-CF26-46B4-8FDE-F2DCB97350C4}"/>
              </a:ext>
            </a:extLst>
          </p:cNvPr>
          <p:cNvSpPr>
            <a:spLocks noGrp="1"/>
          </p:cNvSpPr>
          <p:nvPr/>
        </p:nvSpPr>
        <p:spPr>
          <a:xfrm>
            <a:off x="1143000" y="2619375"/>
            <a:ext cx="9906000" cy="5810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575" b="0" i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• Unsupervised track สรุป persona 3 กลุ่มจาก multi-metric K audit และตรวจด้วย radar, PCA และ posthoc outcomes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EEE1A2-EEB2-49EC-93C7-166F50F284BB}"/>
              </a:ext>
            </a:extLst>
          </p:cNvPr>
          <p:cNvSpPr>
            <a:spLocks noGrp="1"/>
          </p:cNvSpPr>
          <p:nvPr/>
        </p:nvSpPr>
        <p:spPr>
          <a:xfrm>
            <a:off x="1143000" y="3143250"/>
            <a:ext cx="9906000" cy="5810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575" b="0" i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• Supervised Random Forest ทำงานดีที่สุดโดยรวมในงาน prediction: ROC-AUC 0.9933, PR-AUC 0.8476, F1 0.7889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B6FCCF-B27D-43AF-A0B7-282D1552E1F7}"/>
              </a:ext>
            </a:extLst>
          </p:cNvPr>
          <p:cNvSpPr>
            <a:spLocks noGrp="1"/>
          </p:cNvSpPr>
          <p:nvPr/>
        </p:nvSpPr>
        <p:spPr>
          <a:xfrm>
            <a:off x="1143000" y="3667125"/>
            <a:ext cx="9906000" cy="5810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575" b="0" i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• Deep MLP ให้ผลใกล้เคียง supervised champion ส่วน LLM/Gemini recall สูงแต่ precision ต่ำกว่า จึงเหมาะเป็น evidence track เพิ่มเติม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837FF84-5FDA-48E2-8347-EBF34D77D621}"/>
              </a:ext>
            </a:extLst>
          </p:cNvPr>
          <p:cNvSpPr>
            <a:spLocks noGrp="1"/>
          </p:cNvSpPr>
          <p:nvPr/>
        </p:nvSpPr>
        <p:spPr>
          <a:xfrm>
            <a:off x="762000" y="6438900"/>
            <a:ext cx="8763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900" b="0" i="1">
                <a:solidFill>
                  <a:srgbClr val="7A7A7A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7A7A7A"/>
                </a:solidFill>
                <a:latin typeface="Arial"/>
                <a:ea typeface="Arial"/>
                <a:cs typeface="Arial"/>
              </a:rPr>
              <a:t>MOOC Student Analytics | HarvardX-MITx learner behavior pipeline</a:t>
            </a:r>
          </a:p>
        </p:txBody>
      </p:sp>
    </p:spTree>
    <p:extLst>
      <p:ext uri="{BB962C8B-B14F-4D97-AF65-F5344CB8AC3E}">
        <p14:creationId xmlns:p14="http://schemas.microsoft.com/office/powerpoint/2010/main" val="18397893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BF24522-07D8-4C95-86C3-0DA21EB190BE}"/>
              </a:ext>
            </a:extLst>
          </p:cNvPr>
          <p:cNvSpPr>
            <a:spLocks noGrp="1"/>
          </p:cNvSpPr>
          <p:nvPr/>
        </p:nvSpPr>
        <p:spPr>
          <a:xfrm>
            <a:off x="704850" y="400050"/>
            <a:ext cx="57150" cy="819150"/>
          </a:xfrm>
          <a:prstGeom prst="rect">
            <a:avLst/>
          </a:prstGeom>
          <a:solidFill>
            <a:srgbClr val="004A73"/>
          </a:solidFill>
          <a:ln w="9525">
            <a:solidFill>
              <a:srgbClr val="004A7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C25C782-42E9-4653-98A0-0308C2CF2422}"/>
              </a:ext>
            </a:extLst>
          </p:cNvPr>
          <p:cNvSpPr>
            <a:spLocks noGrp="1"/>
          </p:cNvSpPr>
          <p:nvPr/>
        </p:nvSpPr>
        <p:spPr>
          <a:xfrm>
            <a:off x="1000125" y="4000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2850" b="1" i="0">
                <a:solidFill>
                  <a:srgbClr val="004A73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04A73"/>
                </a:solidFill>
                <a:latin typeface="Arial"/>
                <a:ea typeface="Arial"/>
                <a:cs typeface="Arial"/>
              </a:rPr>
              <a:t>Limitations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BC54FC-04AC-44E0-BC5D-160FE0F2F08E}"/>
              </a:ext>
            </a:extLst>
          </p:cNvPr>
          <p:cNvSpPr>
            <a:spLocks noGrp="1"/>
          </p:cNvSpPr>
          <p:nvPr/>
        </p:nvSpPr>
        <p:spPr>
          <a:xfrm>
            <a:off x="1028700" y="981075"/>
            <a:ext cx="9906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50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ข้อจำกัดที่ต้องพูดให้ชัดเพื่อไม่ให้ตีความเกินข้อมูล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7880B8-1F81-4926-9B35-B38C4785CA9E}"/>
              </a:ext>
            </a:extLst>
          </p:cNvPr>
          <p:cNvSpPr>
            <a:spLocks noGrp="1"/>
          </p:cNvSpPr>
          <p:nvPr/>
        </p:nvSpPr>
        <p:spPr>
          <a:xfrm>
            <a:off x="1143000" y="1571625"/>
            <a:ext cx="99060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575" b="0" i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• course-run key ต้องรายงาน caveat เพราะ student-course key เดิม collapse multi-run groups 49,614 กลุ่ม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444081-4511-4C1C-846C-1D60CEDB302B}"/>
              </a:ext>
            </a:extLst>
          </p:cNvPr>
          <p:cNvSpPr>
            <a:spLocks noGrp="1"/>
          </p:cNvSpPr>
          <p:nvPr/>
        </p:nvSpPr>
        <p:spPr>
          <a:xfrm>
            <a:off x="1143000" y="2124075"/>
            <a:ext cx="99060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575" b="0" i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• Unsupervised K ไม่มีคำตอบจาก metric เดียว ต้องระบุ rule ที่ใช้เลือกและเก็บ metric อื่นเป็น audit evidence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C4F759-7DB4-4B9D-8DD9-1D049EDB9BAC}"/>
              </a:ext>
            </a:extLst>
          </p:cNvPr>
          <p:cNvSpPr>
            <a:spLocks noGrp="1"/>
          </p:cNvSpPr>
          <p:nvPr/>
        </p:nvSpPr>
        <p:spPr>
          <a:xfrm>
            <a:off x="1143000" y="2676525"/>
            <a:ext cx="99060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575" b="0" i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• positive class ของ supervised มีเพียงประมาณ 4.136% จึงห้ามสรุปจาก accuracy อย่างเดียว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9BD8B9-4B4B-4F77-905A-BEB842385022}"/>
              </a:ext>
            </a:extLst>
          </p:cNvPr>
          <p:cNvSpPr>
            <a:spLocks noGrp="1"/>
          </p:cNvSpPr>
          <p:nvPr/>
        </p:nvSpPr>
        <p:spPr>
          <a:xfrm>
            <a:off x="1143000" y="3228975"/>
            <a:ext cx="99060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575" b="0" i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• LLM provider ไม่เท่ากันทั้งหมด เพราะมีเพียง Gemini full test ที่เป็น API run ครบ ส่วน OpenAI/Claude simulated ถูก quarantine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67F2B7-245D-417C-B128-88E2171E5A33}"/>
              </a:ext>
            </a:extLst>
          </p:cNvPr>
          <p:cNvSpPr>
            <a:spLocks noGrp="1"/>
          </p:cNvSpPr>
          <p:nvPr/>
        </p:nvSpPr>
        <p:spPr>
          <a:xfrm>
            <a:off x="1143000" y="3781425"/>
            <a:ext cx="99060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575" b="0" i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• ผล posthoc ของ cluster ใช้อธิบายความสัมพันธ์กับ outcome ไม่ได้ใช้เลือก cluster เพื่อหลีกเลี่ยง target leakage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0AD1158-19DD-4FD1-86E4-EAC13930CC29}"/>
              </a:ext>
            </a:extLst>
          </p:cNvPr>
          <p:cNvSpPr>
            <a:spLocks noGrp="1"/>
          </p:cNvSpPr>
          <p:nvPr/>
        </p:nvSpPr>
        <p:spPr>
          <a:xfrm>
            <a:off x="762000" y="6438900"/>
            <a:ext cx="8763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900" b="0" i="1">
                <a:solidFill>
                  <a:srgbClr val="7A7A7A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7A7A7A"/>
                </a:solidFill>
                <a:latin typeface="Arial"/>
                <a:ea typeface="Arial"/>
                <a:cs typeface="Arial"/>
              </a:rPr>
              <a:t>MOOC Student Analytics | HarvardX-MITx learner behavior pipeline</a:t>
            </a:r>
          </a:p>
        </p:txBody>
      </p:sp>
    </p:spTree>
    <p:extLst>
      <p:ext uri="{BB962C8B-B14F-4D97-AF65-F5344CB8AC3E}">
        <p14:creationId xmlns:p14="http://schemas.microsoft.com/office/powerpoint/2010/main" val="4921376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E86C720-0687-493B-8163-47564628A9C3}"/>
              </a:ext>
            </a:extLst>
          </p:cNvPr>
          <p:cNvSpPr>
            <a:spLocks noGrp="1"/>
          </p:cNvSpPr>
          <p:nvPr/>
        </p:nvSpPr>
        <p:spPr>
          <a:xfrm>
            <a:off x="704850" y="400050"/>
            <a:ext cx="57150" cy="819150"/>
          </a:xfrm>
          <a:prstGeom prst="rect">
            <a:avLst/>
          </a:prstGeom>
          <a:solidFill>
            <a:srgbClr val="004A73"/>
          </a:solidFill>
          <a:ln w="9525">
            <a:solidFill>
              <a:srgbClr val="004A7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1E1BDCB-8DC5-430F-8E02-1F9C89629E98}"/>
              </a:ext>
            </a:extLst>
          </p:cNvPr>
          <p:cNvSpPr>
            <a:spLocks noGrp="1"/>
          </p:cNvSpPr>
          <p:nvPr/>
        </p:nvSpPr>
        <p:spPr>
          <a:xfrm>
            <a:off x="1000125" y="4000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2850" b="1" i="0">
                <a:solidFill>
                  <a:srgbClr val="004A73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04A73"/>
                </a:solidFill>
                <a:latin typeface="Arial"/>
                <a:ea typeface="Arial"/>
                <a:cs typeface="Arial"/>
              </a:rPr>
              <a:t>Final recommendation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31C144-D835-47E1-AAE7-667FFAE8BEF1}"/>
              </a:ext>
            </a:extLst>
          </p:cNvPr>
          <p:cNvSpPr>
            <a:spLocks noGrp="1"/>
          </p:cNvSpPr>
          <p:nvPr/>
        </p:nvSpPr>
        <p:spPr>
          <a:xfrm>
            <a:off x="1028700" y="981075"/>
            <a:ext cx="9906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50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รายงานผลเป็น workflow เดียวและแยกหน้าที่ของแต่ละ model family</a:t>
            </a:r>
          </a:p>
        </p:txBody>
      </p:sp>
      <p:graphicFrame>
        <p:nvGraphicFramePr>
          <p:cNvPr id="12" name="Table 9"/>
          <p:cNvGraphicFramePr/>
          <p:nvPr/>
        </p:nvGraphicFramePr>
        <p:xfrm>
          <a:off x="1095375" y="1524000"/>
          <a:ext cx="10001250" cy="3429000"/>
        </p:xfrm>
        <a:graphic>
          <a:graphicData uri="http://schemas.openxmlformats.org/drawingml/2006/table">
            <a:tbl>
              <a:tblPr/>
              <a:tblGrid>
                <a:gridCol w="31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Decision area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Recommended use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Persona and segment insight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Use Un K=3 persona with radar/PCA/posthoc validation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Student risk prediction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Use Random Forest supervised pipeline as primary model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Deep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Keep MLP as benchmark and future candidate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LLM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Use Gemini result as explanatory/comparative evidence, not primary deployment model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Data governance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Keep course-run caveat and cleaning audit visible in dashboard and slides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91FF6ECC-F1C9-48B5-BCE0-FE17CBA57AA1}"/>
              </a:ext>
            </a:extLst>
          </p:cNvPr>
          <p:cNvSpPr>
            <a:spLocks noGrp="1"/>
          </p:cNvSpPr>
          <p:nvPr/>
        </p:nvSpPr>
        <p:spPr>
          <a:xfrm>
            <a:off x="1238250" y="5381625"/>
            <a:ext cx="97155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9242"/>
          </a:bodyPr>
          <a:lstStyle/>
          <a:p>
            <a:pPr>
              <a:buNone/>
              <a:defRPr sz="1650" b="1" i="0">
                <a:solidFill>
                  <a:srgbClr val="004A7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4A73"/>
                </a:solidFill>
                <a:latin typeface="Arial"/>
                <a:ea typeface="Arial"/>
                <a:cs typeface="Arial"/>
              </a:rPr>
              <a:t>ประโยคสรุป: งาน merged ทำให้ผลเล่าได้น่าเชื่อถือขึ้น เพราะเห็น data quality, grain, EDA, model evidence และ limitation อยู่ใน pipeline เดียวกัน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B199E1-47A5-433C-8804-2F0DF6FBCC5F}"/>
              </a:ext>
            </a:extLst>
          </p:cNvPr>
          <p:cNvSpPr>
            <a:spLocks noGrp="1"/>
          </p:cNvSpPr>
          <p:nvPr/>
        </p:nvSpPr>
        <p:spPr>
          <a:xfrm>
            <a:off x="762000" y="6438900"/>
            <a:ext cx="8763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900" b="0" i="1">
                <a:solidFill>
                  <a:srgbClr val="7A7A7A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7A7A7A"/>
                </a:solidFill>
                <a:latin typeface="Arial"/>
                <a:ea typeface="Arial"/>
                <a:cs typeface="Arial"/>
              </a:rPr>
              <a:t>MOOC Student Analytics | HarvardX-MITx learner behavior pipeline</a:t>
            </a:r>
          </a:p>
        </p:txBody>
      </p:sp>
    </p:spTree>
    <p:extLst>
      <p:ext uri="{BB962C8B-B14F-4D97-AF65-F5344CB8AC3E}">
        <p14:creationId xmlns:p14="http://schemas.microsoft.com/office/powerpoint/2010/main" val="15477533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0DC3C8A-50EC-4392-9AA6-6CCAAFE93DC2}"/>
              </a:ext>
            </a:extLst>
          </p:cNvPr>
          <p:cNvSpPr>
            <a:spLocks noGrp="1"/>
          </p:cNvSpPr>
          <p:nvPr/>
        </p:nvSpPr>
        <p:spPr>
          <a:xfrm>
            <a:off x="704850" y="400050"/>
            <a:ext cx="57150" cy="819150"/>
          </a:xfrm>
          <a:prstGeom prst="rect">
            <a:avLst/>
          </a:prstGeom>
          <a:solidFill>
            <a:srgbClr val="004A73"/>
          </a:solidFill>
          <a:ln w="9525">
            <a:solidFill>
              <a:srgbClr val="004A7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ED2F55-FE4D-48FB-B5FD-9AF29F9D7BD6}"/>
              </a:ext>
            </a:extLst>
          </p:cNvPr>
          <p:cNvSpPr>
            <a:spLocks noGrp="1"/>
          </p:cNvSpPr>
          <p:nvPr/>
        </p:nvSpPr>
        <p:spPr>
          <a:xfrm>
            <a:off x="952500" y="53340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2700" b="1" i="0">
                <a:solidFill>
                  <a:srgbClr val="004A73"/>
                </a:solidFill>
                <a:latin typeface="Arial"/>
                <a:ea typeface="Arial"/>
                <a:cs typeface="Arial"/>
              </a:defRPr>
            </a:pPr>
            <a:r>
              <a:rPr sz="2700" b="1" i="0" dirty="0">
                <a:solidFill>
                  <a:srgbClr val="004A73"/>
                </a:solidFill>
                <a:latin typeface="Arial"/>
                <a:ea typeface="Arial"/>
                <a:cs typeface="Arial"/>
              </a:rPr>
              <a:t>K=3 selection evidence</a:t>
            </a:r>
          </a:p>
        </p:txBody>
      </p:sp>
      <p:pic>
        <p:nvPicPr>
          <p:cNvPr id="14" name="Picture 10"/>
          <p:cNvPicPr>
            <a:picLocks noChangeAspect="1"/>
          </p:cNvPicPr>
          <p:nvPr/>
        </p:nvPicPr>
        <p:blipFill>
          <a:blip r:embed="rId3"/>
          <a:srcRect l="3263" r="3263"/>
          <a:stretch>
            <a:fillRect/>
          </a:stretch>
        </p:blipFill>
        <p:spPr>
          <a:xfrm>
            <a:off x="571500" y="1544425"/>
            <a:ext cx="4953000" cy="2911900"/>
          </a:xfrm>
          <a:prstGeom prst="rect">
            <a:avLst/>
          </a:prstGeom>
        </p:spPr>
      </p:pic>
      <p:graphicFrame>
        <p:nvGraphicFramePr>
          <p:cNvPr id="15" name="Table 11"/>
          <p:cNvGraphicFramePr/>
          <p:nvPr/>
        </p:nvGraphicFramePr>
        <p:xfrm>
          <a:off x="5715000" y="1381125"/>
          <a:ext cx="5905500" cy="3333750"/>
        </p:xfrm>
        <a:graphic>
          <a:graphicData uri="http://schemas.openxmlformats.org/drawingml/2006/table">
            <a:tbl>
              <a:tblPr/>
              <a:tblGrid>
                <a:gridCol w="361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33375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Silhouette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DBI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CH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ARI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NMI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Composite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Runtime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Selected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0.9675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0.2481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32,879.2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1.0000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1.0000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0.7375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0.0681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0.9435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0.1940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39,073.3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1.0000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1.0000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0.8798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0.0185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0.3684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0.6253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42,281.5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0.9965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0.9908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0.6503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0.0252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0.3521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0.7271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42,511.8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0.9868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0.9748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0.6163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0.0314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0.3525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0.6731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39,304.5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0.9745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0.9582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0.5705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0.0447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0.3796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0.6397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41,484.1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0.9944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0.9907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0.6692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0.0482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0.3429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0.8079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40,519.7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0.9730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0.9646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0.5732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0.0511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0.3626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0.8198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38,628.5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0.7164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0.7559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0.2012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0.0644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0.3659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0.8424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38,798.8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0.9549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0.9300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0.5148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0.0706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96A57C90-DD07-43C4-B668-BF167875930F}"/>
              </a:ext>
            </a:extLst>
          </p:cNvPr>
          <p:cNvSpPr>
            <a:spLocks noGrp="1"/>
          </p:cNvSpPr>
          <p:nvPr/>
        </p:nvSpPr>
        <p:spPr>
          <a:xfrm>
            <a:off x="762000" y="5286375"/>
            <a:ext cx="10668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3518"/>
          </a:bodyPr>
          <a:lstStyle/>
          <a:p>
            <a:pPr>
              <a:buNone/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ตารางด้านขวาแสดง metric ตามค่า K จาก Un track ขนาด sample 12,000 แถว กติกา gap one-SE เลือก K=3 และใช้ metric อื่นเป็นหลักฐานประกอบการตรวจสอบ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FC09CC-DF86-4A28-8D35-9563EFCA92CB}"/>
              </a:ext>
            </a:extLst>
          </p:cNvPr>
          <p:cNvSpPr>
            <a:spLocks noGrp="1"/>
          </p:cNvSpPr>
          <p:nvPr/>
        </p:nvSpPr>
        <p:spPr>
          <a:xfrm>
            <a:off x="762000" y="6438900"/>
            <a:ext cx="9525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900" b="0" i="1">
                <a:solidFill>
                  <a:srgbClr val="7A7A7A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7A7A7A"/>
                </a:solidFill>
                <a:latin typeface="Arial"/>
                <a:ea typeface="Arial"/>
                <a:cs typeface="Arial"/>
              </a:rPr>
              <a:t>Source: Un/outputs/tables/k_selection_metrics.csv</a:t>
            </a:r>
          </a:p>
        </p:txBody>
      </p:sp>
    </p:spTree>
    <p:extLst>
      <p:ext uri="{BB962C8B-B14F-4D97-AF65-F5344CB8AC3E}">
        <p14:creationId xmlns:p14="http://schemas.microsoft.com/office/powerpoint/2010/main" val="6927891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D8296C3-C6CA-4644-A90F-E68115E63ACA}"/>
              </a:ext>
            </a:extLst>
          </p:cNvPr>
          <p:cNvSpPr>
            <a:spLocks noGrp="1"/>
          </p:cNvSpPr>
          <p:nvPr/>
        </p:nvSpPr>
        <p:spPr>
          <a:xfrm>
            <a:off x="704850" y="400050"/>
            <a:ext cx="57150" cy="819150"/>
          </a:xfrm>
          <a:prstGeom prst="rect">
            <a:avLst/>
          </a:prstGeom>
          <a:solidFill>
            <a:srgbClr val="004A73"/>
          </a:solidFill>
          <a:ln w="9525">
            <a:solidFill>
              <a:srgbClr val="004A7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BFAA83-2D6D-4287-8AE0-11BB2F5F653C}"/>
              </a:ext>
            </a:extLst>
          </p:cNvPr>
          <p:cNvSpPr>
            <a:spLocks noGrp="1"/>
          </p:cNvSpPr>
          <p:nvPr/>
        </p:nvSpPr>
        <p:spPr>
          <a:xfrm>
            <a:off x="1000125" y="4000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2550" b="1" i="0">
                <a:solidFill>
                  <a:srgbClr val="004A73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04A73"/>
                </a:solidFill>
                <a:latin typeface="Arial"/>
                <a:ea typeface="Arial"/>
                <a:cs typeface="Arial"/>
              </a:rPr>
              <a:t>Unsupervised model family table at K=3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909727-9353-4083-B0B6-33A152487FA9}"/>
              </a:ext>
            </a:extLst>
          </p:cNvPr>
          <p:cNvSpPr>
            <a:spLocks noGrp="1"/>
          </p:cNvSpPr>
          <p:nvPr/>
        </p:nvSpPr>
        <p:spPr>
          <a:xfrm>
            <a:off x="1028700" y="981075"/>
            <a:ext cx="9906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35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ตารางนี้สรุปโมเดล clustering ที่ทดสอบกับจำนวนกลุ่มสุดท้าย 3 กลุ่ม</a:t>
            </a:r>
          </a:p>
        </p:txBody>
      </p:sp>
      <p:graphicFrame>
        <p:nvGraphicFramePr>
          <p:cNvPr id="12" name="Table 9"/>
          <p:cNvGraphicFramePr/>
          <p:nvPr>
            <p:extLst>
              <p:ext uri="{D42A27DB-BD31-4B8C-83A1-F6EECF244321}">
                <p14:modId xmlns:p14="http://schemas.microsoft.com/office/powerpoint/2010/main" val="3584536780"/>
              </p:ext>
            </p:extLst>
          </p:nvPr>
        </p:nvGraphicFramePr>
        <p:xfrm>
          <a:off x="1404937" y="1495426"/>
          <a:ext cx="9382125" cy="3428999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6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85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89857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Family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Silhouette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Davies-Bouldin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Calinski-Harabasz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ARI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Smallest cluster %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Runtime sec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Selected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BIRCH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0.9411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0.2392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38,073.4698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1.0000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0.0773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Gaussian Mixture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0.9411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0.2392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38,073.4698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1.0000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0.0093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K-Means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0.9435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0.1940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39,073.2628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1.0000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0.0317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K-Medoids (approx.)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0.9435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0.1940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39,073.2628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1.0000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0.0471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MiniBatch K-Means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0.3504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0.8086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14,503.4887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0.6459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0.0109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HAC (Ward)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0.9411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0.2392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38,073.4698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0.1694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6157E911-4E94-408A-9C81-E35D5B892E10}"/>
              </a:ext>
            </a:extLst>
          </p:cNvPr>
          <p:cNvSpPr>
            <a:spLocks noGrp="1"/>
          </p:cNvSpPr>
          <p:nvPr/>
        </p:nvSpPr>
        <p:spPr>
          <a:xfrm>
            <a:off x="714375" y="5286375"/>
            <a:ext cx="10668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75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00" b="0" i="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K-Means K=3 </a:t>
            </a:r>
            <a:r>
              <a:rPr sz="1200" b="0" i="0" dirty="0" err="1">
                <a:solidFill>
                  <a:srgbClr val="333333"/>
                </a:solidFill>
                <a:latin typeface="Arial"/>
                <a:ea typeface="Arial"/>
                <a:cs typeface="Arial"/>
              </a:rPr>
              <a:t>ถูกใช้เป็น</a:t>
            </a:r>
            <a:r>
              <a:rPr sz="1200" b="0" i="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final clustering model </a:t>
            </a:r>
            <a:r>
              <a:rPr sz="1200" b="0" i="0" dirty="0" err="1">
                <a:solidFill>
                  <a:srgbClr val="333333"/>
                </a:solidFill>
                <a:latin typeface="Arial"/>
                <a:ea typeface="Arial"/>
                <a:cs typeface="Arial"/>
              </a:rPr>
              <a:t>เพราะให้</a:t>
            </a:r>
            <a:r>
              <a:rPr sz="1200" b="0" i="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composite score </a:t>
            </a:r>
            <a:r>
              <a:rPr sz="1200" b="0" i="0" dirty="0" err="1">
                <a:solidFill>
                  <a:srgbClr val="333333"/>
                </a:solidFill>
                <a:latin typeface="Arial"/>
                <a:ea typeface="Arial"/>
                <a:cs typeface="Arial"/>
              </a:rPr>
              <a:t>สูงสุดในตารางเปรียบเทียบโมเดลหลัก</a:t>
            </a:r>
            <a:r>
              <a:rPr sz="1200" b="0" i="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i="0" dirty="0" err="1">
                <a:solidFill>
                  <a:srgbClr val="333333"/>
                </a:solidFill>
                <a:latin typeface="Arial"/>
                <a:ea typeface="Arial"/>
                <a:cs typeface="Arial"/>
              </a:rPr>
              <a:t>พร้อม</a:t>
            </a:r>
            <a:r>
              <a:rPr sz="1200" b="0" i="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silhouette 0.9435, Davies-Bouldin 0.1940 </a:t>
            </a:r>
            <a:r>
              <a:rPr sz="1200" b="0" i="0" dirty="0" err="1">
                <a:solidFill>
                  <a:srgbClr val="333333"/>
                </a:solidFill>
                <a:latin typeface="Arial"/>
                <a:ea typeface="Arial"/>
                <a:cs typeface="Arial"/>
              </a:rPr>
              <a:t>และ</a:t>
            </a:r>
            <a:r>
              <a:rPr sz="1200" b="0" i="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ARI 1.0000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44B5ED-5821-41CC-9FF8-CD40AFDB85B3}"/>
              </a:ext>
            </a:extLst>
          </p:cNvPr>
          <p:cNvSpPr>
            <a:spLocks noGrp="1"/>
          </p:cNvSpPr>
          <p:nvPr/>
        </p:nvSpPr>
        <p:spPr>
          <a:xfrm>
            <a:off x="762000" y="6438900"/>
            <a:ext cx="9525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900" b="0" i="1">
                <a:solidFill>
                  <a:srgbClr val="7A7A7A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7A7A7A"/>
                </a:solidFill>
                <a:latin typeface="Arial"/>
                <a:ea typeface="Arial"/>
                <a:cs typeface="Arial"/>
              </a:rPr>
              <a:t>Source: Un/outputs/tables/unsupervised_model_comparison.csv</a:t>
            </a:r>
          </a:p>
        </p:txBody>
      </p:sp>
    </p:spTree>
    <p:extLst>
      <p:ext uri="{BB962C8B-B14F-4D97-AF65-F5344CB8AC3E}">
        <p14:creationId xmlns:p14="http://schemas.microsoft.com/office/powerpoint/2010/main" val="9312820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21C7882-594F-4375-90E4-87B786C3351C}"/>
              </a:ext>
            </a:extLst>
          </p:cNvPr>
          <p:cNvSpPr>
            <a:spLocks noGrp="1"/>
          </p:cNvSpPr>
          <p:nvPr/>
        </p:nvSpPr>
        <p:spPr>
          <a:xfrm>
            <a:off x="704850" y="400050"/>
            <a:ext cx="57150" cy="819150"/>
          </a:xfrm>
          <a:prstGeom prst="rect">
            <a:avLst/>
          </a:prstGeom>
          <a:solidFill>
            <a:srgbClr val="004A73"/>
          </a:solidFill>
          <a:ln w="9525">
            <a:solidFill>
              <a:srgbClr val="004A7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B92AD56-2BB6-493E-BBE7-26A942AC2193}"/>
              </a:ext>
            </a:extLst>
          </p:cNvPr>
          <p:cNvSpPr>
            <a:spLocks noGrp="1"/>
          </p:cNvSpPr>
          <p:nvPr/>
        </p:nvSpPr>
        <p:spPr>
          <a:xfrm>
            <a:off x="1000125" y="4000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2700" b="1" i="0">
                <a:solidFill>
                  <a:srgbClr val="004A73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04A73"/>
                </a:solidFill>
                <a:latin typeface="Arial"/>
                <a:ea typeface="Arial"/>
                <a:cs typeface="Arial"/>
              </a:rPr>
              <a:t>Unsupervised candidate model and runtime table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3295FA-9114-49A2-9883-9AA6F386CEA7}"/>
              </a:ext>
            </a:extLst>
          </p:cNvPr>
          <p:cNvSpPr>
            <a:spLocks noGrp="1"/>
          </p:cNvSpPr>
          <p:nvPr/>
        </p:nvSpPr>
        <p:spPr>
          <a:xfrm>
            <a:off x="1028700" y="981075"/>
            <a:ext cx="9906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425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ตารางสรุป Un track โดยผลสุดท้ายของงานนี้ล็อกเป็น K=3 จาก multi-metric audit</a:t>
            </a:r>
          </a:p>
        </p:txBody>
      </p:sp>
      <p:graphicFrame>
        <p:nvGraphicFramePr>
          <p:cNvPr id="12" name="Table 9"/>
          <p:cNvGraphicFramePr/>
          <p:nvPr/>
        </p:nvGraphicFramePr>
        <p:xfrm>
          <a:off x="333375" y="1381125"/>
          <a:ext cx="8972550" cy="3905253"/>
        </p:xfrm>
        <a:graphic>
          <a:graphicData uri="http://schemas.openxmlformats.org/drawingml/2006/table">
            <a:tbl>
              <a:tblPr/>
              <a:tblGrid>
                <a:gridCol w="142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9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33917">
                <a:tc>
                  <a:txBody>
                    <a:bodyPr/>
                    <a:lstStyle/>
                    <a:p>
                      <a:r>
                        <a:rPr sz="71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Algorithm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Family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Silhouette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DBI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CH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ARI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Smallest cluster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Runtime sec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Deployable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3917"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agglomerative_ward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agglomerative hierarchical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0.3332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1.0109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2,815.5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1.71%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0.3865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917"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birch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CF-tree hierarchical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0.3386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1.0427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787.4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0.5789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0.47%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0.3271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3917"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bisecting_kmeans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divisive hierarchical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0.3218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1.1269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2,834.2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0.9124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1.43%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0.0581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3917"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dbscan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density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0.2309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0.8976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1,761.7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0.42%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0.0704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3917"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gaussian_mixture_diag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probabilistic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0.3765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1.0149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2,804.4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0.9182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1.73%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0.1183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3917"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gaussian_mixture_tied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probabilistic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0.3637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1.0110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2,370.5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0.5561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1.71%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0.4010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3917"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kmeans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centroid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0.3737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0.9858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3,193.5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0.9803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1.71%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0.7623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3917"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minibatch_kmeans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centroid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0.3730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0.9826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3,173.1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0.9560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1.71%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0.0592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1C4C74B4-07A8-4880-AEDF-9C1475D89436}"/>
              </a:ext>
            </a:extLst>
          </p:cNvPr>
          <p:cNvSpPr>
            <a:spLocks noGrp="1"/>
          </p:cNvSpPr>
          <p:nvPr/>
        </p:nvSpPr>
        <p:spPr>
          <a:xfrm>
            <a:off x="619125" y="5572125"/>
            <a:ext cx="109537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Un track ใช้ K=3 เพื่อสร้าง persona 3 กลุ่ม โดย K-Means เป็นโมเดล final ส่วน family อื่นใช้เป็น benchmark และ robustness checks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ED17A0-D74C-491E-98F6-D78F61DD061F}"/>
              </a:ext>
            </a:extLst>
          </p:cNvPr>
          <p:cNvSpPr>
            <a:spLocks noGrp="1"/>
          </p:cNvSpPr>
          <p:nvPr/>
        </p:nvSpPr>
        <p:spPr>
          <a:xfrm>
            <a:off x="762000" y="6438900"/>
            <a:ext cx="9525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900" b="0" i="1">
                <a:solidFill>
                  <a:srgbClr val="7A7A7A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7A7A7A"/>
                </a:solidFill>
                <a:latin typeface="Arial"/>
                <a:ea typeface="Arial"/>
                <a:cs typeface="Arial"/>
              </a:rPr>
              <a:t>Source: Un/outputs/tables/model_comparison.csv</a:t>
            </a:r>
          </a:p>
        </p:txBody>
      </p:sp>
    </p:spTree>
    <p:extLst>
      <p:ext uri="{BB962C8B-B14F-4D97-AF65-F5344CB8AC3E}">
        <p14:creationId xmlns:p14="http://schemas.microsoft.com/office/powerpoint/2010/main" val="3880309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18C116D-B9D0-4E79-94A2-38E0E8A0E264}"/>
              </a:ext>
            </a:extLst>
          </p:cNvPr>
          <p:cNvSpPr>
            <a:spLocks noGrp="1"/>
          </p:cNvSpPr>
          <p:nvPr/>
        </p:nvSpPr>
        <p:spPr>
          <a:xfrm>
            <a:off x="704850" y="400050"/>
            <a:ext cx="57150" cy="819150"/>
          </a:xfrm>
          <a:prstGeom prst="rect">
            <a:avLst/>
          </a:prstGeom>
          <a:solidFill>
            <a:srgbClr val="004A73"/>
          </a:solidFill>
          <a:ln w="9525">
            <a:solidFill>
              <a:srgbClr val="004A7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B2F391E-16F2-41B1-966F-B5B87997AF5E}"/>
              </a:ext>
            </a:extLst>
          </p:cNvPr>
          <p:cNvSpPr>
            <a:spLocks noGrp="1"/>
          </p:cNvSpPr>
          <p:nvPr/>
        </p:nvSpPr>
        <p:spPr>
          <a:xfrm>
            <a:off x="1000125" y="4000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2700" b="1" i="0">
                <a:solidFill>
                  <a:srgbClr val="004A73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04A73"/>
                </a:solidFill>
                <a:latin typeface="Arial"/>
                <a:ea typeface="Arial"/>
                <a:cs typeface="Arial"/>
              </a:rPr>
              <a:t>Supervised model comparison table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F5CD31-BAE5-4D77-962E-1769DD95570E}"/>
              </a:ext>
            </a:extLst>
          </p:cNvPr>
          <p:cNvSpPr>
            <a:spLocks noGrp="1"/>
          </p:cNvSpPr>
          <p:nvPr/>
        </p:nvSpPr>
        <p:spPr>
          <a:xfrm>
            <a:off x="1028700" y="981075"/>
            <a:ext cx="9906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425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เพิ่มตารางผลโมเดล supervised ทุกกลุ่มหลักพร้อม metric สำคัญ</a:t>
            </a:r>
          </a:p>
        </p:txBody>
      </p:sp>
      <p:graphicFrame>
        <p:nvGraphicFramePr>
          <p:cNvPr id="12" name="Table 9"/>
          <p:cNvGraphicFramePr/>
          <p:nvPr/>
        </p:nvGraphicFramePr>
        <p:xfrm>
          <a:off x="238125" y="1285875"/>
          <a:ext cx="11715750" cy="4333875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33375">
                <a:tc>
                  <a:txBody>
                    <a:bodyPr/>
                    <a:lstStyle/>
                    <a:p>
                      <a:r>
                        <a:rPr sz="63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3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Family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3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ROC-AUC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3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PR-AUC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3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Brier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3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Threshold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3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F1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3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Precision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3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Recall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3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Accuracy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3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Bal Acc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random_forest_d15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Bagging Ensemble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0.9933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0.8476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0.0216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0.8404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0.7889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0.7422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0.8420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0.9814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0.9147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hist_gbdt_lr10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Boosting Ensemble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0.9934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0.8461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0.0270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0.9384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0.7966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0.7670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0.8285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0.9825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0.9088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hist_gbdt_lr05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Boosting Ensemble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0.9934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0.8456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0.0271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0.9325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0.7947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0.7537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0.8405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0.9820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0.9143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mlp_neural_net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Neural 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0.9929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0.8386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0.0132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0.3829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0.7862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0.7524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0.8232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0.9815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0.9058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extra_trees_d15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Randomized Tree Ensemble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0.9923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0.8342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0.0330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0.8820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0.7810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0.7297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0.8401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0.9805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0.9133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random_forest_d10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Bagging Ensemble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0.9928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0.8340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0.0279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0.8855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0.7794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0.7213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0.8477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0.9802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0.9168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logistic_reg_unweighted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Linear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0.9901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0.8035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0.0150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0.4047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0.7474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0.7173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0.7800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0.9782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0.8834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decision_tree_d10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Single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0.9816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0.7950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0.0314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0.9378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0.7699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0.7310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0.8132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0.9799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0.9001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sgd_elasticnet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Linear / Sparse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0.9889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0.7846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0.0162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0.3249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0.7453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0.6895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0.8108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0.9771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0.8975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logistic_reg_c10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Linear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0.9904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0.7806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0.0366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0.9441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0.7433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0.7126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0.7767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0.9778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0.8816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linear_svm_calibrated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Max-Margin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0.9903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0.7783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0.0154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0.3978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0.7488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0.7155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0.7853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0.9782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0.8859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logistic_reg_c01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Linear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0.9898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0.7707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0.0382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0.9320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0.7476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0.7008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0.8012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0.9776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38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0.8932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0DA5B314-263C-4076-AB07-86307DE181CC}"/>
              </a:ext>
            </a:extLst>
          </p:cNvPr>
          <p:cNvSpPr>
            <a:spLocks noGrp="1"/>
          </p:cNvSpPr>
          <p:nvPr/>
        </p:nvSpPr>
        <p:spPr>
          <a:xfrm>
            <a:off x="619125" y="5791200"/>
            <a:ext cx="109537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275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หมายเหตุ: ตาราง Sup ไม่มี runtime_sec ในไฟล์ model_comparison.csv ที่มีอยู่ จึงรายงานเฉพาะ metric ที่ถูก log จริง ไม่เติม runtime เอง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6DE10A-E4AB-4000-990D-02989FB50AB5}"/>
              </a:ext>
            </a:extLst>
          </p:cNvPr>
          <p:cNvSpPr>
            <a:spLocks noGrp="1"/>
          </p:cNvSpPr>
          <p:nvPr/>
        </p:nvSpPr>
        <p:spPr>
          <a:xfrm>
            <a:off x="762000" y="6438900"/>
            <a:ext cx="9525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900" b="0" i="1">
                <a:solidFill>
                  <a:srgbClr val="7A7A7A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7A7A7A"/>
                </a:solidFill>
                <a:latin typeface="Arial"/>
                <a:ea typeface="Arial"/>
                <a:cs typeface="Arial"/>
              </a:rPr>
              <a:t>Source: Sup/outputs/tables/model_comparison.csv</a:t>
            </a:r>
          </a:p>
        </p:txBody>
      </p:sp>
    </p:spTree>
    <p:extLst>
      <p:ext uri="{BB962C8B-B14F-4D97-AF65-F5344CB8AC3E}">
        <p14:creationId xmlns:p14="http://schemas.microsoft.com/office/powerpoint/2010/main" val="2000105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021EA41-11EF-4176-A1C6-25067A0F22F0}"/>
              </a:ext>
            </a:extLst>
          </p:cNvPr>
          <p:cNvSpPr>
            <a:spLocks noGrp="1"/>
          </p:cNvSpPr>
          <p:nvPr/>
        </p:nvSpPr>
        <p:spPr>
          <a:xfrm>
            <a:off x="704850" y="400050"/>
            <a:ext cx="57150" cy="819150"/>
          </a:xfrm>
          <a:prstGeom prst="rect">
            <a:avLst/>
          </a:prstGeom>
          <a:solidFill>
            <a:srgbClr val="004A73"/>
          </a:solidFill>
          <a:ln w="9525">
            <a:solidFill>
              <a:srgbClr val="004A7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DC741B-A12A-46FD-8F0A-B0410DFC8BE8}"/>
              </a:ext>
            </a:extLst>
          </p:cNvPr>
          <p:cNvSpPr>
            <a:spLocks noGrp="1"/>
          </p:cNvSpPr>
          <p:nvPr/>
        </p:nvSpPr>
        <p:spPr>
          <a:xfrm>
            <a:off x="1000125" y="4000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2700" b="1" i="0">
                <a:solidFill>
                  <a:srgbClr val="004A73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04A73"/>
                </a:solidFill>
                <a:latin typeface="Arial"/>
                <a:ea typeface="Arial"/>
                <a:cs typeface="Arial"/>
              </a:rPr>
              <a:t>Deep learning model and runtime table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36C41E-7747-44D2-8EBF-5A7C157C1DF5}"/>
              </a:ext>
            </a:extLst>
          </p:cNvPr>
          <p:cNvSpPr>
            <a:spLocks noGrp="1"/>
          </p:cNvSpPr>
          <p:nvPr/>
        </p:nvSpPr>
        <p:spPr>
          <a:xfrm>
            <a:off x="1028700" y="981075"/>
            <a:ext cx="9906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425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เพิ่มทุก MLP ที่รันจริง พร้อม epochs, runtime และ metric บน test set</a:t>
            </a:r>
          </a:p>
        </p:txBody>
      </p:sp>
      <p:graphicFrame>
        <p:nvGraphicFramePr>
          <p:cNvPr id="14" name="Table 10"/>
          <p:cNvGraphicFramePr/>
          <p:nvPr/>
        </p:nvGraphicFramePr>
        <p:xfrm>
          <a:off x="381000" y="1476375"/>
          <a:ext cx="11430000" cy="3143250"/>
        </p:xfrm>
        <a:graphic>
          <a:graphicData uri="http://schemas.openxmlformats.org/drawingml/2006/table">
            <a:tbl>
              <a:tblPr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9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9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191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49036">
                <a:tc>
                  <a:txBody>
                    <a:bodyPr/>
                    <a:lstStyle/>
                    <a:p>
                      <a:r>
                        <a:rPr sz="71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Epochs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Runtime sec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PR-AUC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ROC-AUC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Brier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Accuracy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Bal Acc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Precision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Recall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F1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Selected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mlp_128_64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12.2695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0.8388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0.9947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0.0100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0.9860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0.9164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0.7470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0.8421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0.7917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mlp_64_32_regularized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10.4653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0.8359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0.9945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0.0102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0.9853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0.9140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0.7349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0.8378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0.7830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mlp_128_64_32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8.5637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0.8302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0.9946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0.0102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0.9856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0.9225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0.7329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0.8553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0.7894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mlp_64_32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3.9024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0.8153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0.9937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0.0109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0.9836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0.9190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0.6980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0.8501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0.7666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mlp_32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2.1502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0.8132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0.9933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0.0111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0.9838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0.9175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0.7032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0.8468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0.7683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mlp_64_tanh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2.9533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0.8114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0.9934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0.0110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0.9844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0.9046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0.7239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0.8194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0.7687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5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63732" y="4810125"/>
            <a:ext cx="3444785" cy="128587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2AF1FD5-719D-4205-A8C3-C809D29B6966}"/>
              </a:ext>
            </a:extLst>
          </p:cNvPr>
          <p:cNvSpPr>
            <a:spLocks noGrp="1"/>
          </p:cNvSpPr>
          <p:nvPr/>
        </p:nvSpPr>
        <p:spPr>
          <a:xfrm>
            <a:off x="6096000" y="5000625"/>
            <a:ext cx="495300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425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MLP 128,64 ถูกเลือกเพราะให้ F1 0.7917, recall 0.8421 และ PR-AUC 0.8388 โดยใช้ runtime 12.27 วินาทีใน run นี้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1D340C-4CDA-4F26-9A9B-7DA588D0D012}"/>
              </a:ext>
            </a:extLst>
          </p:cNvPr>
          <p:cNvSpPr>
            <a:spLocks noGrp="1"/>
          </p:cNvSpPr>
          <p:nvPr/>
        </p:nvSpPr>
        <p:spPr>
          <a:xfrm>
            <a:off x="762000" y="6438900"/>
            <a:ext cx="9525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900" b="0" i="1">
                <a:solidFill>
                  <a:srgbClr val="7A7A7A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7A7A7A"/>
                </a:solidFill>
                <a:latin typeface="Arial"/>
                <a:ea typeface="Arial"/>
                <a:cs typeface="Arial"/>
              </a:rPr>
              <a:t>Source: outputs/tables/deep_learning_model_comparison.csv</a:t>
            </a:r>
          </a:p>
        </p:txBody>
      </p:sp>
    </p:spTree>
    <p:extLst>
      <p:ext uri="{BB962C8B-B14F-4D97-AF65-F5344CB8AC3E}">
        <p14:creationId xmlns:p14="http://schemas.microsoft.com/office/powerpoint/2010/main" val="1968929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197F40-E618-48AF-871F-1CEE55B9DAAA}"/>
              </a:ext>
            </a:extLst>
          </p:cNvPr>
          <p:cNvSpPr>
            <a:spLocks noGrp="1"/>
          </p:cNvSpPr>
          <p:nvPr/>
        </p:nvSpPr>
        <p:spPr>
          <a:xfrm>
            <a:off x="704850" y="400050"/>
            <a:ext cx="57150" cy="819150"/>
          </a:xfrm>
          <a:prstGeom prst="rect">
            <a:avLst/>
          </a:prstGeom>
          <a:solidFill>
            <a:srgbClr val="004A73"/>
          </a:solidFill>
          <a:ln w="9525">
            <a:solidFill>
              <a:srgbClr val="004A7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00E761-18A0-41AD-A5EE-D1CC04F91DED}"/>
              </a:ext>
            </a:extLst>
          </p:cNvPr>
          <p:cNvSpPr>
            <a:spLocks noGrp="1"/>
          </p:cNvSpPr>
          <p:nvPr/>
        </p:nvSpPr>
        <p:spPr>
          <a:xfrm>
            <a:off x="1000125" y="4000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2700" b="1" i="0">
                <a:solidFill>
                  <a:srgbClr val="004A73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04A73"/>
                </a:solidFill>
                <a:latin typeface="Arial"/>
                <a:ea typeface="Arial"/>
                <a:cs typeface="Arial"/>
              </a:rPr>
              <a:t>LLM model status, runtime and result table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7C17417-2B2A-4E27-82B3-48352E2CF447}"/>
              </a:ext>
            </a:extLst>
          </p:cNvPr>
          <p:cNvSpPr>
            <a:spLocks noGrp="1"/>
          </p:cNvSpPr>
          <p:nvPr/>
        </p:nvSpPr>
        <p:spPr>
          <a:xfrm>
            <a:off x="1028700" y="981075"/>
            <a:ext cx="9906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425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แยกผลจริง ออกจาก simulated/quarantined เพื่อให้เปรียบเทียบอย่างยุติธรรม</a:t>
            </a:r>
          </a:p>
        </p:txBody>
      </p:sp>
      <p:graphicFrame>
        <p:nvGraphicFramePr>
          <p:cNvPr id="16" name="Table 11"/>
          <p:cNvGraphicFramePr/>
          <p:nvPr/>
        </p:nvGraphicFramePr>
        <p:xfrm>
          <a:off x="333375" y="1381125"/>
          <a:ext cx="11525250" cy="2476500"/>
        </p:xfrm>
        <a:graphic>
          <a:graphicData uri="http://schemas.openxmlformats.org/drawingml/2006/table">
            <a:tbl>
              <a:tblPr/>
              <a:tblGrid>
                <a:gridCol w="85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91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3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191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096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r>
                        <a:rPr sz="6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Provider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Status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Students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Accuracy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Precision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Recall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F1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ROC-AUC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PR-AUC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Runtime sec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Selected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Gemini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gemini-3.5-flash-lite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completed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1800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0.9628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0.4615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0.9310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0.6171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0.9810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0.5642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311.58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OpenAI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gpt-4o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not_evaluated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Quarantined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Anthropic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claude-3-5-sonnet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not_evaluated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Quarantined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Ollama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qwen3-4b / llama3.2-3b / mistral-7b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pilot_completed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7" name="Picture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649066" y="4143375"/>
            <a:ext cx="3464618" cy="1714500"/>
          </a:xfrm>
          <a:prstGeom prst="rect">
            <a:avLst/>
          </a:prstGeom>
        </p:spPr>
      </p:pic>
      <p:pic>
        <p:nvPicPr>
          <p:cNvPr id="18" name="Picture 1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092242" y="4000500"/>
            <a:ext cx="2674766" cy="1905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1F6164B-AF15-4959-92DB-3A05EEDA1CEB}"/>
              </a:ext>
            </a:extLst>
          </p:cNvPr>
          <p:cNvSpPr>
            <a:spLocks noGrp="1"/>
          </p:cNvSpPr>
          <p:nvPr/>
        </p:nvSpPr>
        <p:spPr>
          <a:xfrm>
            <a:off x="904875" y="5953125"/>
            <a:ext cx="104775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275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Gemini เป็น full held-out test 1,800 คน ส่วน OpenAI/Claude ไม่มี real API evaluation ในรอบนี้ จึงไม่รายงานเป็นผลโมเดลจริง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6E7F78-5193-45A4-B644-390B4A599803}"/>
              </a:ext>
            </a:extLst>
          </p:cNvPr>
          <p:cNvSpPr>
            <a:spLocks noGrp="1"/>
          </p:cNvSpPr>
          <p:nvPr/>
        </p:nvSpPr>
        <p:spPr>
          <a:xfrm>
            <a:off x="762000" y="6438900"/>
            <a:ext cx="9525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900" b="0" i="1">
                <a:solidFill>
                  <a:srgbClr val="7A7A7A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7A7A7A"/>
                </a:solidFill>
                <a:latin typeface="Arial"/>
                <a:ea typeface="Arial"/>
                <a:cs typeface="Arial"/>
              </a:rPr>
              <a:t>Sources: llm_comparative_model_comparison.csv and llm_api_provider_status.csv</a:t>
            </a:r>
          </a:p>
        </p:txBody>
      </p:sp>
    </p:spTree>
    <p:extLst>
      <p:ext uri="{BB962C8B-B14F-4D97-AF65-F5344CB8AC3E}">
        <p14:creationId xmlns:p14="http://schemas.microsoft.com/office/powerpoint/2010/main" val="8348606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388E58D-3D61-4962-B220-DE3B17AB2B69}"/>
              </a:ext>
            </a:extLst>
          </p:cNvPr>
          <p:cNvSpPr>
            <a:spLocks noGrp="1"/>
          </p:cNvSpPr>
          <p:nvPr/>
        </p:nvSpPr>
        <p:spPr>
          <a:xfrm>
            <a:off x="704850" y="400050"/>
            <a:ext cx="57150" cy="819150"/>
          </a:xfrm>
          <a:prstGeom prst="rect">
            <a:avLst/>
          </a:prstGeom>
          <a:solidFill>
            <a:srgbClr val="004A73"/>
          </a:solidFill>
          <a:ln w="9525">
            <a:solidFill>
              <a:srgbClr val="004A73"/>
            </a:solidFill>
          </a:ln>
        </p:spPr>
        <p:txBody>
          <a:bodyPr/>
          <a:lstStyle/>
          <a:p>
            <a:endParaRPr/>
          </a:p>
        </p:txBody>
      </p:sp>
      <p:graphicFrame>
        <p:nvGraphicFramePr>
          <p:cNvPr id="16" name="Table 9"/>
          <p:cNvGraphicFramePr/>
          <p:nvPr/>
        </p:nvGraphicFramePr>
        <p:xfrm>
          <a:off x="19050000" y="19050000"/>
          <a:ext cx="95250" cy="95250"/>
        </p:xfrm>
        <a:graphic>
          <a:graphicData uri="http://schemas.openxmlformats.org/drawingml/2006/table">
            <a:tbl>
              <a:tblPr/>
              <a:tblGrid>
                <a:gridCol w="1619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14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5313"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Track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Selected model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Primary outcome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Key metrics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Runtime evidence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5313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Merged K audit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K-Means K=3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Operational composite 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Composite 0.8798, Silhouette 0.9435, DBI 0.1940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0.0185 sec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5313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Un final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K-Means K=3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Persona segmentation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Composite 0.8798, Silhouette 0.9435, DBI 0.1940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0.0185 sec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5313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Sup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Random Forest d15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Certification prediction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ROC-AUC 0.9933, PR-AUC 0.8476, F1 0.7889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not logged in 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5313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Deep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MLP 128,64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Neural prediction benchmark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PR-AUC 0.8388, F1 0.7917, Recall 0.8421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12.2695 sec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5313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LLM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Gemini 3.5 Flash Lite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Text/AI benchmark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Accuracy 0.9628, Recall 0.9310, F1 0.6171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311.58 sec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9684F855-32F7-432B-9EE3-A35B9136FE7E}"/>
              </a:ext>
            </a:extLst>
          </p:cNvPr>
          <p:cNvSpPr>
            <a:spLocks noGrp="1"/>
          </p:cNvSpPr>
          <p:nvPr/>
        </p:nvSpPr>
        <p:spPr>
          <a:xfrm>
            <a:off x="428625" y="1285875"/>
            <a:ext cx="11334750" cy="47625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CF3AF74-AD44-4313-BED5-65A0E6223D3D}"/>
              </a:ext>
            </a:extLst>
          </p:cNvPr>
          <p:cNvSpPr>
            <a:spLocks noGrp="1"/>
          </p:cNvSpPr>
          <p:nvPr/>
        </p:nvSpPr>
        <p:spPr>
          <a:xfrm>
            <a:off x="1000125" y="4000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700" b="1">
                <a:solidFill>
                  <a:srgbClr val="004A7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4A73"/>
                </a:solidFill>
                <a:latin typeface="Arial"/>
                <a:ea typeface="Arial"/>
                <a:cs typeface="Arial"/>
              </a:rPr>
              <a:t>Cross-track selected model summary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BAA9EB-6342-46CE-88BB-846A0DCCF358}"/>
              </a:ext>
            </a:extLst>
          </p:cNvPr>
          <p:cNvSpPr>
            <a:spLocks noGrp="1"/>
          </p:cNvSpPr>
          <p:nvPr/>
        </p:nvSpPr>
        <p:spPr>
          <a:xfrm>
            <a:off x="1028700" y="981075"/>
            <a:ext cx="9906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สรุปโมเดลที่เลือก ผลลัพธ์ และ runtime เท่าที่มีการ log จริง</a:t>
            </a:r>
          </a:p>
        </p:txBody>
      </p:sp>
      <p:graphicFrame>
        <p:nvGraphicFramePr>
          <p:cNvPr id="20" name="Table 19"/>
          <p:cNvGraphicFramePr/>
          <p:nvPr/>
        </p:nvGraphicFramePr>
        <p:xfrm>
          <a:off x="523875" y="1476375"/>
          <a:ext cx="11144250" cy="3571875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95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5313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Track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Selected model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Primary outcome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Key metrics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Runtime evidence</a:t>
                      </a:r>
                    </a:p>
                  </a:txBody>
                  <a:tcPr>
                    <a:solidFill>
                      <a:srgbClr val="004A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5313"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Unsupervised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K-Means K=3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Persona segmentation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Multi-metric selected K=3, silhouette 0.9435, DBI 0.1940, ARI 1.0000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0.0185 sec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5313"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Sup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Random Forest d15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Certification prediction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ROC-AUC 0.9933, PR-AUC 0.8476, F1 0.7889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not logged in 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5313"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Deep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MLP 128,64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Neural prediction benchmark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PR-AUC 0.8388, F1 0.7917, Recall 0.8421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12.2695 sec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5313"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LLM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Gemini 3.5 Flash Lite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Text benchmark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Accuracy 0.9628, Recall 0.9310, F1 0.6171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311.58 sec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5313"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Persona output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3 clusters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Behavior groups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Cluster shares: 98.80%, 0.70%, 0.50%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cluster_profiles.csv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A5C3E8C4-D2A7-4746-9549-68F0040D74C8}"/>
              </a:ext>
            </a:extLst>
          </p:cNvPr>
          <p:cNvSpPr>
            <a:spLocks noGrp="1"/>
          </p:cNvSpPr>
          <p:nvPr/>
        </p:nvSpPr>
        <p:spPr>
          <a:xfrm>
            <a:off x="762000" y="542925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runtime เปรียบเทียบได้เฉพาะในบริบทของแต่ละ track เพราะ sample size, hardware และ API latency ไม่เท่ากัน แต่ final segmentation ของงานนี้ล็อกที่ K=3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606DBD5-044C-44C5-8BC2-93EA3D29F1DB}"/>
              </a:ext>
            </a:extLst>
          </p:cNvPr>
          <p:cNvSpPr>
            <a:spLocks noGrp="1"/>
          </p:cNvSpPr>
          <p:nvPr/>
        </p:nvSpPr>
        <p:spPr>
          <a:xfrm>
            <a:off x="762000" y="6438900"/>
            <a:ext cx="9525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900" b="0">
                <a:solidFill>
                  <a:srgbClr val="7A7A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A7A7A"/>
                </a:solidFill>
                <a:latin typeface="Arial"/>
                <a:ea typeface="Arial"/>
                <a:cs typeface="Arial"/>
              </a:rPr>
              <a:t>MOOC Student Analytics | final K=3 segmentation summary</a:t>
            </a:r>
          </a:p>
        </p:txBody>
      </p:sp>
    </p:spTree>
    <p:extLst>
      <p:ext uri="{BB962C8B-B14F-4D97-AF65-F5344CB8AC3E}">
        <p14:creationId xmlns:p14="http://schemas.microsoft.com/office/powerpoint/2010/main" val="56774891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3594</Words>
  <Application>Microsoft Macintosh PowerPoint</Application>
  <DocSecurity>0</DocSecurity>
  <PresentationFormat>Widescreen</PresentationFormat>
  <Paragraphs>919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Chutimon NUNTHASENA</cp:lastModifiedBy>
  <cp:revision>1</cp:revision>
  <dcterms:created xsi:type="dcterms:W3CDTF">2026-09-29T10:44:39Z</dcterms:created>
  <dcterms:modified xsi:type="dcterms:W3CDTF">2026-09-29T12:40:58Z</dcterms:modified>
</cp:coreProperties>
</file>