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0345A">
              <a:alpha val="90000"/>
            </a:srgbClr>
          </a:solidFill>
          <a:ln w="12700">
            <a:solidFill>
              <a:srgbClr val="2034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3400" b="1" dirty="0">
                <a:latin typeface="Tahoma"/>
                <a:ea typeface="Tahoma"/>
                <a:cs typeface="Tahoma"/>
                <a:solidFill>
                  <a:srgbClr val="FFFFFF"/>
                </a:solidFill>
              </a:rPr>
              <a:t>การวิเคราะห์พฤติกรรมผู้เรียน MOOC</a:t>
            </a:r>
            <a:endParaRPr lang="th-TH" sz="3400" dirty="0">
              <a:latin typeface="Tahoma"/>
              <a:ea typeface="Tahoma"/>
              <a:cs typeface="Tahom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17556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800" dirty="0">
                <a:latin typeface="Tahoma"/>
                <a:ea typeface="Tahoma"/>
                <a:cs typeface="Tahoma"/>
                <a:solidFill>
                  <a:srgbClr val="DDE8FF"/>
                </a:solidFill>
              </a:rPr>
              <a:t>Student Segmentation, Prediction และ LLM/Text Analytics</a:t>
            </a:r>
            <a:endParaRPr lang="th-TH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8986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800" b="1" dirty="0">
                <a:latin typeface="Tahoma"/>
                <a:ea typeface="Tahoma"/>
                <a:cs typeface="Tahoma"/>
                <a:solidFill>
                  <a:srgbClr val="FFFFFF"/>
                </a:solidFill>
              </a:rPr>
              <a:t>446,766</a:t>
            </a:r>
            <a:endParaRPr lang="th-TH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32278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80" b="1" dirty="0">
                <a:latin typeface="Tahoma"/>
                <a:ea typeface="Tahoma"/>
                <a:cs typeface="Tahoma"/>
                <a:solidFill>
                  <a:srgbClr val="16233A"/>
                </a:solidFill>
              </a:rPr>
              <a:t>ฐานวิเคราะห์สุดท้าย</a:t>
            </a:r>
            <a:endParaRPr lang="th-TH" sz="880" dirty="0">
              <a:latin typeface="Tahoma"/>
              <a:ea typeface="Tahoma"/>
              <a:cs typeface="Tahoma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7824" y="3419856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78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นักศึกษาไม่ซ้ำ</a:t>
            </a:r>
            <a:endParaRPr lang="th-TH" sz="780" dirty="0">
              <a:latin typeface="Tahoma"/>
              <a:ea typeface="Tahoma"/>
              <a:cs typeface="Tahom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2788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28986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800" b="1" dirty="0">
                <a:latin typeface="Tahoma"/>
                <a:ea typeface="Tahoma"/>
                <a:cs typeface="Tahoma"/>
                <a:solidFill>
                  <a:srgbClr val="FFFFFF"/>
                </a:solidFill>
              </a:rPr>
              <a:t>K=5</a:t>
            </a:r>
            <a:endParaRPr lang="th-TH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66744" y="32278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80" b="1" dirty="0">
                <a:latin typeface="Tahoma"/>
                <a:ea typeface="Tahoma"/>
                <a:cs typeface="Tahoma"/>
                <a:solidFill>
                  <a:srgbClr val="16233A"/>
                </a:solidFill>
              </a:rPr>
              <a:t>Persona สุดท้าย</a:t>
            </a:r>
            <a:endParaRPr lang="th-TH" sz="880" dirty="0">
              <a:latin typeface="Tahoma"/>
              <a:ea typeface="Tahoma"/>
              <a:cs typeface="Tahom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66744" y="3419856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78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ใช้กราฟและโมเดล K5</a:t>
            </a:r>
            <a:endParaRPr lang="th-TH" sz="780" dirty="0">
              <a:latin typeface="Tahoma"/>
              <a:ea typeface="Tahoma"/>
              <a:cs typeface="Tahom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2788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8986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800" b="1" dirty="0">
                <a:latin typeface="Tahoma"/>
                <a:ea typeface="Tahoma"/>
                <a:cs typeface="Tahoma"/>
                <a:solidFill>
                  <a:srgbClr val="FFFFFF"/>
                </a:solidFill>
              </a:rPr>
              <a:t>RF</a:t>
            </a:r>
            <a:endParaRPr lang="th-TH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55664" y="32278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80" b="1" dirty="0">
                <a:latin typeface="Tahoma"/>
                <a:ea typeface="Tahoma"/>
                <a:cs typeface="Tahoma"/>
                <a:solidFill>
                  <a:srgbClr val="16233A"/>
                </a:solidFill>
              </a:rPr>
              <a:t>ตัวทำนายดีที่สุด</a:t>
            </a:r>
            <a:endParaRPr lang="th-TH" sz="880" dirty="0">
              <a:latin typeface="Tahoma"/>
              <a:ea typeface="Tahoma"/>
              <a:cs typeface="Tahom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55664" y="3419856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78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PR-AUC 0.8615</a:t>
            </a:r>
            <a:endParaRPr lang="th-TH" sz="780" dirty="0">
              <a:latin typeface="Tahoma"/>
              <a:ea typeface="Tahoma"/>
              <a:cs typeface="Tahom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9808" y="57150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300" dirty="0">
                <a:latin typeface="Tahoma"/>
                <a:ea typeface="Tahoma"/>
                <a:cs typeface="Tahoma"/>
                <a:solidFill>
                  <a:srgbClr val="FFFFFF"/>
                </a:solidFill>
              </a:rPr>
              <a:t>รายงานฉบับนี้ตัดผลที่ไม่สอดคล้องออก และเล่าเฉพาะผลจริงจากฐาน student-level 446,766 คน</a:t>
            </a:r>
            <a:endParaRPr lang="th-TH" sz="130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เป้าหมายงานและขอบเขตการวิเคราะห์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งานนี้ใช้ข้อมูลพฤติกรรมผู้เรียนเพื่อแบ่ง persona และทำนายผลลัพธ์การเรียน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21208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คำถามหลักของงาน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ผู้เรียน MOOC มีรูปแบบพฤติกรรมกี่กลุ่ม และแต่ละกลุ่มต่างกันอย่างไร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โมเดลใดทำนายผลสำเร็จหรือ certification ได้ดีที่สุดบนข้อมูลที่ทำความสะอาดแล้ว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ข้อความพฤติกรรมที่แปลงจากข้อมูลตารางช่วยให้ LLM/Transformer วิเคราะห์ได้แค่ไหน</a:t>
            </a:r>
            <a:endParaRPr lang="th-TH" sz="1600" dirty="0">
              <a:latin typeface="Tahoma"/>
              <a:ea typeface="Tahoma"/>
              <a:cs typeface="Tahom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502920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Track ที่ทำในงาน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1. EDA และตรวจคุณภาพข้อมูล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2. Unsupervised segmentation สำหรับ persona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3. Supervised ML สำหรับ prediction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4. Deep learning classifier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5. LLM/Text embedding pipeline จากประโยคพฤติกรรมผู้เรียน</a:t>
            </a:r>
            <a:endParaRPr lang="th-TH" sz="160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4343400"/>
            <a:ext cx="10789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700" b="1" dirty="0">
                <a:latin typeface="Tahoma"/>
                <a:ea typeface="Tahoma"/>
                <a:cs typeface="Tahoma"/>
                <a:solidFill>
                  <a:srgbClr val="2F6B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เกณฑ์ส่งงาน: ใช้ผลจริงเท่านั้น, ไม่ปนฐาน enrollment-level เป็นฐานโมเดล, และอธิบายข้อจำกัดของแต่ละ track ให้ชัดเจน</a:t>
            </a:r>
            <a:endParaRPr lang="th-TH" sz="170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ฐานข้อมูลและหน่วยวิเคราะห์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แยกให้ชัดระหว่างจำนวนรายการลงทะเบียนกับจำนวนผู้เรียนที่ใช้เทรนโมเดล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2984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800" b="1" dirty="0">
                <a:latin typeface="Tahoma"/>
                <a:ea typeface="Tahoma"/>
                <a:cs typeface="Tahoma"/>
                <a:solidFill>
                  <a:srgbClr val="2F6BFF"/>
                </a:solidFill>
              </a:rPr>
              <a:t>575,060</a:t>
            </a:r>
            <a:endParaRPr lang="th-TH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2104" y="16276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80" b="1" dirty="0">
                <a:latin typeface="Tahoma"/>
                <a:ea typeface="Tahoma"/>
                <a:cs typeface="Tahoma"/>
                <a:solidFill>
                  <a:srgbClr val="16233A"/>
                </a:solidFill>
              </a:rPr>
              <a:t>หลังรวมและตัดซ้ำระดับลงทะเบียน</a:t>
            </a:r>
            <a:endParaRPr lang="th-TH" sz="88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2104" y="1819656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78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ใช้เป็นขั้น cleaning</a:t>
            </a:r>
            <a:endParaRPr lang="th-TH" sz="780" dirty="0">
              <a:latin typeface="Tahoma"/>
              <a:ea typeface="Tahoma"/>
              <a:cs typeface="Tahom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20440" y="1188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12984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800" b="1" dirty="0">
                <a:latin typeface="Tahoma"/>
                <a:ea typeface="Tahoma"/>
                <a:cs typeface="Tahoma"/>
                <a:solidFill>
                  <a:srgbClr val="2E9D69"/>
                </a:solidFill>
              </a:rPr>
              <a:t>446,766</a:t>
            </a:r>
            <a:endParaRPr lang="th-TH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66744" y="16276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80" b="1" dirty="0">
                <a:latin typeface="Tahoma"/>
                <a:ea typeface="Tahoma"/>
                <a:cs typeface="Tahoma"/>
                <a:solidFill>
                  <a:srgbClr val="16233A"/>
                </a:solidFill>
              </a:rPr>
              <a:t>ฐานโมเดลสุดท้าย</a:t>
            </a:r>
            <a:endParaRPr lang="th-TH" sz="880" dirty="0">
              <a:latin typeface="Tahoma"/>
              <a:ea typeface="Tahoma"/>
              <a:cs typeface="Tahom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66744" y="1819656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78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นักศึกษาไม่ซ้ำ</a:t>
            </a:r>
            <a:endParaRPr lang="th-TH" sz="780" dirty="0">
              <a:latin typeface="Tahoma"/>
              <a:ea typeface="Tahoma"/>
              <a:cs typeface="Tahom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55080" y="1188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2984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800" b="1" dirty="0">
                <a:latin typeface="Tahoma"/>
                <a:ea typeface="Tahoma"/>
                <a:cs typeface="Tahoma"/>
                <a:solidFill>
                  <a:srgbClr val="F59E0B"/>
                </a:solidFill>
              </a:rPr>
              <a:t>3.17%</a:t>
            </a:r>
            <a:endParaRPr lang="th-TH" sz="1800" dirty="0">
              <a:latin typeface="Tahoma"/>
              <a:ea typeface="Tahoma"/>
              <a:cs typeface="Tahom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01384" y="16276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80" b="1" dirty="0">
                <a:latin typeface="Tahoma"/>
                <a:ea typeface="Tahoma"/>
                <a:cs typeface="Tahoma"/>
                <a:solidFill>
                  <a:srgbClr val="16233A"/>
                </a:solidFill>
              </a:rPr>
              <a:t>อัตรา certification</a:t>
            </a:r>
            <a:endParaRPr lang="th-TH" sz="880" dirty="0">
              <a:latin typeface="Tahoma"/>
              <a:ea typeface="Tahoma"/>
              <a:cs typeface="Tahom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01384" y="1819656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78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class imbalance สูง</a:t>
            </a:r>
            <a:endParaRPr lang="th-TH" sz="780" dirty="0">
              <a:latin typeface="Tahoma"/>
              <a:ea typeface="Tahoma"/>
              <a:cs typeface="Tahom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2514600"/>
            <a:ext cx="107899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7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การตัดสินใจสำคัญ</a:t>
            </a:r>
            <a:endParaRPr lang="th-TH" sz="17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7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575,060 คือจำนวน student-course enrollment หลัง cleaning</a:t>
            </a:r>
            <a:endParaRPr lang="th-TH" sz="17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7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งานโมเดลหลักใช้ 446,766 นักศึกษาไม่ซ้ำ เพื่อไม่ให้ผู้เรียนคนเดียวถูกนับหลายครั้ง</a:t>
            </a:r>
            <a:endParaRPr lang="th-TH" sz="17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7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Target/outcome ถูกแยกออกจากขั้น EDA, scaling และ clustering เพื่อหลีกเลี่ยง leakage</a:t>
            </a:r>
            <a:endParaRPr lang="th-TH" sz="17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7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ผลในสไลด์นี้จึงยึดฐาน 446,766 ทั้ง Un, Sup, Deep และ LLM/Text</a:t>
            </a:r>
            <a:endParaRPr lang="th-TH" sz="1700" dirty="0">
              <a:latin typeface="Tahoma"/>
              <a:ea typeface="Tahoma"/>
              <a:cs typeface="Tahom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หมายเหตุ: 575,060 แสดงในบริบท cleaning เท่านั้น ไม่ใช้เป็นฐานสรุปโมเดลสุดท้าย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การทำความสะอาดข้อมูล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ลบความซ้ำ แก้ค่าผิดปกติ และกัน target leakage ก่อนเริ่มโมเดล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10835640" cy="1810512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571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รายการตรวจ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จำนวน/ผลกระทบ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เหตุผล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ค่า Sentinel 197757 ใน nplay_video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255,528 แถว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เป็นรหัสผิดปกติ ไม่ใช่พฤติกรรมจริง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รายการซ้ำข้ามไฟล์ student-course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180,084 แถว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กันการนับซ้ำและ bias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วันที่กลับทิศ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1,846 แถว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แก้ตรรกะวันที่ก่อนคำนวณระยะเวลา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อายุผิดปกติ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745 แถว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ตัดค่าที่ไม่สมเหตุสมผล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outcome ขัดแย้ง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78 กรณี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กักกันก่อนนำไปประเมินผล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572000"/>
            <a:ext cx="10607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ผลลัพธ์หลัง cleaning คือชุดข้อมูลที่เล่าในระดับผู้เรียนได้สอดคล้องกว่าเดิม และลดโอกาสที่โมเดลเรียนรู้จากความซ้ำหรือค่า placeholder แทนพฤติกรรมจริง</a:t>
            </a:r>
            <a:endParaRPr lang="th-TH" sz="160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EDA: การกระจายพฤติกรรมผู้เรียน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ตรวจ distribution ก่อนแบ่งกลุ่มและก่อนสร้างโมเดลทำนาย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eda/full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078992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669280"/>
            <a:ext cx="10561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ภาพรวมพบความเบ้ของพฤติกรรมชัดเจน: ผู้เรียนจำนวนมากมีกิจกรรมต่ำ ขณะที่กลุ่มเล็กมีการดูวิดีโอ เปิดบทเรียน หรือใช้งานระบบสูงมาก จึงต้องใช้ scaling และการตรวจ outlier ก่อน clustering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EDA: ความสัมพันธ์ของตัวแปร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Correlation ช่วยตรวจ feature ที่ซ้ำซ้อนและความสัมพันธ์กับพฤติกรรมสำคัญ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eda/correla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1001268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ตัวแปรกิจกรรมหลายชุดสัมพันธ์กันสูง เช่น activity days, chapters และ events จึงใช้ feature engineering และการเลือก feature เพื่อลดความซ้ำซ้อนก่อนเทรนโมเดล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การเลือกจำนวนกลุ่ม K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ใช้หลักฐานหลายตัวชี้วัด ไม่ใช้ Elbow เดี่ยว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k5_final/k_selection_four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6675120" cy="45262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143000"/>
          <a:ext cx="3977640" cy="2112264"/>
        </p:xfrm>
        <a:graphic>
          <a:graphicData uri="http://schemas.openxmlformats.org/drawingml/2006/table">
            <a:tbl>
              <a:tblPr/>
              <a:tblGrid>
                <a:gridCol w="224028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Metric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ค่า K=5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Silhouette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0.4275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Davies-Bouldin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0.8827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Calinski-Harabasz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16,546.0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Resample ARI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0.9935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Smallest cluster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13.2%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Largest cluster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29.3%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498080" y="3703320"/>
            <a:ext cx="38862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สรุป: K=5 ให้ภาพ persona ที่ตีความได้และกลุ่มไม่กองหนักเกินไป แม้บาง metric จะชอบ K ที่เล็กกว่า จึงเลือกจากหลักฐานรวมและสมดุลของกลุ่ม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ผลการแบ่งกลุ่ม Persona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K=5 ให้ 5 กลุ่มพฤติกรรมที่มีสัดส่วนใช้งานได้จริง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persona_propor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5166360" cy="44348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143000"/>
          <a:ext cx="5303520" cy="1810512"/>
        </p:xfrm>
        <a:graphic>
          <a:graphicData uri="http://schemas.openxmlformats.org/drawingml/2006/table">
            <a:tbl>
              <a:tblPr/>
              <a:tblGrid>
                <a:gridCol w="731520"/>
                <a:gridCol w="1234440"/>
                <a:gridCol w="777240"/>
                <a:gridCol w="2560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Cluster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Students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Share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ระดับพฤติกรรม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46,296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13.8%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Moderate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62,225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18.5%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Higher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55,365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16.5%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Moderate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97,719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29.1%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Lower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C4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74,045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22.1%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Moderate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17920" y="4526280"/>
            <a:ext cx="50749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กลุ่มใหญ่สุดคือ C3 ที่กิจกรรมต่ำกว่าเฉลี่ย 29.1% ส่วน C1 เป็นกลุ่มกิจกรรมสูง 18.5% ซึ่งเหมาะสำหรับนำไปอธิบาย persona และเปรียบเทียบผลลัพธ์ downstream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พฤติกรรมเด่นของแต่ละ Persona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Radar plot แสดงความต่างของ events, active days, chapters และ forum posts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cluster_profile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74420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C1 มีค่ากิจกรรมสูงแทบทุกมิติ ส่วน C3 ต่ำชัดเจนใน events, active days และ chapters ขณะที่ forum posts แตกต่างน้อยกว่า feature พฤติกรรมอื่น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ภาพฉาย PCA ของกลุ่มผู้เรียน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ใช้ PCA ช่วยตรวจว่ากลุ่มที่ได้แยกกันตามโครงสร้างพฤติกรรมหรือไม่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behavior_hyperspace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105613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715000"/>
            <a:ext cx="10241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PCA แสดงภาพรวมของ separation ในพื้นที่ feature หลัง scaling จึงใช้เป็นหลักฐานเชิงภาพประกอบกับตาราง metric ไม่ใช้เป็นหลักฐานเดียวในการเลือก K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เปรียบเทียบโมเดล Unsupervised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K-Means ให้ผลรวมดีที่สุดในชุด K=5 final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unsupervised_model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5623560" cy="44348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143000"/>
          <a:ext cx="4800600" cy="150876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685800"/>
                <a:gridCol w="685800"/>
                <a:gridCol w="1143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Model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Sil.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DBI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ARI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Runtime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K-Means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0.428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0.883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0.993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2.28s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MiniBatch K-Means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0.427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0.903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0.724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0.47s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Gaussian Mixture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0.346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1.167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0.960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2.13s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BIRCH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0.000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0.000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1.000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0.82s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0" y="4617720"/>
            <a:ext cx="46634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b="1" dirty="0">
                <a:latin typeface="Tahoma"/>
                <a:ea typeface="Tahoma"/>
                <a:cs typeface="Tahoma"/>
                <a:solidFill>
                  <a:srgbClr val="2F6B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โมเดลที่เลือก: K-Means K=5, Silhouette 0.4276, DBI 0.8827, ARI 0.9931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Supervised ML: ผลการทำนาย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Random Forest ให้ PR-AUC สูงสุดบน test set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supervised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5669280" cy="44805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143000"/>
          <a:ext cx="4983480" cy="2112264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777240"/>
                <a:gridCol w="822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Model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PR-AUC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Recall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F1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Runtime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Random Forest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0.8615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0.8619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0.8014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26.5s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Gradient Boosted Trees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0.8412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0.8788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0.8179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2.9s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Extra Trees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0.8361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0.8458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0.7798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27.8s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Decision Tree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0.8036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0.8670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0.7759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2.4s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Logistic Regression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0.7752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0.8227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0.7408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6.8s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Linear SVM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0.7713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0.8241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0.7437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8.6s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92240" y="4892040"/>
            <a:ext cx="4709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b="1" dirty="0">
                <a:latin typeface="Tahoma"/>
                <a:ea typeface="Tahoma"/>
                <a:cs typeface="Tahoma"/>
                <a:solidFill>
                  <a:srgbClr val="2F6B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โมเดลที่เลือก: Random Forest PR-AUC 0.8615, Recall 0.8619, F1 0.8014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Confusion Matrix ของ Supervised ML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ตรวจ false positive และ false negative เพื่อไม่ดูแค่ accuracy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supervised_confusion_matrice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1060704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71500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เพราะ certification rate มีเพียง 3.17% จึงใช้ PR-AUC, recall และ F1 ร่วมกับ confusion matrix เพื่อประเมินความสามารถในการจับกลุ่ม positive class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Deep Learning Classifier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MLP (128,64) ให้ผลดีที่สุดในกลุ่ม Neural Network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deep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5669280" cy="448056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143000"/>
          <a:ext cx="4983480" cy="2112264"/>
        </p:xfrm>
        <a:graphic>
          <a:graphicData uri="http://schemas.openxmlformats.org/drawingml/2006/table">
            <a:tbl>
              <a:tblPr/>
              <a:tblGrid>
                <a:gridCol w="1783080"/>
                <a:gridCol w="822960"/>
                <a:gridCol w="822960"/>
                <a:gridCol w="77724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Model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PR-AUC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Recall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F1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Epoch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MLP (128, 64)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0.8388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0.8421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0.7917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26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Regularized MLP (64, 32)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0.8359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0.8378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0.7830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Deep MLP (128, 64, 32)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0.8302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0.8553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0.7894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MLP (64, 32)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0.8153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0.8501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0.7666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MLP (32)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0.8132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0.8468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0.7683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MLP Tanh (64)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0.8114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0.8194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0.7687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92240" y="4892040"/>
            <a:ext cx="4709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b="1" dirty="0">
                <a:latin typeface="Tahoma"/>
                <a:ea typeface="Tahoma"/>
                <a:cs typeface="Tahoma"/>
                <a:solidFill>
                  <a:srgbClr val="2F6B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โมเดลที่เลือก: MLP Neural Network (128, 64) PR-AUC 0.8388, Recall 0.8421, F1 0.7917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LLM/Text Pipeline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แปลงข้อมูลพฤติกรรมผู้เรียนเป็นประโยค แล้วใช้ Transformer embedding + classifier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llm_text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5623560" cy="43434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143000"/>
          <a:ext cx="5074920" cy="2414016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777240"/>
                <a:gridCol w="685800"/>
                <a:gridCol w="960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Model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PR-AUC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Recall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F1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Runtime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TF-IDF Unigram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0.1552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0.1897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0.1384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TF-IDF (1-2 grams)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0.3700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0.7241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0.4800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TF-IDF + Linear SVM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0.4153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0.4483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0.4643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1.3s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Sentence Transformer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0.4064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0.8276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0.5000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758.3s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DistilBERT Embeddings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0.7247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0.7931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0.6970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623.2s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MiniLM Embeddings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0.4494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0.5862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0.4198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26.1s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DistilGPT2 Embeddings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0.6556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0.8103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0.6714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326.6s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46520" y="4983480"/>
            <a:ext cx="4846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250" b="1" dirty="0">
                <a:latin typeface="Tahoma"/>
                <a:ea typeface="Tahoma"/>
                <a:cs typeface="Tahoma"/>
                <a:solidFill>
                  <a:srgbClr val="2F6B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โมเดลที่เลือก: DistilBERT Embeddings + Logistic Regression PR-AUC 0.7247, Recall 0.7931, F1 0.6970. ส่วนนี้เป็น local embedding pipeline ไม่ใช้ GPT/Claude API</a:t>
            </a:r>
            <a:endParaRPr lang="th-TH" sz="125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Confusion Matrix ของ LLM/Text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ตรวจผลของโมเดลข้อความกับ positive class ที่มีจำนวนน้อย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pic>
        <p:nvPicPr>
          <p:cNvPr id="5" name="Image 0" descr="/Users/chingli/Desktop/AI/Mooc_CLI_2/Merged MOOC Data/outputs/figures/tracks/llm_text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1046988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715000"/>
            <a:ext cx="10195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35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DistilBERT embedding ทำงานดีที่สุดใน track ข้อความ แต่ยังต่ำกว่า Random Forest บน feature tabular จึงเหมาะเป็นมุมมองเสริมมากกว่าโมเดลหลักสำหรับงานนี้</a:t>
            </a:r>
            <a:endParaRPr lang="th-TH" sz="135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สรุปผลเปรียบเทียบทุก Track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โมเดล tabular ยังให้ผลทำนายดีที่สุด ส่วน segmentation ใช้เพื่ออธิบาย persona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10835640" cy="150876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2468880"/>
                <a:gridCol w="3520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Track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ผลที่เลือก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ค่าหลัก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b="1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บทบาทในงาน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Unsupervised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K-Means K=5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Sil. 0.4276, ARI 0.9931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สร้าง persona ผู้เรียน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Supervised ML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Random Forest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PR-AUC 0.8615, F1 0.8014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โมเดลหลักสำหรับทำนาย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Deep Learning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MLP Neural Network (128, 64)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PR-AUC 0.8388, F1 0.7917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เปรียบเทียบกับ ML แบบดั้งเดิม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LLM/Text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DistilBERT Embeddings + Logistic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PR-AUC 0.7247, F1 0.6970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h-TH" sz="820" dirty="0">
                          <a:latin typeface="Tahoma"/>
                          <a:ea typeface="Tahoma"/>
                          <a:cs typeface="Tahoma"/>
                          <a:solidFill>
                            <a:srgbClr val="111827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แปลงพฤติกรรมเป็นข้อความเพื่อวิเคราะห์</a:t>
                      </a:r>
                      <a:endParaRPr lang="th-TH" sz="820" dirty="0">
                        <a:latin typeface="Tahoma"/>
                        <a:ea typeface="Tahoma"/>
                        <a:cs typeface="Tahoma"/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434840"/>
            <a:ext cx="10332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6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ข้อสรุปหลัก: Random Forest เหมาะเป็นโมเดลทำนายสุดท้ายในชุดนี้ ส่วน K=5 segmentation ช่วยอธิบายพฤติกรรมผู้เรียนเป็น persona ที่นำไปสื่อสารได้ง่าย</a:t>
            </a:r>
            <a:endParaRPr lang="th-TH" sz="160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2400" b="1" dirty="0">
                <a:latin typeface="Tahoma"/>
                <a:ea typeface="Tahoma"/>
                <a:cs typeface="Tahoma"/>
                <a:solidFill>
                  <a:srgbClr val="1623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ข้อเสนอแนะและข้อจำกัด</a:t>
            </a:r>
            <a:endParaRPr lang="th-TH" sz="2400" dirty="0">
              <a:latin typeface="Tahoma"/>
              <a:ea typeface="Tahoma"/>
              <a:cs typeface="Tahom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105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ใช้ผลลัพธ์เพื่อวางแผนช่วยเหลือผู้เรียน แต่ต้องระวังการตีความเชิงเหตุและผล</a:t>
            </a:r>
            <a:endParaRPr lang="th-TH" sz="1050" dirty="0">
              <a:latin typeface="Tahoma"/>
              <a:ea typeface="Tahoma"/>
              <a:cs typeface="Tahom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544068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สิ่งที่ควรนำไปใช้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ใช้ persona K=5 เพื่อออกแบบ intervention ตามพฤติกรรม เช่น กลุ่มกิจกรรมต่ำ กลุ่มเรียนสม่ำเสมอ และกลุ่มกิจกรรมสูง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ใช้ Random Forest เป็น baseline deployment เพราะให้ผลดีที่สุดและอธิบายด้วย feature importance ได้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ใช้ LLM/Text เป็นการทดลองเสริมสำหรับการเล่าพฤติกรรมผู้เรียนในรูปข้อความ</a:t>
            </a:r>
            <a:endParaRPr lang="th-TH" sz="1600" dirty="0">
              <a:latin typeface="Tahoma"/>
              <a:ea typeface="Tahoma"/>
              <a:cs typeface="Tahom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46520" y="1143000"/>
            <a:ext cx="521208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ข้อจำกัดที่ต้องพูดตอนพรีเซ็น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ข้อมูลมี class imbalance สูง จึงไม่ควรใช้ accuracy อย่างเดียว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Correlation และ persona เป็นเชิงพรรณนา ไม่ยืนยันเหตุและผล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LLM/Text ในงานนี้ใช้ embedding local ไม่ใช่ GPT/Claude API เต็มรูปแบบ</a:t>
            </a:r>
            <a:endParaRPr lang="th-TH" sz="1600" dirty="0">
              <a:latin typeface="Tahoma"/>
              <a:ea typeface="Tahoma"/>
              <a:cs typeface="Tahoma"/>
            </a:endParaRPr>
          </a:p>
          <a:p>
            <a:pPr indent="0" marL="0">
              <a:buNone/>
            </a:pPr>
            <a:r>
              <a:rPr lang="th-TH" sz="1600" dirty="0">
                <a:latin typeface="Tahoma"/>
                <a:ea typeface="Tahoma"/>
                <a:cs typeface="Tahoma"/>
                <a:solidFill>
                  <a:srgbClr val="11182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• หากนำไปใช้งานจริงควร monitor drift และ retrain เมื่อข้อมูลเปลี่ยน</a:t>
            </a:r>
            <a:endParaRPr lang="th-TH" sz="1600" dirty="0">
              <a:latin typeface="Tahoma"/>
              <a:ea typeface="Tahoma"/>
              <a:cs typeface="Tahom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4800600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th-TH" sz="1700" b="1" dirty="0">
                <a:latin typeface="Tahoma"/>
                <a:ea typeface="Tahoma"/>
                <a:cs typeface="Tahoma"/>
                <a:solidFill>
                  <a:srgbClr val="2F6B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สรุปส่งงาน: ฐานข้อมูลและกราฟในสไลด์นี้สอดคล้องกับ dashboard ฉบับล่าสุดที่ใช้ 446,766 นักศึกษาและ K=5 final</a:t>
            </a:r>
            <a:endParaRPr lang="th-TH" sz="1700" dirty="0">
              <a:latin typeface="Tahoma"/>
              <a:ea typeface="Tahoma"/>
              <a:cs typeface="Tahom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8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6547104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sz="820" dirty="0">
                <a:latin typeface="Tahoma"/>
                <a:ea typeface="Tahoma"/>
                <a:cs typeface="Tahoma"/>
                <a:solidFill>
                  <a:srgbClr val="5C667A"/>
                </a:solidFill>
              </a:rPr>
              <a:t>ฐานโมเดลหลัก: นักศึกษาไม่ซ้ำ 446,766 คน</a:t>
            </a:r>
            <a:endParaRPr lang="th-TH" sz="820" dirty="0"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ahom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ahoma"/>
        <a:font script="Hebr" typeface="Tahom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  <a:font script="Armn" typeface="Tahom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MOOC Student Analytics Final Deck</dc:title>
  <dc:subject>MOOC Student Analytics</dc:subject>
  <dc:creator>Codex</dc:creator>
  <cp:lastModifiedBy>Codex</cp:lastModifiedBy>
  <cp:revision>1</cp:revision>
  <dcterms:created xsi:type="dcterms:W3CDTF">2026-09-29T18:11:30Z</dcterms:created>
  <dcterms:modified xsi:type="dcterms:W3CDTF">2026-09-29T18:11:30Z</dcterms:modified>
</cp:coreProperties>
</file>