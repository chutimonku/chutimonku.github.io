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698981c4b740f8" /><Relationship Type="http://schemas.openxmlformats.org/officeDocument/2006/relationships/extended-properties" Target="/docProps/app.xml" Id="R58a69630019a48b2" /><Relationship Type="http://schemas.openxmlformats.org/officeDocument/2006/relationships/officeDocument" Target="/ppt/presentation.xml" Id="R5172eb9a2f4742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fb8e03153e4486"/>
  </p:sldMasterIdLst>
  <p:notesMasterIdLst>
    <p:notesMasterId xmlns:r="http://schemas.openxmlformats.org/officeDocument/2006/relationships" r:id="R07a1edf4109f42b0"/>
  </p:notesMasterIdLst>
  <p:sldIdLst>
    <p:sldId xmlns:r="http://schemas.openxmlformats.org/officeDocument/2006/relationships" id="256" r:id="R1045ba1d68a744f9"/>
    <p:sldId xmlns:r="http://schemas.openxmlformats.org/officeDocument/2006/relationships" id="257" r:id="R9ed6c397f5ec4626"/>
    <p:sldId xmlns:r="http://schemas.openxmlformats.org/officeDocument/2006/relationships" id="258" r:id="R883636e8dc30412b"/>
    <p:sldId xmlns:r="http://schemas.openxmlformats.org/officeDocument/2006/relationships" id="259" r:id="Rb33c515339be4812"/>
    <p:sldId xmlns:r="http://schemas.openxmlformats.org/officeDocument/2006/relationships" id="260" r:id="R777a96c76cce4af7"/>
    <p:sldId xmlns:r="http://schemas.openxmlformats.org/officeDocument/2006/relationships" id="261" r:id="Rea07add43f7a46c9"/>
    <p:sldId xmlns:r="http://schemas.openxmlformats.org/officeDocument/2006/relationships" id="262" r:id="Rc50b7d08a8ab4765"/>
    <p:sldId xmlns:r="http://schemas.openxmlformats.org/officeDocument/2006/relationships" id="263" r:id="R6e3d1fd56e264a8f"/>
    <p:sldId xmlns:r="http://schemas.openxmlformats.org/officeDocument/2006/relationships" id="264" r:id="R400752cd74524d10"/>
    <p:sldId xmlns:r="http://schemas.openxmlformats.org/officeDocument/2006/relationships" id="265" r:id="R65971af77dd64981"/>
    <p:sldId xmlns:r="http://schemas.openxmlformats.org/officeDocument/2006/relationships" id="266" r:id="R69301e4503034ee6"/>
    <p:sldId xmlns:r="http://schemas.openxmlformats.org/officeDocument/2006/relationships" id="267" r:id="R1892b416400248ba"/>
    <p:sldId xmlns:r="http://schemas.openxmlformats.org/officeDocument/2006/relationships" id="268" r:id="R7cbefb29ac484e94"/>
    <p:sldId xmlns:r="http://schemas.openxmlformats.org/officeDocument/2006/relationships" id="269" r:id="Rd30369b4dc6c4f27"/>
    <p:sldId xmlns:r="http://schemas.openxmlformats.org/officeDocument/2006/relationships" id="270" r:id="R7dd021e9195148d2"/>
    <p:sldId xmlns:r="http://schemas.openxmlformats.org/officeDocument/2006/relationships" id="271" r:id="R89dd44e64cae495e"/>
    <p:sldId xmlns:r="http://schemas.openxmlformats.org/officeDocument/2006/relationships" id="272" r:id="R2702c8ef24de4dc8"/>
    <p:sldId xmlns:r="http://schemas.openxmlformats.org/officeDocument/2006/relationships" id="273" r:id="Rf79b041f125b43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9f39225b744261" /><Relationship Type="http://schemas.openxmlformats.org/officeDocument/2006/relationships/slideMaster" Target="/ppt/slideMasters/slideMaster1.xml" Id="Rccfb8e03153e4486" /><Relationship Type="http://schemas.openxmlformats.org/officeDocument/2006/relationships/notesMaster" Target="/ppt/notesMasters/notesMaster1.xml" Id="R07a1edf4109f42b0" /><Relationship Type="http://schemas.openxmlformats.org/officeDocument/2006/relationships/presProps" Target="/ppt/presProps.xml" Id="Rfaa4159a2cc84816" /><Relationship Type="http://schemas.openxmlformats.org/officeDocument/2006/relationships/tableStyles" Target="/ppt/tableStyles.xml" Id="Re7795ffbc84a461a" /><Relationship Type="http://schemas.openxmlformats.org/officeDocument/2006/relationships/slide" Target="/ppt/slides/slide1.xml" Id="R1045ba1d68a744f9" /><Relationship Type="http://schemas.openxmlformats.org/officeDocument/2006/relationships/slide" Target="/ppt/slides/slide2.xml" Id="R9ed6c397f5ec4626" /><Relationship Type="http://schemas.openxmlformats.org/officeDocument/2006/relationships/slide" Target="/ppt/slides/slide3.xml" Id="R883636e8dc30412b" /><Relationship Type="http://schemas.openxmlformats.org/officeDocument/2006/relationships/slide" Target="/ppt/slides/slide4.xml" Id="Rb33c515339be4812" /><Relationship Type="http://schemas.openxmlformats.org/officeDocument/2006/relationships/slide" Target="/ppt/slides/slide5.xml" Id="R777a96c76cce4af7" /><Relationship Type="http://schemas.openxmlformats.org/officeDocument/2006/relationships/slide" Target="/ppt/slides/slide6.xml" Id="Rea07add43f7a46c9" /><Relationship Type="http://schemas.openxmlformats.org/officeDocument/2006/relationships/slide" Target="/ppt/slides/slide7.xml" Id="Rc50b7d08a8ab4765" /><Relationship Type="http://schemas.openxmlformats.org/officeDocument/2006/relationships/slide" Target="/ppt/slides/slide8.xml" Id="R6e3d1fd56e264a8f" /><Relationship Type="http://schemas.openxmlformats.org/officeDocument/2006/relationships/slide" Target="/ppt/slides/slide9.xml" Id="R400752cd74524d10" /><Relationship Type="http://schemas.openxmlformats.org/officeDocument/2006/relationships/slide" Target="/ppt/slides/slide10.xml" Id="R65971af77dd64981" /><Relationship Type="http://schemas.openxmlformats.org/officeDocument/2006/relationships/slide" Target="/ppt/slides/slide11.xml" Id="R69301e4503034ee6" /><Relationship Type="http://schemas.openxmlformats.org/officeDocument/2006/relationships/slide" Target="/ppt/slides/slide12.xml" Id="R1892b416400248ba" /><Relationship Type="http://schemas.openxmlformats.org/officeDocument/2006/relationships/slide" Target="/ppt/slides/slide13.xml" Id="R7cbefb29ac484e94" /><Relationship Type="http://schemas.openxmlformats.org/officeDocument/2006/relationships/slide" Target="/ppt/slides/slide14.xml" Id="Rd30369b4dc6c4f27" /><Relationship Type="http://schemas.openxmlformats.org/officeDocument/2006/relationships/slide" Target="/ppt/slides/slide15.xml" Id="R7dd021e9195148d2" /><Relationship Type="http://schemas.openxmlformats.org/officeDocument/2006/relationships/slide" Target="/ppt/slides/slide16.xml" Id="R89dd44e64cae495e" /><Relationship Type="http://schemas.openxmlformats.org/officeDocument/2006/relationships/slide" Target="/ppt/slides/slide17.xml" Id="R2702c8ef24de4dc8" /><Relationship Type="http://schemas.openxmlformats.org/officeDocument/2006/relationships/slide" Target="/ppt/slides/slide18.xml" Id="Rf79b041f125b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180502077848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e6ef53d9184869" /><Relationship Type="http://schemas.openxmlformats.org/officeDocument/2006/relationships/notesMaster" Target="/ppt/notesMasters/notesMaster1.xml" Id="Rd4a57f82f664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83a49334c14433" /><Relationship Type="http://schemas.openxmlformats.org/officeDocument/2006/relationships/notesMaster" Target="/ppt/notesMasters/notesMaster1.xml" Id="Rda3f5adb33eb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da2cfb67994c9c" /><Relationship Type="http://schemas.openxmlformats.org/officeDocument/2006/relationships/notesMaster" Target="/ppt/notesMasters/notesMaster1.xml" Id="R67e9622c76d8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dc4480de8d42e0" /><Relationship Type="http://schemas.openxmlformats.org/officeDocument/2006/relationships/notesMaster" Target="/ppt/notesMasters/notesMaster1.xml" Id="Rf52b441202a840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ffd63c6536487b" /><Relationship Type="http://schemas.openxmlformats.org/officeDocument/2006/relationships/notesMaster" Target="/ppt/notesMasters/notesMaster1.xml" Id="R9ddc63dc2aa04d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e6e99b7585427d" /><Relationship Type="http://schemas.openxmlformats.org/officeDocument/2006/relationships/notesMaster" Target="/ppt/notesMasters/notesMaster1.xml" Id="R79e289dc68954c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48b4d5f0f244ba" /><Relationship Type="http://schemas.openxmlformats.org/officeDocument/2006/relationships/notesMaster" Target="/ppt/notesMasters/notesMaster1.xml" Id="R2241a38c7e9245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68415b07b0405f" /><Relationship Type="http://schemas.openxmlformats.org/officeDocument/2006/relationships/notesMaster" Target="/ppt/notesMasters/notesMaster1.xml" Id="R6655d764b0cd46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1812db039d4941" /><Relationship Type="http://schemas.openxmlformats.org/officeDocument/2006/relationships/notesMaster" Target="/ppt/notesMasters/notesMaster1.xml" Id="R0a020346f55840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197e2b6ad440ea" /><Relationship Type="http://schemas.openxmlformats.org/officeDocument/2006/relationships/notesMaster" Target="/ppt/notesMasters/notesMaster1.xml" Id="R1cfe936df9f248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72c3f1cc04df0" /><Relationship Type="http://schemas.openxmlformats.org/officeDocument/2006/relationships/notesMaster" Target="/ppt/notesMasters/notesMaster1.xml" Id="Rf85ba3ac936e48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352c710e39493a" /><Relationship Type="http://schemas.openxmlformats.org/officeDocument/2006/relationships/notesMaster" Target="/ppt/notesMasters/notesMaster1.xml" Id="Rfd57a6351b5b43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6f67932277490a" /><Relationship Type="http://schemas.openxmlformats.org/officeDocument/2006/relationships/notesMaster" Target="/ppt/notesMasters/notesMaster1.xml" Id="Re48b685b732b45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3be9de7a314bc0" /><Relationship Type="http://schemas.openxmlformats.org/officeDocument/2006/relationships/notesMaster" Target="/ppt/notesMasters/notesMaster1.xml" Id="Rb8bfc747713146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4e539cc7634b72" /><Relationship Type="http://schemas.openxmlformats.org/officeDocument/2006/relationships/notesMaster" Target="/ppt/notesMasters/notesMaster1.xml" Id="R89946e84f1b444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5457e003d64b85" /><Relationship Type="http://schemas.openxmlformats.org/officeDocument/2006/relationships/notesMaster" Target="/ppt/notesMasters/notesMaster1.xml" Id="R86708d69470b45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beb9265fd04bd0" /><Relationship Type="http://schemas.openxmlformats.org/officeDocument/2006/relationships/notesMaster" Target="/ppt/notesMasters/notesMaster1.xml" Id="Rbdfbbaa2534e42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ecf6f242024071" /><Relationship Type="http://schemas.openxmlformats.org/officeDocument/2006/relationships/notesMaster" Target="/ppt/notesMasters/notesMaster1.xml" Id="R640691114187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student_segmentation_report.html และผลลัพธ์ในโฟลเดอร์ outputs ของโครงการ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e9b93652c44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a15b321f9c4e4c" /><Relationship Type="http://schemas.openxmlformats.org/officeDocument/2006/relationships/slideLayout" Target="/ppt/slideLayouts/slideLayout1.xml" Id="R4e572a7123d249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72a7123d249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ab62f0e3145e6" /><Relationship Type="http://schemas.openxmlformats.org/officeDocument/2006/relationships/notesSlide" Target="/ppt/notesSlides/notesSlide1.xml" Id="R8757090a62ca46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882ff9f3d4dfa" /><Relationship Type="http://schemas.openxmlformats.org/officeDocument/2006/relationships/notesSlide" Target="/ppt/notesSlides/notesSlide2.xml" Id="R6dee3f22c01f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860a085f44ff" /><Relationship Type="http://schemas.openxmlformats.org/officeDocument/2006/relationships/notesSlide" Target="/ppt/notesSlides/notesSlide3.xml" Id="Rdb547201c8a3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e51cc393d4b2f" /><Relationship Type="http://schemas.openxmlformats.org/officeDocument/2006/relationships/image" Target="/ppt/media/image.png" Id="Rfc2d58f906f54cd6" /><Relationship Type="http://schemas.openxmlformats.org/officeDocument/2006/relationships/notesSlide" Target="/ppt/notesSlides/notesSlide4.xml" Id="R7e444a1500a0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98a08d1424c2b" /><Relationship Type="http://schemas.openxmlformats.org/officeDocument/2006/relationships/image" Target="/ppt/media/image2.png" Id="R00c171a6a3ab448b" /><Relationship Type="http://schemas.openxmlformats.org/officeDocument/2006/relationships/image" Target="/ppt/media/image3.png" Id="R0b63db2c5d5547ab" /><Relationship Type="http://schemas.openxmlformats.org/officeDocument/2006/relationships/notesSlide" Target="/ppt/notesSlides/notesSlide5.xml" Id="Ra7eda8d90f604c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0080d70384c51" /><Relationship Type="http://schemas.openxmlformats.org/officeDocument/2006/relationships/image" Target="/ppt/media/image4.png" Id="Rb996e9451be6406c" /><Relationship Type="http://schemas.openxmlformats.org/officeDocument/2006/relationships/notesSlide" Target="/ppt/notesSlides/notesSlide6.xml" Id="R523e682b693b4c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00b13a39a450b" /><Relationship Type="http://schemas.openxmlformats.org/officeDocument/2006/relationships/image" Target="/ppt/media/image5.png" Id="R4d9dc5395b3e4673" /><Relationship Type="http://schemas.openxmlformats.org/officeDocument/2006/relationships/notesSlide" Target="/ppt/notesSlides/notesSlide7.xml" Id="R8cc3b800da63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e39e3f9d24d79" /><Relationship Type="http://schemas.openxmlformats.org/officeDocument/2006/relationships/image" Target="/ppt/media/image6.png" Id="R0072f27cc83c486e" /><Relationship Type="http://schemas.openxmlformats.org/officeDocument/2006/relationships/notesSlide" Target="/ppt/notesSlides/notesSlide8.xml" Id="R5935f80afdab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80be50e44418b" /><Relationship Type="http://schemas.openxmlformats.org/officeDocument/2006/relationships/image" Target="/ppt/media/image7.png" Id="R6b99e6f2e74b4251" /><Relationship Type="http://schemas.openxmlformats.org/officeDocument/2006/relationships/image" Target="/ppt/media/image8.png" Id="Rf4e4c747efcf4a62" /><Relationship Type="http://schemas.openxmlformats.org/officeDocument/2006/relationships/notesSlide" Target="/ppt/notesSlides/notesSlide9.xml" Id="Ra1e9d2521c054b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6ebe79c6d44d9" /><Relationship Type="http://schemas.openxmlformats.org/officeDocument/2006/relationships/image" Target="/ppt/media/image9.png" Id="R374809485a7249f2" /><Relationship Type="http://schemas.openxmlformats.org/officeDocument/2006/relationships/notesSlide" Target="/ppt/notesSlides/notesSlide10.xml" Id="Ref92edaee6204d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204504b2d4a09" /><Relationship Type="http://schemas.openxmlformats.org/officeDocument/2006/relationships/image" Target="/ppt/media/image10.png" Id="Rb13f42ba2b2a49f3" /><Relationship Type="http://schemas.openxmlformats.org/officeDocument/2006/relationships/notesSlide" Target="/ppt/notesSlides/notesSlide11.xml" Id="R738f703627894f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7fe7c68e24aad" /><Relationship Type="http://schemas.openxmlformats.org/officeDocument/2006/relationships/image" Target="/ppt/media/image11.png" Id="R069468596d2c4f39" /><Relationship Type="http://schemas.openxmlformats.org/officeDocument/2006/relationships/image" Target="/ppt/media/image12.png" Id="Rbd7a4806c62e4ffd" /><Relationship Type="http://schemas.openxmlformats.org/officeDocument/2006/relationships/notesSlide" Target="/ppt/notesSlides/notesSlide12.xml" Id="R7d2890338acf4b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fd3a079a74f9f" /><Relationship Type="http://schemas.openxmlformats.org/officeDocument/2006/relationships/image" Target="/ppt/media/image13.png" Id="Ra6481124a88048a6" /><Relationship Type="http://schemas.openxmlformats.org/officeDocument/2006/relationships/notesSlide" Target="/ppt/notesSlides/notesSlide13.xml" Id="R6810a0a2c2eb41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7108743de4b40" /><Relationship Type="http://schemas.openxmlformats.org/officeDocument/2006/relationships/image" Target="/ppt/media/image14.png" Id="R8404ac115e604164" /><Relationship Type="http://schemas.openxmlformats.org/officeDocument/2006/relationships/image" Target="/ppt/media/image15.png" Id="R0c71830b73704e16" /><Relationship Type="http://schemas.openxmlformats.org/officeDocument/2006/relationships/notesSlide" Target="/ppt/notesSlides/notesSlide14.xml" Id="R056778a0a84f4b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54e6ac9b4733" /><Relationship Type="http://schemas.openxmlformats.org/officeDocument/2006/relationships/notesSlide" Target="/ppt/notesSlides/notesSlide15.xml" Id="R5dd9962c9a5145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79e3a96cc42ea" /><Relationship Type="http://schemas.openxmlformats.org/officeDocument/2006/relationships/image" Target="/ppt/media/image16.png" Id="R680f059612ff4758" /><Relationship Type="http://schemas.openxmlformats.org/officeDocument/2006/relationships/notesSlide" Target="/ppt/notesSlides/notesSlide16.xml" Id="R0ebb22d5c2064c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3d2b059934049" /><Relationship Type="http://schemas.openxmlformats.org/officeDocument/2006/relationships/notesSlide" Target="/ppt/notesSlides/notesSlide17.xml" Id="R733d67c26c4d46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371c91e374a12" /><Relationship Type="http://schemas.openxmlformats.org/officeDocument/2006/relationships/notesSlide" Target="/ppt/notesSlides/notesSlide18.xml" Id="Re6e2768dd8a941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6E091-A0D4-4F31-B2CB-B41F462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5725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MOOC Student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5765B-E062-4C3E-A6D5-10B35894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การวิเคราะห์พฤติกรรมนักศึกษา การแบ่งกลุ่ม Persona และการทำนายผลลัพธ์การเรียน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5EEED-1CE8-4C7C-B6C3-A20A1304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981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0F064-F59E-4D86-BF65-B83F42A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7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ฐานข้อมูลหลักหลังรวมและทำความสะอาด: 446,766 นักศึกษา</a:t>
            </a:r>
          </a:p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งานวิเคราะห์ครอบคลุม EDA, Traditional Unsupervised, Supervised, Deep Learning และ LLM/Transformer</a:t>
            </a:r>
          </a:p>
          <a:p xmlns:a="http://schemas.openxmlformats.org/drawingml/2006/main">
            <a:pPr>
              <a:def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รายงานนี้ใช้ค่าจริงจากไฟล์ผลลัพธ์ใน outputs/tables และกราฟจริงจาก outputs/figures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3364E-0DC7-46D9-9D16-FD7DC8AB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C6749-C6AE-4C87-93F5-59C7F72B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7838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098FA-799C-44D1-9207-1991C69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คำถามวิจัยและขอบเขตงาน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AEA30-D8A2-4797-8F6F-0535F67A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นิยามปัญหาและการจัดวางงานตาม data science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FA1D1-2646-4BF1-A283-5157B6A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75552-DB3D-4C3F-80FA-79172C7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75CB5-2A21-445E-A838-848B0D16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1 นักศึกษา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B8B3-CA2B-427C-B650-D91D81E9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หน่วยวิเคราะห์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C2BC0-D0F3-46E4-976A-AA13DA6E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F7CB2-4388-4DB5-8BED-4CAE5A23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446,766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66F85-6984-4E84-A9E1-7672AB70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จำนวนหลังรวมข้อมูล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7D274-BDFC-4654-917A-2390BF13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6B8B9-5B2F-4A67-95B6-DB22FF4A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4 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51726-192E-496E-8C5B-D2636CB8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Track ที่วิเคราะห์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8AB65-4726-42F3-873A-F2D21528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2000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80ECD-23DC-441C-92E5-C7D4608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Certificate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D39E1-04F9-4889-B506-6D75404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เป้าหมายสำคัญ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F471F-814B-46C2-A7E3-06CF6EDE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009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BF3B4-7805-4349-B708-ACADDCA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Unsupervised ใช้ฟีเจอร์พฤติกรรมเพื่อแบ่งกลุ่มผู้เรียนและอธิบาย Persona โดยไม่ใช้ target label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Supervised และ Deep Learning ใช้ฟีเจอร์ที่ผ่านการคัดกรองเพื่อทำนายการได้รับใบรับรอง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แปลงหนึ่งแถวนักศึกษาเป็นประโยคเชิงพฤติกรรมก่อนสร้าง embedding และเทรน classifier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ทุกผลลัพธ์เลือกจากข้อมูลที่ทำความสะอาดและตรวจสอบการรั่วไหลของ target แล้ว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7947E2-BF2F-413B-A471-A395105D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CDE83-2BBD-4987-A1F2-717D9806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1902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CBF84-7BAC-4288-9846-6B80DD4D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การทำความสะอาดข้อมูล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7D80E-D64F-481B-BC64-8C670285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สรุปกฎสำคัญที่ใช้ก่อนสร้างฟีเจอร์และเทรนโมเดล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28E96-67CF-4BE8-BEDF-3F5233F8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0668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953250"/>
                <a:gridCol w="1714500"/>
              </a:tblGrid>
              <a:tr h="36909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ประเด็น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วิธีจัดการ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จำนวนที่กระทบ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Source-first cleaning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Cleaned each source before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755,144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Cross-source overlap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Official-source-first non-null coalescing by exact enrollment key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180,084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Video sentinel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197757 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255,528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age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Converted to missing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745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Reversed dates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pairs swapped within each source before merge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1,846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consistency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Contradictions quarantined; invalid labels excluded only from supervised eligibility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78</a:t>
                      </a:r>
                    </a:p>
                  </a:txBody>
                  <a:tcPr marL="38100" marR="38100" marT="28575" marB="28575"/>
                </a:tc>
              </a:tr>
              <a:tr h="369094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Student aggregation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row per userid_DI after clean reconciliation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446,766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DD847-2877-4E84-8F0C-FE5AEB0E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ข้อสรุป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F4F1A-B157-497F-A18D-E0F75C6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ข้อมูลทำความสะอาดแบบ source-first แล้วจึง reconcile ข้ามแหล่งข้อมูล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ค่าผิดปกติ เช่น video sentinel, invalid age, reversed dates และ outcome contradiction ถูกบันทึกเป็น audit trail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ผลลัพธ์สุดท้ายใช้ student aggregation หนึ่งคนต่อหนึ่งแถวสำหรับงานวิเคราะห์หลัก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65E3E-73FD-4BEA-9C5C-DF65CB3C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61462-3DD3-4A10-ADCD-075B2D3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6410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341FE-B643-4DB9-8678-24BEBE1A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EDA: การกระจายและคุณภาพข้อมูล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D80C7-1CDD-4498-971F-71D55D59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ตรวจ distribution, missing, zero, sparsity และ outlier ก่อนสร้างโมเดล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528BF-FBA2-41E9-8E91-FF98D63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d58f906f54cd6"/>
          <a:stretch xmlns:a="http://schemas.openxmlformats.org/drawingml/2006/main"/>
        </p:blipFill>
        <p:spPr>
          <a:xfrm xmlns:a="http://schemas.openxmlformats.org/drawingml/2006/main">
            <a:off x="3531874" y="1476375"/>
            <a:ext cx="4442452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55086-CB9F-4C7D-BADB-4B930D65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กราฟนี้ใช้ดูรูปทรงการกระจายของฟีเจอร์พฤติกรรมทั้งหมด เพื่อแยกฟีเจอร์ที่เบ้มาก มีศูนย์จำนวนมาก หรือมีค่าผิดปกติสูง ก่อนตัดสินใจแปลงค่าและคัดเลือกฟีเจอร์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D8EEE-7C6F-4444-ACD4-DF9CAC86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4D847-8000-4147-9AD1-CFC546D3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0182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2128F-97B3-4AF8-AC06-624B2BC1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EDA: ความสัมพันธ์และความผิดปกติของพฤติกรรม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8A42D-2FD6-4803-9F63-A83EB56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ใช้ correlation และ outlier diagnostics เพื่อตรวจความซ้ำซ้อนของฟีเจอร์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4254E-6AC8-4B7B-8494-DA1BD8B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171a6a3ab448b"/>
          <a:stretch xmlns:a="http://schemas.openxmlformats.org/drawingml/2006/main"/>
        </p:blipFill>
        <p:spPr>
          <a:xfrm xmlns:a="http://schemas.openxmlformats.org/drawingml/2006/main">
            <a:off x="1019175" y="1428750"/>
            <a:ext cx="4400550" cy="3667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3db2c5d5547ab"/>
          <a:stretch xmlns:a="http://schemas.openxmlformats.org/drawingml/2006/main"/>
        </p:blipFill>
        <p:spPr>
          <a:xfrm xmlns:a="http://schemas.openxmlformats.org/drawingml/2006/main">
            <a:off x="6334125" y="1678177"/>
            <a:ext cx="4476750" cy="31682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8F531-100E-4ED6-9410-D24A3608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Correlation ช่วยระบุฟีเจอร์ที่สัมพันธ์กันสูง ส่วน outlier diagnostics ใช้ตรวจผู้เรียนที่มีกิจกรรมสูงผิดปกติ เพื่อป้องกันไม่ให้โมเดลถูกครอบงำจากค่าปลายหาง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9B42C-88FF-46D9-B2D2-DBF71CF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642C0-5FC7-4019-A426-51B1CD2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3561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09C98-E335-4C68-BB4A-80443DE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การเลือกจำนวนกลุ่ม 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9B9B9-B946-48F6-8188-0C0936BD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เลือก K จากหลักฐานหลายตัวชี้วัด ไม่ยึดเฉพาะ Elbow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0DE76-1B18-482C-ADF8-BC12121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6e9451be6406c"/>
          <a:stretch xmlns:a="http://schemas.openxmlformats.org/drawingml/2006/main"/>
        </p:blipFill>
        <p:spPr>
          <a:xfrm xmlns:a="http://schemas.openxmlformats.org/drawingml/2006/main">
            <a:off x="871650" y="1428750"/>
            <a:ext cx="7019700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68E5C-132E-4E10-A371-C7E712E8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7D675-3A5F-4D32-9871-C49C5A8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95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64423-CBBA-4E74-ADC0-F37A9FE4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K ที่เลือก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B791B-5CEC-4CFB-A27C-73420BA5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FE69F-78E9-4817-BA96-21AF52AB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0.5136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A7DCC-8AC8-4CB4-8729-76664EA9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718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Silhouette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722C4-D1E5-42FC-B9BC-32752AD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E8320-BDDE-48E7-9204-99DF26C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0.7145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CDB03-621B-4A17-B2F1-BE0E440F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Davies-Bouldin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BE6BC-726C-49B3-820D-9F3DB31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7628E-5F67-46FE-8352-4ED3689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0.9963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A46E1-C386-49F7-BBC6-3999DFC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ARI stability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261D22-1CE7-4711-82FF-3AF25F0A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เกณฑ์ที่ใช้ร่วมกันคือ Silhouette, Davies-Bouldin, Calinski-Harabasz, ARI stability, inertia และ Gap statistic. ผลสุดท้ายใช้ K=5 เพราะให้สมดุลระหว่างคุณภาพการแบ่งกลุ่มและความเสถียรของกลุ่ม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09DB4-6040-412D-A04D-78B0CFD6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41530-2806-4D93-9D74-97816C4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2053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08C15-7E09-4185-ABD3-88EB2159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Traditional Unsupervised: ผลเปรียบเทียบโมเดล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C2E5E-CCF2-488A-927C-E2D5535B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โมเดลที่เลือกคือ K-Means ที่ K=5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3F0F6-5E51-465E-8AB0-9E1A661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dc5395b3e4673"/>
          <a:stretch xmlns:a="http://schemas.openxmlformats.org/drawingml/2006/main"/>
        </p:blipFill>
        <p:spPr>
          <a:xfrm xmlns:a="http://schemas.openxmlformats.org/drawingml/2006/main">
            <a:off x="666750" y="1666875"/>
            <a:ext cx="5715000" cy="2857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0" y="1476375"/>
          <a:ext xmlns:a="http://schemas.openxmlformats.org/drawingml/2006/main" cx="447675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14375"/>
                <a:gridCol w="714375"/>
                <a:gridCol w="714375"/>
                <a:gridCol w="714375"/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Sil.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ARI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0.4276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0.8827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0.9031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0.3460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1.1673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1.0000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78922-82CF-4E43-AA53-F39BFCF7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4238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Champion: undefined, K=5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Silhouette 0.4276, Davies-Bouldin 0.8827, ARI 0.9931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ผลนี้ใช้สำหรับสร้าง Persona และเปรียบเทียบรูปแบบพฤติกรรมของผู้เรียน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FF65D-465F-4304-A772-5FA836CD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09655-F072-419A-BA02-909C6E87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1722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85E2C-4BA0-4887-B18B-651BEE1C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Persona ผู้เรียน 5 กลุ่ม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B5AEA-4714-4B4C-8E38-32E7B97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สัดส่วนและพฤติกรรมเฉลี่ยของแต่ละกลุ่ม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AAE11-0716-49C2-8288-3D86201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2f27cc83c486e"/>
          <a:stretch xmlns:a="http://schemas.openxmlformats.org/drawingml/2006/main"/>
        </p:blipFill>
        <p:spPr>
          <a:xfrm xmlns:a="http://schemas.openxmlformats.org/drawingml/2006/main">
            <a:off x="666750" y="1659336"/>
            <a:ext cx="4762500" cy="287257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3" name=""/>
          <p:cNvGraphicFramePr/>
          <p:nvPr/>
        </p:nvGraphicFramePr>
        <p:xfrm>
          <a:off xmlns:a="http://schemas.openxmlformats.org/drawingml/2006/main" x="5810250" y="1428750"/>
          <a:ext xmlns:a="http://schemas.openxmlformats.org/drawingml/2006/main" cx="53340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"/>
                <a:gridCol w="952500"/>
                <a:gridCol w="809625"/>
                <a:gridCol w="1143000"/>
                <a:gridCol w="1857375"/>
              </a:tblGrid>
              <a:tr h="3968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กลุ่ม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จำนวน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สัดส่วน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พฤติกรรมเฉลี่ย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ระดับ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Cundefined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46,296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13.8%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Cundefined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62,225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Higher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Cundefined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55,365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16.5%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Cundefined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97,719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relative behavioural activity</a:t>
                      </a:r>
                    </a:p>
                  </a:txBody>
                  <a:tcPr marL="38100" marR="38100" marT="28575" marB="28575"/>
                </a:tc>
              </a:tr>
              <a:tr h="396875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Cundefined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74,045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22.1%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Moderate relative behavioural activity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97EB7-2B87-4F64-8EAF-A9F062AA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กลุ่มที่ใหญ่ที่สุดคือ Cluster 3 มี 97,719 คน หรือ 29.1% และมีระดับพฤติกรรมเฉลี่ยต่ำกว่าอีกหลายกลุ่ม ขณะที่ Cluster 1 มีพฤติกรรมสูงสุดและคิดเป็น 18.5% ของประชากร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2B805-806F-4C5A-8763-7697B092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3B632-6209-4D84-9233-B2D57B6F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27704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D708F-088B-4229-9E03-C59923C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โปรไฟล์พฤติกรรมของ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7E6FB-FE23-4197-A06A-76BF0DCB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เรดาร์และ PCA ใช้อธิบายลักษณะเฉพาะของแต่ละกลุ่ม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AE481-A7CA-49CA-9326-094CD4C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9e6f2e74b4251"/>
          <a:stretch xmlns:a="http://schemas.openxmlformats.org/drawingml/2006/main"/>
        </p:blipFill>
        <p:spPr>
          <a:xfrm xmlns:a="http://schemas.openxmlformats.org/drawingml/2006/main">
            <a:off x="1191660" y="1428750"/>
            <a:ext cx="3807929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4c747efcf4a62"/>
          <a:stretch xmlns:a="http://schemas.openxmlformats.org/drawingml/2006/main"/>
        </p:blipFill>
        <p:spPr>
          <a:xfrm xmlns:a="http://schemas.openxmlformats.org/drawingml/2006/main">
            <a:off x="6977132" y="1428750"/>
            <a:ext cx="3190737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149C3-43EF-4E07-AF70-AE272C1A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เรดาร์แสดงจุดแข็งของแต่ละ Persona เช่น event, active days, chapters และ forum posts ส่วน PCA แสดงการแยกตัวของกลุ่มในพื้นที่พฤติกรรมหลายมิติ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0ED9E-9796-46D3-9FAC-51A1FC2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86D1F-90FB-4ED9-A5F4-F1D7EA33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6026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75CEF-8B86-4B20-9C3F-FCBC41F8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Supervised Learning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C64C8-AD36-4DDE-950A-DA2CBBA0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ทำนายการได้รับใบรับรองจากฟีเจอร์ที่ผ่านการควบคุม target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DE88A-EF05-4CC3-B0C0-FCDCA36F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809485a7249f2"/>
          <a:stretch xmlns:a="http://schemas.openxmlformats.org/drawingml/2006/main"/>
        </p:blipFill>
        <p:spPr>
          <a:xfrm xmlns:a="http://schemas.openxmlformats.org/drawingml/2006/main">
            <a:off x="619125" y="1613600"/>
            <a:ext cx="6191250" cy="2964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76811-7B82-447C-A9F1-0384A346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247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5F54F-4BD3-4730-A516-87A1203B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478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Random Forest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B12E1-627D-42A3-AE58-64F9E3D3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90725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F65FB-CB92-48E4-A693-70A8FC85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76375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8F713-4CDB-4B3D-9D4F-52C9A954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478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0.861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5CD6C-FDF6-478E-96E4-D353A184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90725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1AFB6-4C4F-4A2D-B677-4226E7DE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C83F0-37AE-40A3-B57F-1226DE3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3A667-B559-4B8F-8ED5-942A8509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7F103-2507-4D42-8AB3-D376EDD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1DDD-5D56-4823-B55E-69035DB3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0.801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A288F-0C54-4135-9E42-D65A91AC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5E790-63A5-4872-B052-4419F4E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952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5A43A-ECA1-481B-939B-E156F4D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717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91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0.986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3625D-BBE2-470C-9237-E6395763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146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2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2977D-85E7-4F1D-892C-44C06CD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Random Forest ให้สมดุลระหว่าง PR-AUC, recall และ F1 ดีกว่า baseline อย่างชัดเจน เหมาะกับปัญหาที่ class positive มีสัดส่วนน้อย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1EC374-9D0F-48BC-B43E-E60EB21E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9FD62-F1D6-4727-885B-31E1A43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12616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D5615-D184-43D5-B04A-CBD8D96D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Supervised: Confusion Matrix และ Error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8783C-F0BE-493D-A506-5ECE3924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ตรวจ false positive และ false negative เพื่อประเมินผลลัพธ์บน test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6F254-4B48-4BB2-A897-C3436699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f42ba2b2a49f3"/>
          <a:stretch xmlns:a="http://schemas.openxmlformats.org/drawingml/2006/main"/>
        </p:blipFill>
        <p:spPr>
          <a:xfrm xmlns:a="http://schemas.openxmlformats.org/drawingml/2006/main">
            <a:off x="2636902" y="1381125"/>
            <a:ext cx="6060946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A7CEF-3C83-430D-BA4A-E66B7AD0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Confusion matrix ใช้ตรวจว่าโมเดลพลาดในรูปแบบใด โดยเฉพาะ false negative ของผู้เรียนที่ควรได้รับใบรับรองแต่โมเดลทำนายว่าไม่ผ่าน ซึ่งมีผลต่อการวางแผนช่วยเหลือผู้เรียน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D05A2-7CE9-4190-9D22-0545000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8766E-A91B-481B-B8FC-93F171AD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5166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C8ADA-7D5E-4F50-86FF-43851165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Deep Learning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8C40C-9B48-456E-A060-46C394F0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ใช้ MLP หลายสถาปัตยกรรมเพื่อทำนาย certification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42A5-E211-4CDF-B2B0-2C0ADEBB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468596d2c4f39"/>
          <a:stretch xmlns:a="http://schemas.openxmlformats.org/drawingml/2006/main"/>
        </p:blipFill>
        <p:spPr>
          <a:xfrm xmlns:a="http://schemas.openxmlformats.org/drawingml/2006/main">
            <a:off x="571500" y="2011195"/>
            <a:ext cx="5810250" cy="216886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a4806c62e4ffd"/>
          <a:stretch xmlns:a="http://schemas.openxmlformats.org/drawingml/2006/main"/>
        </p:blipFill>
        <p:spPr>
          <a:xfrm xmlns:a="http://schemas.openxmlformats.org/drawingml/2006/main">
            <a:off x="7193614" y="1428750"/>
            <a:ext cx="3519771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F5878-0428-4CDB-8A12-D9752ED6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โมเดลที่เลือกคือ MLP Neural Network (128, 64). ผลทดสอบได้ PR-AUC 0.839, Recall 0.842 และ F1 0.792 จึงใช้เป็น deep learning challenger เทียบกับ supervised champion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06CB8-5905-42C4-9B6C-83EC112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60060-A350-4913-A3C1-3516062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7744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EC7B1-ADC5-4711-9838-85DD27C9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LLM / Transformer Text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A8F25-D426-4CBC-845B-9EB2E716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แปลงหนึ่งแถวนักศึกษาเป็นข้อความเชิงพฤติกรรมก่อนเข้าโมเดล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1B053-9A7F-414A-9065-D53C5259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2FFFF-3CA9-4572-B777-243D098E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191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85AAA-5065-465F-B452-8BB03204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กระบวนการ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4A5BA-06C8-4B64-A62A-2D8758F3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1. สรุปพฤติกรรมจากข้อมูลรายแถว  2. แปลงเป็นประโยคเชิงพฤติกรรม  3. สร้าง Transformer embedding  4. เทรน Logistic Regression หรือ classifier  5. วัดผลด้วย PR-AUC, ROC-AUC, Recall และ F1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81124a88048a6"/>
          <a:stretch xmlns:a="http://schemas.openxmlformats.org/drawingml/2006/main"/>
        </p:blipFill>
        <p:spPr>
          <a:xfrm xmlns:a="http://schemas.openxmlformats.org/drawingml/2006/main">
            <a:off x="1404016" y="3048000"/>
            <a:ext cx="4811969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C2F0C-F954-4C1C-9056-654E8E9F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2381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F434C-0BB0-4507-A84F-4076CD6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DistilBERT + LR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E4891-0721-4FF4-8B5B-1095C183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9E9DE-52D8-46D7-972E-73B65DB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480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1D28F-DCAD-4B43-AAAD-1EB0E242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194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29C59-55BD-4C89-8F69-BF9CF62A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623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29709-997C-407E-9F6A-D9448C1A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6E5DC-CFF9-4787-B0AF-41382906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719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0.793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FC31A-5C9B-4B5D-A37B-25E8D2E0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148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686A2-EEC7-48DD-9858-D296FF8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BE6DC-3A87-4239-A3D2-1EF95494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E7D7D"/>
                </a:solidFill>
                <a:latin typeface="Helvetica Neue"/>
                <a:ea typeface="Helvetica Neue"/>
                <a:cs typeface="Helvetica Neue"/>
              </a:rPr>
              <a:t>0.697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F678E0-E048-43F4-9ED8-7663FF72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F1-score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FE875-5FB6-441A-9F8D-D1068C29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4AEE6-CF79-48D1-8C24-13859B86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141686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2516C-AE55-47B3-96D4-898CF02A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LLM / Transformer: ผลลัพธ์และหลักฐาน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C7BAF-309F-48BC-89BA-AA99BA5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เปรียบเทียบ representation แบบ lexical baseline และ transformer embedding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32AFF-47E0-4474-91DA-F03CCF6E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4ac115e604164"/>
          <a:stretch xmlns:a="http://schemas.openxmlformats.org/drawingml/2006/main"/>
        </p:blipFill>
        <p:spPr>
          <a:xfrm xmlns:a="http://schemas.openxmlformats.org/drawingml/2006/main">
            <a:off x="666750" y="2145317"/>
            <a:ext cx="5143500" cy="1614866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1830b73704e16"/>
          <a:stretch xmlns:a="http://schemas.openxmlformats.org/drawingml/2006/main"/>
        </p:blipFill>
        <p:spPr>
          <a:xfrm xmlns:a="http://schemas.openxmlformats.org/drawingml/2006/main">
            <a:off x="6346031" y="1381125"/>
            <a:ext cx="4452938" cy="31432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4810125"/>
          <a:ext xmlns:a="http://schemas.openxmlformats.org/drawingml/2006/main" cx="102870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143000"/>
                <a:gridCol w="1143000"/>
                <a:gridCol w="1143000"/>
                <a:gridCol w="762000"/>
              </a:tblGrid>
              <a:tr h="172641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ผล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Unigram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0.190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(1-2 grams)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0.370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TF-IDF + Linear SVM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0.464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Sentence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0.697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เลือก</a:t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MiniLM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  <a:tr h="172641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DistilGPT2 Embeddings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0.656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0.810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53301-47DA-4CC5-A317-377D7B5E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A184A-589C-42E4-909F-D93FD3B1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34952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EAEB9-3940-48EA-8920-4F93AF18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ตารางเปรียบเทียบผลโมเดลหลัก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3FC47-8A85-4FFF-8015-466F76ED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สรุป champion ของแต่ละงาน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4857F-9F84-4980-B0C6-87E293E5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382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1524000"/>
                <a:gridCol w="1047750"/>
                <a:gridCol w="2190750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Track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โมเดลที่เลือก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หลัก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ค่า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สนับสนุน</a:t>
                      </a:r>
                    </a:p>
                  </a:txBody>
                  <a:tcPr marL="91440" marR="91440" marT="45720" marB="45720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Traditional Unsupervised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undefined, K=5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Silhouette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DB 0.883, ARI 0.993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Supervised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0.861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0.862, F1 0.801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Deep Learning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Neural Network (128, 64)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0.839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0.842, F1 0.792</a:t>
                      </a:r>
                    </a:p>
                  </a:txBody>
                  <a:tcPr marL="38100" marR="38100" marT="28575" marB="28575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 / Transformer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DistilBERT Embeddings + Logistic Regression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0.725</a:t>
                      </a:r>
                    </a:p>
                  </a:txBody>
                  <a:tcPr marL="38100" marR="38100" marT="28575" marB="28575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1F2A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0.793, F1 0.697</a:t>
                      </a:r>
                    </a:p>
                  </a:txBody>
                  <a:tcPr marL="38100" marR="38100" marT="28575" marB="28575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2072-3BC6-4954-A778-41CF6544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29125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Supervised และ Deep Learning ให้ผลดีมากในงานทำนาย certification เพราะใช้ฟีเจอร์เชิงพฤติกรรมแบบมีโครงสร้าง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มีบทบาทเป็นตัวแปลงข้อความเป็น embedding แล้วให้ classifier เรียนรู้ต่อ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Unsupervised ใช้สำหรับอธิบาย Persona และ pattern discovery ไม่ใช่งานทำนาย target โดยตรง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F56F3-32F0-49B5-BD3A-748AE233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35834-7A6D-46D9-8115-2FA7D2A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8920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D8C2F-53E4-40AA-B5BC-84F55464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ภาพรวมผลลัพธ์ทุก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745B7-8417-4647-8CB3-4BBDBE3B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กราฟรวมใช้เปรียบเทียบความเหมาะสมของวิธีวิเคราะห์แต่ละประเภท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21A61-99EF-475E-99B8-59E3D21F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f059612ff4758"/>
          <a:stretch xmlns:a="http://schemas.openxmlformats.org/drawingml/2006/main"/>
        </p:blipFill>
        <p:spPr>
          <a:xfrm xmlns:a="http://schemas.openxmlformats.org/drawingml/2006/main">
            <a:off x="1752397" y="1428750"/>
            <a:ext cx="7772806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1A16B-E8EF-4FD1-98CE-56F75103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การเปรียบเทียบข้าม Track ต้องตีความตามชนิดงาน เพราะ Unsupervised วัดคุณภาพคลัสเตอร์ ส่วน Supervised, Deep และ LLM วัดความสามารถในการทำนายผลลัพธ์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8A842-A31C-43C1-B1EE-AED7EE8E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E5741-DC59-4D2D-9997-58078403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741691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15F25-EA4A-4273-8CF8-DC6DF252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ข้อสรุปจากผลวิเคราะห์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49CC4-1C63-4650-88E7-00FC195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คำตอบหลักที่ได้จากข้อมูลและโมเดล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23B36-6870-492F-B6DC-92A47454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4DA20-6B44-4391-9730-DDA5A06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990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5F912-522A-4423-A1CF-010F8DAF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239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ข้อมูลหลังทำความสะอาดและรวมแหล่งข้อมูลสามารถสร้าง student-level dataset ที่ใช้วิเคราะห์ได้ 446,766 คน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การแบ่งกลุ่มผู้เรียนเหมาะกับ K=5 ตามผล Gap statistic และตัววัดสนับสนุนหลายตัว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กลุ่ม Persona แสดงความต่างของกิจกรรมเรียน เช่น event, active days, chapters และ forum posts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Random Forest เป็น supervised champion สำหรับทำนาย certification จากตารางผลปัจจุบัน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Deep Learning ให้ผลใกล้เคียง supervised แต่ต้องใช้เวลาและการจูนมากกว่า</a:t>
            </a:r>
          </a:p>
          <a:p xmlns:a="http://schemas.openxmlformats.org/drawingml/2006/main">
            <a:pPr>
              <a:def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LLM/Transformer track ทำงานได้ในรูปแบบ row-to-text embedding โดย DistilBERT + Logistic Regression ให้ผลดีที่สุดในกลุ่ม text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A91F0-37EB-4BFD-807B-E4FCC5BB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0DBFE-840E-4330-BB49-00592A67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03968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4D9C1-51B4-4A40-A33D-FCA01D56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ข้อจำกัดและข้อเสนอแนะ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9C8A1-5AB8-43D5-9F44-8B6FE788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ประเด็นที่ควรระวังเมื่อนำผลไปใช้งานจริง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152E6-850A-44DD-9323-E722CD9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23B"/>
          </a:solidFill>
          <a:ln xmlns:a="http://schemas.openxmlformats.org/drawingml/2006/main" w="0">
            <a:solidFill>
              <a:srgbClr val="C692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B14FA-7753-4ED4-B8C9-6A1923D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BFD35-62C1-493A-9739-A6751C28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ข้อจำกัด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BC94A-7FEC-41B3-B79B-9B61A41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ข้อมูล MOOC มี class imbalance สูง จึงควรดู recall, F1 และ PR-AUC มากกว่า accuracy เพียงอย่างเดียว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การแปลพฤติกรรมเป็นข้อความใน LLM track ขึ้นกับ template ประโยคที่ออกแบบ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K ใน clustering เป็นผลจากเกณฑ์เชิงประจักษ์และการตีความ Persona ไม่ใช่ label จริงจากผู้สอน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DEF7-E17C-4034-B352-C8C98CD3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9A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D87B1-B4D6-4E57-B751-F677944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ข้อเสนอแนะ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5C34E-83A2-420F-88B6-8402E297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ใช้ Persona เพื่อออกแบบการช่วยเหลือผู้เรียนต่างกลุ่ม เช่น กลุ่มกิจกรรมต่ำและกลุ่มดูเนื้อหาไม่ต่อเนื่อง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ใช้ supervised champion เป็น baseline สำหรับระบบแจ้งเตือนความเสี่ยง</a:t>
            </a:r>
          </a:p>
          <a:p xmlns:a="http://schemas.openxmlformats.org/drawingml/2006/main">
            <a:pPr>
              <a:def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F2A35"/>
                </a:solidFill>
                <a:latin typeface="Helvetica Neue"/>
                <a:ea typeface="Helvetica Neue"/>
                <a:cs typeface="Helvetica Neue"/>
              </a:rPr>
              <a:t>• ติดตาม drift ของฟีเจอร์และ retrain เมื่อพฤติกรรมผู้เรียนเปลี่ยนจากชุดข้อมูลเดิม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65E2D-C675-470F-939E-280CDCE1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MOOC Student Analytics, 2012–2013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2E593-77C0-4C03-9C0C-47895C5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34566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2026-09-30T03:32:47.3390000Z</dcterms:created>
  <dcterms:modified xsi:type="dcterms:W3CDTF">2026-09-30T03:32:47.3390000Z</dcterms:modified>
</coreProperties>
</file>