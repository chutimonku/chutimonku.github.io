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8613a9b054f46" /><Relationship Type="http://schemas.openxmlformats.org/officeDocument/2006/relationships/extended-properties" Target="/docProps/app.xml" Id="Rfa8e51b2fa504074" /><Relationship Type="http://schemas.openxmlformats.org/officeDocument/2006/relationships/officeDocument" Target="/ppt/presentation.xml" Id="Re62067b1958c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46d9c05efc49f3"/>
  </p:sldMasterIdLst>
  <p:notesMasterIdLst>
    <p:notesMasterId xmlns:r="http://schemas.openxmlformats.org/officeDocument/2006/relationships" r:id="R99c492910e624c5d"/>
  </p:notesMasterIdLst>
  <p:sldIdLst>
    <p:sldId xmlns:r="http://schemas.openxmlformats.org/officeDocument/2006/relationships" id="256" r:id="R2dccb67f8520409e"/>
    <p:sldId xmlns:r="http://schemas.openxmlformats.org/officeDocument/2006/relationships" id="257" r:id="R75738654c19148b8"/>
    <p:sldId xmlns:r="http://schemas.openxmlformats.org/officeDocument/2006/relationships" id="258" r:id="Re143915d7e884200"/>
    <p:sldId xmlns:r="http://schemas.openxmlformats.org/officeDocument/2006/relationships" id="259" r:id="R7d9f272255154977"/>
    <p:sldId xmlns:r="http://schemas.openxmlformats.org/officeDocument/2006/relationships" id="260" r:id="Rac97012f39064858"/>
    <p:sldId xmlns:r="http://schemas.openxmlformats.org/officeDocument/2006/relationships" id="261" r:id="Rdea491627f8f4789"/>
    <p:sldId xmlns:r="http://schemas.openxmlformats.org/officeDocument/2006/relationships" id="262" r:id="Re0139ca0c09f4c76"/>
    <p:sldId xmlns:r="http://schemas.openxmlformats.org/officeDocument/2006/relationships" id="263" r:id="R9f529024adc142e4"/>
    <p:sldId xmlns:r="http://schemas.openxmlformats.org/officeDocument/2006/relationships" id="264" r:id="Rc573fa4d2f1a4782"/>
    <p:sldId xmlns:r="http://schemas.openxmlformats.org/officeDocument/2006/relationships" id="265" r:id="Rec8c0ba140b042cc"/>
    <p:sldId xmlns:r="http://schemas.openxmlformats.org/officeDocument/2006/relationships" id="266" r:id="R3ccee829fe3e4f31"/>
    <p:sldId xmlns:r="http://schemas.openxmlformats.org/officeDocument/2006/relationships" id="267" r:id="Rc3bc130c3ed44d61"/>
    <p:sldId xmlns:r="http://schemas.openxmlformats.org/officeDocument/2006/relationships" id="268" r:id="Rf92239568e744742"/>
    <p:sldId xmlns:r="http://schemas.openxmlformats.org/officeDocument/2006/relationships" id="269" r:id="R450cd4a956e34c64"/>
    <p:sldId xmlns:r="http://schemas.openxmlformats.org/officeDocument/2006/relationships" id="270" r:id="R15880bb29bd048ce"/>
    <p:sldId xmlns:r="http://schemas.openxmlformats.org/officeDocument/2006/relationships" id="271" r:id="R96019f3b2e934c4d"/>
    <p:sldId xmlns:r="http://schemas.openxmlformats.org/officeDocument/2006/relationships" id="272" r:id="Rf77594aea9844ed6"/>
    <p:sldId xmlns:r="http://schemas.openxmlformats.org/officeDocument/2006/relationships" id="273" r:id="Rab1ee63e59e945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266143acaa4e23" /><Relationship Type="http://schemas.openxmlformats.org/officeDocument/2006/relationships/slideMaster" Target="/ppt/slideMasters/slideMaster1.xml" Id="R0046d9c05efc49f3" /><Relationship Type="http://schemas.openxmlformats.org/officeDocument/2006/relationships/notesMaster" Target="/ppt/notesMasters/notesMaster1.xml" Id="R99c492910e624c5d" /><Relationship Type="http://schemas.openxmlformats.org/officeDocument/2006/relationships/presProps" Target="/ppt/presProps.xml" Id="R95ec5ceeb1b54e47" /><Relationship Type="http://schemas.openxmlformats.org/officeDocument/2006/relationships/tableStyles" Target="/ppt/tableStyles.xml" Id="R5e2eb7b8faba464f" /><Relationship Type="http://schemas.openxmlformats.org/officeDocument/2006/relationships/slide" Target="/ppt/slides/slide1.xml" Id="R2dccb67f8520409e" /><Relationship Type="http://schemas.openxmlformats.org/officeDocument/2006/relationships/slide" Target="/ppt/slides/slide2.xml" Id="R75738654c19148b8" /><Relationship Type="http://schemas.openxmlformats.org/officeDocument/2006/relationships/slide" Target="/ppt/slides/slide3.xml" Id="Re143915d7e884200" /><Relationship Type="http://schemas.openxmlformats.org/officeDocument/2006/relationships/slide" Target="/ppt/slides/slide4.xml" Id="R7d9f272255154977" /><Relationship Type="http://schemas.openxmlformats.org/officeDocument/2006/relationships/slide" Target="/ppt/slides/slide5.xml" Id="Rac97012f39064858" /><Relationship Type="http://schemas.openxmlformats.org/officeDocument/2006/relationships/slide" Target="/ppt/slides/slide6.xml" Id="Rdea491627f8f4789" /><Relationship Type="http://schemas.openxmlformats.org/officeDocument/2006/relationships/slide" Target="/ppt/slides/slide7.xml" Id="Re0139ca0c09f4c76" /><Relationship Type="http://schemas.openxmlformats.org/officeDocument/2006/relationships/slide" Target="/ppt/slides/slide8.xml" Id="R9f529024adc142e4" /><Relationship Type="http://schemas.openxmlformats.org/officeDocument/2006/relationships/slide" Target="/ppt/slides/slide9.xml" Id="Rc573fa4d2f1a4782" /><Relationship Type="http://schemas.openxmlformats.org/officeDocument/2006/relationships/slide" Target="/ppt/slides/slide10.xml" Id="Rec8c0ba140b042cc" /><Relationship Type="http://schemas.openxmlformats.org/officeDocument/2006/relationships/slide" Target="/ppt/slides/slide11.xml" Id="R3ccee829fe3e4f31" /><Relationship Type="http://schemas.openxmlformats.org/officeDocument/2006/relationships/slide" Target="/ppt/slides/slide12.xml" Id="Rc3bc130c3ed44d61" /><Relationship Type="http://schemas.openxmlformats.org/officeDocument/2006/relationships/slide" Target="/ppt/slides/slide13.xml" Id="Rf92239568e744742" /><Relationship Type="http://schemas.openxmlformats.org/officeDocument/2006/relationships/slide" Target="/ppt/slides/slide14.xml" Id="R450cd4a956e34c64" /><Relationship Type="http://schemas.openxmlformats.org/officeDocument/2006/relationships/slide" Target="/ppt/slides/slide15.xml" Id="R15880bb29bd048ce" /><Relationship Type="http://schemas.openxmlformats.org/officeDocument/2006/relationships/slide" Target="/ppt/slides/slide16.xml" Id="R96019f3b2e934c4d" /><Relationship Type="http://schemas.openxmlformats.org/officeDocument/2006/relationships/slide" Target="/ppt/slides/slide17.xml" Id="Rf77594aea9844ed6" /><Relationship Type="http://schemas.openxmlformats.org/officeDocument/2006/relationships/slide" Target="/ppt/slides/slide18.xml" Id="Rab1ee63e59e945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7f9a40fe6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57135e8d1486a" /><Relationship Type="http://schemas.openxmlformats.org/officeDocument/2006/relationships/notesMaster" Target="/ppt/notesMasters/notesMaster1.xml" Id="R7710b4571757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d2083a1eac4dee" /><Relationship Type="http://schemas.openxmlformats.org/officeDocument/2006/relationships/notesMaster" Target="/ppt/notesMasters/notesMaster1.xml" Id="Redab1b65dbbb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dd5b79d81f4ae6" /><Relationship Type="http://schemas.openxmlformats.org/officeDocument/2006/relationships/notesMaster" Target="/ppt/notesMasters/notesMaster1.xml" Id="R6d79a97bfac840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7d71aa7584b18" /><Relationship Type="http://schemas.openxmlformats.org/officeDocument/2006/relationships/notesMaster" Target="/ppt/notesMasters/notesMaster1.xml" Id="Rc0885c999d7f4b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1c0b773304212" /><Relationship Type="http://schemas.openxmlformats.org/officeDocument/2006/relationships/notesMaster" Target="/ppt/notesMasters/notesMaster1.xml" Id="R6ea583062a6b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fa1baeef0b4382" /><Relationship Type="http://schemas.openxmlformats.org/officeDocument/2006/relationships/notesMaster" Target="/ppt/notesMasters/notesMaster1.xml" Id="Rf6e8eee57f5c4b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ee902aeb2a45d1" /><Relationship Type="http://schemas.openxmlformats.org/officeDocument/2006/relationships/notesMaster" Target="/ppt/notesMasters/notesMaster1.xml" Id="R3450171bb9334d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63365e842c4177" /><Relationship Type="http://schemas.openxmlformats.org/officeDocument/2006/relationships/notesMaster" Target="/ppt/notesMasters/notesMaster1.xml" Id="Rfb431058bf2f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e1d08258748d3" /><Relationship Type="http://schemas.openxmlformats.org/officeDocument/2006/relationships/notesMaster" Target="/ppt/notesMasters/notesMaster1.xml" Id="Ra5c454cbd4bf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0d031d60024912" /><Relationship Type="http://schemas.openxmlformats.org/officeDocument/2006/relationships/notesMaster" Target="/ppt/notesMasters/notesMaster1.xml" Id="R5d293086856346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1cde6da8104bbb" /><Relationship Type="http://schemas.openxmlformats.org/officeDocument/2006/relationships/notesMaster" Target="/ppt/notesMasters/notesMaster1.xml" Id="Ree3a77cc27ae45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3b88c8aaca45ce" /><Relationship Type="http://schemas.openxmlformats.org/officeDocument/2006/relationships/notesMaster" Target="/ppt/notesMasters/notesMaster1.xml" Id="R3ac8517d4be448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01107e8d524226" /><Relationship Type="http://schemas.openxmlformats.org/officeDocument/2006/relationships/notesMaster" Target="/ppt/notesMasters/notesMaster1.xml" Id="Ra10410d828e045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92bcd17994418f" /><Relationship Type="http://schemas.openxmlformats.org/officeDocument/2006/relationships/notesMaster" Target="/ppt/notesMasters/notesMaster1.xml" Id="R3610889bf2e747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a5d23e7df24c23" /><Relationship Type="http://schemas.openxmlformats.org/officeDocument/2006/relationships/notesMaster" Target="/ppt/notesMasters/notesMaster1.xml" Id="Ra7aa50163d444a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a704a330d84209" /><Relationship Type="http://schemas.openxmlformats.org/officeDocument/2006/relationships/notesMaster" Target="/ppt/notesMasters/notesMaster1.xml" Id="R9996f33bf42149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d204b8b445499a" /><Relationship Type="http://schemas.openxmlformats.org/officeDocument/2006/relationships/notesMaster" Target="/ppt/notesMasters/notesMaster1.xml" Id="Rf665b397e49f4b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fbc37e58624444" /><Relationship Type="http://schemas.openxmlformats.org/officeDocument/2006/relationships/notesMaster" Target="/ppt/notesMasters/notesMaster1.xml" Id="R04175b578d9e45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student_segmentation_report.html และผลลัพธ์ในโฟลเดอร์ outputs ของโครงการ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523423eae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1e5aa990cb4ef1" /><Relationship Type="http://schemas.openxmlformats.org/officeDocument/2006/relationships/slideLayout" Target="/ppt/slideLayouts/slideLayout1.xml" Id="R949c8bab8bfe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c8bab8bfe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49832bc444e3" /><Relationship Type="http://schemas.openxmlformats.org/officeDocument/2006/relationships/notesSlide" Target="/ppt/notesSlides/notesSlide1.xml" Id="R5228ae6d4a4c4c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d2b7ba8c643aa" /><Relationship Type="http://schemas.openxmlformats.org/officeDocument/2006/relationships/notesSlide" Target="/ppt/notesSlides/notesSlide2.xml" Id="R5adb634b5e83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c0a4ad70a44b3" /><Relationship Type="http://schemas.openxmlformats.org/officeDocument/2006/relationships/notesSlide" Target="/ppt/notesSlides/notesSlide3.xml" Id="R4044e1d85260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2c63f5ab4339" /><Relationship Type="http://schemas.openxmlformats.org/officeDocument/2006/relationships/image" Target="/ppt/media/image.png" Id="Ra797878a40e7406a" /><Relationship Type="http://schemas.openxmlformats.org/officeDocument/2006/relationships/notesSlide" Target="/ppt/notesSlides/notesSlide4.xml" Id="Re63e4e203e95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a03bcbc54539" /><Relationship Type="http://schemas.openxmlformats.org/officeDocument/2006/relationships/image" Target="/ppt/media/image2.png" Id="R3dd081554df64eff" /><Relationship Type="http://schemas.openxmlformats.org/officeDocument/2006/relationships/image" Target="/ppt/media/image3.png" Id="R9ab2d1fffb9041ed" /><Relationship Type="http://schemas.openxmlformats.org/officeDocument/2006/relationships/notesSlide" Target="/ppt/notesSlides/notesSlide5.xml" Id="R2c73cdef29a6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a45c5cafb434e" /><Relationship Type="http://schemas.openxmlformats.org/officeDocument/2006/relationships/image" Target="/ppt/media/image4.png" Id="Rb37daa1e74274ee5" /><Relationship Type="http://schemas.openxmlformats.org/officeDocument/2006/relationships/notesSlide" Target="/ppt/notesSlides/notesSlide6.xml" Id="Rc5d7a34575a548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1ebaf20f54f8e" /><Relationship Type="http://schemas.openxmlformats.org/officeDocument/2006/relationships/image" Target="/ppt/media/image5.png" Id="R9b2b0c231804415e" /><Relationship Type="http://schemas.openxmlformats.org/officeDocument/2006/relationships/notesSlide" Target="/ppt/notesSlides/notesSlide7.xml" Id="R4ca2cdb9deab4b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17ecc631c4417" /><Relationship Type="http://schemas.openxmlformats.org/officeDocument/2006/relationships/image" Target="/ppt/media/image6.png" Id="R2f3ef2bff42243b4" /><Relationship Type="http://schemas.openxmlformats.org/officeDocument/2006/relationships/notesSlide" Target="/ppt/notesSlides/notesSlide8.xml" Id="Rbcb8087e40c64e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e9085cd6b4ddb" /><Relationship Type="http://schemas.openxmlformats.org/officeDocument/2006/relationships/image" Target="/ppt/media/image7.png" Id="R5b59e8ed0af14086" /><Relationship Type="http://schemas.openxmlformats.org/officeDocument/2006/relationships/image" Target="/ppt/media/image8.png" Id="R3879493f173e49b5" /><Relationship Type="http://schemas.openxmlformats.org/officeDocument/2006/relationships/notesSlide" Target="/ppt/notesSlides/notesSlide9.xml" Id="R343a8a2f694a40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598e24bb4dea" /><Relationship Type="http://schemas.openxmlformats.org/officeDocument/2006/relationships/image" Target="/ppt/media/image9.png" Id="R2ce4f1f521214765" /><Relationship Type="http://schemas.openxmlformats.org/officeDocument/2006/relationships/notesSlide" Target="/ppt/notesSlides/notesSlide10.xml" Id="R6807b7976c364c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b4de3606b4c47" /><Relationship Type="http://schemas.openxmlformats.org/officeDocument/2006/relationships/image" Target="/ppt/media/image10.png" Id="R478b32f76594479d" /><Relationship Type="http://schemas.openxmlformats.org/officeDocument/2006/relationships/notesSlide" Target="/ppt/notesSlides/notesSlide11.xml" Id="R4d4876600bc1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f0167dd7e4a3e" /><Relationship Type="http://schemas.openxmlformats.org/officeDocument/2006/relationships/image" Target="/ppt/media/image11.png" Id="Re4bb1d6f5cff46eb" /><Relationship Type="http://schemas.openxmlformats.org/officeDocument/2006/relationships/image" Target="/ppt/media/image12.png" Id="R4756bb150eee4ef8" /><Relationship Type="http://schemas.openxmlformats.org/officeDocument/2006/relationships/notesSlide" Target="/ppt/notesSlides/notesSlide12.xml" Id="R84c00035ae3d41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416e1b7104e08" /><Relationship Type="http://schemas.openxmlformats.org/officeDocument/2006/relationships/image" Target="/ppt/media/image13.png" Id="R11adfc5a8fe44114" /><Relationship Type="http://schemas.openxmlformats.org/officeDocument/2006/relationships/notesSlide" Target="/ppt/notesSlides/notesSlide13.xml" Id="Rb96f6c1d76774c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3873887984662" /><Relationship Type="http://schemas.openxmlformats.org/officeDocument/2006/relationships/image" Target="/ppt/media/image14.png" Id="Rf4bb9b0d030a45fa" /><Relationship Type="http://schemas.openxmlformats.org/officeDocument/2006/relationships/image" Target="/ppt/media/image15.png" Id="R256bc024b67445ed" /><Relationship Type="http://schemas.openxmlformats.org/officeDocument/2006/relationships/notesSlide" Target="/ppt/notesSlides/notesSlide14.xml" Id="R94c30063786246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a2d0cd24a4e6a" /><Relationship Type="http://schemas.openxmlformats.org/officeDocument/2006/relationships/notesSlide" Target="/ppt/notesSlides/notesSlide15.xml" Id="R73c39cc786764c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cd63151e04279" /><Relationship Type="http://schemas.openxmlformats.org/officeDocument/2006/relationships/image" Target="/ppt/media/image16.png" Id="Re7a98fec375944a3" /><Relationship Type="http://schemas.openxmlformats.org/officeDocument/2006/relationships/notesSlide" Target="/ppt/notesSlides/notesSlide16.xml" Id="Re39bc04e09d84e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2e99fd3ea4c66" /><Relationship Type="http://schemas.openxmlformats.org/officeDocument/2006/relationships/notesSlide" Target="/ppt/notesSlides/notesSlide17.xml" Id="R1ab8dab75a7843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3db71aad495c" /><Relationship Type="http://schemas.openxmlformats.org/officeDocument/2006/relationships/notesSlide" Target="/ppt/notesSlides/notesSlide18.xml" Id="R186ec6c4f19545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A1A11-1501-47F7-B3E0-7DAB894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MOOC Student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03564-47BA-4BE8-998F-9553CC26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การวิเคราะห์พฤติกรรมนักศึกษา การแบ่งกลุ่ม Persona และการทำนายผลลัพธ์การเรียน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3A3F-12BB-4EAD-A6B8-B9F04C1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981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6D00B-1EDF-44BD-83DC-69C5DF2C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7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ฐานข้อมูลหลักหลังรวมและทำความสะอาด: 446,766 นักศึกษา</a:t>
            </a:r>
          </a:p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งานวิเคราะห์ครอบคลุม EDA, Traditional Unsupervised, Supervised, Deep Learning และ LLM/Transformer</a:t>
            </a:r>
          </a:p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รายงานนี้ใช้ค่าจริงจากไฟล์ผลลัพธ์ใน outputs/tables และกราฟจริงจาก outputs/figures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348F0-B9AD-432D-9B21-F14BF333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6B77C-BBD5-4C0B-99A6-16779BA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7949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1B0CB-BD4C-4E9E-865A-87668F4D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คำถามวิจัยและขอบเขตงาน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86BE1-BAEA-4C10-B91A-560330CF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นิยามปัญหาและการจัดวางงานตาม data science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C6F3-BFD6-480D-9BFF-54320718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9EB63-842C-4266-B9D8-C49B886E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F4B62-B571-4735-A9C8-A1488175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1 นักศึกษา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0E7D1-90CE-470D-9CF0-B9E93B3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หน่วยวิเคราะห์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F583F-9CCD-47C7-BFD0-47B01900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F64CF-7A8A-4B48-9FB8-87693558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446,766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BEDF-77D1-4960-A041-C52B6DF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จำนวนหลังรวมข้อมูล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3BC70-8E75-46FA-8CC2-37A4025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C0D2-99BD-4EEF-A947-B82E732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4 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718EE-0D85-4C32-93F4-C409A65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Track ที่วิเคราะห์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6B275-B939-49D1-898F-77EEF3E4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B6792-DD6E-4F28-8C2F-5A94956A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Certificate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B71C1-2BF3-4CEE-A894-458D561A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เป้าหมายสำคัญ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80AF7-56D3-4C1D-8D69-8BC745F6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B9C16-55AC-4691-BE95-87F1BD6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Unsupervised ใช้ฟีเจอร์พฤติกรรมเพื่อแบ่งกลุ่มผู้เรียนและอธิบาย Persona โดยไม่ใช้ target label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Supervised และ Deep Learning ใช้ฟีเจอร์ที่ผ่านการคัดกรองเพื่อทำนายการได้รับใบรับรอง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แปลงหนึ่งแถวนักศึกษาเป็นประโยคเชิงพฤติกรรมก่อนสร้าง embedding และเทรน classifier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ทุกผลลัพธ์เลือกจากข้อมูลที่ทำความสะอาดและตรวจสอบการรั่วไหลของ target แล้ว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84F4F-8F04-4120-B5A7-81BF49E6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BA879-8F19-4807-BEAE-2800FAB2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2488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14A65-84C9-4FAD-AEC2-ED5A250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การทำความสะอาดข้อมูล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2D723-6249-47FE-B66D-A43A0C8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สรุปกฎสำคัญที่ใช้ก่อนสร้างฟีเจอร์และเทรนโมเดล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5A79E-64D9-48A5-B2C1-5297798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53250"/>
                <a:gridCol w="1714500"/>
              </a:tblGrid>
              <a:tr h="36909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ประเด็น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วิธีจัดการ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จำนวนที่กระทบ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Source-first cleaning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Cleaned each source before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755,144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Cross-source overlap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Official-source-first non-null coalescing by exact enrollment key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180,084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Video sentinel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197757 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255,528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age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745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Reversed dates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pairs swapped within each source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1,846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consistency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Contradictions quarantined; invalid labels excluded only from supervised eligibility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 aggregation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row per userid_DI after clean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446,766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8031D-EC7E-48DF-B14B-BEB4B005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ข้อสรุป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04CA3-0789-4406-8031-5789CAA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ข้อมูลทำความสะอาดแบบ source-first แล้วจึง reconcile ข้ามแหล่งข้อมูล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ค่าผิดปกติ เช่น video sentinel, invalid age, reversed dates และ outcome contradiction ถูกบันทึกเป็น audit trail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ผลลัพธ์สุดท้ายใช้ student aggregation หนึ่งคนต่อหนึ่งแถวสำหรับงานวิเคราะห์หลัก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AF16E-5541-46D5-B594-0CD99F37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EBB3E-3505-4DA8-BC1C-951693B3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2324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6B1B-B150-43A3-81B5-7221F0E1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EDA: การกระจายและคุณภาพข้อมูล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75A4B-8FE3-4C90-B6C6-9AA1943D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ตรวจ distribution, missing, zero, sparsity และ outlier ก่อนสร้างโมเดล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13531-62CC-43D9-A629-5F9CD5E4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7878a40e7406a"/>
          <a:stretch xmlns:a="http://schemas.openxmlformats.org/drawingml/2006/main"/>
        </p:blipFill>
        <p:spPr>
          <a:xfrm xmlns:a="http://schemas.openxmlformats.org/drawingml/2006/main">
            <a:off x="3531874" y="1476375"/>
            <a:ext cx="4442452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C571A-0767-4F70-AB24-0FB8CB35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กราฟนี้ใช้ดูรูปทรงการกระจายของฟีเจอร์พฤติกรรมทั้งหมด เพื่อแยกฟีเจอร์ที่เบ้มาก มีศูนย์จำนวนมาก หรือมีค่าผิดปกติสูง ก่อนตัดสินใจแปลงค่าและคัดเลือกฟีเจอร์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9A0B1-5450-41E4-95F0-A84F24B3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258A6-3593-4C13-88E6-5763C1ED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785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97CD4-2CF4-450C-9CE8-6ED839F5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EDA: ความสัมพันธ์และความผิดปกติของพฤติกรรม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79918-CB0E-43B0-90E8-9AC4AC5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ใช้ correlation และ outlier diagnostics เพื่อตรวจความซ้ำซ้อนของฟีเจอร์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B0B09-FEA5-4CF1-ACBC-B55EDEA5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081554df64eff"/>
          <a:stretch xmlns:a="http://schemas.openxmlformats.org/drawingml/2006/main"/>
        </p:blipFill>
        <p:spPr>
          <a:xfrm xmlns:a="http://schemas.openxmlformats.org/drawingml/2006/main">
            <a:off x="1019175" y="1428750"/>
            <a:ext cx="4400550" cy="3667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2d1fffb9041ed"/>
          <a:stretch xmlns:a="http://schemas.openxmlformats.org/drawingml/2006/main"/>
        </p:blipFill>
        <p:spPr>
          <a:xfrm xmlns:a="http://schemas.openxmlformats.org/drawingml/2006/main">
            <a:off x="6334125" y="1678177"/>
            <a:ext cx="4476750" cy="31682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1BE55-697E-4548-8165-A767933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Correlation ช่วยระบุฟีเจอร์ที่สัมพันธ์กันสูง ส่วน outlier diagnostics ใช้ตรวจผู้เรียนที่มีกิจกรรมสูงผิดปกติ เพื่อป้องกันไม่ให้โมเดลถูกครอบงำจากค่าปลายหาง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16EC7-4386-46BD-A39E-422121C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C455D-E41E-4AD6-B83B-9D2720C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0929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48CDE-2E86-4D71-BE59-7ECBF8A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การเลือกจำนวนกลุ่ม 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8EA10-5CB4-4F3B-8FF0-ADD333F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เลือก K จากหลักฐานหลายตัวชี้วัด ไม่ยึดเฉพาะ Elbow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4B343-D2DD-4510-8DFC-761E129B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daa1e74274ee5"/>
          <a:stretch xmlns:a="http://schemas.openxmlformats.org/drawingml/2006/main"/>
        </p:blipFill>
        <p:spPr>
          <a:xfrm xmlns:a="http://schemas.openxmlformats.org/drawingml/2006/main">
            <a:off x="871650" y="1428750"/>
            <a:ext cx="70197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03E87-A8A6-4FC1-A5FA-214381A5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3F6DB-F97D-43C6-BF2F-ECD659CD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22D0A-A9F5-4A3E-84E5-0A25028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 ที่เลือก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76B25-2CFA-401F-904A-4B5DB95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047AB-33B4-443A-876C-87787455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0.4275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C516F-BFD7-49B5-86EE-F0179FCD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B1919-8DCC-428E-BE92-9E96FE0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7BA67-9B8E-41E2-8130-9BD54E5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0.8827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D5707-E714-46ED-8A7B-B53DF2C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Davies-Bouldin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FC6AE-ED5F-46D9-9BEF-8722CA3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D740F-2070-4D78-8B7F-88A791B9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0.9935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A9954-5A02-4009-97B4-00C53AC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ARI stability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664B5-4FEE-4848-8E05-F3186CD7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เกณฑ์ที่ใช้ร่วมกันคือ Silhouette, Davies-Bouldin, Calinski-Harabasz, ARI stability, inertia และ Gap statistic. ผลสุดท้ายใช้ K=5 เพราะให้สมดุลระหว่างคุณภาพการแบ่งกลุ่มและความเสถียรของกลุ่ม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42070-CD4C-406D-80EF-EE562BE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DF88C-36C4-4049-B6FE-425859C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7026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7A9C1-60D0-48E8-9EE2-8FFBD3B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Traditional Unsupervised: ผลเปรียบเทียบโมเดล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527FD-E959-437F-BC9E-52AFB5F5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โมเดลที่เลือกคือ K-Means ที่ K=5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F83D1-8965-489B-9518-BD10BA6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b0c231804415e"/>
          <a:stretch xmlns:a="http://schemas.openxmlformats.org/drawingml/2006/main"/>
        </p:blipFill>
        <p:spPr>
          <a:xfrm xmlns:a="http://schemas.openxmlformats.org/drawingml/2006/main">
            <a:off x="666750" y="1666875"/>
            <a:ext cx="5715000" cy="2857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0" y="1476375"/>
          <a:ext xmlns:a="http://schemas.openxmlformats.org/drawingml/2006/main" cx="44767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14375"/>
                <a:gridCol w="714375"/>
                <a:gridCol w="714375"/>
                <a:gridCol w="714375"/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Sil.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0.4276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0.8827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MiniBatch K-Means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Mixture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0.3460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1.1673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BIRCH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5AD87-8DCA-4F10-91FD-27F7C641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4238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Champion: K-Means, K=5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Silhouette 0.4276, Davies-Bouldin 0.8827, ARI 0.9931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ผลนี้ใช้สำหรับสร้าง Persona และเปรียบเทียบรูปแบบพฤติกรรมของผู้เรียน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0A25C-B30C-404C-B046-83DDF50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9C26-2B38-4E0F-BD8A-8BA64506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7021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1FEDA-0959-4E54-A1D2-34262278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Persona ผู้เรียน 5 กลุ่ม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87313-7E4A-4668-8AF4-E3EFD9D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สัดส่วนและพฤติกรรมเฉลี่ยของแต่ละกลุ่ม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F1FA7-27FF-4E04-8022-8A37E5F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ef2bff42243b4"/>
          <a:stretch xmlns:a="http://schemas.openxmlformats.org/drawingml/2006/main"/>
        </p:blipFill>
        <p:spPr>
          <a:xfrm xmlns:a="http://schemas.openxmlformats.org/drawingml/2006/main">
            <a:off x="666750" y="1659336"/>
            <a:ext cx="4762500" cy="287257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5810250" y="1428750"/>
          <a:ext xmlns:a="http://schemas.openxmlformats.org/drawingml/2006/main" cx="5334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952500"/>
                <a:gridCol w="809625"/>
                <a:gridCol w="1143000"/>
                <a:gridCol w="1857375"/>
              </a:tblGrid>
              <a:tr h="3968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กลุ่ม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สัดส่วน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พฤติกรรมเฉลี่ย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ระดับ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46,296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13.8%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62,225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Higher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C2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55,365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97,719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74,045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BDB1B-76B8-436A-833C-EE3A4D9F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กลุ่มที่ใหญ่ที่สุดคือ Cluster 3 มี 97,719 คน หรือ 29.1% และมีระดับพฤติกรรมเฉลี่ยต่ำกว่าอีกหลายกลุ่ม ขณะที่ Cluster 1 มีพฤติกรรมสูงสุดและคิดเป็น 18.5% ของประชากร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1B954-A9AA-48BD-9CD2-C43C2A91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1086A-E168-40E4-A503-43A9136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6645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DBCB0-CE72-416D-ADAA-D4761EA3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โปรไฟล์พฤติกรรมของ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CC686-8507-46A5-AD2A-7D20F29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เรดาร์และ PCA ใช้อธิบายลักษณะเฉพาะของแต่ละกลุ่ม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D8C12-C6C8-436B-BED4-7C220A89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9e8ed0af14086"/>
          <a:stretch xmlns:a="http://schemas.openxmlformats.org/drawingml/2006/main"/>
        </p:blipFill>
        <p:spPr>
          <a:xfrm xmlns:a="http://schemas.openxmlformats.org/drawingml/2006/main">
            <a:off x="1191660" y="1428750"/>
            <a:ext cx="3807929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9493f173e49b5"/>
          <a:stretch xmlns:a="http://schemas.openxmlformats.org/drawingml/2006/main"/>
        </p:blipFill>
        <p:spPr>
          <a:xfrm xmlns:a="http://schemas.openxmlformats.org/drawingml/2006/main">
            <a:off x="6977132" y="1428750"/>
            <a:ext cx="3190737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B0C53-9762-4C4F-AB3E-1F002ED5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เรดาร์แสดงจุดแข็งของแต่ละ Persona เช่น event, active days, chapters และ forum posts ส่วน PCA แสดงการแยกตัวของกลุ่มในพื้นที่พฤติกรรมหลายมิติ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542F7-4B92-4DAE-B09F-7450E8A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7802D-6D1C-41F1-A410-958C589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1498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2B80B-172E-4A9E-A2A3-C762440D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Supervised Learning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F72BE-D607-41DB-94A5-E3A4E24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ทำนายการได้รับใบรับรองจากฟีเจอร์ที่ผ่านการควบคุม target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A0D8-E50A-4F8C-B6E5-8E66EAC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4f1f521214765"/>
          <a:stretch xmlns:a="http://schemas.openxmlformats.org/drawingml/2006/main"/>
        </p:blipFill>
        <p:spPr>
          <a:xfrm xmlns:a="http://schemas.openxmlformats.org/drawingml/2006/main">
            <a:off x="619125" y="1613600"/>
            <a:ext cx="6191250" cy="2964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518D5-359C-4407-B465-7A91836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AC047-47B8-49F6-931A-36B0DF74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478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A943B-AB91-490A-AF2D-7AF06F8A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907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54D4E-4AAE-432D-A6A1-56B69B5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76375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AF9F7-F632-4D51-8142-A5222FD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478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6FF74-E047-4CA0-8AD0-C668976B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B8FFA-DCE2-4E57-A907-DAEA325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E8188-6CFC-4D2D-8203-1EA7351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A3131-1471-4171-AB5A-4E03B55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06A82-D373-49D4-B22B-1237091A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17F59-B521-49C2-8293-CE86C93E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A0AF0-3788-42E0-89F7-21DED97D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D9307-9ACB-43A3-A595-801980E1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952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DE5C6-36E0-4234-803A-7438C19B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717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91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0.986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96025-689C-4471-9C5B-30F52751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146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2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81F50-AB63-45BC-9165-CE3EAAE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Random Forest ให้สมดุลระหว่าง PR-AUC, recall และ F1 ดีกว่า baseline อย่างชัดเจน เหมาะกับปัญหาที่ class positive มีสัดส่วนน้อย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C3DAC-9095-47A8-B446-08F22967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26B5B-315B-4717-A051-848B4EB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06335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D3A87-4845-471F-8914-0F20FEE0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Supervised: Confusion Matrix และ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11866-43D4-4F4F-ABEA-DA06BC4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ตรวจ false positive และ false negative เพื่อประเมินผลลัพธ์บน test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48822-9F24-413B-8D11-894F341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b32f76594479d"/>
          <a:stretch xmlns:a="http://schemas.openxmlformats.org/drawingml/2006/main"/>
        </p:blipFill>
        <p:spPr>
          <a:xfrm xmlns:a="http://schemas.openxmlformats.org/drawingml/2006/main">
            <a:off x="2636902" y="1381125"/>
            <a:ext cx="6060946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2665A-23E9-4B15-962A-CCAF57F1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Confusion matrix ใช้ตรวจว่าโมเดลพลาดในรูปแบบใด โดยเฉพาะ false negative ของผู้เรียนที่ควรได้รับใบรับรองแต่โมเดลทำนายว่าไม่ผ่าน ซึ่งมีผลต่อการวางแผนช่วยเหลือผู้เรียน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40B0E-F6A8-4D78-BDC4-3DE3005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2C1D-4377-4EF3-94CC-30A8F4AC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954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C71AD-DF5F-4975-A4C9-1F918C2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Deep Learning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5B140-D65F-4D83-BD5B-91CF7FB0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ใช้ MLP หลายสถาปัตยกรรมเพื่อทำนาย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C545-B220-41E1-8A91-5BFF646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1d6f5cff46eb"/>
          <a:stretch xmlns:a="http://schemas.openxmlformats.org/drawingml/2006/main"/>
        </p:blipFill>
        <p:spPr>
          <a:xfrm xmlns:a="http://schemas.openxmlformats.org/drawingml/2006/main">
            <a:off x="571500" y="2011195"/>
            <a:ext cx="5810250" cy="216886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6bb150eee4ef8"/>
          <a:stretch xmlns:a="http://schemas.openxmlformats.org/drawingml/2006/main"/>
        </p:blipFill>
        <p:spPr>
          <a:xfrm xmlns:a="http://schemas.openxmlformats.org/drawingml/2006/main">
            <a:off x="7193614" y="1428750"/>
            <a:ext cx="3519771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B3F1B-97D4-4302-A62E-39078F54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โมเดลที่เลือกคือ MLP Neural Network (128, 64). ผลทดสอบได้ PR-AUC 0.839, Recall 0.842 และ F1 0.792 จึงใช้เป็น deep learning challenger เทียบกับ supervised champion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F8D2C-7BD1-492E-9F7E-F003E8D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D67D9-FF6D-44AC-BF50-AA28D431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576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A3648-8FDA-4811-B080-433B1E91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LLM / Transformer Text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E359A-6457-44A5-B232-E0AD0E43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แปลงหนึ่งแถวนักศึกษาเป็นข้อความเชิงพฤติกรรมก่อนเข้าโมเดล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822FF-F36C-4A61-92DC-6AD311E6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F1663-5DED-44A8-A34E-B5F388E8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19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BE803-1FFD-48DC-8FA2-8BACCD8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กระบวนการ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18A8C-7518-4531-9D98-64ECD98F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1. สรุปพฤติกรรมจากข้อมูลรายแถว  2. แปลงเป็นประโยคเชิงพฤติกรรม  3. สร้าง Transformer embedding  4. เทรน Logistic Regression หรือ classifier  5. วัดผลด้วย PR-AUC, ROC-AUC, Recall และ F1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dfc5a8fe44114"/>
          <a:stretch xmlns:a="http://schemas.openxmlformats.org/drawingml/2006/main"/>
        </p:blipFill>
        <p:spPr>
          <a:xfrm xmlns:a="http://schemas.openxmlformats.org/drawingml/2006/main">
            <a:off x="1404016" y="3048000"/>
            <a:ext cx="4811969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71FC-690C-4B97-8E83-D983210E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3D3E8-4E76-4903-A996-5379BEC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DistilBERT + LR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FC78A-0C13-47E2-B31C-B300D8D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42A3E-535E-44A3-88B8-7FA3D58D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1580D-4D00-420B-AC3C-7928129A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55964-B6AE-48CB-A1BD-47AFB347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623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FFA18-9266-4CD1-9E25-350300D5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4DDFB-A879-406A-A035-19995755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4B953-974D-4CB4-AF70-CCE1D635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713F7-D40F-48B4-A326-D9EC374E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A1960-30D5-4E12-B939-5182F36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0.697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8935E-5324-4CFE-B5E6-8802805B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8E6E5-FA7A-43F8-9531-57B993C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D1574-0D0B-4C56-94C8-51E4107E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71553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EF505-9CD5-4C87-87F1-3AEE620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LLM / Transformer: ผลลัพธ์และหลักฐาน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9B664-2E2C-4A35-929C-AAA538DC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เปรียบเทียบ representation แบบ lexical baseline และ transformer embedding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6615-FA92-4129-AF7E-73DC84E8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b9b0d030a45fa"/>
          <a:stretch xmlns:a="http://schemas.openxmlformats.org/drawingml/2006/main"/>
        </p:blipFill>
        <p:spPr>
          <a:xfrm xmlns:a="http://schemas.openxmlformats.org/drawingml/2006/main">
            <a:off x="666750" y="2145317"/>
            <a:ext cx="5143500" cy="1614866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bc024b67445ed"/>
          <a:stretch xmlns:a="http://schemas.openxmlformats.org/drawingml/2006/main"/>
        </p:blipFill>
        <p:spPr>
          <a:xfrm xmlns:a="http://schemas.openxmlformats.org/drawingml/2006/main">
            <a:off x="6346031" y="1381125"/>
            <a:ext cx="4452938" cy="3143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4810125"/>
          <a:ext xmlns:a="http://schemas.openxmlformats.org/drawingml/2006/main" cx="102870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143000"/>
                <a:gridCol w="1143000"/>
                <a:gridCol w="1143000"/>
                <a:gridCol w="762000"/>
              </a:tblGrid>
              <a:tr h="172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Unigram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(1-2 grams)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0.370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+ Linear SVM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Sentence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0.697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เลือก</a:t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DistilGPT2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A32E2-E239-41E0-BE41-036BF81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3C068-D6F8-457A-8624-9CC600C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77998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B0315-72C1-4668-9A0D-692BA54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ตารางเปรียบเทียบผลโมเดลหลัก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B4AB1-8B79-484E-9EBE-A6AB95EB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สรุป champion ของแต่ละงาน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FBD80-87A3-44F2-AADD-66AE008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382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1524000"/>
                <a:gridCol w="1047750"/>
                <a:gridCol w="2190750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โมเดลที่เลือก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หลัก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ค่า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สนับสนุน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Traditional Unsupervised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K-Means, K=5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Silhouette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 0.883, ARI 0.993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0.862, F1 0.801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 Learning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Neural Network (128, 64)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0.842, F1 0.792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 /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 + Logistic Regression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0.793, F1 0.697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28BD1-D350-48DA-8759-D49D99D1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Supervised และ Deep Learning ให้ผลดีมากในงานทำนาย certification เพราะใช้ฟีเจอร์เชิงพฤติกรรมแบบมีโครงสร้าง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มีบทบาทเป็นตัวแปลงข้อความเป็น embedding แล้วให้ classifier เรียนรู้ต่อ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Unsupervised ใช้สำหรับอธิบาย Persona และ pattern discovery ไม่ใช่งานทำนาย target โดยตรง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A0037-C5A8-4708-BFF5-A027C258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C490D-E9F8-49B1-A391-F0AF516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3896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97A77-BDB7-45A7-AF0F-83BC2310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ภาพรวมผลลัพธ์ทุก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849BF-AB01-4A2B-B9DC-5EF5142D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กราฟรวมใช้เปรียบเทียบความเหมาะสมของวิธีวิเคราะห์แต่ละประเภท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58309-07FB-419B-969C-F53CBF0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98fec375944a3"/>
          <a:stretch xmlns:a="http://schemas.openxmlformats.org/drawingml/2006/main"/>
        </p:blipFill>
        <p:spPr>
          <a:xfrm xmlns:a="http://schemas.openxmlformats.org/drawingml/2006/main">
            <a:off x="1752397" y="1428750"/>
            <a:ext cx="7772806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B8EFB-4F41-4F82-9263-C4C36A5C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การเปรียบเทียบข้าม Track ต้องตีความตามชนิดงาน เพราะ Unsupervised วัดคุณภาพคลัสเตอร์ ส่วน Supervised, Deep และ LLM วัดความสามารถในการทำนายผลลัพธ์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27B36-0976-4F23-9D72-DCEA717F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413CA-E3B9-4A08-A1D5-0968E08C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027519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D5097-7121-4DEB-8E50-2EAFDF76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ข้อสรุปจากผลวิเคราะห์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367C3-FCF4-4D24-A5D5-9202B877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คำตอบหลักที่ได้จากข้อมูลและโมเดล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F72FE-A76B-4657-A2D5-B477E1D6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178BC-AC0E-479F-96DF-2A4D756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990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12176-F96F-4582-AF4F-92F7154B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23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ข้อมูลหลังทำความสะอาดและรวมแหล่งข้อมูลสามารถสร้าง student-level dataset ที่ใช้วิเคราะห์ได้ 446,766 คน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การแบ่งกลุ่มผู้เรียนเหมาะกับ K=5 ตามผล Gap statistic และตัววัดสนับสนุนหลายตัว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กลุ่ม Persona แสดงความต่างของกิจกรรมเรียน เช่น event, active days, chapters และ forum posts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Random Forest เป็น supervised champion สำหรับทำนาย certification จากตารางผลปัจจุบัน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Deep Learning ให้ผลใกล้เคียง supervised แต่ต้องใช้เวลาและการจูนมากกว่า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track ทำงานได้ในรูปแบบ row-to-text embedding โดย DistilBERT + Logistic Regression ให้ผลดีที่สุดในกลุ่ม text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45C4D-67A4-40C7-9E13-1FB9694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31ADD-4B87-42F0-9752-E0C49F87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844320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3227A-1CE8-45F8-830C-C7837D1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ข้อจำกัดและข้อเสนอแนะ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D2EFD-F1BC-4DF0-AE08-7B83F122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ประเด็นที่ควรระวังเมื่อนำผลไปใช้งานจริง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E678-879A-43A8-804F-FE4F291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69B4-7445-44D6-8480-A071543C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E3633-220D-49FC-9BED-C9F2643A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ข้อจำกัด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C6E7F-B36D-40AD-9B8F-2D267A25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 MOOC มี class imbalance สูง จึงควรดู recall, F1 และ PR-AUC มากกว่า accuracy เพียงอย่างเดียว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การแปลพฤติกรรมเป็นข้อความใน LLM track ขึ้นกับ template ประโยคที่ออกแบบ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K ใน clustering เป็นผลจากเกณฑ์เชิงประจักษ์และการตีความ Persona ไม่ใช่ label จริงจากผู้สอน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B144F-C9D2-4D72-AEC0-12E08939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E9FCD-E3E9-4D7D-B8CE-A68130B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ข้อเสนอแนะ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1AC5E-4006-4F54-BDBC-6C5574B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ใช้ Persona เพื่อออกแบบการช่วยเหลือผู้เรียนต่างกลุ่ม เช่น กลุ่มกิจกรรมต่ำและกลุ่มดูเนื้อหาไม่ต่อเนื่อง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ใช้ supervised champion เป็น baseline สำหรับระบบแจ้งเตือนความเสี่ยง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ติดตาม drift ของฟีเจอร์และ retrain เมื่อพฤติกรรมผู้เรียนเปลี่ยนจากชุดข้อมูลเดิม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625BB-EBED-4007-A54A-4303E80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DCF95-452B-4239-80CB-1F27285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52445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2026-09-30T03:34:09.3240000Z</dcterms:created>
  <dcterms:modified xsi:type="dcterms:W3CDTF">2026-09-30T03:34:09.3240000Z</dcterms:modified>
</coreProperties>
</file>