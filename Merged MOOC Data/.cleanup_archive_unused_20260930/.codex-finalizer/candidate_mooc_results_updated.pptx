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4a35f914cf4a93" /><Relationship Type="http://schemas.openxmlformats.org/officeDocument/2006/relationships/extended-properties" Target="/docProps/app.xml" Id="R6925152a5ed74f3f" /><Relationship Type="http://schemas.openxmlformats.org/officeDocument/2006/relationships/officeDocument" Target="/ppt/presentation.xml" Id="R1ee176c83e2142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e727193aa04b63"/>
  </p:sldMasterIdLst>
  <p:notesMasterIdLst>
    <p:notesMasterId xmlns:r="http://schemas.openxmlformats.org/officeDocument/2006/relationships" r:id="R193f3913938245be"/>
  </p:notesMasterIdLst>
  <p:sldIdLst>
    <p:sldId xmlns:r="http://schemas.openxmlformats.org/officeDocument/2006/relationships" id="256" r:id="Rf51a1081b57e4f99"/>
    <p:sldId xmlns:r="http://schemas.openxmlformats.org/officeDocument/2006/relationships" id="257" r:id="R90ebe2c7fec94b38"/>
    <p:sldId xmlns:r="http://schemas.openxmlformats.org/officeDocument/2006/relationships" id="258" r:id="R919c2ddb9c654a5c"/>
    <p:sldId xmlns:r="http://schemas.openxmlformats.org/officeDocument/2006/relationships" id="259" r:id="R2156490e25104877"/>
    <p:sldId xmlns:r="http://schemas.openxmlformats.org/officeDocument/2006/relationships" id="260" r:id="R57104052e0f74299"/>
    <p:sldId xmlns:r="http://schemas.openxmlformats.org/officeDocument/2006/relationships" id="261" r:id="Re67e529e64ba477f"/>
    <p:sldId xmlns:r="http://schemas.openxmlformats.org/officeDocument/2006/relationships" id="262" r:id="Re6a0c1de59cf459d"/>
    <p:sldId xmlns:r="http://schemas.openxmlformats.org/officeDocument/2006/relationships" id="263" r:id="R455628e919024c8b"/>
    <p:sldId xmlns:r="http://schemas.openxmlformats.org/officeDocument/2006/relationships" id="264" r:id="R84144c8e770544e7"/>
    <p:sldId xmlns:r="http://schemas.openxmlformats.org/officeDocument/2006/relationships" id="265" r:id="Rbba3c2d97215417a"/>
    <p:sldId xmlns:r="http://schemas.openxmlformats.org/officeDocument/2006/relationships" id="266" r:id="R978a034fc12f4f25"/>
    <p:sldId xmlns:r="http://schemas.openxmlformats.org/officeDocument/2006/relationships" id="267" r:id="Rfa3a48736f234907"/>
    <p:sldId xmlns:r="http://schemas.openxmlformats.org/officeDocument/2006/relationships" id="268" r:id="Rfeda7f6c79954bdb"/>
    <p:sldId xmlns:r="http://schemas.openxmlformats.org/officeDocument/2006/relationships" id="269" r:id="R25e296819f5e43e9"/>
    <p:sldId xmlns:r="http://schemas.openxmlformats.org/officeDocument/2006/relationships" id="270" r:id="R8925fd494681423e"/>
    <p:sldId xmlns:r="http://schemas.openxmlformats.org/officeDocument/2006/relationships" id="271" r:id="R5f9aa9adf6c04172"/>
    <p:sldId xmlns:r="http://schemas.openxmlformats.org/officeDocument/2006/relationships" id="272" r:id="R283d3b3049bc4c98"/>
    <p:sldId xmlns:r="http://schemas.openxmlformats.org/officeDocument/2006/relationships" id="273" r:id="R7df52b8bfa484d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ff7a1f903249f3" /><Relationship Type="http://schemas.openxmlformats.org/officeDocument/2006/relationships/slideMaster" Target="/ppt/slideMasters/slideMaster1.xml" Id="Rb2e727193aa04b63" /><Relationship Type="http://schemas.openxmlformats.org/officeDocument/2006/relationships/notesMaster" Target="/ppt/notesMasters/notesMaster1.xml" Id="R193f3913938245be" /><Relationship Type="http://schemas.openxmlformats.org/officeDocument/2006/relationships/presProps" Target="/ppt/presProps.xml" Id="R6254f4868e364010" /><Relationship Type="http://schemas.openxmlformats.org/officeDocument/2006/relationships/tableStyles" Target="/ppt/tableStyles.xml" Id="R4be6ef6d12bb486d" /><Relationship Type="http://schemas.openxmlformats.org/officeDocument/2006/relationships/slide" Target="/ppt/slides/slide1.xml" Id="Rf51a1081b57e4f99" /><Relationship Type="http://schemas.openxmlformats.org/officeDocument/2006/relationships/slide" Target="/ppt/slides/slide2.xml" Id="R90ebe2c7fec94b38" /><Relationship Type="http://schemas.openxmlformats.org/officeDocument/2006/relationships/slide" Target="/ppt/slides/slide3.xml" Id="R919c2ddb9c654a5c" /><Relationship Type="http://schemas.openxmlformats.org/officeDocument/2006/relationships/slide" Target="/ppt/slides/slide4.xml" Id="R2156490e25104877" /><Relationship Type="http://schemas.openxmlformats.org/officeDocument/2006/relationships/slide" Target="/ppt/slides/slide5.xml" Id="R57104052e0f74299" /><Relationship Type="http://schemas.openxmlformats.org/officeDocument/2006/relationships/slide" Target="/ppt/slides/slide6.xml" Id="Re67e529e64ba477f" /><Relationship Type="http://schemas.openxmlformats.org/officeDocument/2006/relationships/slide" Target="/ppt/slides/slide7.xml" Id="Re6a0c1de59cf459d" /><Relationship Type="http://schemas.openxmlformats.org/officeDocument/2006/relationships/slide" Target="/ppt/slides/slide8.xml" Id="R455628e919024c8b" /><Relationship Type="http://schemas.openxmlformats.org/officeDocument/2006/relationships/slide" Target="/ppt/slides/slide9.xml" Id="R84144c8e770544e7" /><Relationship Type="http://schemas.openxmlformats.org/officeDocument/2006/relationships/slide" Target="/ppt/slides/slide10.xml" Id="Rbba3c2d97215417a" /><Relationship Type="http://schemas.openxmlformats.org/officeDocument/2006/relationships/slide" Target="/ppt/slides/slide11.xml" Id="R978a034fc12f4f25" /><Relationship Type="http://schemas.openxmlformats.org/officeDocument/2006/relationships/slide" Target="/ppt/slides/slide12.xml" Id="Rfa3a48736f234907" /><Relationship Type="http://schemas.openxmlformats.org/officeDocument/2006/relationships/slide" Target="/ppt/slides/slide13.xml" Id="Rfeda7f6c79954bdb" /><Relationship Type="http://schemas.openxmlformats.org/officeDocument/2006/relationships/slide" Target="/ppt/slides/slide14.xml" Id="R25e296819f5e43e9" /><Relationship Type="http://schemas.openxmlformats.org/officeDocument/2006/relationships/slide" Target="/ppt/slides/slide15.xml" Id="R8925fd494681423e" /><Relationship Type="http://schemas.openxmlformats.org/officeDocument/2006/relationships/slide" Target="/ppt/slides/slide16.xml" Id="R5f9aa9adf6c04172" /><Relationship Type="http://schemas.openxmlformats.org/officeDocument/2006/relationships/slide" Target="/ppt/slides/slide17.xml" Id="R283d3b3049bc4c98" /><Relationship Type="http://schemas.openxmlformats.org/officeDocument/2006/relationships/slide" Target="/ppt/slides/slide18.xml" Id="R7df52b8bfa484d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7071ca2fd744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df22fb7f684eca" /><Relationship Type="http://schemas.openxmlformats.org/officeDocument/2006/relationships/notesMaster" Target="/ppt/notesMasters/notesMaster1.xml" Id="R7eed0f74cc444b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9de365c2274fc2" /><Relationship Type="http://schemas.openxmlformats.org/officeDocument/2006/relationships/notesMaster" Target="/ppt/notesMasters/notesMaster1.xml" Id="Rd66b4b2d78684e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75c4ee35db44ca" /><Relationship Type="http://schemas.openxmlformats.org/officeDocument/2006/relationships/notesMaster" Target="/ppt/notesMasters/notesMaster1.xml" Id="R0d89da0d606349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dffb68be3a4a61" /><Relationship Type="http://schemas.openxmlformats.org/officeDocument/2006/relationships/notesMaster" Target="/ppt/notesMasters/notesMaster1.xml" Id="R941c2d804fd846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199ea9da35412c" /><Relationship Type="http://schemas.openxmlformats.org/officeDocument/2006/relationships/notesMaster" Target="/ppt/notesMasters/notesMaster1.xml" Id="Ra74ca7c751d049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6beec3ac4a448d" /><Relationship Type="http://schemas.openxmlformats.org/officeDocument/2006/relationships/notesMaster" Target="/ppt/notesMasters/notesMaster1.xml" Id="R0a284e3236da46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94e1a6f0364a81" /><Relationship Type="http://schemas.openxmlformats.org/officeDocument/2006/relationships/notesMaster" Target="/ppt/notesMasters/notesMaster1.xml" Id="Rfd088e90c88f46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883ea032224a38" /><Relationship Type="http://schemas.openxmlformats.org/officeDocument/2006/relationships/notesMaster" Target="/ppt/notesMasters/notesMaster1.xml" Id="R23b610c0e63f4b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65956874704a17" /><Relationship Type="http://schemas.openxmlformats.org/officeDocument/2006/relationships/notesMaster" Target="/ppt/notesMasters/notesMaster1.xml" Id="R5c4a9e21e70f45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8e23b85f704aba" /><Relationship Type="http://schemas.openxmlformats.org/officeDocument/2006/relationships/notesMaster" Target="/ppt/notesMasters/notesMaster1.xml" Id="R55fb9da9d09c40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a62409c0c84eea" /><Relationship Type="http://schemas.openxmlformats.org/officeDocument/2006/relationships/notesMaster" Target="/ppt/notesMasters/notesMaster1.xml" Id="R326010b3fa884c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1fecf3897842c1" /><Relationship Type="http://schemas.openxmlformats.org/officeDocument/2006/relationships/notesMaster" Target="/ppt/notesMasters/notesMaster1.xml" Id="Rfc908c5c41ce485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42431a73e21443d" /><Relationship Type="http://schemas.openxmlformats.org/officeDocument/2006/relationships/notesMaster" Target="/ppt/notesMasters/notesMaster1.xml" Id="Rdd56e5ed75864ce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2a103d67845417c" /><Relationship Type="http://schemas.openxmlformats.org/officeDocument/2006/relationships/notesMaster" Target="/ppt/notesMasters/notesMaster1.xml" Id="Re4debc94d18247a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14db83b54e14440" /><Relationship Type="http://schemas.openxmlformats.org/officeDocument/2006/relationships/notesMaster" Target="/ppt/notesMasters/notesMaster1.xml" Id="R07989350ed8b4e9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01a2139b8f847b1" /><Relationship Type="http://schemas.openxmlformats.org/officeDocument/2006/relationships/notesMaster" Target="/ppt/notesMasters/notesMaster1.xml" Id="R1d10cc095d66415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63c0417aaa84f0d" /><Relationship Type="http://schemas.openxmlformats.org/officeDocument/2006/relationships/notesMaster" Target="/ppt/notesMasters/notesMaster1.xml" Id="R23210feb0b464fd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f5b6214210d4305" /><Relationship Type="http://schemas.openxmlformats.org/officeDocument/2006/relationships/notesMaster" Target="/ppt/notesMasters/notesMaster1.xml" Id="R3e4ac3243cf144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student_segmentation_report.html และผลลัพธ์ในโฟลเดอร์ outputs ของโครงการ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8798d713fd40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baa04a094a4ffc" /><Relationship Type="http://schemas.openxmlformats.org/officeDocument/2006/relationships/slideLayout" Target="/ppt/slideLayouts/slideLayout1.xml" Id="Rdeba3738d76745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ba3738d76745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84eca98934899" /><Relationship Type="http://schemas.openxmlformats.org/officeDocument/2006/relationships/notesSlide" Target="/ppt/notesSlides/notesSlide1.xml" Id="R48bfbef64d5648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6175ae7014933" /><Relationship Type="http://schemas.openxmlformats.org/officeDocument/2006/relationships/notesSlide" Target="/ppt/notesSlides/notesSlide2.xml" Id="R1b0646b0cc3545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b5d04449d4fea" /><Relationship Type="http://schemas.openxmlformats.org/officeDocument/2006/relationships/notesSlide" Target="/ppt/notesSlides/notesSlide3.xml" Id="R7cdcc82dd1704c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3b0bc9e8a44e3" /><Relationship Type="http://schemas.openxmlformats.org/officeDocument/2006/relationships/image" Target="/ppt/media/image.png" Id="Re4e066886163475f" /><Relationship Type="http://schemas.openxmlformats.org/officeDocument/2006/relationships/notesSlide" Target="/ppt/notesSlides/notesSlide4.xml" Id="R8ddb05d024a546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82aa1fae5440b" /><Relationship Type="http://schemas.openxmlformats.org/officeDocument/2006/relationships/image" Target="/ppt/media/image2.png" Id="Rb226d96c6e6c4786" /><Relationship Type="http://schemas.openxmlformats.org/officeDocument/2006/relationships/image" Target="/ppt/media/image3.png" Id="R9045aa103fb14232" /><Relationship Type="http://schemas.openxmlformats.org/officeDocument/2006/relationships/notesSlide" Target="/ppt/notesSlides/notesSlide5.xml" Id="R2c719ad2b0414c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027eea5fd498b" /><Relationship Type="http://schemas.openxmlformats.org/officeDocument/2006/relationships/image" Target="/ppt/media/image4.png" Id="R8e365180be2b48af" /><Relationship Type="http://schemas.openxmlformats.org/officeDocument/2006/relationships/notesSlide" Target="/ppt/notesSlides/notesSlide6.xml" Id="Rc6128715829049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e8ea2d52e47d1" /><Relationship Type="http://schemas.openxmlformats.org/officeDocument/2006/relationships/image" Target="/ppt/media/image5.png" Id="R808bb652d6364c7f" /><Relationship Type="http://schemas.openxmlformats.org/officeDocument/2006/relationships/notesSlide" Target="/ppt/notesSlides/notesSlide7.xml" Id="Rb1d4428e20f94d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6f12942d54be7" /><Relationship Type="http://schemas.openxmlformats.org/officeDocument/2006/relationships/image" Target="/ppt/media/image6.png" Id="R1194f2790094487f" /><Relationship Type="http://schemas.openxmlformats.org/officeDocument/2006/relationships/notesSlide" Target="/ppt/notesSlides/notesSlide8.xml" Id="Rf3705125be6b43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b986167084a91" /><Relationship Type="http://schemas.openxmlformats.org/officeDocument/2006/relationships/image" Target="/ppt/media/image7.png" Id="Re22ab8461b694c17" /><Relationship Type="http://schemas.openxmlformats.org/officeDocument/2006/relationships/image" Target="/ppt/media/image8.png" Id="R88dde4bf04c848d5" /><Relationship Type="http://schemas.openxmlformats.org/officeDocument/2006/relationships/notesSlide" Target="/ppt/notesSlides/notesSlide9.xml" Id="R250b6a2b661842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3c2294cc0487b" /><Relationship Type="http://schemas.openxmlformats.org/officeDocument/2006/relationships/image" Target="/ppt/media/image9.png" Id="Rfd5ec3a272ac4f03" /><Relationship Type="http://schemas.openxmlformats.org/officeDocument/2006/relationships/notesSlide" Target="/ppt/notesSlides/notesSlide10.xml" Id="Rfed8d329076d46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8c1ff8d42443ad" /><Relationship Type="http://schemas.openxmlformats.org/officeDocument/2006/relationships/image" Target="/ppt/media/image10.png" Id="Rd946185f687f4b81" /><Relationship Type="http://schemas.openxmlformats.org/officeDocument/2006/relationships/notesSlide" Target="/ppt/notesSlides/notesSlide11.xml" Id="Rae1b2a0b376448e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2f87ab068d4aa8" /><Relationship Type="http://schemas.openxmlformats.org/officeDocument/2006/relationships/image" Target="/ppt/media/image11.png" Id="R3f3c4ec5c0c2414e" /><Relationship Type="http://schemas.openxmlformats.org/officeDocument/2006/relationships/image" Target="/ppt/media/image12.png" Id="R250e104d297940f6" /><Relationship Type="http://schemas.openxmlformats.org/officeDocument/2006/relationships/notesSlide" Target="/ppt/notesSlides/notesSlide12.xml" Id="Rf3b0c39b535f467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1104996004f2d" /><Relationship Type="http://schemas.openxmlformats.org/officeDocument/2006/relationships/image" Target="/ppt/media/image13.png" Id="Rd013ce132d124a48" /><Relationship Type="http://schemas.openxmlformats.org/officeDocument/2006/relationships/notesSlide" Target="/ppt/notesSlides/notesSlide13.xml" Id="Rcf8afc16d2c847a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21658cea24ff8" /><Relationship Type="http://schemas.openxmlformats.org/officeDocument/2006/relationships/image" Target="/ppt/media/image14.png" Id="Raf2525d838494c5f" /><Relationship Type="http://schemas.openxmlformats.org/officeDocument/2006/relationships/image" Target="/ppt/media/image15.png" Id="R79f1575adc0d43ce" /><Relationship Type="http://schemas.openxmlformats.org/officeDocument/2006/relationships/notesSlide" Target="/ppt/notesSlides/notesSlide14.xml" Id="R28f69cd2258c4f1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98f66fe7b47c4" /><Relationship Type="http://schemas.openxmlformats.org/officeDocument/2006/relationships/notesSlide" Target="/ppt/notesSlides/notesSlide15.xml" Id="R46b7fa883b2747a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09808e59445fa" /><Relationship Type="http://schemas.openxmlformats.org/officeDocument/2006/relationships/image" Target="/ppt/media/image16.png" Id="R58e04f2a80da4fef" /><Relationship Type="http://schemas.openxmlformats.org/officeDocument/2006/relationships/notesSlide" Target="/ppt/notesSlides/notesSlide16.xml" Id="Ra4ecda54b32c4d7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dac8739014bbb" /><Relationship Type="http://schemas.openxmlformats.org/officeDocument/2006/relationships/notesSlide" Target="/ppt/notesSlides/notesSlide17.xml" Id="R9068a4997d9a49c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44a158c4845ed" /><Relationship Type="http://schemas.openxmlformats.org/officeDocument/2006/relationships/notesSlide" Target="/ppt/notesSlides/notesSlide18.xml" Id="R1dd130598bdb4c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CF642-BF0A-4E8E-A05F-BCFA7530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572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551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MOOC Student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6A09E-3193-405B-BD94-6572BCD0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การวิเคราะห์พฤติกรรมนักศึกษา การแบ่งกลุ่ม Persona และการทำนายผลลัพธ์การเรียน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2AFF5-8A01-41B8-84F3-E44687E4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981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01CB9-57D4-4556-B3D7-F185EB0B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914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076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ฐานข้อมูลหลักหลังรวมและทำความสะอาด: 446,766 นักศึกษา</a:t>
            </a:r>
          </a:p>
          <a:p xmlns:a="http://schemas.openxmlformats.org/drawingml/2006/main">
            <a:pPr>
              <a:defRPr sz="16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งานวิเคราะห์ครอบคลุม EDA, Traditional Unsupervised, Supervised, Deep Learning และ LLM/Transformer</a:t>
            </a:r>
          </a:p>
          <a:p xmlns:a="http://schemas.openxmlformats.org/drawingml/2006/main">
            <a:pPr>
              <a:defRPr sz="16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รายงานนี้ใช้ค่าจริงจากไฟล์ผลลัพธ์ใน outputs/tables และกราฟจริงจาก outputs/figures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756FB4-B0BF-427C-869A-0C51CDE4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B14765-1112-4E92-AAF4-BA1323D0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481076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1A6073-4724-466C-B520-1D9149AC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คำถามวิจัยและขอบเขตงาน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A57DE-E13B-4321-AA8B-7EEF9776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นิยามปัญหาและการจัดวางงานตาม data science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12A6B-19C8-4C41-A75E-3B658D5C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FBD13-5075-453A-941A-07CF1120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000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14AA0-BD9E-4E86-ACBF-B2E69D3B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1 นักศึกษา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52AB1-4EB2-42F2-90E8-3538F4AC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หน่วยวิเคราะห์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810999-CF16-49B1-84E2-3F778C89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619250"/>
            <a:ext cx="2000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9C09E2-FD84-4963-94FC-66964735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446,766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86F5D-ABFF-451F-B92E-9A0AE99C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336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จำนวนหลังรวมข้อมูล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94B34-7FBE-48DC-BD37-C41AA11C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619250"/>
            <a:ext cx="2000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17DC06-89CD-4B3F-9634-28DF8E32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907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4 งาน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BA410-9CC7-4A30-94A8-906DCBFD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336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Track ที่วิเคราะห์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06AF91-7E55-4B69-92FA-40F9531E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19250"/>
            <a:ext cx="2000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441404-03A9-4D0A-9CB1-A69B1B2F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907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Certificate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C863BC-6022-4507-B8B0-A220A7A6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336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เป้าหมายสำคัญ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AD642D-2C08-43BB-9BB6-FB1EA091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10096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D5DDBD-0C36-4647-BA9E-8BFA8A11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14700"/>
            <a:ext cx="9429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Unsupervised ใช้ฟีเจอร์พฤติกรรมเพื่อแบ่งกลุ่มผู้เรียนและอธิบาย Persona โดยไม่ใช้ target label</a:t>
            </a:r>
          </a:p>
          <a:p xmlns:a="http://schemas.openxmlformats.org/drawingml/2006/main"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Supervised และ Deep Learning ใช้ฟีเจอร์ที่ผ่านการคัดกรองเพื่อทำนายการได้รับใบรับรอง</a:t>
            </a:r>
          </a:p>
          <a:p xmlns:a="http://schemas.openxmlformats.org/drawingml/2006/main"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LLM/Transformer แปลงหนึ่งแถวนักศึกษาเป็นประโยคเชิงพฤติกรรมก่อนสร้าง embedding และเทรน classifier</a:t>
            </a:r>
          </a:p>
          <a:p xmlns:a="http://schemas.openxmlformats.org/drawingml/2006/main"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ทุกผลลัพธ์เลือกจากข้อมูลที่ทำความสะอาดและตรวจสอบการรั่วไหลของ target แล้ว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2BF3A1-42AF-4315-B163-595C3A81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A6F6F7-4750-4A3B-BFC4-23F8B315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056861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E4C6F-7D11-46E0-BEE8-202C4CE5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การทำความสะอาดข้อมูล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05FFA-92A2-46E8-A145-FF3A3C2A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สรุปกฎสำคัญที่ใช้ก่อนสร้างฟีเจอร์และเทรนโมเดล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B4B211-42AD-42F3-A364-C26EA170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52450" y="1524000"/>
          <a:ext xmlns:a="http://schemas.openxmlformats.org/drawingml/2006/main" cx="106680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6953250"/>
                <a:gridCol w="1714500"/>
              </a:tblGrid>
              <a:tr h="36909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ประเด็น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วิธีจัดการ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จำนวนที่กระทบ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</a:tr>
              <a:tr h="36909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Source-first cleaning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Cleaned each source before reconciliation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755,144</a:t>
                      </a:r>
                    </a:p>
                  </a:txBody>
                  <a:tcPr marL="38100" marR="38100" marT="28575" marB="28575"/>
                </a:tc>
              </a:tr>
              <a:tr h="36909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Cross-source overlap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Official-source-first non-null coalescing by exact enrollment key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180,084</a:t>
                      </a:r>
                    </a:p>
                  </a:txBody>
                  <a:tcPr marL="38100" marR="38100" marT="28575" marB="28575"/>
                </a:tc>
              </a:tr>
              <a:tr h="36909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Video sentinel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197757 converted to missing before merge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255,528</a:t>
                      </a:r>
                    </a:p>
                  </a:txBody>
                  <a:tcPr marL="38100" marR="38100" marT="28575" marB="28575"/>
                </a:tc>
              </a:tr>
              <a:tr h="36909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Invalid age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Converted to missing before merge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745</a:t>
                      </a:r>
                    </a:p>
                  </a:txBody>
                  <a:tcPr marL="38100" marR="38100" marT="28575" marB="28575"/>
                </a:tc>
              </a:tr>
              <a:tr h="36909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Reversed dates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 pairs swapped within each source before merge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1,846</a:t>
                      </a:r>
                    </a:p>
                  </a:txBody>
                  <a:tcPr marL="38100" marR="38100" marT="28575" marB="28575"/>
                </a:tc>
              </a:tr>
              <a:tr h="36909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Outcome consistency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Contradictions quarantined; invalid labels excluded only from supervised eligibility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78</a:t>
                      </a:r>
                    </a:p>
                  </a:txBody>
                  <a:tcPr marL="38100" marR="38100" marT="28575" marB="28575"/>
                </a:tc>
              </a:tr>
              <a:tr h="36909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Student aggregation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One row per userid_DI after clean reconciliation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446,766</a:t>
                      </a:r>
                    </a:p>
                  </a:txBody>
                  <a:tcPr marL="38100" marR="38100" marT="28575" marB="28575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DDB41-358B-4DA6-949D-A673A3A5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ข้อสรุป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0B5EC7-BA96-42E8-ACEE-48524678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ข้อมูลทำความสะอาดแบบ source-first แล้วจึง reconcile ข้ามแหล่งข้อมูล</a:t>
            </a:r>
          </a:p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ค่าผิดปกติ เช่น video sentinel, invalid age, reversed dates และ outcome contradiction ถูกบันทึกเป็น audit trail</a:t>
            </a:r>
          </a:p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ผลลัพธ์สุดท้ายใช้ student aggregation หนึ่งคนต่อหนึ่งแถวสำหรับงานวิเคราะห์หลัก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E2239-C2D9-4F98-B8F9-3F643307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9A71B5-947E-453D-8D23-E0AA5437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482942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B750A1-9FCD-463B-8EDE-D4F6170D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EDA: การกระจายและคุณภาพข้อมูล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828A8-C683-4860-B220-0886603D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ตรวจ distribution, missing, zero, sparsity และ outlier ก่อนสร้างโมเดล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2623E-C757-4990-A39C-920D7085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e066886163475f"/>
          <a:stretch xmlns:a="http://schemas.openxmlformats.org/drawingml/2006/main"/>
        </p:blipFill>
        <p:spPr>
          <a:xfrm xmlns:a="http://schemas.openxmlformats.org/drawingml/2006/main">
            <a:off x="3531874" y="1476375"/>
            <a:ext cx="4442452" cy="3619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957931-3948-4147-A295-F7CE92D1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กราฟนี้ใช้ดูรูปทรงการกระจายของฟีเจอร์พฤติกรรมทั้งหมด เพื่อแยกฟีเจอร์ที่เบ้มาก มีศูนย์จำนวนมาก หรือมีค่าผิดปกติสูง ก่อนตัดสินใจแปลงค่าและคัดเลือกฟีเจอร์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57EFA-2E18-4452-81BF-15E28E17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52CE8-8BC7-45AE-9410-B96DD1A8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969923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4EF822-E9DA-4F79-82AF-3ACA01A8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EDA: ความสัมพันธ์และความผิดปกติของพฤติกรรม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DB1FF-0D14-454B-9D0E-B77985C6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ใช้ correlation และ outlier diagnostics เพื่อตรวจความซ้ำซ้อนของฟีเจอร์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FAAE4-0455-40C0-BFB9-D71513F8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26d96c6e6c4786"/>
          <a:stretch xmlns:a="http://schemas.openxmlformats.org/drawingml/2006/main"/>
        </p:blipFill>
        <p:spPr>
          <a:xfrm xmlns:a="http://schemas.openxmlformats.org/drawingml/2006/main">
            <a:off x="1019175" y="1428750"/>
            <a:ext cx="4400550" cy="3667125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45aa103fb14232"/>
          <a:stretch xmlns:a="http://schemas.openxmlformats.org/drawingml/2006/main"/>
        </p:blipFill>
        <p:spPr>
          <a:xfrm xmlns:a="http://schemas.openxmlformats.org/drawingml/2006/main">
            <a:off x="6334125" y="1678177"/>
            <a:ext cx="4476750" cy="316827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8687E6-1C20-4886-96BF-2858B603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14950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Correlation ช่วยระบุฟีเจอร์ที่สัมพันธ์กันสูง ส่วน outlier diagnostics ใช้ตรวจผู้เรียนที่มีกิจกรรมสูงผิดปกติ เพื่อป้องกันไม่ให้โมเดลถูกครอบงำจากค่าปลายหาง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0F6BC-C599-446D-9106-CBD67716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5F4298-A5F5-45F6-BEF5-7F0E3300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164725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8A2062-956A-4574-BDA7-05F2F3B8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การเลือกจำนวนกลุ่ม 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874F14-C65C-486B-BF56-82DAD4EB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เลือก K จากหลักฐานหลายตัวชี้วัด ไม่ยึดเฉพาะ Elbow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AE88B1-E9C1-43AD-BCC0-0B322B9D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365180be2b48af"/>
          <a:stretch xmlns:a="http://schemas.openxmlformats.org/drawingml/2006/main"/>
        </p:blipFill>
        <p:spPr>
          <a:xfrm xmlns:a="http://schemas.openxmlformats.org/drawingml/2006/main">
            <a:off x="871650" y="1428750"/>
            <a:ext cx="7019700" cy="3857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1A28B-4CB1-44BA-B992-38904E26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2095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50238-D2A2-46B3-A867-348EE18F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954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1D793-EF7C-4C10-B03B-43848048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383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K ที่เลือก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47393-A21E-4EBA-843F-AA449523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57450"/>
            <a:ext cx="2095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8A05E3-EE5F-4EF7-979F-9CE6078B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289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0.4275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CA207-9A3C-4FE1-9EF2-23D37E21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718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Silhouette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3DEDC-7B84-4016-B750-6420ECAF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90900"/>
            <a:ext cx="2095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A83EB-E4DF-4310-9F26-87A720DD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623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0.8827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4F10DF-3DCE-4922-9BA7-98A06549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052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Davies-Bouldin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8D54DA-8244-4C73-83B6-D1355275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24350"/>
            <a:ext cx="2095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79EBDF-3260-429C-BCB4-5114E491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958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0.9935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131A89-0137-4890-9DC0-00DB30EF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387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ARI stability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12A7DE-9C5F-436E-B410-FE6F1335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เกณฑ์ที่ใช้ร่วมกันคือ Silhouette, Davies-Bouldin, Calinski-Harabasz, ARI stability, inertia และ Gap statistic. ผลสุดท้ายใช้ K=5 เพราะให้สมดุลระหว่างคุณภาพการแบ่งกลุ่มและความเสถียรของกลุ่ม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0FB333-1F36-4948-AFC2-8747B7BA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DF5BDC-E61D-4A10-A2A6-D23239F9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873070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3EC906-5ED4-4AFE-A97F-3F889378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Traditional Unsupervised: ผลเปรียบเทียบโมเดล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99C61-1237-43B1-B610-1122E0AD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โมเดลที่เลือกคือ K-Means ที่ K=5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32D6E-1649-4D9C-A827-FA6ED873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8bb652d6364c7f"/>
          <a:stretch xmlns:a="http://schemas.openxmlformats.org/drawingml/2006/main"/>
        </p:blipFill>
        <p:spPr>
          <a:xfrm xmlns:a="http://schemas.openxmlformats.org/drawingml/2006/main">
            <a:off x="666750" y="1666875"/>
            <a:ext cx="5715000" cy="28575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"/>
          <p:cNvGraphicFramePr/>
          <p:nvPr/>
        </p:nvGraphicFramePr>
        <p:xfrm>
          <a:off xmlns:a="http://schemas.openxmlformats.org/drawingml/2006/main" x="6667500" y="1476375"/>
          <a:ext xmlns:a="http://schemas.openxmlformats.org/drawingml/2006/main" cx="447675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714375"/>
                <a:gridCol w="714375"/>
                <a:gridCol w="714375"/>
                <a:gridCol w="714375"/>
              </a:tblGrid>
              <a:tr h="4000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โมเดล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Sil.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DB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ARI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ผล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K-Means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0.4276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0.8827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0.9931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38100" marR="38100" marT="28575" marB="28575"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MiniBatch K-Means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0.4265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0.9031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0.7243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38100" marR="38100" marT="28575" marB="28575"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Gaussian Mixture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0.3460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1.1673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0.9596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38100" marR="38100" marT="28575" marB="28575"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BIRCH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N/A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N/A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1.0000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38100" marR="38100" marT="28575" marB="28575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0F600-E097-48EF-94BC-96DB106E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90950"/>
            <a:ext cx="4238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Champion: K-Means, K=5</a:t>
            </a:r>
          </a:p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Silhouette 0.4276, Davies-Bouldin 0.8827, ARI 0.9931</a:t>
            </a:r>
          </a:p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ผลนี้ใช้สำหรับสร้าง Persona และเปรียบเทียบรูปแบบพฤติกรรมของผู้เรียน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C12A1B-00A0-45E4-A4F5-C256E80F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E2D26-B01D-42CD-8CDB-E31B26EC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399058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5DA3A-317E-4F1C-B3E1-64A8F952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Persona ผู้เรียน 5 กลุ่ม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1E2DC-4AE1-444F-BD8A-630E18E3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สัดส่วนและพฤติกรรมเฉลี่ยของแต่ละกลุ่ม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E578E-9DE1-4A38-934C-31988514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94f2790094487f"/>
          <a:stretch xmlns:a="http://schemas.openxmlformats.org/drawingml/2006/main"/>
        </p:blipFill>
        <p:spPr>
          <a:xfrm xmlns:a="http://schemas.openxmlformats.org/drawingml/2006/main">
            <a:off x="666750" y="1659336"/>
            <a:ext cx="4762500" cy="2872578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"/>
          <p:cNvGraphicFramePr/>
          <p:nvPr/>
        </p:nvGraphicFramePr>
        <p:xfrm>
          <a:off xmlns:a="http://schemas.openxmlformats.org/drawingml/2006/main" x="5810250" y="1428750"/>
          <a:ext xmlns:a="http://schemas.openxmlformats.org/drawingml/2006/main" cx="53340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"/>
                <a:gridCol w="952500"/>
                <a:gridCol w="809625"/>
                <a:gridCol w="1143000"/>
                <a:gridCol w="1857375"/>
              </a:tblGrid>
              <a:tr h="39687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กลุ่ม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จำนวน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สัดส่วน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พฤติกรรมเฉลี่ย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ระดับ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C0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46,296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13.8%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0.444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Moderate relative behavioural activity</a:t>
                      </a:r>
                    </a:p>
                  </a:txBody>
                  <a:tcPr marL="38100" marR="38100" marT="28575" marB="28575"/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C1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62,225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18.5%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0.784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Higher relative behavioural activity</a:t>
                      </a:r>
                    </a:p>
                  </a:txBody>
                  <a:tcPr marL="38100" marR="38100" marT="28575" marB="28575"/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C2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55,365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16.5%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0.453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Moderate relative behavioural activity</a:t>
                      </a:r>
                    </a:p>
                  </a:txBody>
                  <a:tcPr marL="38100" marR="38100" marT="28575" marB="28575"/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C3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97,719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29.1%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0.277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Lower relative behavioural activity</a:t>
                      </a:r>
                    </a:p>
                  </a:txBody>
                  <a:tcPr marL="38100" marR="38100" marT="28575" marB="28575"/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C4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74,045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22.1%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0.613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Moderate relative behavioural activity</a:t>
                      </a:r>
                    </a:p>
                  </a:txBody>
                  <a:tcPr marL="38100" marR="38100" marT="28575" marB="28575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66D2A-1335-45BB-A0EF-328EFF61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9575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กลุ่มที่ใหญ่ที่สุดคือ Cluster 3 มี 97,719 คน หรือ 29.1% และมีระดับพฤติกรรมเฉลี่ยต่ำกว่าอีกหลายกลุ่ม ขณะที่ Cluster 1 มีพฤติกรรมสูงสุดและคิดเป็น 18.5% ของประชากร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20B3E-F3B9-4B53-AEF6-17CBDC5F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DF8DF-196C-45F5-B88C-3F5920FF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811751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9A87A0-313F-459C-9682-07E73F3A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โปรไฟล์พฤติกรรมของ Persona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D366AB-FD36-4447-85D1-8CB6AB27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เรดาร์และ PCA ใช้อธิบายลักษณะเฉพาะของแต่ละกลุ่ม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45F7C-B65D-4811-B1E6-AE788EB3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2ab8461b694c17"/>
          <a:stretch xmlns:a="http://schemas.openxmlformats.org/drawingml/2006/main"/>
        </p:blipFill>
        <p:spPr>
          <a:xfrm xmlns:a="http://schemas.openxmlformats.org/drawingml/2006/main">
            <a:off x="1191660" y="1428750"/>
            <a:ext cx="3807929" cy="33337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dde4bf04c848d5"/>
          <a:stretch xmlns:a="http://schemas.openxmlformats.org/drawingml/2006/main"/>
        </p:blipFill>
        <p:spPr>
          <a:xfrm xmlns:a="http://schemas.openxmlformats.org/drawingml/2006/main">
            <a:off x="6977132" y="1428750"/>
            <a:ext cx="3190737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9D4E2-6527-4018-B13D-2037554E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เรดาร์แสดงจุดแข็งของแต่ละ Persona เช่น event, active days, chapters และ forum posts ส่วน PCA แสดงการแยกตัวของกลุ่มในพื้นที่พฤติกรรมหลายมิติ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B537F-53F4-4B7C-9A01-B11A61D1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367074-5C92-47C7-9491-A84FA7CA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860169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1F6176-81D6-4A95-BE8E-145F22A9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Supervised Learning Classification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05BBF-4FFE-4341-807F-A991CE2A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ทำนายการได้รับใบรับรองจากฟีเจอร์ที่ผ่านการควบคุม target leakage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B76A4-E8BB-425E-8EB0-E9CFF58F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5ec3a272ac4f03"/>
          <a:stretch xmlns:a="http://schemas.openxmlformats.org/drawingml/2006/main"/>
        </p:blipFill>
        <p:spPr>
          <a:xfrm xmlns:a="http://schemas.openxmlformats.org/drawingml/2006/main">
            <a:off x="619125" y="1613600"/>
            <a:ext cx="6191250" cy="2964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F42B0C-6F10-47F8-BBE5-C0383F6C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76375"/>
            <a:ext cx="2476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E22403-D7AF-4DF1-AE04-15A27C2B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647825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Random Forest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21A7E-6A98-47E3-9096-29BBBC19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90725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Champion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FFC722-09B0-4EAA-BF57-4370481F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476375"/>
            <a:ext cx="1333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DFC242-C41F-455B-9AEC-F478C6E7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647825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0.861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C63A20-6282-4126-AA3B-36F4FAC8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990725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PR-AUC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1C694F-1232-4708-87F6-9C00BCB8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0300"/>
            <a:ext cx="1333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37F21C-F01E-4BBF-8093-7397DC72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717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0.862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5376E9-9888-43A9-94E0-D5852230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1465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Recall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30093D-3A32-4E56-A1D9-C1C05564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00300"/>
            <a:ext cx="1333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30518D-B837-468E-9E6C-E0D05ABF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717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0.801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507D54-45B4-470D-82CB-9E2B11CA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1465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F1-score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84B1EA-F21D-4982-AFF9-62F7AF01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00300"/>
            <a:ext cx="952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B5493B-1D35-4EF5-A24A-7C3D8F63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5717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917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0.986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4C14DF-C1F6-4314-9F76-1D17AB32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91465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2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Accuracy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7A2035-6F41-4F65-9CE8-34605C9D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0"/>
            <a:ext cx="371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Random Forest ให้สมดุลระหว่าง PR-AUC, recall และ F1 ดีกว่า baseline อย่างชัดเจน เหมาะกับปัญหาที่ class positive มีสัดส่วนน้อย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769530-90E8-406C-B46F-D018EC23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64A90C-AA48-4E10-AD76-FAA83F69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794977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E0507-8C3F-4D86-9CE8-7CDA72A1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Supervised: Confusion Matrix และ Error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50487-C1C2-437F-A70B-1BD86E72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ตรวจ false positive และ false negative เพื่อประเมินผลลัพธ์บน test 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8D1804-1CE8-4AFC-A205-70ADF932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46185f687f4b81"/>
          <a:stretch xmlns:a="http://schemas.openxmlformats.org/drawingml/2006/main"/>
        </p:blipFill>
        <p:spPr>
          <a:xfrm xmlns:a="http://schemas.openxmlformats.org/drawingml/2006/main">
            <a:off x="2636902" y="1381125"/>
            <a:ext cx="6060946" cy="3857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DF8F9-1E98-4A45-804B-DDC974D3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Confusion matrix ใช้ตรวจว่าโมเดลพลาดในรูปแบบใด โดยเฉพาะ false negative ของผู้เรียนที่ควรได้รับใบรับรองแต่โมเดลทำนายว่าไม่ผ่าน ซึ่งมีผลต่อการวางแผนช่วยเหลือผู้เรียน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DCA17-67AD-4A21-A492-71435B99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7A5D29-FC93-4EE8-BD52-DC8AF93A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18970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428A0B-3768-4462-BBF4-7C1BDEA5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Deep Learning Classification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46F837-DBD4-48B1-93CE-36015A1A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ใช้ MLP หลายสถาปัตยกรรมเพื่อทำนาย certification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B5BE7-8E42-4036-B096-F55A1539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c4ec5c0c2414e"/>
          <a:stretch xmlns:a="http://schemas.openxmlformats.org/drawingml/2006/main"/>
        </p:blipFill>
        <p:spPr>
          <a:xfrm xmlns:a="http://schemas.openxmlformats.org/drawingml/2006/main">
            <a:off x="571500" y="2011195"/>
            <a:ext cx="5810250" cy="216886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0e104d297940f6"/>
          <a:stretch xmlns:a="http://schemas.openxmlformats.org/drawingml/2006/main"/>
        </p:blipFill>
        <p:spPr>
          <a:xfrm xmlns:a="http://schemas.openxmlformats.org/drawingml/2006/main">
            <a:off x="7193614" y="1428750"/>
            <a:ext cx="3519771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88F14-C53D-4A09-9296-CC317685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โมเดลที่เลือกคือ MLP Neural Network (128, 64). ผลทดสอบได้ PR-AUC 0.839, Recall 0.842 และ F1 0.792 จึงใช้เป็น deep learning challenger เทียบกับ supervised champion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55934-6358-4F40-86B0-7FE78B70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AE00D-F2FE-4142-95D9-27A9C0C9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132616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D7B07B-F509-43A9-A173-D78873F3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LLM / Transformer Text Classification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45038-1D07-4623-BB19-F3008FB8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แปลงหนึ่งแถวนักศึกษาเป็นข้อความเชิงพฤติกรรมก่อนเข้าโมเดล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5E510-847E-4EFA-ACD2-87F6E2FC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29C51-4561-45A0-A39B-80FF1EE4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1917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0208C-53B8-46DF-A185-E7B33218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121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กระบวนการ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F08318-D6FC-41BF-A9CA-8C52AEAF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1. สรุปพฤติกรรมจากข้อมูลรายแถว  2. แปลงเป็นประโยคเชิงพฤติกรรม  3. สร้าง Transformer embedding  4. เทรน Logistic Regression หรือ classifier  5. วัดผลด้วย PR-AUC, ROC-AUC, Recall และ F1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13ce132d124a48"/>
          <a:stretch xmlns:a="http://schemas.openxmlformats.org/drawingml/2006/main"/>
        </p:blipFill>
        <p:spPr>
          <a:xfrm xmlns:a="http://schemas.openxmlformats.org/drawingml/2006/main">
            <a:off x="1404016" y="3048000"/>
            <a:ext cx="4811969" cy="2381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39FDB0-FB87-4191-82FA-B7D00421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4800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05FD57-4C83-46EF-A7A4-727BE4B4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194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DistilBERT + LR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D18215-7C2E-4281-8E78-65A31C14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623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Champion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358FB-000E-48AB-A359-AC75C452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4800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F3289-5ED2-4674-88BC-C19E7342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219450"/>
            <a:ext cx="93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0.725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62672C-149A-42C9-9F0D-9BEB9B1A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56235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PR-AUC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2B471F-7714-4F64-9327-7DDE44CE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0050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FDCFFA-7337-45EA-9143-25AAEC79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71950"/>
            <a:ext cx="93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0.793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B73111-3DF2-49CC-945A-0C7F123F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1485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8C8545-A13A-470F-843E-076467A2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9992F9-0E54-4EA9-A092-5AC8A06F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71950"/>
            <a:ext cx="93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0.697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CE87DA-6561-4956-A01B-CD0347CA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1485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F1-score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A47BFA-B146-4451-8E82-F178D293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2A92AB-831C-4276-946E-9FEECF98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355408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EACB7E-FAFF-4FFD-A601-77588786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LLM / Transformer: ผลลัพธ์และหลักฐาน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FD483-EB29-4F4F-A3B6-B0C17B64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เปรียบเทียบ representation แบบ lexical baseline และ transformer embedding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FB66FF-007D-446C-AF77-8D14A17C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525d838494c5f"/>
          <a:stretch xmlns:a="http://schemas.openxmlformats.org/drawingml/2006/main"/>
        </p:blipFill>
        <p:spPr>
          <a:xfrm xmlns:a="http://schemas.openxmlformats.org/drawingml/2006/main">
            <a:off x="666750" y="2145317"/>
            <a:ext cx="5143500" cy="1614866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1575adc0d43ce"/>
          <a:stretch xmlns:a="http://schemas.openxmlformats.org/drawingml/2006/main"/>
        </p:blipFill>
        <p:spPr>
          <a:xfrm xmlns:a="http://schemas.openxmlformats.org/drawingml/2006/main">
            <a:off x="6346031" y="1381125"/>
            <a:ext cx="4452938" cy="31432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14" name=""/>
          <p:cNvGraphicFramePr/>
          <p:nvPr/>
        </p:nvGraphicFramePr>
        <p:xfrm>
          <a:off xmlns:a="http://schemas.openxmlformats.org/drawingml/2006/main" x="666750" y="4810125"/>
          <a:ext xmlns:a="http://schemas.openxmlformats.org/drawingml/2006/main" cx="10287000" cy="1381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1143000"/>
                <a:gridCol w="1143000"/>
                <a:gridCol w="1143000"/>
                <a:gridCol w="762000"/>
              </a:tblGrid>
              <a:tr h="17264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โมเดล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PR-AUC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F1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ผล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</a:tr>
              <a:tr h="172641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TF-IDF Unigram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0.155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0.190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0.138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38100" marR="38100" marT="28575" marB="28575"/>
                </a:tc>
              </a:tr>
              <a:tr h="172641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TF-IDF (1-2 grams)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0.370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0.724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0.480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38100" marR="38100" marT="28575" marB="28575"/>
                </a:tc>
              </a:tr>
              <a:tr h="172641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TF-IDF + Linear SVM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0.415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0.448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0.464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38100" marR="38100" marT="28575" marB="28575"/>
                </a:tc>
              </a:tr>
              <a:tr h="172641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Sentence Transformer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0.406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0.828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0.500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38100" marR="38100" marT="28575" marB="28575"/>
                </a:tc>
              </a:tr>
              <a:tr h="172641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DistilBERT Embeddings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0.725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0.793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0.697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เลือก</a:t>
                      </a:r>
                    </a:p>
                  </a:txBody>
                  <a:tcPr marL="38100" marR="38100" marT="28575" marB="28575"/>
                </a:tc>
              </a:tr>
              <a:tr h="172641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MiniLM Embeddings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0.449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0.586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0.420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38100" marR="38100" marT="28575" marB="28575"/>
                </a:tc>
              </a:tr>
              <a:tr h="172641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DistilGPT2 Embeddings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0.656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0.810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0.671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38100" marR="38100" marT="28575" marB="28575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A77B0-8C8B-4DCF-A35A-9F061DF9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6701D7-E125-418D-8FB9-336F5FA1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288781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CA5FB-DDEB-4D07-8A43-D5CEAD9B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ตารางเปรียบเทียบผลโมเดลหลัก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E6E5F-D756-4C77-928E-47167A2D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สรุป champion ของแต่ละงาน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CF3AB-163B-49C0-AC0C-33DD261B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1038225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429000"/>
                <a:gridCol w="1524000"/>
                <a:gridCol w="1047750"/>
                <a:gridCol w="2190750"/>
              </a:tblGrid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Track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โมเดลที่เลือก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 หลัก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ค่า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 สนับสนุน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Traditional Unsupervised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K-Means, K=5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Silhouette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0.428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DB 0.883, ARI 0.993</a:t>
                      </a:r>
                    </a:p>
                  </a:txBody>
                  <a:tcPr marL="38100" marR="38100" marT="28575" marB="28575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Supervised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PR-AUC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0.861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 0.862, F1 0.801</a:t>
                      </a:r>
                    </a:p>
                  </a:txBody>
                  <a:tcPr marL="38100" marR="38100" marT="28575" marB="28575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Deep Learning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 Neural Network (128, 64)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PR-AUC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0.839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 0.842, F1 0.792</a:t>
                      </a:r>
                    </a:p>
                  </a:txBody>
                  <a:tcPr marL="38100" marR="38100" marT="28575" marB="28575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LLM / Transformer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DistilBERT Embeddings + Logistic Regression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PR-AUC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0.725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 0.793, F1 0.697</a:t>
                      </a:r>
                    </a:p>
                  </a:txBody>
                  <a:tcPr marL="38100" marR="38100" marT="28575" marB="28575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BC60D-F343-4C88-AC14-ED6621C8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990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Supervised และ Deep Learning ให้ผลดีมากในงานทำนาย certification เพราะใช้ฟีเจอร์เชิงพฤติกรรมแบบมีโครงสร้าง</a:t>
            </a:r>
          </a:p>
          <a:p xmlns:a="http://schemas.openxmlformats.org/drawingml/2006/main"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LLM/Transformer มีบทบาทเป็นตัวแปลงข้อความเป็น embedding แล้วให้ classifier เรียนรู้ต่อ</a:t>
            </a:r>
          </a:p>
          <a:p xmlns:a="http://schemas.openxmlformats.org/drawingml/2006/main"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Unsupervised ใช้สำหรับอธิบาย Persona และ pattern discovery ไม่ใช่งานทำนาย target โดยตรง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346E7-7EA5-4495-AEB4-4C1EE9F0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9F9C20-04B2-4DCB-9C66-05298E40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7350656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302C8-2D2C-413D-AC22-36FF01E1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ภาพรวมผลลัพธ์ทุก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801983-DCB2-4311-9D90-A1D2A3C2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กราฟรวมใช้เปรียบเทียบความเหมาะสมของวิธีวิเคราะห์แต่ละประเภท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CC36CE-0B79-450B-B8CB-6597DF78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e04f2a80da4fef"/>
          <a:stretch xmlns:a="http://schemas.openxmlformats.org/drawingml/2006/main"/>
        </p:blipFill>
        <p:spPr>
          <a:xfrm xmlns:a="http://schemas.openxmlformats.org/drawingml/2006/main">
            <a:off x="1752397" y="1428750"/>
            <a:ext cx="7772806" cy="3714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66895-96AC-47C4-B7B7-4349B4A2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81625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การเปรียบเทียบข้าม Track ต้องตีความตามชนิดงาน เพราะ Unsupervised วัดคุณภาพคลัสเตอร์ ส่วน Supervised, Deep และ LLM วัดความสามารถในการทำนายผลลัพธ์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E13B40-CFA4-4FC6-89D0-CB7B16F4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F2DA9-C18F-443F-958E-A5518009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3922676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1AE32-BFAC-4ED3-B62E-4FBC48B7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ข้อสรุปจากผลวิเคราะห์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EA95A1-3275-4CF5-9FF5-B4FFC62D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คำตอบหลักที่ได้จากข้อมูลและโมเดล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BB76D-844C-47B6-AA47-9616450D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49102C-46BA-4600-99AC-05919E44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9906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13597F-07B3-4DD4-AB73-EC5CC773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239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ข้อมูลหลังทำความสะอาดและรวมแหล่งข้อมูลสามารถสร้าง student-level dataset ที่ใช้วิเคราะห์ได้ 446,766 คน</a:t>
            </a:r>
          </a:p>
          <a:p xmlns:a="http://schemas.openxmlformats.org/drawingml/2006/main"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การแบ่งกลุ่มผู้เรียนเหมาะกับ K=5 ตามผล Gap statistic และตัววัดสนับสนุนหลายตัว</a:t>
            </a:r>
          </a:p>
          <a:p xmlns:a="http://schemas.openxmlformats.org/drawingml/2006/main"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กลุ่ม Persona แสดงความต่างของกิจกรรมเรียน เช่น event, active days, chapters และ forum posts</a:t>
            </a:r>
          </a:p>
          <a:p xmlns:a="http://schemas.openxmlformats.org/drawingml/2006/main"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Random Forest เป็น supervised champion สำหรับทำนาย certification จากตารางผลปัจจุบัน</a:t>
            </a:r>
          </a:p>
          <a:p xmlns:a="http://schemas.openxmlformats.org/drawingml/2006/main"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Deep Learning ให้ผลใกล้เคียง supervised แต่ต้องใช้เวลาและการจูนมากกว่า</a:t>
            </a:r>
          </a:p>
          <a:p xmlns:a="http://schemas.openxmlformats.org/drawingml/2006/main"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LLM/Transformer track ทำงานได้ในรูปแบบ row-to-text embedding โดย DistilBERT + Logistic Regression ให้ผลดีที่สุดในกลุ่ม text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A9222-DB28-40D9-9564-65ADAB4E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8954B2-F008-420D-994D-230498E2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0749199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AC4767-9C18-4F09-809B-94BE0485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ข้อจำกัดและข้อเสนอแนะ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2DC4C-4E04-4F58-AD8A-A39A1DBF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ประเด็นที่ควรระวังเมื่อนำผลไปใช้งานจริง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83516-F09A-47CA-94B6-6F7A1427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C995D-DBEF-48D0-8C27-ADE82DB6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4762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6BBA6-0080-423D-A447-E71D5AA5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ข้อจำกัด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F9CBA-0E8F-4EF5-86B1-B53A014A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00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ข้อมูล MOOC มี class imbalance สูง จึงควรดู recall, F1 และ PR-AUC มากกว่า accuracy เพียงอย่างเดียว</a:t>
            </a:r>
          </a:p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การแปลพฤติกรรมเป็นข้อความใน LLM track ขึ้นกับ template ประโยคที่ออกแบบ</a:t>
            </a:r>
          </a:p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K ใน clustering เป็นผลจากเกณฑ์เชิงประจักษ์และการตีความ Persona ไม่ใช่ label จริงจากผู้สอน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C4E3B-5163-4577-9714-AB266FB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71625"/>
            <a:ext cx="4762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8B0737-E5EE-4586-B294-9BBF0F42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ข้อเสนอแนะ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F35CA-A6CE-48A5-818E-5782278F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400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ใช้ Persona เพื่อออกแบบการช่วยเหลือผู้เรียนต่างกลุ่ม เช่น กลุ่มกิจกรรมต่ำและกลุ่มดูเนื้อหาไม่ต่อเนื่อง</a:t>
            </a:r>
          </a:p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ใช้ supervised champion เป็น baseline สำหรับระบบแจ้งเตือนความเสี่ยง</a:t>
            </a:r>
          </a:p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ติดตาม drift ของฟีเจอร์และ retrain เมื่อพฤติกรรมผู้เรียนเปลี่ยนจากชุดข้อมูลเดิม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47CF7D-363E-4890-9170-016B94D0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FA342-7E65-4D21-BD9E-724A9E40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5734722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2026-09-30T03:34:51.9590000Z</dcterms:created>
  <dcterms:modified xsi:type="dcterms:W3CDTF">2026-09-30T03:34:51.9590000Z</dcterms:modified>
</coreProperties>
</file>