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6" r:id="rId1"/>
  </p:sldMasterIdLst>
  <p:notesMasterIdLst>
    <p:notesMasterId r:id="rId23"/>
  </p:notesMasterIdLst>
  <p:sldIdLst>
    <p:sldId id="256" r:id="rId2"/>
    <p:sldId id="275" r:id="rId3"/>
    <p:sldId id="276" r:id="rId4"/>
    <p:sldId id="274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641"/>
    <p:restoredTop sz="94631"/>
  </p:normalViewPr>
  <p:slideViewPr>
    <p:cSldViewPr snapToGrid="0">
      <p:cViewPr>
        <p:scale>
          <a:sx n="115" d="100"/>
          <a:sy n="115" d="100"/>
        </p:scale>
        <p:origin x="408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แหล่งข้อมูล: student_segmentation_report.html และผลลัพธ์ในโฟลเดอร์ outputs ของโครงการ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18678-5735-8B4C-B302-AF4B94C8B8D0}" type="datetimeFigureOut">
              <a:rPr lang="en-TH" smtClean="0"/>
              <a:t>30/9/2026 R</a:t>
            </a:fld>
            <a:endParaRPr lang="en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D4B74-7525-B440-A625-1086DF25E4A4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9838068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18678-5735-8B4C-B302-AF4B94C8B8D0}" type="datetimeFigureOut">
              <a:rPr lang="en-TH" smtClean="0"/>
              <a:t>30/9/2026 R</a:t>
            </a:fld>
            <a:endParaRPr lang="en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D4B74-7525-B440-A625-1086DF25E4A4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823869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18678-5735-8B4C-B302-AF4B94C8B8D0}" type="datetimeFigureOut">
              <a:rPr lang="en-TH" smtClean="0"/>
              <a:t>30/9/2026 R</a:t>
            </a:fld>
            <a:endParaRPr lang="en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D4B74-7525-B440-A625-1086DF25E4A4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4145359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18678-5735-8B4C-B302-AF4B94C8B8D0}" type="datetimeFigureOut">
              <a:rPr lang="en-TH" smtClean="0"/>
              <a:t>30/9/2026 R</a:t>
            </a:fld>
            <a:endParaRPr lang="en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D4B74-7525-B440-A625-1086DF25E4A4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11030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18678-5735-8B4C-B302-AF4B94C8B8D0}" type="datetimeFigureOut">
              <a:rPr lang="en-TH" smtClean="0"/>
              <a:t>30/9/2026 R</a:t>
            </a:fld>
            <a:endParaRPr lang="en-T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D4B74-7525-B440-A625-1086DF25E4A4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058738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18678-5735-8B4C-B302-AF4B94C8B8D0}" type="datetimeFigureOut">
              <a:rPr lang="en-TH" smtClean="0"/>
              <a:t>30/9/2026 R</a:t>
            </a:fld>
            <a:endParaRPr lang="en-T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D4B74-7525-B440-A625-1086DF25E4A4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6244506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18678-5735-8B4C-B302-AF4B94C8B8D0}" type="datetimeFigureOut">
              <a:rPr lang="en-TH" smtClean="0"/>
              <a:t>30/9/2026 R</a:t>
            </a:fld>
            <a:endParaRPr lang="en-T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D4B74-7525-B440-A625-1086DF25E4A4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784113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18678-5735-8B4C-B302-AF4B94C8B8D0}" type="datetimeFigureOut">
              <a:rPr lang="en-TH" smtClean="0"/>
              <a:t>30/9/2026 R</a:t>
            </a:fld>
            <a:endParaRPr lang="en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D4B74-7525-B440-A625-1086DF25E4A4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126092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18678-5735-8B4C-B302-AF4B94C8B8D0}" type="datetimeFigureOut">
              <a:rPr lang="en-TH" smtClean="0"/>
              <a:t>30/9/2026 R</a:t>
            </a:fld>
            <a:endParaRPr lang="en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D4B74-7525-B440-A625-1086DF25E4A4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926551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18678-5735-8B4C-B302-AF4B94C8B8D0}" type="datetimeFigureOut">
              <a:rPr lang="en-TH" smtClean="0"/>
              <a:t>30/9/2026 R</a:t>
            </a:fld>
            <a:endParaRPr lang="en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D4B74-7525-B440-A625-1086DF25E4A4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4250806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18678-5735-8B4C-B302-AF4B94C8B8D0}" type="datetimeFigureOut">
              <a:rPr lang="en-TH" smtClean="0"/>
              <a:t>30/9/2026 R</a:t>
            </a:fld>
            <a:endParaRPr lang="en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D4B74-7525-B440-A625-1086DF25E4A4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5252737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6677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918678-5735-8B4C-B302-AF4B94C8B8D0}" type="datetimeFigureOut">
              <a:rPr lang="en-TH" smtClean="0"/>
              <a:t>30/9/2026 R</a:t>
            </a:fld>
            <a:endParaRPr lang="en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4D4B74-7525-B440-A625-1086DF25E4A4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703110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4FCF642-BF0A-4E8E-A05F-BCFA753058D5}"/>
              </a:ext>
            </a:extLst>
          </p:cNvPr>
          <p:cNvSpPr>
            <a:spLocks noGrp="1"/>
          </p:cNvSpPr>
          <p:nvPr/>
        </p:nvSpPr>
        <p:spPr>
          <a:xfrm>
            <a:off x="3028950" y="2367776"/>
            <a:ext cx="83820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8551"/>
          </a:bodyPr>
          <a:lstStyle/>
          <a:p>
            <a:pPr>
              <a:defRPr sz="34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 dirty="0">
                <a:solidFill>
                  <a:srgbClr val="16324F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MOOC Student Analytics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06A09E-3193-405B-BD94-6572BCD095FD}"/>
              </a:ext>
            </a:extLst>
          </p:cNvPr>
          <p:cNvSpPr>
            <a:spLocks noGrp="1"/>
          </p:cNvSpPr>
          <p:nvPr/>
        </p:nvSpPr>
        <p:spPr>
          <a:xfrm>
            <a:off x="3028950" y="3314700"/>
            <a:ext cx="914400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80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 dirty="0" err="1">
                <a:solidFill>
                  <a:srgbClr val="1F2A35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การวิเคราะห์พฤติกรรมนักศึกษา</a:t>
            </a:r>
            <a:r>
              <a:rPr sz="1800" b="0" dirty="0">
                <a:solidFill>
                  <a:srgbClr val="1F2A35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 </a:t>
            </a:r>
            <a:r>
              <a:rPr sz="1800" b="0" dirty="0" err="1">
                <a:solidFill>
                  <a:srgbClr val="1F2A35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การแบ่งกลุ่ม</a:t>
            </a:r>
            <a:r>
              <a:rPr sz="1800" b="0" dirty="0">
                <a:solidFill>
                  <a:srgbClr val="1F2A35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 </a:t>
            </a:r>
            <a:r>
              <a:rPr sz="1800" b="0" dirty="0" err="1">
                <a:solidFill>
                  <a:srgbClr val="1F2A35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และการทำนายผลลัพธ์การเรียน</a:t>
            </a:r>
            <a:endParaRPr sz="1800" b="0" dirty="0">
              <a:solidFill>
                <a:srgbClr val="1F2A35"/>
              </a:solidFill>
              <a:latin typeface="Aptos" panose="020B0004020202020204" pitchFamily="34" charset="0"/>
              <a:ea typeface="Helvetica Neue"/>
              <a:cs typeface="Helvetica Neue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901CB9-57D4-4556-B3D7-F185EB0BA66F}"/>
              </a:ext>
            </a:extLst>
          </p:cNvPr>
          <p:cNvSpPr>
            <a:spLocks noGrp="1"/>
          </p:cNvSpPr>
          <p:nvPr/>
        </p:nvSpPr>
        <p:spPr>
          <a:xfrm>
            <a:off x="3048000" y="2971800"/>
            <a:ext cx="9144000" cy="654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5076"/>
          </a:bodyPr>
          <a:lstStyle/>
          <a:p>
            <a:pPr>
              <a:buNone/>
              <a:defRPr sz="165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lang="en-US" sz="1650" dirty="0">
                <a:solidFill>
                  <a:srgbClr val="666666"/>
                </a:solidFill>
                <a:latin typeface="Aptos" panose="020B0004020202020204" pitchFamily="34" charset="0"/>
                <a:ea typeface="Arial"/>
                <a:cs typeface="Arial"/>
              </a:rPr>
              <a:t>Merged learner behavior, segmentation, supervised prediction, deep learning and LLM evidence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756FB4-B0BF-427C-869A-0C51CDE4F692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49530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288" lnSpcReduction="10000"/>
          </a:bodyPr>
          <a:lstStyle/>
          <a:p>
            <a:pPr>
              <a:def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4748B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MOOC Student Analytics, 2012–2013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0B14765-1112-4E92-AAF4-BA1323D0383D}"/>
              </a:ext>
            </a:extLst>
          </p:cNvPr>
          <p:cNvSpPr>
            <a:spLocks noGrp="1"/>
          </p:cNvSpPr>
          <p:nvPr/>
        </p:nvSpPr>
        <p:spPr>
          <a:xfrm>
            <a:off x="11182350" y="6477000"/>
            <a:ext cx="4572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111" lnSpcReduction="10000"/>
          </a:bodyPr>
          <a:lstStyle/>
          <a:p>
            <a:pPr algn="r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01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964EF01-31FB-FA6B-A7B8-10AF0480BB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1866900"/>
            <a:ext cx="2470150" cy="2470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1076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BBAE04C-864C-4B18-5DA8-6CA220191EC9}"/>
              </a:ext>
            </a:extLst>
          </p:cNvPr>
          <p:cNvSpPr>
            <a:spLocks noGrp="1"/>
          </p:cNvSpPr>
          <p:nvPr/>
        </p:nvSpPr>
        <p:spPr>
          <a:xfrm>
            <a:off x="533399" y="361950"/>
            <a:ext cx="2912327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000" lnSpcReduction="10000"/>
          </a:bodyPr>
          <a:lstStyle/>
          <a:p>
            <a:pPr>
              <a:def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TH" sz="2550" b="1" dirty="0"/>
              <a:t>โครงร่างเนื้อหา (OUTLINE)</a:t>
            </a:r>
            <a:endParaRPr b="1" dirty="0">
              <a:solidFill>
                <a:srgbClr val="16324F"/>
              </a:solidFill>
              <a:latin typeface="Aptos" panose="020B0004020202020204" pitchFamily="34" charset="0"/>
              <a:ea typeface="Helvetica Neue"/>
              <a:cs typeface="Helvetica Neue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05B092-FC10-4113-DFFD-35204EC74F16}"/>
              </a:ext>
            </a:extLst>
          </p:cNvPr>
          <p:cNvSpPr>
            <a:spLocks noGrp="1"/>
          </p:cNvSpPr>
          <p:nvPr/>
        </p:nvSpPr>
        <p:spPr>
          <a:xfrm>
            <a:off x="552450" y="807554"/>
            <a:ext cx="10477500" cy="28575"/>
          </a:xfrm>
          <a:prstGeom prst="rect">
            <a:avLst/>
          </a:prstGeom>
          <a:solidFill>
            <a:srgbClr val="C6923B"/>
          </a:solidFill>
          <a:ln w="0">
            <a:solidFill>
              <a:srgbClr val="C6923B"/>
            </a:solidFill>
          </a:ln>
        </p:spPr>
        <p:txBody>
          <a:bodyPr/>
          <a:lstStyle/>
          <a:p>
            <a:endParaRPr lang="en-TH"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0800FF-0032-8C93-476A-C87CD71C386D}"/>
              </a:ext>
            </a:extLst>
          </p:cNvPr>
          <p:cNvSpPr txBox="1"/>
          <p:nvPr/>
        </p:nvSpPr>
        <p:spPr>
          <a:xfrm>
            <a:off x="803817" y="1070712"/>
            <a:ext cx="9974765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TH" b="1" dirty="0">
                <a:effectLst/>
                <a:latin typeface="Google Sans Text"/>
              </a:rPr>
              <a:t>ระยะที่ 1: ธรรมาภิบาลปัญหาและรากฐานข้อมูล (Problem Governance &amp; Data Foundation)</a:t>
            </a:r>
            <a:endParaRPr lang="en-TH" dirty="0">
              <a:effectLst/>
              <a:latin typeface="Google Sans Text"/>
            </a:endParaRPr>
          </a:p>
          <a:p>
            <a:pPr marL="0" marR="0">
              <a:buFont typeface="+mj-lt"/>
              <a:buAutoNum type="arabicPeriod"/>
            </a:pPr>
            <a:r>
              <a:rPr lang="en-TH" b="1" dirty="0">
                <a:effectLst/>
                <a:latin typeface="Google Sans Text"/>
              </a:rPr>
              <a:t>การนิยามโจทย์และธรรมาภิบาล:</a:t>
            </a:r>
            <a:r>
              <a:rPr lang="en-TH" dirty="0">
                <a:effectLst/>
                <a:latin typeface="Google Sans Text"/>
              </a:rPr>
              <a:t> การกำหนดเป้าหมาย, หน่วยในการวิเคราะห์ (Unit of Analysis), ประเภทของงาน (Task Type), ตัวแปรเป้าหมาย (Target), เกณฑ์ความสำเร็จ และธรรมาภิบาลข้อมูล</a:t>
            </a:r>
            <a:endParaRPr lang="th-TH" dirty="0">
              <a:effectLst/>
              <a:latin typeface="Google Sans Text"/>
            </a:endParaRPr>
          </a:p>
          <a:p>
            <a:pPr marL="0" marR="0">
              <a:buFont typeface="+mj-lt"/>
              <a:buAutoNum type="arabicPeriod"/>
            </a:pPr>
            <a:endParaRPr lang="en-TH" dirty="0">
              <a:effectLst/>
              <a:latin typeface="Google Sans Text"/>
            </a:endParaRPr>
          </a:p>
          <a:p>
            <a:pPr marL="0" marR="0">
              <a:buFont typeface="+mj-lt"/>
              <a:buAutoNum type="arabicPeriod"/>
            </a:pPr>
            <a:r>
              <a:rPr lang="en-TH" b="1" dirty="0">
                <a:effectLst/>
                <a:latin typeface="Google Sans Text"/>
              </a:rPr>
              <a:t>การรวบรวมข้อมูล ที่มา และการรวบรวมสื่อ:</a:t>
            </a:r>
            <a:r>
              <a:rPr lang="en-TH" dirty="0">
                <a:effectLst/>
                <a:latin typeface="Google Sans Text"/>
              </a:rPr>
              <a:t> การบันทึกแหล่งที่มา (Data Provenance), การจัดการข้อมูลหลายรูปแบบ (Multimodal Data) และกระบวนการแปลงวิดีโอเป็นข้อความ (Video-to-Text Pipeline) สำหรับ LLM/NLP</a:t>
            </a:r>
            <a:endParaRPr lang="th-TH" dirty="0">
              <a:effectLst/>
              <a:latin typeface="Google Sans Text"/>
            </a:endParaRPr>
          </a:p>
          <a:p>
            <a:pPr marL="0" marR="0">
              <a:buFont typeface="+mj-lt"/>
              <a:buAutoNum type="arabicPeriod"/>
            </a:pPr>
            <a:endParaRPr lang="en-TH" dirty="0">
              <a:effectLst/>
              <a:latin typeface="Google Sans Text"/>
            </a:endParaRPr>
          </a:p>
          <a:p>
            <a:pPr marL="0" marR="0">
              <a:buFont typeface="+mj-lt"/>
              <a:buAutoNum type="arabicPeriod"/>
            </a:pPr>
            <a:r>
              <a:rPr lang="en-TH" b="1" dirty="0">
                <a:effectLst/>
                <a:latin typeface="Google Sans Text"/>
              </a:rPr>
              <a:t>การควบคุมคุณภาพและการทำความสะอาดข้อมูล:</a:t>
            </a:r>
            <a:r>
              <a:rPr lang="en-TH" dirty="0">
                <a:effectLst/>
                <a:latin typeface="Google Sans Text"/>
              </a:rPr>
              <a:t> การควบคุมเพื่อป้องกันการรั่วไหลของข้อมูล (Target-Isolation), การวิเคราะห์ค่าว่าง (Missing Data), การตรวจคำสั่งและเงื่อนไขตามกฎธุรกิจ (Domain Rules) และการทำบันทึกประวัติการแก้ไขข้อมูล (Audit Trail)</a:t>
            </a:r>
            <a:endParaRPr lang="th-TH" dirty="0">
              <a:effectLst/>
              <a:latin typeface="Google Sans Text"/>
            </a:endParaRPr>
          </a:p>
          <a:p>
            <a:pPr marL="0" marR="0">
              <a:buFont typeface="+mj-lt"/>
              <a:buAutoNum type="arabicPeriod"/>
            </a:pPr>
            <a:endParaRPr lang="en-TH" dirty="0">
              <a:effectLst/>
              <a:latin typeface="Google Sans Text"/>
            </a:endParaRPr>
          </a:p>
          <a:p>
            <a:pPr marL="0" marR="0">
              <a:buNone/>
            </a:pPr>
            <a:r>
              <a:rPr lang="en-TH" b="1" dirty="0">
                <a:effectLst/>
                <a:latin typeface="Google Sans Text"/>
              </a:rPr>
              <a:t>ระยะที่ 2: การวิเคราะห์เชิงสำรวจและการทบทวนหลักฐาน (Phase 2: Exploratory Analysis &amp; Evidence Review)</a:t>
            </a:r>
            <a:endParaRPr lang="en-TH" dirty="0">
              <a:effectLst/>
              <a:latin typeface="Google Sans Text"/>
            </a:endParaRPr>
          </a:p>
          <a:p>
            <a:pPr marL="0" marR="0">
              <a:buNone/>
            </a:pPr>
            <a:r>
              <a:rPr lang="en-TH" dirty="0">
                <a:effectLst/>
                <a:latin typeface="Google Sans Text"/>
              </a:rPr>
              <a:t>4. </a:t>
            </a:r>
            <a:r>
              <a:rPr lang="en-TH" b="1" dirty="0">
                <a:effectLst/>
                <a:latin typeface="Google Sans Text"/>
              </a:rPr>
              <a:t>การวิเคราะห์ข้อมูลเชิงสำรวจ (EDA):</a:t>
            </a:r>
            <a:r>
              <a:rPr lang="en-TH" dirty="0">
                <a:effectLst/>
                <a:latin typeface="Google Sans Text"/>
              </a:rPr>
              <a:t> การสำรวจคุณลักษณะทั้งหมด (Feature Inventory), การกระจายตัวของข้อมูลเชิงตัวเลข/กลุ่ม, พฤติกรรมผู้เรียน, อนุกรมเวลา, ความสัมพันธ์ระหว่างตัวแปร, ค่าผิดปกติ (Outliers), โครงสร้างมิติข้อมูล และการวัดความเป็นไปได้ในการจัดกลุ่ม (Clustering Feasibility)</a:t>
            </a:r>
          </a:p>
          <a:p>
            <a:pPr marL="0" marR="0">
              <a:buNone/>
            </a:pPr>
            <a:r>
              <a:rPr lang="en-TH" dirty="0">
                <a:effectLst/>
                <a:latin typeface="Google Sans Text"/>
              </a:rPr>
              <a:t>5. </a:t>
            </a:r>
            <a:r>
              <a:rPr lang="en-TH" b="1" dirty="0">
                <a:effectLst/>
                <a:latin typeface="Google Sans Text"/>
              </a:rPr>
              <a:t>การทบทวนวรรณกรรมและการประเมินหลักฐาน:</a:t>
            </a:r>
            <a:r>
              <a:rPr lang="en-TH" dirty="0">
                <a:effectLst/>
                <a:latin typeface="Google Sans Text"/>
              </a:rPr>
              <a:t> การรวบรวมงานวิจัยอ้างอิง งานวิจัยที่เกี่ยวข้อง และเกณฑ์มาตรฐานทางการเพื่อสนับสนุนการเลือกโมเดล</a:t>
            </a:r>
          </a:p>
        </p:txBody>
      </p:sp>
    </p:spTree>
    <p:extLst>
      <p:ext uri="{BB962C8B-B14F-4D97-AF65-F5344CB8AC3E}">
        <p14:creationId xmlns:p14="http://schemas.microsoft.com/office/powerpoint/2010/main" val="39205876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F738EFD-0DB0-A3A7-0CA8-C6A8DB19CACE}"/>
                  </a:ext>
                </a:extLst>
              </p:cNvPr>
              <p:cNvSpPr txBox="1"/>
              <p:nvPr/>
            </p:nvSpPr>
            <p:spPr>
              <a:xfrm>
                <a:off x="552450" y="1360004"/>
                <a:ext cx="10671717" cy="45243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TH" b="1" dirty="0">
                    <a:latin typeface="Google Sans Text"/>
                  </a:rPr>
                  <a:t>ระยะที่ 3: การพัฒนาฟีเจอร์และโมเดล (Phase 3: Feature &amp; Model Development)</a:t>
                </a:r>
                <a:endParaRPr lang="en-TH" dirty="0">
                  <a:latin typeface="Google Sans Text"/>
                </a:endParaRPr>
              </a:p>
              <a:p>
                <a:r>
                  <a:rPr lang="en-TH" dirty="0">
                    <a:latin typeface="Google Sans Text"/>
                  </a:rPr>
                  <a:t>6. </a:t>
                </a:r>
                <a:r>
                  <a:rPr lang="en-TH" b="1" dirty="0">
                    <a:latin typeface="Google Sans Text"/>
                  </a:rPr>
                  <a:t>วิศวกรรมและการคัดเลือกฟีเจอร์:</a:t>
                </a:r>
                <a:r>
                  <a:rPr lang="en-TH" dirty="0">
                    <a:latin typeface="Google Sans Text"/>
                  </a:rPr>
                  <a:t> การแบ่งข้อมูลก่อนการสเกล (Data Splitting), การสร้างฟีเจอร์ใหม่ (Candidate Features), การแปลงรูปข้อมูล (Transformation), การคัดเลือกฟีเจอร์ และการทดสอบตัดฟีเจอร์ (Ablation Studies)</a:t>
                </a:r>
              </a:p>
              <a:p>
                <a:r>
                  <a:rPr lang="en-TH" dirty="0">
                    <a:latin typeface="Google Sans Text"/>
                  </a:rPr>
                  <a:t>7. </a:t>
                </a:r>
                <a:r>
                  <a:rPr lang="en-TH" b="1" dirty="0">
                    <a:latin typeface="Google Sans Text"/>
                  </a:rPr>
                  <a:t>การเลือกโมเดล การฝึกฝน และการติดตามการทดลอง:</a:t>
                </a:r>
                <a:r>
                  <a:rPr lang="en-TH" dirty="0">
                    <a:latin typeface="Google Sans Text"/>
                  </a:rPr>
                  <a:t> การเลือกตระกูลโมเดล (Classification, Clustering, Regression, Time-series, NLP/LLM), กลยุทธ์การแบ่งข้อมูล, การจัดการคลาสไม่สมดุล, การปรับจูนไฮเปอร์พารามิเตอร์ และการบันทึกประวัติการทดลอง</a:t>
                </a:r>
              </a:p>
              <a:p>
                <a:pPr marL="0" marR="0">
                  <a:buNone/>
                </a:pPr>
                <a:r>
                  <a:rPr lang="en-TH" sz="1800" b="1" dirty="0">
                    <a:effectLst/>
                    <a:latin typeface="Google Sans Text"/>
                  </a:rPr>
                  <a:t>ระยะที่ 4: การประเมินผล ความสามารถในการอธิบาย และการตัดสินใจ (Phase 4: Evaluation, Explainability &amp; Decision-Making)</a:t>
                </a:r>
                <a:endParaRPr lang="en-TH" sz="1800" dirty="0">
                  <a:effectLst/>
                  <a:latin typeface="Google Sans Text"/>
                </a:endParaRPr>
              </a:p>
              <a:p>
                <a:pPr marL="0" marR="0">
                  <a:buNone/>
                </a:pPr>
                <a:r>
                  <a:rPr lang="en-TH" sz="1800" dirty="0">
                    <a:effectLst/>
                    <a:latin typeface="Google Sans Text"/>
                  </a:rPr>
                  <a:t>8. </a:t>
                </a:r>
                <a:r>
                  <a:rPr lang="en-TH" sz="1800" b="1" dirty="0">
                    <a:effectLst/>
                    <a:latin typeface="Google Sans Text"/>
                  </a:rPr>
                  <a:t>การประเมินผลโมเดล การปรับแต่ง และการวิเคราะห์ข้อผิดพลาด:</a:t>
                </a:r>
                <a:r>
                  <a:rPr lang="en-TH" sz="1800" dirty="0">
                    <a:effectLst/>
                    <a:latin typeface="Google Sans Text"/>
                  </a:rPr>
                  <a:t> การตั้งโมเดลฐาน (Baseline), ตัววัดประสิทธิภาพตามประเภทงาน (Classification/Regression/Clustering/LLM Metrics), การปรับความแม่นยำและจุดตัด (Threshold &amp; Calibration), การวิเคราะห์ข้อผิดพลาด (Error Analysis), XAI (Explainable AI) และการตรวจสอบความเท่าเทียม (Fairness Audit)</a:t>
                </a:r>
              </a:p>
              <a:p>
                <a:pPr marL="0" marR="0">
                  <a:buNone/>
                </a:pPr>
                <a:r>
                  <a:rPr lang="en-TH" sz="1800" b="1" dirty="0">
                    <a:effectLst/>
                    <a:latin typeface="Google Sans Text"/>
                  </a:rPr>
                  <a:t>ระยะที่ 5: การปรับใช้ การสื่อสาร และการบริหารจัดการวงจรชีวิต (Phase 5: Deployment, Communication &amp; Lifecycle Management)</a:t>
                </a:r>
                <a:endParaRPr lang="en-TH" sz="1800" dirty="0">
                  <a:effectLst/>
                  <a:latin typeface="Google Sans Text"/>
                </a:endParaRPr>
              </a:p>
              <a:p>
                <a:pPr marL="0" marR="0">
                  <a:buNone/>
                </a:pPr>
                <a:r>
                  <a:rPr lang="en-TH" sz="1800" dirty="0">
                    <a:effectLst/>
                    <a:latin typeface="Google Sans Text"/>
                  </a:rPr>
                  <a:t>9. </a:t>
                </a:r>
                <a:r>
                  <a:rPr lang="en-TH" sz="1800" b="1" dirty="0">
                    <a:effectLst/>
                    <a:latin typeface="Google Sans Text"/>
                  </a:rPr>
                  <a:t>การปรับใช้งานและการตรวจสอบระดับปฏิบัติการ:</a:t>
                </a:r>
                <a:r>
                  <a:rPr lang="en-TH" sz="1800" dirty="0">
                    <a:effectLst/>
                    <a:latin typeface="Google Sans Text"/>
                  </a:rPr>
                  <a:t> การสร้างระบบท่อส่งข้อมูลประมวลผล (Unified Inference Pipeline), การตรวจสอบสกีมานำเข้า (Schema Validation), การทดสอบระบบก่อนขึ้นจริง และการจัดทำเอกสารกำกับโมเดล (Model Card)</a:t>
                </a:r>
              </a:p>
              <a:p>
                <a:pPr marL="0" marR="0">
                  <a:buNone/>
                </a:pPr>
                <a:r>
                  <a:rPr lang="en-TH" sz="1800" dirty="0">
                    <a:effectLst/>
                    <a:latin typeface="Google Sans Text"/>
                  </a:rPr>
                  <a:t>10. </a:t>
                </a:r>
                <a:r>
                  <a:rPr lang="en-TH" sz="1800" b="1" dirty="0">
                    <a:effectLst/>
                    <a:latin typeface="Google Sans Text"/>
                  </a:rPr>
                  <a:t>การสื่อสารและการรายงานผลผ่าน HTML โต้ตอบ:</a:t>
                </a:r>
                <a:r>
                  <a:rPr lang="en-TH" sz="1800" dirty="0">
                    <a:effectLst/>
                    <a:latin typeface="Google Sans Text"/>
                  </a:rPr>
                  <a:t> การสร้างรายงานสรุปและแดชบอร์ด 11 ขั้นตอน การรองรับ 2 ภาษา (TH/EN) และการจำลองสถานการณ์ (What-if Simulator)</a:t>
                </a:r>
              </a:p>
              <a:p>
                <a:pPr marL="0" marR="0">
                  <a:buNone/>
                </a:pPr>
                <a:r>
                  <a:rPr lang="en-TH" sz="1800" dirty="0">
                    <a:effectLst/>
                    <a:latin typeface="Google Sans Text"/>
                  </a:rPr>
                  <a:t>11. </a:t>
                </a:r>
                <a:r>
                  <a:rPr lang="en-TH" sz="1800" b="1" dirty="0">
                    <a:effectLst/>
                    <a:latin typeface="Google Sans Text"/>
                  </a:rPr>
                  <a:t>การติดตามผล การบำรุงรักษา และวงจรสะท้อนกลับ:</a:t>
                </a:r>
                <a:r>
                  <a:rPr lang="en-TH" sz="1800" dirty="0">
                    <a:effectLst/>
                    <a:latin typeface="Google Sans Text"/>
                  </a:rPr>
                  <a:t> การวัดดัชนีความเสถียรของประชากร (</a:t>
                </a:r>
                <a14:m>
                  <m:oMath xmlns:m="http://schemas.openxmlformats.org/officeDocument/2006/math">
                    <m:r>
                      <a:rPr lang="en-TH" sz="1800" i="1" smtClean="0">
                        <a:latin typeface="Cambria Math" panose="02040503050406030204" pitchFamily="18" charset="0"/>
                      </a:rPr>
                      <m:t>𝑃𝑆𝐼</m:t>
                    </m:r>
                  </m:oMath>
                </a14:m>
                <a:r>
                  <a:rPr lang="en-TH" sz="1800" dirty="0">
                    <a:effectLst/>
                    <a:latin typeface="Google Sans Text"/>
                  </a:rPr>
                  <a:t>), การตรวจจับการถดถอยของโมเดล (Drift &amp; Degradation), เงื่อนไขการแจ้งเตือน และนโยบายการฝึกโมเดลซ้ำ (Retraining Policy)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F738EFD-0DB0-A3A7-0CA8-C6A8DB19CA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450" y="1360004"/>
                <a:ext cx="10671717" cy="4524315"/>
              </a:xfrm>
              <a:prstGeom prst="rect">
                <a:avLst/>
              </a:prstGeom>
              <a:blipFill>
                <a:blip r:embed="rId2"/>
                <a:stretch>
                  <a:fillRect l="-476" t="-840" b="-1401"/>
                </a:stretch>
              </a:blipFill>
            </p:spPr>
            <p:txBody>
              <a:bodyPr/>
              <a:lstStyle/>
              <a:p>
                <a:r>
                  <a:rPr lang="en-T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E7CB90D9-C762-A5CB-B9F5-B90C55756017}"/>
              </a:ext>
            </a:extLst>
          </p:cNvPr>
          <p:cNvSpPr>
            <a:spLocks noGrp="1"/>
          </p:cNvSpPr>
          <p:nvPr/>
        </p:nvSpPr>
        <p:spPr>
          <a:xfrm>
            <a:off x="533399" y="361950"/>
            <a:ext cx="2912327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000" lnSpcReduction="10000"/>
          </a:bodyPr>
          <a:lstStyle/>
          <a:p>
            <a:pPr>
              <a:def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TH" sz="2550" b="1" dirty="0"/>
              <a:t>โครงร่างเนื้อหา (OUTLINE)</a:t>
            </a:r>
            <a:endParaRPr b="1" dirty="0">
              <a:solidFill>
                <a:srgbClr val="16324F"/>
              </a:solidFill>
              <a:latin typeface="Aptos" panose="020B0004020202020204" pitchFamily="34" charset="0"/>
              <a:ea typeface="Helvetica Neue"/>
              <a:cs typeface="Helvetica Neue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1A489D0-497B-D8B2-092E-E6081439784E}"/>
              </a:ext>
            </a:extLst>
          </p:cNvPr>
          <p:cNvSpPr>
            <a:spLocks noGrp="1"/>
          </p:cNvSpPr>
          <p:nvPr/>
        </p:nvSpPr>
        <p:spPr>
          <a:xfrm>
            <a:off x="552450" y="807554"/>
            <a:ext cx="10477500" cy="28575"/>
          </a:xfrm>
          <a:prstGeom prst="rect">
            <a:avLst/>
          </a:prstGeom>
          <a:solidFill>
            <a:srgbClr val="C6923B"/>
          </a:solidFill>
          <a:ln w="0">
            <a:solidFill>
              <a:srgbClr val="C6923B"/>
            </a:solidFill>
          </a:ln>
        </p:spPr>
        <p:txBody>
          <a:bodyPr/>
          <a:lstStyle/>
          <a:p>
            <a:endParaRPr lang="en-TH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817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D33F60A-3E0A-48FB-6F43-2F0C8DBDAEF8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2042532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b="1" dirty="0">
                <a:solidFill>
                  <a:srgbClr val="16324F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Data Set</a:t>
            </a:r>
          </a:p>
          <a:p>
            <a:pPr>
              <a:def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endParaRPr b="1" dirty="0">
              <a:solidFill>
                <a:srgbClr val="16324F"/>
              </a:solidFill>
              <a:latin typeface="Aptos" panose="020B0004020202020204" pitchFamily="34" charset="0"/>
              <a:ea typeface="Helvetica Neue"/>
              <a:cs typeface="Helvetica Neue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8F7B405-6A52-E162-2D13-6BC8B7E3386D}"/>
              </a:ext>
            </a:extLst>
          </p:cNvPr>
          <p:cNvSpPr>
            <a:spLocks noGrp="1"/>
          </p:cNvSpPr>
          <p:nvPr/>
        </p:nvSpPr>
        <p:spPr>
          <a:xfrm>
            <a:off x="552450" y="807554"/>
            <a:ext cx="10477500" cy="28575"/>
          </a:xfrm>
          <a:prstGeom prst="rect">
            <a:avLst/>
          </a:prstGeom>
          <a:solidFill>
            <a:srgbClr val="C6923B"/>
          </a:solidFill>
          <a:ln w="0">
            <a:solidFill>
              <a:srgbClr val="C6923B"/>
            </a:solidFill>
          </a:ln>
        </p:spPr>
        <p:txBody>
          <a:bodyPr/>
          <a:lstStyle/>
          <a:p>
            <a:endParaRPr lang="en-TH">
              <a:latin typeface="Aptos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2846BC-C12B-E845-81D5-FF282E9CC0A2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49530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b="0">
                <a:solidFill>
                  <a:srgbClr val="64748B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MOOC Student Analytics, 2012–2013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A16C864-BCC7-A923-7A67-229BA1F2EE67}"/>
              </a:ext>
            </a:extLst>
          </p:cNvPr>
          <p:cNvSpPr>
            <a:spLocks noGrp="1"/>
          </p:cNvSpPr>
          <p:nvPr/>
        </p:nvSpPr>
        <p:spPr>
          <a:xfrm>
            <a:off x="11182350" y="6477000"/>
            <a:ext cx="4572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b="0">
                <a:solidFill>
                  <a:srgbClr val="64748B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3035194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6E1A6073-4724-466C-B520-1D9149AC177C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8572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6324F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คำถามวิจัยและขอบเขตงาน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51A57DE-E13B-4321-AA8B-7EEF9776F4C3}"/>
              </a:ext>
            </a:extLst>
          </p:cNvPr>
          <p:cNvSpPr>
            <a:spLocks noGrp="1"/>
          </p:cNvSpPr>
          <p:nvPr/>
        </p:nvSpPr>
        <p:spPr>
          <a:xfrm>
            <a:off x="552450" y="8763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นิยามปัญหาและการจัดวางงานตาม data science workflow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3D12A6B-19C8-4C41-A75E-3B658D5CF7A3}"/>
              </a:ext>
            </a:extLst>
          </p:cNvPr>
          <p:cNvSpPr>
            <a:spLocks noGrp="1"/>
          </p:cNvSpPr>
          <p:nvPr/>
        </p:nvSpPr>
        <p:spPr>
          <a:xfrm>
            <a:off x="552450" y="1219200"/>
            <a:ext cx="10477500" cy="28575"/>
          </a:xfrm>
          <a:prstGeom prst="rect">
            <a:avLst/>
          </a:prstGeom>
          <a:solidFill>
            <a:srgbClr val="C6923B"/>
          </a:solidFill>
          <a:ln w="0">
            <a:solidFill>
              <a:srgbClr val="C6923B"/>
            </a:solidFill>
          </a:ln>
        </p:spPr>
        <p:txBody>
          <a:bodyPr/>
          <a:lstStyle/>
          <a:p>
            <a:endParaRPr lang="en-TH">
              <a:latin typeface="Aptos" panose="020B0004020202020204" pitchFamily="34" charset="0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6DFBD13-5075-453A-941A-07CF11205034}"/>
              </a:ext>
            </a:extLst>
          </p:cNvPr>
          <p:cNvSpPr>
            <a:spLocks noGrp="1"/>
          </p:cNvSpPr>
          <p:nvPr/>
        </p:nvSpPr>
        <p:spPr>
          <a:xfrm>
            <a:off x="1285728" y="1590675"/>
            <a:ext cx="2000250" cy="87630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D7C9AD"/>
            </a:solidFill>
            <a:prstDash val="solid"/>
          </a:ln>
        </p:spPr>
        <p:txBody>
          <a:bodyPr/>
          <a:lstStyle/>
          <a:p>
            <a:endParaRPr lang="en-TH">
              <a:latin typeface="Aptos" panose="020B00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214AA0-BD9E-4E86-ACBF-B2E69D3B9DD8}"/>
              </a:ext>
            </a:extLst>
          </p:cNvPr>
          <p:cNvSpPr>
            <a:spLocks noGrp="1"/>
          </p:cNvSpPr>
          <p:nvPr/>
        </p:nvSpPr>
        <p:spPr>
          <a:xfrm>
            <a:off x="1438128" y="1762125"/>
            <a:ext cx="16954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705" lnSpcReduction="20000"/>
          </a:bodyPr>
          <a:lstStyle/>
          <a:p>
            <a:pPr>
              <a:def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E7D7D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1 นักศึกษา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EF52AB1-4EB2-42F2-90E8-3538F4AC7A59}"/>
              </a:ext>
            </a:extLst>
          </p:cNvPr>
          <p:cNvSpPr>
            <a:spLocks noGrp="1"/>
          </p:cNvSpPr>
          <p:nvPr/>
        </p:nvSpPr>
        <p:spPr>
          <a:xfrm>
            <a:off x="1438128" y="2105025"/>
            <a:ext cx="16954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4748B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หน่วยวิเคราะห์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F810999-CF16-49B1-84E2-3F778C896388}"/>
              </a:ext>
            </a:extLst>
          </p:cNvPr>
          <p:cNvSpPr>
            <a:spLocks noGrp="1"/>
          </p:cNvSpPr>
          <p:nvPr/>
        </p:nvSpPr>
        <p:spPr>
          <a:xfrm>
            <a:off x="3590778" y="1590675"/>
            <a:ext cx="2000250" cy="87630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D7C9AD"/>
            </a:solidFill>
            <a:prstDash val="solid"/>
          </a:ln>
        </p:spPr>
        <p:txBody>
          <a:bodyPr/>
          <a:lstStyle/>
          <a:p>
            <a:endParaRPr lang="en-TH">
              <a:latin typeface="Aptos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9C09E2-FD84-4963-94FC-66964735C453}"/>
              </a:ext>
            </a:extLst>
          </p:cNvPr>
          <p:cNvSpPr>
            <a:spLocks noGrp="1"/>
          </p:cNvSpPr>
          <p:nvPr/>
        </p:nvSpPr>
        <p:spPr>
          <a:xfrm>
            <a:off x="3743178" y="1762125"/>
            <a:ext cx="16954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705" lnSpcReduction="20000"/>
          </a:bodyPr>
          <a:lstStyle/>
          <a:p>
            <a:pPr>
              <a:def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E7D7D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446,766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DC86F5D-ABFF-451F-B92E-9A0AE99CC386}"/>
              </a:ext>
            </a:extLst>
          </p:cNvPr>
          <p:cNvSpPr>
            <a:spLocks noGrp="1"/>
          </p:cNvSpPr>
          <p:nvPr/>
        </p:nvSpPr>
        <p:spPr>
          <a:xfrm>
            <a:off x="3743178" y="2105025"/>
            <a:ext cx="16954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4748B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จำนวนหลังรวมข้อมูล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0194B34-7FBE-48DC-BD37-C41AA11C882C}"/>
              </a:ext>
            </a:extLst>
          </p:cNvPr>
          <p:cNvSpPr>
            <a:spLocks noGrp="1"/>
          </p:cNvSpPr>
          <p:nvPr/>
        </p:nvSpPr>
        <p:spPr>
          <a:xfrm>
            <a:off x="5895828" y="1590675"/>
            <a:ext cx="2000250" cy="87630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D7C9AD"/>
            </a:solidFill>
            <a:prstDash val="solid"/>
          </a:ln>
        </p:spPr>
        <p:txBody>
          <a:bodyPr/>
          <a:lstStyle/>
          <a:p>
            <a:endParaRPr lang="en-TH">
              <a:latin typeface="Aptos" panose="020B00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017DC06-89CD-4B3F-9634-28DF8E3279C3}"/>
              </a:ext>
            </a:extLst>
          </p:cNvPr>
          <p:cNvSpPr>
            <a:spLocks noGrp="1"/>
          </p:cNvSpPr>
          <p:nvPr/>
        </p:nvSpPr>
        <p:spPr>
          <a:xfrm>
            <a:off x="6048228" y="1762125"/>
            <a:ext cx="16954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705" lnSpcReduction="20000"/>
          </a:bodyPr>
          <a:lstStyle/>
          <a:p>
            <a:pPr>
              <a:def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E7D7D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4 งาน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39BA410-9CC7-4A30-94A8-906DCBFD55D7}"/>
              </a:ext>
            </a:extLst>
          </p:cNvPr>
          <p:cNvSpPr>
            <a:spLocks noGrp="1"/>
          </p:cNvSpPr>
          <p:nvPr/>
        </p:nvSpPr>
        <p:spPr>
          <a:xfrm>
            <a:off x="6048228" y="2105025"/>
            <a:ext cx="16954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4748B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Track ที่วิเคราะห์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406AF91-7E55-4B69-92FA-40F9531E61C9}"/>
              </a:ext>
            </a:extLst>
          </p:cNvPr>
          <p:cNvSpPr>
            <a:spLocks noGrp="1"/>
          </p:cNvSpPr>
          <p:nvPr/>
        </p:nvSpPr>
        <p:spPr>
          <a:xfrm>
            <a:off x="8200878" y="1590675"/>
            <a:ext cx="2000250" cy="87630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D7C9AD"/>
            </a:solidFill>
            <a:prstDash val="solid"/>
          </a:ln>
        </p:spPr>
        <p:txBody>
          <a:bodyPr/>
          <a:lstStyle/>
          <a:p>
            <a:endParaRPr lang="en-TH">
              <a:latin typeface="Aptos" panose="020B00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441404-03A9-4D0A-9CB1-A69B1B2FF4EE}"/>
              </a:ext>
            </a:extLst>
          </p:cNvPr>
          <p:cNvSpPr>
            <a:spLocks noGrp="1"/>
          </p:cNvSpPr>
          <p:nvPr/>
        </p:nvSpPr>
        <p:spPr>
          <a:xfrm>
            <a:off x="8353278" y="1762125"/>
            <a:ext cx="16954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705" lnSpcReduction="20000"/>
          </a:bodyPr>
          <a:lstStyle/>
          <a:p>
            <a:pPr>
              <a:def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E7D7D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Certificate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5C863BC-6022-4507-B8B0-A220A7A618D1}"/>
              </a:ext>
            </a:extLst>
          </p:cNvPr>
          <p:cNvSpPr>
            <a:spLocks noGrp="1"/>
          </p:cNvSpPr>
          <p:nvPr/>
        </p:nvSpPr>
        <p:spPr>
          <a:xfrm>
            <a:off x="8353278" y="2105025"/>
            <a:ext cx="16954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4748B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เป้าหมายสำคัญ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7FAD642D-2C08-43BB-9BB6-FB1EA09136E4}"/>
              </a:ext>
            </a:extLst>
          </p:cNvPr>
          <p:cNvSpPr>
            <a:spLocks noGrp="1"/>
          </p:cNvSpPr>
          <p:nvPr/>
        </p:nvSpPr>
        <p:spPr>
          <a:xfrm>
            <a:off x="847578" y="2905125"/>
            <a:ext cx="10096500" cy="238125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7C9AD"/>
            </a:solidFill>
            <a:prstDash val="solid"/>
          </a:ln>
        </p:spPr>
        <p:txBody>
          <a:bodyPr/>
          <a:lstStyle/>
          <a:p>
            <a:endParaRPr lang="en-TH">
              <a:latin typeface="Aptos" panose="020B00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8D5DDBD-0C36-4647-BA9E-8BFA8A11F3E7}"/>
              </a:ext>
            </a:extLst>
          </p:cNvPr>
          <p:cNvSpPr>
            <a:spLocks noGrp="1"/>
          </p:cNvSpPr>
          <p:nvPr/>
        </p:nvSpPr>
        <p:spPr>
          <a:xfrm>
            <a:off x="1112108" y="3286125"/>
            <a:ext cx="9477633" cy="1619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50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b="0" dirty="0">
                <a:solidFill>
                  <a:srgbClr val="1F2A35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• Unsupervised </a:t>
            </a:r>
            <a:r>
              <a:rPr b="0" dirty="0" err="1">
                <a:solidFill>
                  <a:srgbClr val="1F2A35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ใช้ฟีเจอร์พฤติกรรมเพื่อแบ่งกลุ่มผู้เรียนและอธิบาย</a:t>
            </a:r>
            <a:r>
              <a:rPr b="0" dirty="0">
                <a:solidFill>
                  <a:srgbClr val="1F2A35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 Persona </a:t>
            </a:r>
            <a:r>
              <a:rPr b="0" dirty="0" err="1">
                <a:solidFill>
                  <a:srgbClr val="1F2A35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โดยไม่ใช้</a:t>
            </a:r>
            <a:r>
              <a:rPr b="0" dirty="0">
                <a:solidFill>
                  <a:srgbClr val="1F2A35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 target label</a:t>
            </a:r>
          </a:p>
          <a:p>
            <a:pPr>
              <a:defRPr sz="150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b="0" dirty="0">
                <a:solidFill>
                  <a:srgbClr val="1F2A35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• Supervised </a:t>
            </a:r>
            <a:r>
              <a:rPr b="0" dirty="0" err="1">
                <a:solidFill>
                  <a:srgbClr val="1F2A35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และ</a:t>
            </a:r>
            <a:r>
              <a:rPr b="0" dirty="0">
                <a:solidFill>
                  <a:srgbClr val="1F2A35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 Deep Learning </a:t>
            </a:r>
            <a:r>
              <a:rPr b="0" dirty="0" err="1">
                <a:solidFill>
                  <a:srgbClr val="1F2A35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ใช้ฟีเจอร์ที่ผ่านการคัดกรองเพื่อทำนายการได้รับใบรับรอง</a:t>
            </a:r>
            <a:endParaRPr b="0" dirty="0">
              <a:solidFill>
                <a:srgbClr val="1F2A35"/>
              </a:solidFill>
              <a:latin typeface="Aptos" panose="020B0004020202020204" pitchFamily="34" charset="0"/>
              <a:ea typeface="Helvetica Neue"/>
              <a:cs typeface="Helvetica Neue"/>
            </a:endParaRPr>
          </a:p>
          <a:p>
            <a:pPr>
              <a:defRPr sz="150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b="0" dirty="0">
                <a:solidFill>
                  <a:srgbClr val="1F2A35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• LLM/Transformer </a:t>
            </a:r>
            <a:r>
              <a:rPr b="0" dirty="0" err="1">
                <a:solidFill>
                  <a:srgbClr val="1F2A35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แปลงหนึ่งแถวนักศึกษาเป็นประโยคเชิงพฤติกรรมก่อนสร้าง</a:t>
            </a:r>
            <a:r>
              <a:rPr b="0" dirty="0">
                <a:solidFill>
                  <a:srgbClr val="1F2A35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 embedding </a:t>
            </a:r>
            <a:r>
              <a:rPr b="0" dirty="0" err="1">
                <a:solidFill>
                  <a:srgbClr val="1F2A35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และเทรน</a:t>
            </a:r>
            <a:r>
              <a:rPr b="0" dirty="0">
                <a:solidFill>
                  <a:srgbClr val="1F2A35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 classifier</a:t>
            </a:r>
            <a:endParaRPr lang="en-TH" b="0" dirty="0">
              <a:solidFill>
                <a:srgbClr val="1F2A35"/>
              </a:solidFill>
              <a:latin typeface="Aptos" panose="020B0004020202020204" pitchFamily="34" charset="0"/>
              <a:ea typeface="Helvetica Neue"/>
              <a:cs typeface="Helvetica Neue"/>
            </a:endParaRPr>
          </a:p>
          <a:p>
            <a:pPr>
              <a:defRPr sz="150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endParaRPr lang="en-TH" b="0" dirty="0">
              <a:solidFill>
                <a:srgbClr val="1F2A35"/>
              </a:solidFill>
              <a:latin typeface="Aptos" panose="020B0004020202020204" pitchFamily="34" charset="0"/>
              <a:ea typeface="Helvetica Neue"/>
              <a:cs typeface="Helvetica Neue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92BF3A1-42AF-4315-B163-595C3A81534E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49530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288" lnSpcReduction="10000"/>
          </a:bodyPr>
          <a:lstStyle/>
          <a:p>
            <a:pPr>
              <a:def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4748B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MOOC Student Analytics, 2012–2013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4A6F6F7-4750-4A3B-BFC4-23F8B3155B70}"/>
              </a:ext>
            </a:extLst>
          </p:cNvPr>
          <p:cNvSpPr>
            <a:spLocks noGrp="1"/>
          </p:cNvSpPr>
          <p:nvPr/>
        </p:nvSpPr>
        <p:spPr>
          <a:xfrm>
            <a:off x="11182350" y="6477000"/>
            <a:ext cx="4572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111" lnSpcReduction="10000"/>
          </a:bodyPr>
          <a:lstStyle/>
          <a:p>
            <a:pPr algn="r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056861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4FE4C6F-7D11-46E0-BEE8-202C4CE5ABFB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8572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16324F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การทำความสะอาดข้อมูล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C805FFA-92A2-46E8-A145-FF3A3C2A9D72}"/>
              </a:ext>
            </a:extLst>
          </p:cNvPr>
          <p:cNvSpPr>
            <a:spLocks noGrp="1"/>
          </p:cNvSpPr>
          <p:nvPr/>
        </p:nvSpPr>
        <p:spPr>
          <a:xfrm>
            <a:off x="552450" y="8763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b="0">
                <a:solidFill>
                  <a:srgbClr val="64748B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สรุปกฎสำคัญที่ใช้ก่อนสร้างฟีเจอร์และเทรนโมเดล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BB4B211-42AD-42F3-A364-C26EA1705E5D}"/>
              </a:ext>
            </a:extLst>
          </p:cNvPr>
          <p:cNvSpPr>
            <a:spLocks noGrp="1"/>
          </p:cNvSpPr>
          <p:nvPr/>
        </p:nvSpPr>
        <p:spPr>
          <a:xfrm>
            <a:off x="552450" y="1219200"/>
            <a:ext cx="10477500" cy="28575"/>
          </a:xfrm>
          <a:prstGeom prst="rect">
            <a:avLst/>
          </a:prstGeom>
          <a:solidFill>
            <a:srgbClr val="C6923B"/>
          </a:solidFill>
          <a:ln w="0">
            <a:solidFill>
              <a:srgbClr val="C6923B"/>
            </a:solidFill>
          </a:ln>
        </p:spPr>
        <p:txBody>
          <a:bodyPr/>
          <a:lstStyle/>
          <a:p>
            <a:endParaRPr lang="en-TH">
              <a:latin typeface="Aptos" panose="020B0004020202020204" pitchFamily="34" charset="0"/>
            </a:endParaRPr>
          </a:p>
        </p:txBody>
      </p:sp>
      <p:graphicFrame>
        <p:nvGraphicFramePr>
          <p:cNvPr id="12" name="Table 11"/>
          <p:cNvGraphicFramePr/>
          <p:nvPr/>
        </p:nvGraphicFramePr>
        <p:xfrm>
          <a:off x="552450" y="1524000"/>
          <a:ext cx="10668000" cy="2952752"/>
        </p:xfrm>
        <a:graphic>
          <a:graphicData uri="http://schemas.openxmlformats.org/drawingml/2006/table">
            <a:tbl>
              <a:tblPr/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5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909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ประเด็น</a:t>
                      </a:r>
                    </a:p>
                  </a:txBody>
                  <a:tcPr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วิธีจัดการ</a:t>
                      </a:r>
                    </a:p>
                  </a:txBody>
                  <a:tcPr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จำนวนที่กระทบ</a:t>
                      </a:r>
                    </a:p>
                  </a:txBody>
                  <a:tcPr>
                    <a:solidFill>
                      <a:srgbClr val="1632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094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Source-first cleaning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Cleaned each source before reconciliation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755,144</a:t>
                      </a:r>
                    </a:p>
                  </a:txBody>
                  <a:tcPr marL="38100" marR="38100" marT="28575" marB="2857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9094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Cross-source overlap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Official-source-first non-null coalescing by exact enrollment key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180,084</a:t>
                      </a:r>
                    </a:p>
                  </a:txBody>
                  <a:tcPr marL="38100" marR="38100" marT="28575" marB="2857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094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Video sentinel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197757 converted to missing before merge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255,528</a:t>
                      </a:r>
                    </a:p>
                  </a:txBody>
                  <a:tcPr marL="38100" marR="38100" marT="28575" marB="2857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9094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Invalid age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Converted to missing before merge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745</a:t>
                      </a:r>
                    </a:p>
                  </a:txBody>
                  <a:tcPr marL="38100" marR="38100" marT="28575" marB="2857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9094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Reversed dates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Valid pairs swapped within each source before merge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1,846</a:t>
                      </a:r>
                    </a:p>
                  </a:txBody>
                  <a:tcPr marL="38100" marR="38100" marT="28575" marB="2857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9094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Outcome consistency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Contradictions quarantined; invalid labels excluded only from supervised eligibility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78</a:t>
                      </a:r>
                    </a:p>
                  </a:txBody>
                  <a:tcPr marL="38100" marR="38100" marT="28575" marB="2857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9094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Student aggregation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One row per userid_DI after clean reconciliation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446,766</a:t>
                      </a:r>
                    </a:p>
                  </a:txBody>
                  <a:tcPr marL="38100" marR="38100" marT="28575" marB="2857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C8EDDB41-358B-4DA6-949D-A673A3A50CA6}"/>
              </a:ext>
            </a:extLst>
          </p:cNvPr>
          <p:cNvSpPr>
            <a:spLocks noGrp="1"/>
          </p:cNvSpPr>
          <p:nvPr/>
        </p:nvSpPr>
        <p:spPr>
          <a:xfrm>
            <a:off x="666750" y="485775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16324F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ข้อสรุป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0B5EC7-BA96-42E8-ACEE-48524678DE6A}"/>
              </a:ext>
            </a:extLst>
          </p:cNvPr>
          <p:cNvSpPr>
            <a:spLocks noGrp="1"/>
          </p:cNvSpPr>
          <p:nvPr/>
        </p:nvSpPr>
        <p:spPr>
          <a:xfrm>
            <a:off x="876300" y="5219700"/>
            <a:ext cx="99060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b="0">
                <a:solidFill>
                  <a:srgbClr val="1F2A35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• ข้อมูลทำความสะอาดแบบ source-first แล้วจึง reconcile ข้ามแหล่งข้อมูล</a:t>
            </a:r>
          </a:p>
          <a:p>
            <a:pPr>
              <a:def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b="0">
                <a:solidFill>
                  <a:srgbClr val="1F2A35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• ค่าผิดปกติ เช่น video sentinel, invalid age, reversed dates และ outcome contradiction ถูกบันทึกเป็น audit trail</a:t>
            </a:r>
          </a:p>
          <a:p>
            <a:pPr>
              <a:def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b="0">
                <a:solidFill>
                  <a:srgbClr val="1F2A35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• ผลลัพธ์สุดท้ายใช้ student aggregation หนึ่งคนต่อหนึ่งแถวสำหรับงานวิเคราะห์หลัก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B2E2239-C2D9-4F98-B8F9-3F6433074D1E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49530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b="0">
                <a:solidFill>
                  <a:srgbClr val="64748B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MOOC Student Analytics, 2012–2013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9A71B5-947E-453D-8D23-E0AA54370F24}"/>
              </a:ext>
            </a:extLst>
          </p:cNvPr>
          <p:cNvSpPr>
            <a:spLocks noGrp="1"/>
          </p:cNvSpPr>
          <p:nvPr/>
        </p:nvSpPr>
        <p:spPr>
          <a:xfrm>
            <a:off x="11182350" y="6477000"/>
            <a:ext cx="4572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b="0">
                <a:solidFill>
                  <a:srgbClr val="64748B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482942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4B750A1-9FCD-463B-8EDE-D4F6170D5B7E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8572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6324F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EDA: การกระจายและคุณภาพข้อมูล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A8828A8-C683-4860-B220-0886603D7EAD}"/>
              </a:ext>
            </a:extLst>
          </p:cNvPr>
          <p:cNvSpPr>
            <a:spLocks noGrp="1"/>
          </p:cNvSpPr>
          <p:nvPr/>
        </p:nvSpPr>
        <p:spPr>
          <a:xfrm>
            <a:off x="552450" y="8763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ตรวจ distribution, missing, zero, sparsity และ outlier ก่อนสร้างโมเดล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72623E-C757-4990-A39C-920D70850919}"/>
              </a:ext>
            </a:extLst>
          </p:cNvPr>
          <p:cNvSpPr>
            <a:spLocks noGrp="1"/>
          </p:cNvSpPr>
          <p:nvPr/>
        </p:nvSpPr>
        <p:spPr>
          <a:xfrm>
            <a:off x="552450" y="1219200"/>
            <a:ext cx="10477500" cy="28575"/>
          </a:xfrm>
          <a:prstGeom prst="rect">
            <a:avLst/>
          </a:prstGeom>
          <a:solidFill>
            <a:srgbClr val="C6923B"/>
          </a:solidFill>
          <a:ln w="0">
            <a:solidFill>
              <a:srgbClr val="C6923B"/>
            </a:solidFill>
          </a:ln>
        </p:spPr>
        <p:txBody>
          <a:bodyPr/>
          <a:lstStyle/>
          <a:p>
            <a:endParaRPr lang="en-TH">
              <a:latin typeface="Aptos" panose="020B0004020202020204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531874" y="1476375"/>
            <a:ext cx="4442452" cy="36195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F957931-3948-4147-A295-F7CE92D162A4}"/>
              </a:ext>
            </a:extLst>
          </p:cNvPr>
          <p:cNvSpPr>
            <a:spLocks noGrp="1"/>
          </p:cNvSpPr>
          <p:nvPr/>
        </p:nvSpPr>
        <p:spPr>
          <a:xfrm>
            <a:off x="838200" y="5286375"/>
            <a:ext cx="99060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35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F2A35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กราฟนี้ใช้ดูรูปทรงการกระจายของฟีเจอร์พฤติกรรมทั้งหมด เพื่อแยกฟีเจอร์ที่เบ้มาก มีศูนย์จำนวนมาก หรือมีค่าผิดปกติสูง ก่อนตัดสินใจแปลงค่าและคัดเลือกฟีเจอร์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057EFA-2E18-4452-81BF-15E28E172B37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49530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288" lnSpcReduction="10000"/>
          </a:bodyPr>
          <a:lstStyle/>
          <a:p>
            <a:pPr>
              <a:def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4748B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MOOC Student Analytics, 2012–2013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652CE8-8BC7-45AE-9410-B96DD1A81195}"/>
              </a:ext>
            </a:extLst>
          </p:cNvPr>
          <p:cNvSpPr>
            <a:spLocks noGrp="1"/>
          </p:cNvSpPr>
          <p:nvPr/>
        </p:nvSpPr>
        <p:spPr>
          <a:xfrm>
            <a:off x="11182350" y="6477000"/>
            <a:ext cx="4572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111" lnSpcReduction="10000"/>
          </a:bodyPr>
          <a:lstStyle/>
          <a:p>
            <a:pPr algn="r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969923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E4EF822-E9DA-4F79-82AF-3ACA01A88849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8572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6324F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EDA: ความสัมพันธ์และความผิดปกติของพฤติกรรม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ADB1FF-0D14-454B-9D0E-B77985C6F636}"/>
              </a:ext>
            </a:extLst>
          </p:cNvPr>
          <p:cNvSpPr>
            <a:spLocks noGrp="1"/>
          </p:cNvSpPr>
          <p:nvPr/>
        </p:nvSpPr>
        <p:spPr>
          <a:xfrm>
            <a:off x="552450" y="8763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ใช้ correlation และ outlier diagnostics เพื่อตรวจความซ้ำซ้อนของฟีเจอร์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BFAAE4-0455-40C0-BFB9-D71513F84FDE}"/>
              </a:ext>
            </a:extLst>
          </p:cNvPr>
          <p:cNvSpPr>
            <a:spLocks noGrp="1"/>
          </p:cNvSpPr>
          <p:nvPr/>
        </p:nvSpPr>
        <p:spPr>
          <a:xfrm>
            <a:off x="552450" y="1219200"/>
            <a:ext cx="10477500" cy="28575"/>
          </a:xfrm>
          <a:prstGeom prst="rect">
            <a:avLst/>
          </a:prstGeom>
          <a:solidFill>
            <a:srgbClr val="C6923B"/>
          </a:solidFill>
          <a:ln w="0">
            <a:solidFill>
              <a:srgbClr val="C6923B"/>
            </a:solidFill>
          </a:ln>
        </p:spPr>
        <p:txBody>
          <a:bodyPr/>
          <a:lstStyle/>
          <a:p>
            <a:endParaRPr lang="en-TH">
              <a:latin typeface="Aptos" panose="020B0004020202020204" pitchFamily="34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19175" y="1428750"/>
            <a:ext cx="4400550" cy="366712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334125" y="1678177"/>
            <a:ext cx="4476750" cy="316827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C8687E6-1C20-4886-96BF-2858B6034A79}"/>
              </a:ext>
            </a:extLst>
          </p:cNvPr>
          <p:cNvSpPr>
            <a:spLocks noGrp="1"/>
          </p:cNvSpPr>
          <p:nvPr/>
        </p:nvSpPr>
        <p:spPr>
          <a:xfrm>
            <a:off x="1828800" y="5240527"/>
            <a:ext cx="98107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35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F2A35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Correlation ช่วยระบุฟีเจอร์ที่สัมพันธ์กันสูง ส่วน outlier diagnostics ใช้ตรวจผู้เรียนที่มีกิจกรรมสูงผิดปกติ เพื่อป้องกันไม่ให้โมเดลถูกครอบงำจากค่าปลายหาง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70F6BC-C599-446D-9106-CBD67716270B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49530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288" lnSpcReduction="10000"/>
          </a:bodyPr>
          <a:lstStyle/>
          <a:p>
            <a:pPr>
              <a:def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4748B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MOOC Student Analytics, 2012–2013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85F4298-A5F5-45F6-BEF5-7F0E330062F1}"/>
              </a:ext>
            </a:extLst>
          </p:cNvPr>
          <p:cNvSpPr>
            <a:spLocks noGrp="1"/>
          </p:cNvSpPr>
          <p:nvPr/>
        </p:nvSpPr>
        <p:spPr>
          <a:xfrm>
            <a:off x="11182350" y="6477000"/>
            <a:ext cx="4572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111" lnSpcReduction="10000"/>
          </a:bodyPr>
          <a:lstStyle/>
          <a:p>
            <a:pPr algn="r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164725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5C8A2062-956A-4574-BDA7-05F2F3B8E856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8572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6324F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การเลือกจำนวนกลุ่ม K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874F14-C65C-486B-BF56-82DAD4EBD005}"/>
              </a:ext>
            </a:extLst>
          </p:cNvPr>
          <p:cNvSpPr>
            <a:spLocks noGrp="1"/>
          </p:cNvSpPr>
          <p:nvPr/>
        </p:nvSpPr>
        <p:spPr>
          <a:xfrm>
            <a:off x="552450" y="8763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เลือก K จากหลักฐานหลายตัวชี้วัด ไม่ยึดเฉพาะ Elbow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AE88B1-E9C1-43AD-BCC0-0B322B9DC897}"/>
              </a:ext>
            </a:extLst>
          </p:cNvPr>
          <p:cNvSpPr>
            <a:spLocks noGrp="1"/>
          </p:cNvSpPr>
          <p:nvPr/>
        </p:nvSpPr>
        <p:spPr>
          <a:xfrm>
            <a:off x="552450" y="1219200"/>
            <a:ext cx="10477500" cy="28575"/>
          </a:xfrm>
          <a:prstGeom prst="rect">
            <a:avLst/>
          </a:prstGeom>
          <a:solidFill>
            <a:srgbClr val="C6923B"/>
          </a:solidFill>
          <a:ln w="0">
            <a:solidFill>
              <a:srgbClr val="C6923B"/>
            </a:solidFill>
          </a:ln>
        </p:spPr>
        <p:txBody>
          <a:bodyPr/>
          <a:lstStyle/>
          <a:p>
            <a:endParaRPr lang="en-TH">
              <a:latin typeface="Aptos" panose="020B0004020202020204" pitchFamily="34" charset="0"/>
            </a:endParaRP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71650" y="1428750"/>
            <a:ext cx="7019700" cy="3857625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AA1A28B-4CB1-44BA-B992-38904E261989}"/>
              </a:ext>
            </a:extLst>
          </p:cNvPr>
          <p:cNvSpPr>
            <a:spLocks noGrp="1"/>
          </p:cNvSpPr>
          <p:nvPr/>
        </p:nvSpPr>
        <p:spPr>
          <a:xfrm>
            <a:off x="8477250" y="1524000"/>
            <a:ext cx="2095500" cy="781050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9525">
            <a:solidFill>
              <a:srgbClr val="D7C9AD"/>
            </a:solidFill>
            <a:prstDash val="solid"/>
          </a:ln>
        </p:spPr>
        <p:txBody>
          <a:bodyPr/>
          <a:lstStyle/>
          <a:p>
            <a:endParaRPr lang="en-TH">
              <a:latin typeface="Aptos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650238-D2A2-46B3-A867-348EE18F7811}"/>
              </a:ext>
            </a:extLst>
          </p:cNvPr>
          <p:cNvSpPr>
            <a:spLocks noGrp="1"/>
          </p:cNvSpPr>
          <p:nvPr/>
        </p:nvSpPr>
        <p:spPr>
          <a:xfrm>
            <a:off x="8629650" y="1695450"/>
            <a:ext cx="17907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705" lnSpcReduction="20000"/>
          </a:bodyPr>
          <a:lstStyle/>
          <a:p>
            <a:pPr>
              <a:def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E7D7D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431D793-EF7C-4C10-B03B-438480484325}"/>
              </a:ext>
            </a:extLst>
          </p:cNvPr>
          <p:cNvSpPr>
            <a:spLocks noGrp="1"/>
          </p:cNvSpPr>
          <p:nvPr/>
        </p:nvSpPr>
        <p:spPr>
          <a:xfrm>
            <a:off x="8629650" y="2038350"/>
            <a:ext cx="17907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4748B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K ที่เลือก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3B47393-A21E-4EBA-843F-AA44952362EA}"/>
              </a:ext>
            </a:extLst>
          </p:cNvPr>
          <p:cNvSpPr>
            <a:spLocks noGrp="1"/>
          </p:cNvSpPr>
          <p:nvPr/>
        </p:nvSpPr>
        <p:spPr>
          <a:xfrm>
            <a:off x="8477250" y="2457450"/>
            <a:ext cx="2095500" cy="781050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9525">
            <a:solidFill>
              <a:srgbClr val="D7C9AD"/>
            </a:solidFill>
            <a:prstDash val="solid"/>
          </a:ln>
        </p:spPr>
        <p:txBody>
          <a:bodyPr/>
          <a:lstStyle/>
          <a:p>
            <a:endParaRPr lang="en-TH">
              <a:latin typeface="Aptos" panose="020B00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98A05E3-EE5F-4EF7-979F-9CE6078B5B27}"/>
              </a:ext>
            </a:extLst>
          </p:cNvPr>
          <p:cNvSpPr>
            <a:spLocks noGrp="1"/>
          </p:cNvSpPr>
          <p:nvPr/>
        </p:nvSpPr>
        <p:spPr>
          <a:xfrm>
            <a:off x="8629650" y="2628900"/>
            <a:ext cx="17907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705" lnSpcReduction="20000"/>
          </a:bodyPr>
          <a:lstStyle/>
          <a:p>
            <a:pPr>
              <a:def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E7D7D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0.4275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B8CA207-9A3C-4FE1-9EF2-23D37E216C49}"/>
              </a:ext>
            </a:extLst>
          </p:cNvPr>
          <p:cNvSpPr>
            <a:spLocks noGrp="1"/>
          </p:cNvSpPr>
          <p:nvPr/>
        </p:nvSpPr>
        <p:spPr>
          <a:xfrm>
            <a:off x="8629650" y="2971800"/>
            <a:ext cx="17907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4748B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Silhouette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6433DEDC-7B84-4016-B750-6420ECAF2E1A}"/>
              </a:ext>
            </a:extLst>
          </p:cNvPr>
          <p:cNvSpPr>
            <a:spLocks noGrp="1"/>
          </p:cNvSpPr>
          <p:nvPr/>
        </p:nvSpPr>
        <p:spPr>
          <a:xfrm>
            <a:off x="8477250" y="3390900"/>
            <a:ext cx="2095500" cy="781050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9525">
            <a:solidFill>
              <a:srgbClr val="D7C9AD"/>
            </a:solidFill>
            <a:prstDash val="solid"/>
          </a:ln>
        </p:spPr>
        <p:txBody>
          <a:bodyPr/>
          <a:lstStyle/>
          <a:p>
            <a:endParaRPr lang="en-TH">
              <a:latin typeface="Aptos" panose="020B00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14A83EB-E4DF-4310-9F26-87A720DD387B}"/>
              </a:ext>
            </a:extLst>
          </p:cNvPr>
          <p:cNvSpPr>
            <a:spLocks noGrp="1"/>
          </p:cNvSpPr>
          <p:nvPr/>
        </p:nvSpPr>
        <p:spPr>
          <a:xfrm>
            <a:off x="8629650" y="3562350"/>
            <a:ext cx="17907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705" lnSpcReduction="20000"/>
          </a:bodyPr>
          <a:lstStyle/>
          <a:p>
            <a:pPr>
              <a:def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E7D7D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0.8827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34F10DF-3DCE-4922-9BA7-98A065491CB3}"/>
              </a:ext>
            </a:extLst>
          </p:cNvPr>
          <p:cNvSpPr>
            <a:spLocks noGrp="1"/>
          </p:cNvSpPr>
          <p:nvPr/>
        </p:nvSpPr>
        <p:spPr>
          <a:xfrm>
            <a:off x="8629650" y="3905250"/>
            <a:ext cx="17907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4748B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Davies-Bouldin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68D54DA-8244-4C73-83B6-D13552755C17}"/>
              </a:ext>
            </a:extLst>
          </p:cNvPr>
          <p:cNvSpPr>
            <a:spLocks noGrp="1"/>
          </p:cNvSpPr>
          <p:nvPr/>
        </p:nvSpPr>
        <p:spPr>
          <a:xfrm>
            <a:off x="8477250" y="4324350"/>
            <a:ext cx="2095500" cy="781050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9525">
            <a:solidFill>
              <a:srgbClr val="D7C9AD"/>
            </a:solidFill>
            <a:prstDash val="solid"/>
          </a:ln>
        </p:spPr>
        <p:txBody>
          <a:bodyPr/>
          <a:lstStyle/>
          <a:p>
            <a:endParaRPr lang="en-TH">
              <a:latin typeface="Aptos" panose="020B00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679EBDF-3260-429C-BCB4-5114E491C312}"/>
              </a:ext>
            </a:extLst>
          </p:cNvPr>
          <p:cNvSpPr>
            <a:spLocks noGrp="1"/>
          </p:cNvSpPr>
          <p:nvPr/>
        </p:nvSpPr>
        <p:spPr>
          <a:xfrm>
            <a:off x="8629650" y="4495800"/>
            <a:ext cx="17907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705" lnSpcReduction="20000"/>
          </a:bodyPr>
          <a:lstStyle/>
          <a:p>
            <a:pPr>
              <a:def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E7D7D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0.9935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E131A89-0137-4890-9DC0-00DB30EF3A57}"/>
              </a:ext>
            </a:extLst>
          </p:cNvPr>
          <p:cNvSpPr>
            <a:spLocks noGrp="1"/>
          </p:cNvSpPr>
          <p:nvPr/>
        </p:nvSpPr>
        <p:spPr>
          <a:xfrm>
            <a:off x="8629650" y="4838700"/>
            <a:ext cx="17907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4748B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ARI stability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812A7DE-9C5F-436E-B410-FE6F13357B9D}"/>
              </a:ext>
            </a:extLst>
          </p:cNvPr>
          <p:cNvSpPr>
            <a:spLocks noGrp="1"/>
          </p:cNvSpPr>
          <p:nvPr/>
        </p:nvSpPr>
        <p:spPr>
          <a:xfrm>
            <a:off x="762000" y="5476875"/>
            <a:ext cx="10096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F2A35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เกณฑ์ที่ใช้ร่วมกันคือ Silhouette, Davies-Bouldin, Calinski-Harabasz, ARI stability, inertia และ Gap statistic. ผลสุดท้ายใช้ K=5 เพราะให้สมดุลระหว่างคุณภาพการแบ่งกลุ่มและความเสถียรของกลุ่ม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50FB333-1F36-4948-AFC2-8747B7BA3C7B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49530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288" lnSpcReduction="10000"/>
          </a:bodyPr>
          <a:lstStyle/>
          <a:p>
            <a:pPr>
              <a:def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4748B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MOOC Student Analytics, 2012–2013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7DF5BDC-E61D-4A10-A2A6-D23239F91CDA}"/>
              </a:ext>
            </a:extLst>
          </p:cNvPr>
          <p:cNvSpPr>
            <a:spLocks noGrp="1"/>
          </p:cNvSpPr>
          <p:nvPr/>
        </p:nvSpPr>
        <p:spPr>
          <a:xfrm>
            <a:off x="11182350" y="6477000"/>
            <a:ext cx="4572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111" lnSpcReduction="10000"/>
          </a:bodyPr>
          <a:lstStyle/>
          <a:p>
            <a:pPr algn="r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873070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43EC906-5ED4-4AFE-A97F-3F88937849F0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8572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6324F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Traditional Unsupervised: ผลเปรียบเทียบโมเดล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399C61-1237-43B1-B610-1122E0ADB81A}"/>
              </a:ext>
            </a:extLst>
          </p:cNvPr>
          <p:cNvSpPr>
            <a:spLocks noGrp="1"/>
          </p:cNvSpPr>
          <p:nvPr/>
        </p:nvSpPr>
        <p:spPr>
          <a:xfrm>
            <a:off x="552450" y="8763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โมเดลที่เลือกคือ K-Means ที่ K=5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CF32D6E-1649-4D9C-A827-FA6ED873BDE7}"/>
              </a:ext>
            </a:extLst>
          </p:cNvPr>
          <p:cNvSpPr>
            <a:spLocks noGrp="1"/>
          </p:cNvSpPr>
          <p:nvPr/>
        </p:nvSpPr>
        <p:spPr>
          <a:xfrm>
            <a:off x="552450" y="1219200"/>
            <a:ext cx="10477500" cy="28575"/>
          </a:xfrm>
          <a:prstGeom prst="rect">
            <a:avLst/>
          </a:prstGeom>
          <a:solidFill>
            <a:srgbClr val="C6923B"/>
          </a:solidFill>
          <a:ln w="0">
            <a:solidFill>
              <a:srgbClr val="C6923B"/>
            </a:solidFill>
          </a:ln>
        </p:spPr>
        <p:txBody>
          <a:bodyPr/>
          <a:lstStyle/>
          <a:p>
            <a:endParaRPr lang="en-TH">
              <a:latin typeface="Aptos" panose="020B0004020202020204" pitchFamily="34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6750" y="1666875"/>
            <a:ext cx="5715000" cy="2857500"/>
          </a:xfrm>
          <a:prstGeom prst="rect">
            <a:avLst/>
          </a:prstGeom>
        </p:spPr>
      </p:pic>
      <p:graphicFrame>
        <p:nvGraphicFramePr>
          <p:cNvPr id="13" name="Table 12"/>
          <p:cNvGraphicFramePr/>
          <p:nvPr>
            <p:extLst>
              <p:ext uri="{D42A27DB-BD31-4B8C-83A1-F6EECF244321}">
                <p14:modId xmlns:p14="http://schemas.microsoft.com/office/powerpoint/2010/main" val="1243150085"/>
              </p:ext>
            </p:extLst>
          </p:nvPr>
        </p:nvGraphicFramePr>
        <p:xfrm>
          <a:off x="6667500" y="1476375"/>
          <a:ext cx="4857751" cy="2000250"/>
        </p:xfrm>
        <a:graphic>
          <a:graphicData uri="http://schemas.openxmlformats.org/drawingml/2006/table">
            <a:tbl>
              <a:tblPr/>
              <a:tblGrid>
                <a:gridCol w="17570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51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51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51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51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โมเดล</a:t>
                      </a:r>
                    </a:p>
                  </a:txBody>
                  <a:tcPr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Sil.</a:t>
                      </a:r>
                    </a:p>
                  </a:txBody>
                  <a:tcPr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DB</a:t>
                      </a:r>
                    </a:p>
                  </a:txBody>
                  <a:tcPr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ARI</a:t>
                      </a:r>
                    </a:p>
                  </a:txBody>
                  <a:tcPr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 dirty="0" err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ผล</a:t>
                      </a:r>
                      <a:endParaRPr sz="900" b="1" dirty="0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>
                    <a:solidFill>
                      <a:srgbClr val="1632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K-Means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0.4276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0.8827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0.9931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38100" marR="38100" marT="28575" marB="2857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MiniBatch K-Means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0.4265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0.9031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0.7243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38100" marR="38100" marT="28575" marB="2857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Gaussian Mixture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0.3460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1.1673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0.9596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38100" marR="38100" marT="28575" marB="2857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BIRCH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N/A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N/A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1.0000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 marL="38100" marR="38100" marT="28575" marB="2857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B140F600-E097-48EF-94BC-96DB106E4163}"/>
              </a:ext>
            </a:extLst>
          </p:cNvPr>
          <p:cNvSpPr>
            <a:spLocks noGrp="1"/>
          </p:cNvSpPr>
          <p:nvPr/>
        </p:nvSpPr>
        <p:spPr>
          <a:xfrm>
            <a:off x="6724650" y="3790950"/>
            <a:ext cx="4238625" cy="1095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F2A35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• Champion: K-Means, K=5</a:t>
            </a:r>
          </a:p>
          <a:p>
            <a:pPr>
              <a:def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F2A35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• Silhouette 0.4276, Davies-Bouldin 0.8827, ARI 0.9931</a:t>
            </a:r>
          </a:p>
          <a:p>
            <a:pPr>
              <a:def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F2A35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• ผลนี้ใช้สำหรับสร้าง Persona และเปรียบเทียบรูปแบบพฤติกรรมของผู้เรียน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6C12A1B-00A0-45E4-A4F5-C256E80FBDE1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49530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288" lnSpcReduction="10000"/>
          </a:bodyPr>
          <a:lstStyle/>
          <a:p>
            <a:pPr>
              <a:def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4748B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MOOC Student Analytics, 2012–2013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3E2D26-B01D-42CD-8CDB-E31B26EC8CB5}"/>
              </a:ext>
            </a:extLst>
          </p:cNvPr>
          <p:cNvSpPr>
            <a:spLocks noGrp="1"/>
          </p:cNvSpPr>
          <p:nvPr/>
        </p:nvSpPr>
        <p:spPr>
          <a:xfrm>
            <a:off x="11182350" y="6477000"/>
            <a:ext cx="4572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111" lnSpcReduction="10000"/>
          </a:bodyPr>
          <a:lstStyle/>
          <a:p>
            <a:pPr algn="r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399058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BD5DA3A-317E-4F1C-B3E1-64A8F9524E87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8572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Persona ผู้เรียน 5 กลุ่ม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6E1E2DC-4AE1-444F-BD8A-630E18E3316B}"/>
              </a:ext>
            </a:extLst>
          </p:cNvPr>
          <p:cNvSpPr>
            <a:spLocks noGrp="1"/>
          </p:cNvSpPr>
          <p:nvPr/>
        </p:nvSpPr>
        <p:spPr>
          <a:xfrm>
            <a:off x="552450" y="8763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สัดส่วนและพฤติกรรมเฉลี่ยของแต่ละกลุ่ม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CAE578E-9DE1-4A38-934C-31988514CF71}"/>
              </a:ext>
            </a:extLst>
          </p:cNvPr>
          <p:cNvSpPr>
            <a:spLocks noGrp="1"/>
          </p:cNvSpPr>
          <p:nvPr/>
        </p:nvSpPr>
        <p:spPr>
          <a:xfrm>
            <a:off x="552450" y="1219200"/>
            <a:ext cx="10477500" cy="28575"/>
          </a:xfrm>
          <a:prstGeom prst="rect">
            <a:avLst/>
          </a:prstGeom>
          <a:solidFill>
            <a:srgbClr val="C6923B"/>
          </a:solidFill>
          <a:ln w="0">
            <a:solidFill>
              <a:srgbClr val="C6923B"/>
            </a:solidFill>
          </a:ln>
        </p:spPr>
        <p:txBody>
          <a:bodyPr/>
          <a:lstStyle/>
          <a:p>
            <a:endParaRPr lang="en-TH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6750" y="1659336"/>
            <a:ext cx="4762500" cy="2872578"/>
          </a:xfrm>
          <a:prstGeom prst="rect">
            <a:avLst/>
          </a:prstGeom>
        </p:spPr>
      </p:pic>
      <p:graphicFrame>
        <p:nvGraphicFramePr>
          <p:cNvPr id="13" name="Table 12"/>
          <p:cNvGraphicFramePr/>
          <p:nvPr/>
        </p:nvGraphicFramePr>
        <p:xfrm>
          <a:off x="5810250" y="1428750"/>
          <a:ext cx="5334000" cy="2381250"/>
        </p:xfrm>
        <a:graphic>
          <a:graphicData uri="http://schemas.openxmlformats.org/drawingml/2006/table">
            <a:tbl>
              <a:tblPr/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9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57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กลุ่ม</a:t>
                      </a:r>
                    </a:p>
                  </a:txBody>
                  <a:tcPr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จำนวน</a:t>
                      </a:r>
                    </a:p>
                  </a:txBody>
                  <a:tcPr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สัดส่วน</a:t>
                      </a:r>
                    </a:p>
                  </a:txBody>
                  <a:tcPr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พฤติกรรมเฉลี่ย</a:t>
                      </a:r>
                    </a:p>
                  </a:txBody>
                  <a:tcPr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ระดับ</a:t>
                      </a:r>
                    </a:p>
                  </a:txBody>
                  <a:tcPr>
                    <a:solidFill>
                      <a:srgbClr val="1632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C0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46,296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13.8%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0.444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Moderate relative behavioural activity</a:t>
                      </a:r>
                    </a:p>
                  </a:txBody>
                  <a:tcPr marL="38100" marR="38100" marT="28575" marB="2857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C1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62,225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18.5%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0.784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Higher relative behavioural activity</a:t>
                      </a:r>
                    </a:p>
                  </a:txBody>
                  <a:tcPr marL="38100" marR="38100" marT="28575" marB="2857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C2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55,365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16.5%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0.453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Moderate relative behavioural activity</a:t>
                      </a:r>
                    </a:p>
                  </a:txBody>
                  <a:tcPr marL="38100" marR="38100" marT="28575" marB="2857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C3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97,719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29.1%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0.277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Lower relative behavioural activity</a:t>
                      </a:r>
                    </a:p>
                  </a:txBody>
                  <a:tcPr marL="38100" marR="38100" marT="28575" marB="2857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C4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74,045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22.1%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0.613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Moderate relative behavioural activity</a:t>
                      </a:r>
                    </a:p>
                  </a:txBody>
                  <a:tcPr marL="38100" marR="38100" marT="28575" marB="2857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22F66D2A-1335-45BB-A0EF-328EFF61B13D}"/>
              </a:ext>
            </a:extLst>
          </p:cNvPr>
          <p:cNvSpPr>
            <a:spLocks noGrp="1"/>
          </p:cNvSpPr>
          <p:nvPr/>
        </p:nvSpPr>
        <p:spPr>
          <a:xfrm>
            <a:off x="5905500" y="4095750"/>
            <a:ext cx="495300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กลุ่มที่ใหญ่ที่สุดคือ Cluster 3 มี 97,719 คน หรือ 29.1% และมีระดับพฤติกรรมเฉลี่ยต่ำกว่าอีกหลายกลุ่ม ขณะที่ Cluster 1 มีพฤติกรรมสูงสุดและคิดเป็น 18.5% ของประชากร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920B3E-F3B9-4B53-AEF6-17CBDC5F2F57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49530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288" lnSpcReduction="10000"/>
          </a:bodyPr>
          <a:lstStyle/>
          <a:p>
            <a:pPr>
              <a:def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MOOC Student Analytics, 2012–2013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69DF8DF-196C-45F5-B88C-3F5920FF974E}"/>
              </a:ext>
            </a:extLst>
          </p:cNvPr>
          <p:cNvSpPr>
            <a:spLocks noGrp="1"/>
          </p:cNvSpPr>
          <p:nvPr/>
        </p:nvSpPr>
        <p:spPr>
          <a:xfrm>
            <a:off x="11182350" y="6477000"/>
            <a:ext cx="4572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111" lnSpcReduction="10000"/>
          </a:bodyPr>
          <a:lstStyle/>
          <a:p>
            <a:pPr algn="r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811751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C9A87A0-313F-459C-9682-07E73F3AEDE9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8572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6324F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โปรไฟล์พฤติกรรมของ Persona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D366AB-FD36-4447-85D1-8CB6AB2727B9}"/>
              </a:ext>
            </a:extLst>
          </p:cNvPr>
          <p:cNvSpPr>
            <a:spLocks noGrp="1"/>
          </p:cNvSpPr>
          <p:nvPr/>
        </p:nvSpPr>
        <p:spPr>
          <a:xfrm>
            <a:off x="552450" y="8763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เรดาร์และ PCA ใช้อธิบายลักษณะเฉพาะของแต่ละกลุ่ม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4945F7C-B65D-4811-B1E6-AE788EB3A2E0}"/>
              </a:ext>
            </a:extLst>
          </p:cNvPr>
          <p:cNvSpPr>
            <a:spLocks noGrp="1"/>
          </p:cNvSpPr>
          <p:nvPr/>
        </p:nvSpPr>
        <p:spPr>
          <a:xfrm>
            <a:off x="552450" y="1219200"/>
            <a:ext cx="10477500" cy="28575"/>
          </a:xfrm>
          <a:prstGeom prst="rect">
            <a:avLst/>
          </a:prstGeom>
          <a:solidFill>
            <a:srgbClr val="C6923B"/>
          </a:solidFill>
          <a:ln w="0">
            <a:solidFill>
              <a:srgbClr val="C6923B"/>
            </a:solidFill>
          </a:ln>
        </p:spPr>
        <p:txBody>
          <a:bodyPr/>
          <a:lstStyle/>
          <a:p>
            <a:endParaRPr lang="en-TH">
              <a:latin typeface="Aptos" panose="020B0004020202020204" pitchFamily="34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91660" y="1428750"/>
            <a:ext cx="3807929" cy="333375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977132" y="1428750"/>
            <a:ext cx="3190737" cy="33337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C19D4E2-6527-4018-B13D-2037554E593C}"/>
              </a:ext>
            </a:extLst>
          </p:cNvPr>
          <p:cNvSpPr>
            <a:spLocks noGrp="1"/>
          </p:cNvSpPr>
          <p:nvPr/>
        </p:nvSpPr>
        <p:spPr>
          <a:xfrm>
            <a:off x="1517030" y="5048250"/>
            <a:ext cx="100012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35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dirty="0" err="1">
                <a:solidFill>
                  <a:srgbClr val="1F2A35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เรดาร์แสดงจุดแข็งของแต่ละ</a:t>
            </a:r>
            <a:r>
              <a:rPr sz="1350" b="0" dirty="0">
                <a:solidFill>
                  <a:srgbClr val="1F2A35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 Persona </a:t>
            </a:r>
            <a:r>
              <a:rPr sz="1350" b="0" dirty="0" err="1">
                <a:solidFill>
                  <a:srgbClr val="1F2A35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เช่น</a:t>
            </a:r>
            <a:r>
              <a:rPr sz="1350" b="0" dirty="0">
                <a:solidFill>
                  <a:srgbClr val="1F2A35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 event, active days, chapters </a:t>
            </a:r>
            <a:r>
              <a:rPr sz="1350" b="0" dirty="0" err="1">
                <a:solidFill>
                  <a:srgbClr val="1F2A35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และ</a:t>
            </a:r>
            <a:r>
              <a:rPr sz="1350" b="0" dirty="0">
                <a:solidFill>
                  <a:srgbClr val="1F2A35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 forum posts </a:t>
            </a:r>
            <a:r>
              <a:rPr sz="1350" b="0" dirty="0" err="1">
                <a:solidFill>
                  <a:srgbClr val="1F2A35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ส่วน</a:t>
            </a:r>
            <a:r>
              <a:rPr sz="1350" b="0" dirty="0">
                <a:solidFill>
                  <a:srgbClr val="1F2A35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 PCA </a:t>
            </a:r>
            <a:r>
              <a:rPr sz="1350" b="0" dirty="0" err="1">
                <a:solidFill>
                  <a:srgbClr val="1F2A35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แสดงการแยกตัวของกลุ่มในพื้นที่พฤติกรรมหลายมิติ</a:t>
            </a:r>
            <a:endParaRPr sz="1350" b="0" dirty="0">
              <a:solidFill>
                <a:srgbClr val="1F2A35"/>
              </a:solidFill>
              <a:latin typeface="Aptos" panose="020B0004020202020204" pitchFamily="34" charset="0"/>
              <a:ea typeface="Helvetica Neue"/>
              <a:cs typeface="Helvetica Neue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CB537F-53F4-4B7C-9A01-B11A61D144C6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49530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288" lnSpcReduction="10000"/>
          </a:bodyPr>
          <a:lstStyle/>
          <a:p>
            <a:pPr>
              <a:def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4748B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MOOC Student Analytics, 2012–2013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367074-5C92-47C7-9491-A84FA7CAFAD1}"/>
              </a:ext>
            </a:extLst>
          </p:cNvPr>
          <p:cNvSpPr>
            <a:spLocks noGrp="1"/>
          </p:cNvSpPr>
          <p:nvPr/>
        </p:nvSpPr>
        <p:spPr>
          <a:xfrm>
            <a:off x="11182350" y="6477000"/>
            <a:ext cx="4572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111" lnSpcReduction="10000"/>
          </a:bodyPr>
          <a:lstStyle/>
          <a:p>
            <a:pPr algn="r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860169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111F6176-81D6-4A95-BE8E-145F22A96552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8572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dirty="0">
                <a:solidFill>
                  <a:srgbClr val="16324F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Supervised Learning Classification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9A05BBF-4FFE-4341-807F-A991CE2A1EC3}"/>
              </a:ext>
            </a:extLst>
          </p:cNvPr>
          <p:cNvSpPr>
            <a:spLocks noGrp="1"/>
          </p:cNvSpPr>
          <p:nvPr/>
        </p:nvSpPr>
        <p:spPr>
          <a:xfrm>
            <a:off x="552450" y="8763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ทำนายการได้รับใบรับรองจากฟีเจอร์ที่ผ่านการควบคุม target leakage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A1B76A4-E8BB-425E-8EB0-E9CFF58F07C3}"/>
              </a:ext>
            </a:extLst>
          </p:cNvPr>
          <p:cNvSpPr>
            <a:spLocks noGrp="1"/>
          </p:cNvSpPr>
          <p:nvPr/>
        </p:nvSpPr>
        <p:spPr>
          <a:xfrm>
            <a:off x="552450" y="1219200"/>
            <a:ext cx="10477500" cy="28575"/>
          </a:xfrm>
          <a:prstGeom prst="rect">
            <a:avLst/>
          </a:prstGeom>
          <a:solidFill>
            <a:srgbClr val="C6923B"/>
          </a:solidFill>
          <a:ln w="0">
            <a:solidFill>
              <a:srgbClr val="C6923B"/>
            </a:solidFill>
          </a:ln>
        </p:spPr>
        <p:txBody>
          <a:bodyPr/>
          <a:lstStyle/>
          <a:p>
            <a:endParaRPr lang="en-TH">
              <a:latin typeface="Aptos" panose="020B0004020202020204" pitchFamily="34" charset="0"/>
            </a:endParaRP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19125" y="1613600"/>
            <a:ext cx="6191250" cy="2964050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8F42B0C-6F10-47F8-BBE5-C0383F6C68E9}"/>
              </a:ext>
            </a:extLst>
          </p:cNvPr>
          <p:cNvSpPr>
            <a:spLocks noGrp="1"/>
          </p:cNvSpPr>
          <p:nvPr/>
        </p:nvSpPr>
        <p:spPr>
          <a:xfrm>
            <a:off x="7239000" y="1476375"/>
            <a:ext cx="2476500" cy="781050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9525">
            <a:solidFill>
              <a:srgbClr val="D7C9AD"/>
            </a:solidFill>
            <a:prstDash val="solid"/>
          </a:ln>
        </p:spPr>
        <p:txBody>
          <a:bodyPr/>
          <a:lstStyle/>
          <a:p>
            <a:endParaRPr lang="en-TH">
              <a:latin typeface="Aptos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2E22403-D7AF-4DF1-AE04-15A27C2B2EFF}"/>
              </a:ext>
            </a:extLst>
          </p:cNvPr>
          <p:cNvSpPr>
            <a:spLocks noGrp="1"/>
          </p:cNvSpPr>
          <p:nvPr/>
        </p:nvSpPr>
        <p:spPr>
          <a:xfrm>
            <a:off x="7391400" y="1647825"/>
            <a:ext cx="21717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705" lnSpcReduction="20000"/>
          </a:bodyPr>
          <a:lstStyle/>
          <a:p>
            <a:pPr>
              <a:def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E7D7D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Random Forest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1721A7E-6A98-47E3-9096-29BBBC1983E7}"/>
              </a:ext>
            </a:extLst>
          </p:cNvPr>
          <p:cNvSpPr>
            <a:spLocks noGrp="1"/>
          </p:cNvSpPr>
          <p:nvPr/>
        </p:nvSpPr>
        <p:spPr>
          <a:xfrm>
            <a:off x="7391400" y="1990725"/>
            <a:ext cx="21717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4748B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Champion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FFFC722-09B0-4EAA-BF57-4370481FF1E3}"/>
              </a:ext>
            </a:extLst>
          </p:cNvPr>
          <p:cNvSpPr>
            <a:spLocks noGrp="1"/>
          </p:cNvSpPr>
          <p:nvPr/>
        </p:nvSpPr>
        <p:spPr>
          <a:xfrm>
            <a:off x="9906000" y="1476375"/>
            <a:ext cx="1333500" cy="781050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9525">
            <a:solidFill>
              <a:srgbClr val="D7C9AD"/>
            </a:solidFill>
            <a:prstDash val="solid"/>
          </a:ln>
        </p:spPr>
        <p:txBody>
          <a:bodyPr/>
          <a:lstStyle/>
          <a:p>
            <a:endParaRPr lang="en-TH">
              <a:latin typeface="Aptos" panose="020B00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EDFC242-C41F-455B-9AEC-F478C6E78DF8}"/>
              </a:ext>
            </a:extLst>
          </p:cNvPr>
          <p:cNvSpPr>
            <a:spLocks noGrp="1"/>
          </p:cNvSpPr>
          <p:nvPr/>
        </p:nvSpPr>
        <p:spPr>
          <a:xfrm>
            <a:off x="10058400" y="1647825"/>
            <a:ext cx="10287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705" lnSpcReduction="20000"/>
          </a:bodyPr>
          <a:lstStyle/>
          <a:p>
            <a:pPr>
              <a:def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E7D7D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0.861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AC63A20-6282-4126-AA3B-36F4FAC8994B}"/>
              </a:ext>
            </a:extLst>
          </p:cNvPr>
          <p:cNvSpPr>
            <a:spLocks noGrp="1"/>
          </p:cNvSpPr>
          <p:nvPr/>
        </p:nvSpPr>
        <p:spPr>
          <a:xfrm>
            <a:off x="10058400" y="1990725"/>
            <a:ext cx="10287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4748B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PR-AUC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C1C694F-1232-4708-87F6-9C00BCB8DEB8}"/>
              </a:ext>
            </a:extLst>
          </p:cNvPr>
          <p:cNvSpPr>
            <a:spLocks noGrp="1"/>
          </p:cNvSpPr>
          <p:nvPr/>
        </p:nvSpPr>
        <p:spPr>
          <a:xfrm>
            <a:off x="7239000" y="2400300"/>
            <a:ext cx="1333500" cy="781050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9525">
            <a:solidFill>
              <a:srgbClr val="D7C9AD"/>
            </a:solidFill>
            <a:prstDash val="solid"/>
          </a:ln>
        </p:spPr>
        <p:txBody>
          <a:bodyPr/>
          <a:lstStyle/>
          <a:p>
            <a:endParaRPr lang="en-TH">
              <a:latin typeface="Aptos" panose="020B00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337F21C-F01E-4BBF-8093-7397DC7231D1}"/>
              </a:ext>
            </a:extLst>
          </p:cNvPr>
          <p:cNvSpPr>
            <a:spLocks noGrp="1"/>
          </p:cNvSpPr>
          <p:nvPr/>
        </p:nvSpPr>
        <p:spPr>
          <a:xfrm>
            <a:off x="7391400" y="2571750"/>
            <a:ext cx="10287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705" lnSpcReduction="20000"/>
          </a:bodyPr>
          <a:lstStyle/>
          <a:p>
            <a:pPr>
              <a:def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E7D7D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0.862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F5376E9-9888-43A9-94E0-D58522306C87}"/>
              </a:ext>
            </a:extLst>
          </p:cNvPr>
          <p:cNvSpPr>
            <a:spLocks noGrp="1"/>
          </p:cNvSpPr>
          <p:nvPr/>
        </p:nvSpPr>
        <p:spPr>
          <a:xfrm>
            <a:off x="7391400" y="2914650"/>
            <a:ext cx="10287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4748B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Recall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630093D-3A32-4E56-A1D9-C1C05564CA16}"/>
              </a:ext>
            </a:extLst>
          </p:cNvPr>
          <p:cNvSpPr>
            <a:spLocks noGrp="1"/>
          </p:cNvSpPr>
          <p:nvPr/>
        </p:nvSpPr>
        <p:spPr>
          <a:xfrm>
            <a:off x="8763000" y="2400300"/>
            <a:ext cx="1333500" cy="781050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9525">
            <a:solidFill>
              <a:srgbClr val="D7C9AD"/>
            </a:solidFill>
            <a:prstDash val="solid"/>
          </a:ln>
        </p:spPr>
        <p:txBody>
          <a:bodyPr/>
          <a:lstStyle/>
          <a:p>
            <a:endParaRPr lang="en-TH">
              <a:latin typeface="Aptos" panose="020B00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F30518D-B837-468E-9E6C-E0D05ABF8436}"/>
              </a:ext>
            </a:extLst>
          </p:cNvPr>
          <p:cNvSpPr>
            <a:spLocks noGrp="1"/>
          </p:cNvSpPr>
          <p:nvPr/>
        </p:nvSpPr>
        <p:spPr>
          <a:xfrm>
            <a:off x="8915400" y="2571750"/>
            <a:ext cx="10287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705" lnSpcReduction="20000"/>
          </a:bodyPr>
          <a:lstStyle/>
          <a:p>
            <a:pPr>
              <a:def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E7D7D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0.801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C507D54-45B4-470D-82CB-9E2B11CA25A2}"/>
              </a:ext>
            </a:extLst>
          </p:cNvPr>
          <p:cNvSpPr>
            <a:spLocks noGrp="1"/>
          </p:cNvSpPr>
          <p:nvPr/>
        </p:nvSpPr>
        <p:spPr>
          <a:xfrm>
            <a:off x="8915400" y="2914650"/>
            <a:ext cx="10287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4748B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F1-score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7884B1EA-F21D-4982-AFF9-62F7AF01080E}"/>
              </a:ext>
            </a:extLst>
          </p:cNvPr>
          <p:cNvSpPr>
            <a:spLocks noGrp="1"/>
          </p:cNvSpPr>
          <p:nvPr/>
        </p:nvSpPr>
        <p:spPr>
          <a:xfrm>
            <a:off x="10287000" y="2400300"/>
            <a:ext cx="952500" cy="781050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9525">
            <a:solidFill>
              <a:srgbClr val="D7C9AD"/>
            </a:solidFill>
            <a:prstDash val="solid"/>
          </a:ln>
        </p:spPr>
        <p:txBody>
          <a:bodyPr/>
          <a:lstStyle/>
          <a:p>
            <a:endParaRPr lang="en-TH">
              <a:latin typeface="Aptos" panose="020B00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B5493B-1D35-4EF5-A24A-7C3D8F635DC8}"/>
              </a:ext>
            </a:extLst>
          </p:cNvPr>
          <p:cNvSpPr>
            <a:spLocks noGrp="1"/>
          </p:cNvSpPr>
          <p:nvPr/>
        </p:nvSpPr>
        <p:spPr>
          <a:xfrm>
            <a:off x="10439400" y="2571750"/>
            <a:ext cx="6477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4917" lnSpcReduction="20000"/>
          </a:bodyPr>
          <a:lstStyle/>
          <a:p>
            <a:pPr>
              <a:def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E7D7D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0.986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B4C14DF-C1F6-4314-9F76-1D17AB322856}"/>
              </a:ext>
            </a:extLst>
          </p:cNvPr>
          <p:cNvSpPr>
            <a:spLocks noGrp="1"/>
          </p:cNvSpPr>
          <p:nvPr/>
        </p:nvSpPr>
        <p:spPr>
          <a:xfrm>
            <a:off x="10439400" y="2914650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6927"/>
          </a:bodyPr>
          <a:lstStyle/>
          <a:p>
            <a:pPr>
              <a:def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4748B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Accuracy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57A2035-6F41-4F65-9CE8-34605C9DE143}"/>
              </a:ext>
            </a:extLst>
          </p:cNvPr>
          <p:cNvSpPr>
            <a:spLocks noGrp="1"/>
          </p:cNvSpPr>
          <p:nvPr/>
        </p:nvSpPr>
        <p:spPr>
          <a:xfrm>
            <a:off x="7239000" y="3619500"/>
            <a:ext cx="371475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F2A35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Random Forest ให้สมดุลระหว่าง PR-AUC, recall และ F1 ดีกว่า baseline อย่างชัดเจน เหมาะกับปัญหาที่ class positive มีสัดส่วนน้อย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5769530-90E8-406C-B46F-D018EC23B0CC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49530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288" lnSpcReduction="10000"/>
          </a:bodyPr>
          <a:lstStyle/>
          <a:p>
            <a:pPr>
              <a:def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4748B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MOOC Student Analytics, 2012–2013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564A90C-AA48-4E10-AD76-FAA83F69097D}"/>
              </a:ext>
            </a:extLst>
          </p:cNvPr>
          <p:cNvSpPr>
            <a:spLocks noGrp="1"/>
          </p:cNvSpPr>
          <p:nvPr/>
        </p:nvSpPr>
        <p:spPr>
          <a:xfrm>
            <a:off x="11182350" y="6477000"/>
            <a:ext cx="4572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111" lnSpcReduction="10000"/>
          </a:bodyPr>
          <a:lstStyle/>
          <a:p>
            <a:pPr algn="r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794977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6CE0507-8C3F-4D86-9CE8-7CDA72A19586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8572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6324F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Supervised: Confusion Matrix และ Error Analysis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0C50487-C1C2-437F-A70B-1BD86E720DFF}"/>
              </a:ext>
            </a:extLst>
          </p:cNvPr>
          <p:cNvSpPr>
            <a:spLocks noGrp="1"/>
          </p:cNvSpPr>
          <p:nvPr/>
        </p:nvSpPr>
        <p:spPr>
          <a:xfrm>
            <a:off x="552450" y="8763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ตรวจ false positive และ false negative เพื่อประเมินผลลัพธ์บน test set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8D1804-1CE8-4AFC-A205-70ADF9328883}"/>
              </a:ext>
            </a:extLst>
          </p:cNvPr>
          <p:cNvSpPr>
            <a:spLocks noGrp="1"/>
          </p:cNvSpPr>
          <p:nvPr/>
        </p:nvSpPr>
        <p:spPr>
          <a:xfrm>
            <a:off x="552450" y="1219200"/>
            <a:ext cx="10477500" cy="28575"/>
          </a:xfrm>
          <a:prstGeom prst="rect">
            <a:avLst/>
          </a:prstGeom>
          <a:solidFill>
            <a:srgbClr val="C6923B"/>
          </a:solidFill>
          <a:ln w="0">
            <a:solidFill>
              <a:srgbClr val="C6923B"/>
            </a:solidFill>
          </a:ln>
        </p:spPr>
        <p:txBody>
          <a:bodyPr/>
          <a:lstStyle/>
          <a:p>
            <a:endParaRPr lang="en-TH">
              <a:latin typeface="Aptos" panose="020B0004020202020204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636902" y="1381125"/>
            <a:ext cx="6060946" cy="385762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AFDF8F9-1E98-4A45-804B-DDC974D3128D}"/>
              </a:ext>
            </a:extLst>
          </p:cNvPr>
          <p:cNvSpPr>
            <a:spLocks noGrp="1"/>
          </p:cNvSpPr>
          <p:nvPr/>
        </p:nvSpPr>
        <p:spPr>
          <a:xfrm>
            <a:off x="857250" y="5381625"/>
            <a:ext cx="9715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F2A35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Confusion matrix ใช้ตรวจว่าโมเดลพลาดในรูปแบบใด โดยเฉพาะ false negative ของผู้เรียนที่ควรได้รับใบรับรองแต่โมเดลทำนายว่าไม่ผ่าน ซึ่งมีผลต่อการวางแผนช่วยเหลือผู้เรียน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8DCA17-67AD-4A21-A492-71435B99A52D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49530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288" lnSpcReduction="10000"/>
          </a:bodyPr>
          <a:lstStyle/>
          <a:p>
            <a:pPr>
              <a:def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4748B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MOOC Student Analytics, 2012–2013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37A5D29-FC93-4EE8-BD52-DC8AF93ADD4D}"/>
              </a:ext>
            </a:extLst>
          </p:cNvPr>
          <p:cNvSpPr>
            <a:spLocks noGrp="1"/>
          </p:cNvSpPr>
          <p:nvPr/>
        </p:nvSpPr>
        <p:spPr>
          <a:xfrm>
            <a:off x="11182350" y="6477000"/>
            <a:ext cx="4572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111" lnSpcReduction="10000"/>
          </a:bodyPr>
          <a:lstStyle/>
          <a:p>
            <a:pPr algn="r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118970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4428A0B-3768-4462-BBF4-7C1BDEA52116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8572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6324F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Deep Learning Classification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F837-DBD4-48B1-93CE-36015A1ADAA0}"/>
              </a:ext>
            </a:extLst>
          </p:cNvPr>
          <p:cNvSpPr>
            <a:spLocks noGrp="1"/>
          </p:cNvSpPr>
          <p:nvPr/>
        </p:nvSpPr>
        <p:spPr>
          <a:xfrm>
            <a:off x="552450" y="8763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ใช้ MLP หลายสถาปัตยกรรมเพื่อทำนาย certification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CBB5BE7-8E42-4036-B096-F55A15390CDC}"/>
              </a:ext>
            </a:extLst>
          </p:cNvPr>
          <p:cNvSpPr>
            <a:spLocks noGrp="1"/>
          </p:cNvSpPr>
          <p:nvPr/>
        </p:nvSpPr>
        <p:spPr>
          <a:xfrm>
            <a:off x="552450" y="1219200"/>
            <a:ext cx="10477500" cy="28575"/>
          </a:xfrm>
          <a:prstGeom prst="rect">
            <a:avLst/>
          </a:prstGeom>
          <a:solidFill>
            <a:srgbClr val="C6923B"/>
          </a:solidFill>
          <a:ln w="0">
            <a:solidFill>
              <a:srgbClr val="C6923B"/>
            </a:solidFill>
          </a:ln>
        </p:spPr>
        <p:txBody>
          <a:bodyPr/>
          <a:lstStyle/>
          <a:p>
            <a:endParaRPr lang="en-TH">
              <a:latin typeface="Aptos" panose="020B0004020202020204" pitchFamily="34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71500" y="2011195"/>
            <a:ext cx="5810250" cy="216886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193614" y="1428750"/>
            <a:ext cx="3519771" cy="33337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5688F14-C53D-4A09-9296-CC317685071B}"/>
              </a:ext>
            </a:extLst>
          </p:cNvPr>
          <p:cNvSpPr>
            <a:spLocks noGrp="1"/>
          </p:cNvSpPr>
          <p:nvPr/>
        </p:nvSpPr>
        <p:spPr>
          <a:xfrm>
            <a:off x="781050" y="5095875"/>
            <a:ext cx="10682404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dirty="0" err="1">
                <a:solidFill>
                  <a:srgbClr val="1F2A35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โมเดลที่เลือกคือ</a:t>
            </a:r>
            <a:r>
              <a:rPr sz="1275" b="0" dirty="0">
                <a:solidFill>
                  <a:srgbClr val="1F2A35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 MLP Neural Network (128, 64). </a:t>
            </a:r>
            <a:r>
              <a:rPr sz="1275" b="0" dirty="0" err="1">
                <a:solidFill>
                  <a:srgbClr val="1F2A35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ผลทดสอบได้</a:t>
            </a:r>
            <a:r>
              <a:rPr sz="1275" b="0" dirty="0">
                <a:solidFill>
                  <a:srgbClr val="1F2A35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 PR-AUC 0.839, Recall 0.842 </a:t>
            </a:r>
            <a:r>
              <a:rPr sz="1275" b="0" dirty="0" err="1">
                <a:solidFill>
                  <a:srgbClr val="1F2A35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และ</a:t>
            </a:r>
            <a:r>
              <a:rPr sz="1275" b="0" dirty="0">
                <a:solidFill>
                  <a:srgbClr val="1F2A35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 F1 0.792 </a:t>
            </a:r>
            <a:r>
              <a:rPr sz="1275" b="0" dirty="0" err="1">
                <a:solidFill>
                  <a:srgbClr val="1F2A35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จึงใช้เป็น</a:t>
            </a:r>
            <a:r>
              <a:rPr sz="1275" b="0" dirty="0">
                <a:solidFill>
                  <a:srgbClr val="1F2A35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 deep learning challenger </a:t>
            </a:r>
            <a:r>
              <a:rPr sz="1275" b="0" dirty="0" err="1">
                <a:solidFill>
                  <a:srgbClr val="1F2A35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เทียบกับ</a:t>
            </a:r>
            <a:r>
              <a:rPr sz="1275" b="0" dirty="0">
                <a:solidFill>
                  <a:srgbClr val="1F2A35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 supervised champion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555934-6358-4F40-86B0-7FE78B70CBF2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49530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288" lnSpcReduction="10000"/>
          </a:bodyPr>
          <a:lstStyle/>
          <a:p>
            <a:pPr>
              <a:def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4748B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MOOC Student Analytics, 2012–2013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B3AE00D-F2FE-4142-95D9-27A9C0C949DA}"/>
              </a:ext>
            </a:extLst>
          </p:cNvPr>
          <p:cNvSpPr>
            <a:spLocks noGrp="1"/>
          </p:cNvSpPr>
          <p:nvPr/>
        </p:nvSpPr>
        <p:spPr>
          <a:xfrm>
            <a:off x="11182350" y="6477000"/>
            <a:ext cx="4572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111" lnSpcReduction="10000"/>
          </a:bodyPr>
          <a:lstStyle/>
          <a:p>
            <a:pPr algn="r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8132616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74D7B07B-F509-43A9-A173-D78873F3D900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8572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6324F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LLM / Transformer Text Classification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BD45038-1D07-4623-BB19-F3008FB81892}"/>
              </a:ext>
            </a:extLst>
          </p:cNvPr>
          <p:cNvSpPr>
            <a:spLocks noGrp="1"/>
          </p:cNvSpPr>
          <p:nvPr/>
        </p:nvSpPr>
        <p:spPr>
          <a:xfrm>
            <a:off x="552450" y="8763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แปลงหนึ่งแถวนักศึกษาเป็นข้อความเชิงพฤติกรรมก่อนเข้าโมเดล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F5E510-847E-4EFA-ACD2-87F6E2FC61E0}"/>
              </a:ext>
            </a:extLst>
          </p:cNvPr>
          <p:cNvSpPr>
            <a:spLocks noGrp="1"/>
          </p:cNvSpPr>
          <p:nvPr/>
        </p:nvSpPr>
        <p:spPr>
          <a:xfrm>
            <a:off x="552450" y="1219200"/>
            <a:ext cx="10477500" cy="28575"/>
          </a:xfrm>
          <a:prstGeom prst="rect">
            <a:avLst/>
          </a:prstGeom>
          <a:solidFill>
            <a:srgbClr val="C6923B"/>
          </a:solidFill>
          <a:ln w="0">
            <a:solidFill>
              <a:srgbClr val="C6923B"/>
            </a:solidFill>
          </a:ln>
        </p:spPr>
        <p:txBody>
          <a:bodyPr/>
          <a:lstStyle/>
          <a:p>
            <a:endParaRPr lang="en-TH">
              <a:latin typeface="Aptos" panose="020B0004020202020204" pitchFamily="34" charset="0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E029C51-4561-45A0-A39B-80FF1EE43832}"/>
              </a:ext>
            </a:extLst>
          </p:cNvPr>
          <p:cNvSpPr>
            <a:spLocks noGrp="1"/>
          </p:cNvSpPr>
          <p:nvPr/>
        </p:nvSpPr>
        <p:spPr>
          <a:xfrm>
            <a:off x="666750" y="1476375"/>
            <a:ext cx="10191750" cy="118110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D7C9AD"/>
            </a:solidFill>
            <a:prstDash val="solid"/>
          </a:ln>
        </p:spPr>
        <p:txBody>
          <a:bodyPr/>
          <a:lstStyle/>
          <a:p>
            <a:endParaRPr lang="en-TH">
              <a:latin typeface="Aptos" panose="020B00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C0208C-53B8-46DF-A185-E7B33218A6C0}"/>
              </a:ext>
            </a:extLst>
          </p:cNvPr>
          <p:cNvSpPr>
            <a:spLocks noGrp="1"/>
          </p:cNvSpPr>
          <p:nvPr/>
        </p:nvSpPr>
        <p:spPr>
          <a:xfrm>
            <a:off x="876300" y="1676400"/>
            <a:ext cx="14287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9621" lnSpcReduction="20000"/>
          </a:bodyPr>
          <a:lstStyle/>
          <a:p>
            <a:pPr>
              <a:defRPr sz="16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6324F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กระบวนการ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F08318-D6FC-41BF-A9CA-8C52AEAFE27C}"/>
              </a:ext>
            </a:extLst>
          </p:cNvPr>
          <p:cNvSpPr>
            <a:spLocks noGrp="1"/>
          </p:cNvSpPr>
          <p:nvPr/>
        </p:nvSpPr>
        <p:spPr>
          <a:xfrm>
            <a:off x="876300" y="2019300"/>
            <a:ext cx="9620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9444" lnSpcReduction="10000"/>
          </a:bodyPr>
          <a:lstStyle/>
          <a:p>
            <a:pPr>
              <a:defRPr sz="135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F2A35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1. สรุปพฤติกรรมจากข้อมูลรายแถว  2. แปลงเป็นประโยคเชิงพฤติกรรม  3. สร้าง Transformer embedding  4. เทรน Logistic Regression หรือ classifier  5. วัดผลด้วย PR-AUC, ROC-AUC, Recall และ F1</a:t>
            </a: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404016" y="3048000"/>
            <a:ext cx="4811969" cy="2381250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739FDB0-FB87-4191-82FA-B7D00421551D}"/>
              </a:ext>
            </a:extLst>
          </p:cNvPr>
          <p:cNvSpPr>
            <a:spLocks noGrp="1"/>
          </p:cNvSpPr>
          <p:nvPr/>
        </p:nvSpPr>
        <p:spPr>
          <a:xfrm>
            <a:off x="7334250" y="3048000"/>
            <a:ext cx="2381250" cy="781050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9525">
            <a:solidFill>
              <a:srgbClr val="D7C9AD"/>
            </a:solidFill>
            <a:prstDash val="solid"/>
          </a:ln>
        </p:spPr>
        <p:txBody>
          <a:bodyPr/>
          <a:lstStyle/>
          <a:p>
            <a:endParaRPr lang="en-TH">
              <a:latin typeface="Aptos" panose="020B00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405FD57-4C83-46EF-A7A4-727BE4B463DF}"/>
              </a:ext>
            </a:extLst>
          </p:cNvPr>
          <p:cNvSpPr>
            <a:spLocks noGrp="1"/>
          </p:cNvSpPr>
          <p:nvPr/>
        </p:nvSpPr>
        <p:spPr>
          <a:xfrm>
            <a:off x="7486650" y="3219450"/>
            <a:ext cx="20764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705" lnSpcReduction="20000"/>
          </a:bodyPr>
          <a:lstStyle/>
          <a:p>
            <a:pPr>
              <a:def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E7D7D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DistilBERT + LR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5D18215-7C2E-4281-8E78-65A31C1474A0}"/>
              </a:ext>
            </a:extLst>
          </p:cNvPr>
          <p:cNvSpPr>
            <a:spLocks noGrp="1"/>
          </p:cNvSpPr>
          <p:nvPr/>
        </p:nvSpPr>
        <p:spPr>
          <a:xfrm>
            <a:off x="7486650" y="3562350"/>
            <a:ext cx="20764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4748B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Champion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B9358FB-000E-48AB-A359-AC75C45236A5}"/>
              </a:ext>
            </a:extLst>
          </p:cNvPr>
          <p:cNvSpPr>
            <a:spLocks noGrp="1"/>
          </p:cNvSpPr>
          <p:nvPr/>
        </p:nvSpPr>
        <p:spPr>
          <a:xfrm>
            <a:off x="9906000" y="3048000"/>
            <a:ext cx="1238250" cy="781050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9525">
            <a:solidFill>
              <a:srgbClr val="D7C9AD"/>
            </a:solidFill>
            <a:prstDash val="solid"/>
          </a:ln>
        </p:spPr>
        <p:txBody>
          <a:bodyPr/>
          <a:lstStyle/>
          <a:p>
            <a:endParaRPr lang="en-TH">
              <a:latin typeface="Aptos" panose="020B00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BDF3289-5ED2-4674-88BC-C19E7342866E}"/>
              </a:ext>
            </a:extLst>
          </p:cNvPr>
          <p:cNvSpPr>
            <a:spLocks noGrp="1"/>
          </p:cNvSpPr>
          <p:nvPr/>
        </p:nvSpPr>
        <p:spPr>
          <a:xfrm>
            <a:off x="10058400" y="3219450"/>
            <a:ext cx="9334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705" lnSpcReduction="20000"/>
          </a:bodyPr>
          <a:lstStyle/>
          <a:p>
            <a:pPr>
              <a:def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E7D7D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0.725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D62672C-149A-42C9-9F0D-9BEB9B1AE4E1}"/>
              </a:ext>
            </a:extLst>
          </p:cNvPr>
          <p:cNvSpPr>
            <a:spLocks noGrp="1"/>
          </p:cNvSpPr>
          <p:nvPr/>
        </p:nvSpPr>
        <p:spPr>
          <a:xfrm>
            <a:off x="10058400" y="3562350"/>
            <a:ext cx="9334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4748B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PR-AUC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D2B471F-7714-4F64-9327-7DDE44CE9FDC}"/>
              </a:ext>
            </a:extLst>
          </p:cNvPr>
          <p:cNvSpPr>
            <a:spLocks noGrp="1"/>
          </p:cNvSpPr>
          <p:nvPr/>
        </p:nvSpPr>
        <p:spPr>
          <a:xfrm>
            <a:off x="7334250" y="4000500"/>
            <a:ext cx="1238250" cy="781050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9525">
            <a:solidFill>
              <a:srgbClr val="D7C9AD"/>
            </a:solidFill>
            <a:prstDash val="solid"/>
          </a:ln>
        </p:spPr>
        <p:txBody>
          <a:bodyPr/>
          <a:lstStyle/>
          <a:p>
            <a:endParaRPr lang="en-TH">
              <a:latin typeface="Aptos" panose="020B00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0FDCFFA-7337-45EA-9143-25AAEC794AC7}"/>
              </a:ext>
            </a:extLst>
          </p:cNvPr>
          <p:cNvSpPr>
            <a:spLocks noGrp="1"/>
          </p:cNvSpPr>
          <p:nvPr/>
        </p:nvSpPr>
        <p:spPr>
          <a:xfrm>
            <a:off x="7486650" y="4171950"/>
            <a:ext cx="9334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705" lnSpcReduction="20000"/>
          </a:bodyPr>
          <a:lstStyle/>
          <a:p>
            <a:pPr>
              <a:def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E7D7D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0.793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9B73111-3DF2-49CC-945A-0C7F123F2FD5}"/>
              </a:ext>
            </a:extLst>
          </p:cNvPr>
          <p:cNvSpPr>
            <a:spLocks noGrp="1"/>
          </p:cNvSpPr>
          <p:nvPr/>
        </p:nvSpPr>
        <p:spPr>
          <a:xfrm>
            <a:off x="7486650" y="4514850"/>
            <a:ext cx="9334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4748B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Recall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AD8C8545-A13A-470F-843E-076467A2569D}"/>
              </a:ext>
            </a:extLst>
          </p:cNvPr>
          <p:cNvSpPr>
            <a:spLocks noGrp="1"/>
          </p:cNvSpPr>
          <p:nvPr/>
        </p:nvSpPr>
        <p:spPr>
          <a:xfrm>
            <a:off x="8763000" y="4000500"/>
            <a:ext cx="1238250" cy="781050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9525">
            <a:solidFill>
              <a:srgbClr val="D7C9AD"/>
            </a:solidFill>
            <a:prstDash val="solid"/>
          </a:ln>
        </p:spPr>
        <p:txBody>
          <a:bodyPr/>
          <a:lstStyle/>
          <a:p>
            <a:endParaRPr lang="en-TH">
              <a:latin typeface="Aptos" panose="020B00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B9992F9-0E54-4EA9-A092-5AC8A06F4E50}"/>
              </a:ext>
            </a:extLst>
          </p:cNvPr>
          <p:cNvSpPr>
            <a:spLocks noGrp="1"/>
          </p:cNvSpPr>
          <p:nvPr/>
        </p:nvSpPr>
        <p:spPr>
          <a:xfrm>
            <a:off x="8915400" y="4171950"/>
            <a:ext cx="9334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705" lnSpcReduction="20000"/>
          </a:bodyPr>
          <a:lstStyle/>
          <a:p>
            <a:pPr>
              <a:def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E7D7D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0.697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ECE87DA-6561-4956-A01B-CD0347CAE3BD}"/>
              </a:ext>
            </a:extLst>
          </p:cNvPr>
          <p:cNvSpPr>
            <a:spLocks noGrp="1"/>
          </p:cNvSpPr>
          <p:nvPr/>
        </p:nvSpPr>
        <p:spPr>
          <a:xfrm>
            <a:off x="8915400" y="4514850"/>
            <a:ext cx="9334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4748B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F1-score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AA47BFA-B146-4451-8E82-F178D2932ACE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49530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288" lnSpcReduction="10000"/>
          </a:bodyPr>
          <a:lstStyle/>
          <a:p>
            <a:pPr>
              <a:def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4748B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MOOC Student Analytics, 2012–2013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B2A92AB-831C-4276-946E-9FEECF986F64}"/>
              </a:ext>
            </a:extLst>
          </p:cNvPr>
          <p:cNvSpPr>
            <a:spLocks noGrp="1"/>
          </p:cNvSpPr>
          <p:nvPr/>
        </p:nvSpPr>
        <p:spPr>
          <a:xfrm>
            <a:off x="11182350" y="6477000"/>
            <a:ext cx="4572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111" lnSpcReduction="10000"/>
          </a:bodyPr>
          <a:lstStyle/>
          <a:p>
            <a:pPr algn="r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6355408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3EACB7E-FAFF-4FFD-A601-77588786E1B5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8572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6324F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LLM / Transformer: ผลลัพธ์และหลักฐาน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14FD483-EB29-4F4F-A3B6-B0C17B648ECB}"/>
              </a:ext>
            </a:extLst>
          </p:cNvPr>
          <p:cNvSpPr>
            <a:spLocks noGrp="1"/>
          </p:cNvSpPr>
          <p:nvPr/>
        </p:nvSpPr>
        <p:spPr>
          <a:xfrm>
            <a:off x="552450" y="8763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เปรียบเทียบ representation แบบ lexical baseline และ transformer embedding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FB66FF-007D-446C-AF77-8D14A17C0DF2}"/>
              </a:ext>
            </a:extLst>
          </p:cNvPr>
          <p:cNvSpPr>
            <a:spLocks noGrp="1"/>
          </p:cNvSpPr>
          <p:nvPr/>
        </p:nvSpPr>
        <p:spPr>
          <a:xfrm>
            <a:off x="552450" y="1219200"/>
            <a:ext cx="10477500" cy="28575"/>
          </a:xfrm>
          <a:prstGeom prst="rect">
            <a:avLst/>
          </a:prstGeom>
          <a:solidFill>
            <a:srgbClr val="C6923B"/>
          </a:solidFill>
          <a:ln w="0">
            <a:solidFill>
              <a:srgbClr val="C6923B"/>
            </a:solidFill>
          </a:ln>
        </p:spPr>
        <p:txBody>
          <a:bodyPr/>
          <a:lstStyle/>
          <a:p>
            <a:endParaRPr lang="en-TH">
              <a:latin typeface="Aptos" panose="020B0004020202020204" pitchFamily="34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02235" y="1590675"/>
            <a:ext cx="6578171" cy="2065299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069873" y="1381125"/>
            <a:ext cx="3729096" cy="2632303"/>
          </a:xfrm>
          <a:prstGeom prst="rect">
            <a:avLst/>
          </a:prstGeom>
        </p:spPr>
      </p:pic>
      <p:graphicFrame>
        <p:nvGraphicFramePr>
          <p:cNvPr id="14" name="Table 13"/>
          <p:cNvGraphicFramePr/>
          <p:nvPr>
            <p:extLst>
              <p:ext uri="{D42A27DB-BD31-4B8C-83A1-F6EECF244321}">
                <p14:modId xmlns:p14="http://schemas.microsoft.com/office/powerpoint/2010/main" val="1570380880"/>
              </p:ext>
            </p:extLst>
          </p:nvPr>
        </p:nvGraphicFramePr>
        <p:xfrm>
          <a:off x="1219200" y="3998874"/>
          <a:ext cx="9144000" cy="2400300"/>
        </p:xfrm>
        <a:graphic>
          <a:graphicData uri="http://schemas.openxmlformats.org/drawingml/2006/table">
            <a:tbl>
              <a:tblPr/>
              <a:tblGrid>
                <a:gridCol w="495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2641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โมเดล</a:t>
                      </a:r>
                    </a:p>
                  </a:txBody>
                  <a:tcPr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PR-AUC</a:t>
                      </a:r>
                    </a:p>
                  </a:txBody>
                  <a:tcPr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Recall</a:t>
                      </a:r>
                    </a:p>
                  </a:txBody>
                  <a:tcPr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F1</a:t>
                      </a:r>
                    </a:p>
                  </a:txBody>
                  <a:tcPr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ผล</a:t>
                      </a:r>
                    </a:p>
                  </a:txBody>
                  <a:tcPr>
                    <a:solidFill>
                      <a:srgbClr val="1632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2641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TF-IDF Unigram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0.155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0.190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0.138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38100" marR="38100" marT="28575" marB="2857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2641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TF-IDF (1-2 grams)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0.370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0.724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0.480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38100" marR="38100" marT="28575" marB="2857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2641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TF-IDF + Linear SVM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0.415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0.448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0.464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38100" marR="38100" marT="28575" marB="2857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2641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Sentence Transformer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0.406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0.828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0.500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38100" marR="38100" marT="28575" marB="2857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2641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DistilBERT Embeddings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0.725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0.793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0.697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เลือก</a:t>
                      </a:r>
                    </a:p>
                  </a:txBody>
                  <a:tcPr marL="38100" marR="38100" marT="28575" marB="2857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2641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MiniLM Embeddings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0.449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0.586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0.420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38100" marR="38100" marT="28575" marB="2857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2641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DistilGPT2 Embeddings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0.656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0.810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0.671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 marL="38100" marR="38100" marT="28575" marB="2857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DA4A77B0-8C8B-4DCF-A35A-9F061DF99949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49530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288" lnSpcReduction="10000"/>
          </a:bodyPr>
          <a:lstStyle/>
          <a:p>
            <a:pPr>
              <a:def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4748B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MOOC Student Analytics, 2012–2013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06701D7-E125-418D-8FB9-336F5FA1D848}"/>
              </a:ext>
            </a:extLst>
          </p:cNvPr>
          <p:cNvSpPr>
            <a:spLocks noGrp="1"/>
          </p:cNvSpPr>
          <p:nvPr/>
        </p:nvSpPr>
        <p:spPr>
          <a:xfrm>
            <a:off x="11182350" y="6477000"/>
            <a:ext cx="4572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111" lnSpcReduction="10000"/>
          </a:bodyPr>
          <a:lstStyle/>
          <a:p>
            <a:pPr algn="r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8288781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E8CA5FB-DDEB-4D07-8A43-D5CEAD9BBED8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8572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6324F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ตารางเปรียบเทียบผลโมเดลหลัก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07E6E5F-D756-4C77-928E-47167A2D3C9C}"/>
              </a:ext>
            </a:extLst>
          </p:cNvPr>
          <p:cNvSpPr>
            <a:spLocks noGrp="1"/>
          </p:cNvSpPr>
          <p:nvPr/>
        </p:nvSpPr>
        <p:spPr>
          <a:xfrm>
            <a:off x="552450" y="8763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สรุป champion ของแต่ละงาน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9CCF3AB-163B-49C0-AC0C-33DD261B8DBF}"/>
              </a:ext>
            </a:extLst>
          </p:cNvPr>
          <p:cNvSpPr>
            <a:spLocks noGrp="1"/>
          </p:cNvSpPr>
          <p:nvPr/>
        </p:nvSpPr>
        <p:spPr>
          <a:xfrm>
            <a:off x="552450" y="1219200"/>
            <a:ext cx="10477500" cy="28575"/>
          </a:xfrm>
          <a:prstGeom prst="rect">
            <a:avLst/>
          </a:prstGeom>
          <a:solidFill>
            <a:srgbClr val="C6923B"/>
          </a:solidFill>
          <a:ln w="0">
            <a:solidFill>
              <a:srgbClr val="C6923B"/>
            </a:solidFill>
          </a:ln>
        </p:spPr>
        <p:txBody>
          <a:bodyPr/>
          <a:lstStyle/>
          <a:p>
            <a:endParaRPr lang="en-TH">
              <a:latin typeface="Aptos" panose="020B0004020202020204" pitchFamily="34" charset="0"/>
            </a:endParaRPr>
          </a:p>
        </p:txBody>
      </p:sp>
      <p:graphicFrame>
        <p:nvGraphicFramePr>
          <p:cNvPr id="11" name="Table 10"/>
          <p:cNvGraphicFramePr/>
          <p:nvPr/>
        </p:nvGraphicFramePr>
        <p:xfrm>
          <a:off x="685800" y="1619250"/>
          <a:ext cx="10382250" cy="2286000"/>
        </p:xfrm>
        <a:graphic>
          <a:graphicData uri="http://schemas.openxmlformats.org/drawingml/2006/table">
            <a:tbl>
              <a:tblPr/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Track</a:t>
                      </a:r>
                    </a:p>
                  </a:txBody>
                  <a:tcPr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โมเดลที่เลือก</a:t>
                      </a:r>
                    </a:p>
                  </a:txBody>
                  <a:tcPr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Metric หลัก</a:t>
                      </a:r>
                    </a:p>
                  </a:txBody>
                  <a:tcPr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ค่า</a:t>
                      </a:r>
                    </a:p>
                  </a:txBody>
                  <a:tcPr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Metric สนับสนุน</a:t>
                      </a:r>
                    </a:p>
                  </a:txBody>
                  <a:tcPr>
                    <a:solidFill>
                      <a:srgbClr val="1632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Traditional Unsupervised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K-Means, K=5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Silhouette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0.428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DB 0.883, ARI 0.993</a:t>
                      </a:r>
                    </a:p>
                  </a:txBody>
                  <a:tcPr marL="38100" marR="38100" marT="28575" marB="2857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Supervised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Random Forest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PR-AUC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0.861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Recall 0.862, F1 0.801</a:t>
                      </a:r>
                    </a:p>
                  </a:txBody>
                  <a:tcPr marL="38100" marR="38100" marT="28575" marB="2857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Deep Learning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MLP Neural Network (128, 64)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PR-AUC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0.839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Recall 0.842, F1 0.792</a:t>
                      </a:r>
                    </a:p>
                  </a:txBody>
                  <a:tcPr marL="38100" marR="38100" marT="28575" marB="2857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LLM / Transformer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DistilBERT Embeddings + Logistic Regression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PR-AUC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0.725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Recall 0.793, F1 0.697</a:t>
                      </a:r>
                    </a:p>
                  </a:txBody>
                  <a:tcPr marL="38100" marR="38100" marT="28575" marB="2857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EEEBC60D-F343-4C88-AC14-ED6621C83ADC}"/>
              </a:ext>
            </a:extLst>
          </p:cNvPr>
          <p:cNvSpPr>
            <a:spLocks noGrp="1"/>
          </p:cNvSpPr>
          <p:nvPr/>
        </p:nvSpPr>
        <p:spPr>
          <a:xfrm>
            <a:off x="904875" y="4429125"/>
            <a:ext cx="9906000" cy="1238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50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F2A35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• Supervised และ Deep Learning ให้ผลดีมากในงานทำนาย certification เพราะใช้ฟีเจอร์เชิงพฤติกรรมแบบมีโครงสร้าง</a:t>
            </a:r>
          </a:p>
          <a:p>
            <a:pPr>
              <a:defRPr sz="150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F2A35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• LLM/Transformer มีบทบาทเป็นตัวแปลงข้อความเป็น embedding แล้วให้ classifier เรียนรู้ต่อ</a:t>
            </a:r>
          </a:p>
          <a:p>
            <a:pPr>
              <a:defRPr sz="150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F2A35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• Unsupervised ใช้สำหรับอธิบาย Persona และ pattern discovery ไม่ใช่งานทำนาย target โดยตรง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B5346E7-7EA5-4495-AEB4-4C1EE9F0DB47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49530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288" lnSpcReduction="10000"/>
          </a:bodyPr>
          <a:lstStyle/>
          <a:p>
            <a:pPr>
              <a:def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4748B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MOOC Student Analytics, 2012–2013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9F9C20-04B2-4DCB-9C66-05298E407279}"/>
              </a:ext>
            </a:extLst>
          </p:cNvPr>
          <p:cNvSpPr>
            <a:spLocks noGrp="1"/>
          </p:cNvSpPr>
          <p:nvPr/>
        </p:nvSpPr>
        <p:spPr>
          <a:xfrm>
            <a:off x="11182350" y="6477000"/>
            <a:ext cx="4572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111" lnSpcReduction="10000"/>
          </a:bodyPr>
          <a:lstStyle/>
          <a:p>
            <a:pPr algn="r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2735065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C3302C8-2D2C-413D-AC22-36FF01E1937E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8572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6324F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ภาพรวมผลลัพธ์ทุก Track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C801983-DCB2-4311-9D90-A1D2A3C2E972}"/>
              </a:ext>
            </a:extLst>
          </p:cNvPr>
          <p:cNvSpPr>
            <a:spLocks noGrp="1"/>
          </p:cNvSpPr>
          <p:nvPr/>
        </p:nvSpPr>
        <p:spPr>
          <a:xfrm>
            <a:off x="552450" y="8763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กราฟรวมใช้เปรียบเทียบความเหมาะสมของวิธีวิเคราะห์แต่ละประเภท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CC36CE-0B79-450B-B8CB-6597DF780E36}"/>
              </a:ext>
            </a:extLst>
          </p:cNvPr>
          <p:cNvSpPr>
            <a:spLocks noGrp="1"/>
          </p:cNvSpPr>
          <p:nvPr/>
        </p:nvSpPr>
        <p:spPr>
          <a:xfrm>
            <a:off x="552450" y="1219200"/>
            <a:ext cx="10477500" cy="28575"/>
          </a:xfrm>
          <a:prstGeom prst="rect">
            <a:avLst/>
          </a:prstGeom>
          <a:solidFill>
            <a:srgbClr val="C6923B"/>
          </a:solidFill>
          <a:ln w="0">
            <a:solidFill>
              <a:srgbClr val="C6923B"/>
            </a:solidFill>
          </a:ln>
        </p:spPr>
        <p:txBody>
          <a:bodyPr/>
          <a:lstStyle/>
          <a:p>
            <a:endParaRPr lang="en-TH">
              <a:latin typeface="Aptos" panose="020B0004020202020204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37271" y="1428750"/>
            <a:ext cx="8540179" cy="371475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0B66895-96AC-47C4-B7B7-4349B4A2CF8E}"/>
              </a:ext>
            </a:extLst>
          </p:cNvPr>
          <p:cNvSpPr>
            <a:spLocks noGrp="1"/>
          </p:cNvSpPr>
          <p:nvPr/>
        </p:nvSpPr>
        <p:spPr>
          <a:xfrm>
            <a:off x="876300" y="5381625"/>
            <a:ext cx="9715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F2A35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การเปรียบเทียบข้าม Track ต้องตีความตามชนิดงาน เพราะ Unsupervised วัดคุณภาพคลัสเตอร์ ส่วน Supervised, Deep และ LLM วัดความสามารถในการทำนายผลลัพธ์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E13B40-CFA4-4FC6-89D0-CB7B16F49BDC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49530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288" lnSpcReduction="10000"/>
          </a:bodyPr>
          <a:lstStyle/>
          <a:p>
            <a:pPr>
              <a:def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4748B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MOOC Student Analytics, 2012–2013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0CF2DA9-C18F-443F-958E-A55180094D34}"/>
              </a:ext>
            </a:extLst>
          </p:cNvPr>
          <p:cNvSpPr>
            <a:spLocks noGrp="1"/>
          </p:cNvSpPr>
          <p:nvPr/>
        </p:nvSpPr>
        <p:spPr>
          <a:xfrm>
            <a:off x="11182350" y="6477000"/>
            <a:ext cx="4572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111" lnSpcReduction="10000"/>
          </a:bodyPr>
          <a:lstStyle/>
          <a:p>
            <a:pPr algn="r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6392267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101AE32-BFAC-4ED3-B62E-4FBC48B7E913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9302088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6324F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ข้อสรุปจากผลวิเคราะห์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4EA95A1-3275-4CF5-9FF5-B4FFC62DA344}"/>
              </a:ext>
            </a:extLst>
          </p:cNvPr>
          <p:cNvSpPr>
            <a:spLocks noGrp="1"/>
          </p:cNvSpPr>
          <p:nvPr/>
        </p:nvSpPr>
        <p:spPr>
          <a:xfrm>
            <a:off x="552449" y="876300"/>
            <a:ext cx="10335653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คำตอบหลักที่ได้จากข้อมูลและโมเดล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DDBB76D-844C-47B6-AA47-9616450DD5AB}"/>
              </a:ext>
            </a:extLst>
          </p:cNvPr>
          <p:cNvSpPr>
            <a:spLocks noGrp="1"/>
          </p:cNvSpPr>
          <p:nvPr/>
        </p:nvSpPr>
        <p:spPr>
          <a:xfrm>
            <a:off x="552450" y="1219200"/>
            <a:ext cx="11369218" cy="28575"/>
          </a:xfrm>
          <a:prstGeom prst="rect">
            <a:avLst/>
          </a:prstGeom>
          <a:solidFill>
            <a:srgbClr val="C6923B"/>
          </a:solidFill>
          <a:ln w="0">
            <a:solidFill>
              <a:srgbClr val="C6923B"/>
            </a:solidFill>
          </a:ln>
        </p:spPr>
        <p:txBody>
          <a:bodyPr/>
          <a:lstStyle/>
          <a:p>
            <a:endParaRPr lang="en-TH">
              <a:latin typeface="Aptos" panose="020B0004020202020204" pitchFamily="34" charset="0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349102C-46BA-4600-99AC-05919E44704D}"/>
              </a:ext>
            </a:extLst>
          </p:cNvPr>
          <p:cNvSpPr>
            <a:spLocks noGrp="1"/>
          </p:cNvSpPr>
          <p:nvPr/>
        </p:nvSpPr>
        <p:spPr>
          <a:xfrm>
            <a:off x="714374" y="1524000"/>
            <a:ext cx="10749079" cy="3429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7C9AD"/>
            </a:solidFill>
            <a:prstDash val="solid"/>
          </a:ln>
        </p:spPr>
        <p:txBody>
          <a:bodyPr/>
          <a:lstStyle/>
          <a:p>
            <a:endParaRPr lang="en-TH">
              <a:latin typeface="Aptos" panose="020B00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13597F-07B3-4DD4-AB73-EC5CC77329A4}"/>
              </a:ext>
            </a:extLst>
          </p:cNvPr>
          <p:cNvSpPr>
            <a:spLocks noGrp="1"/>
          </p:cNvSpPr>
          <p:nvPr/>
        </p:nvSpPr>
        <p:spPr>
          <a:xfrm>
            <a:off x="1047749" y="1809750"/>
            <a:ext cx="10025583" cy="2857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50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F2A35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• ข้อมูลหลังทำความสะอาดและรวมแหล่งข้อมูลสามารถสร้าง student-level dataset ที่ใช้วิเคราะห์ได้ 446,766 คน</a:t>
            </a:r>
          </a:p>
          <a:p>
            <a:pPr>
              <a:defRPr sz="150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F2A35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• การแบ่งกลุ่มผู้เรียนเหมาะกับ K=5 ตามผล Gap statistic และตัววัดสนับสนุนหลายตัว</a:t>
            </a:r>
          </a:p>
          <a:p>
            <a:pPr>
              <a:defRPr sz="150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F2A35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• กลุ่ม Persona แสดงความต่างของกิจกรรมเรียน เช่น event, active days, chapters และ forum posts</a:t>
            </a:r>
          </a:p>
          <a:p>
            <a:pPr>
              <a:defRPr sz="150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F2A35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• Random Forest เป็น supervised champion สำหรับทำนาย certification จากตารางผลปัจจุบัน</a:t>
            </a:r>
          </a:p>
          <a:p>
            <a:pPr>
              <a:defRPr sz="150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F2A35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• Deep Learning ให้ผลใกล้เคียง supervised แต่ต้องใช้เวลาและการจูนมากกว่า</a:t>
            </a:r>
          </a:p>
          <a:p>
            <a:pPr>
              <a:defRPr sz="150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F2A35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• LLM/Transformer track ทำงานได้ในรูปแบบ row-to-text embedding โดย DistilBERT + Logistic Regression ให้ผลดีที่สุดในกลุ่ม text model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49A9222-DB28-40D9-9564-65ADAB4E9D81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537454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288" lnSpcReduction="10000"/>
          </a:bodyPr>
          <a:lstStyle/>
          <a:p>
            <a:pPr>
              <a:def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4748B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MOOC Student Analytics, 2012–2013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8954B2-F008-420D-994D-230498E2D185}"/>
              </a:ext>
            </a:extLst>
          </p:cNvPr>
          <p:cNvSpPr>
            <a:spLocks noGrp="1"/>
          </p:cNvSpPr>
          <p:nvPr/>
        </p:nvSpPr>
        <p:spPr>
          <a:xfrm>
            <a:off x="11182349" y="6477000"/>
            <a:ext cx="496111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111" lnSpcReduction="10000"/>
          </a:bodyPr>
          <a:lstStyle/>
          <a:p>
            <a:pPr algn="r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1074919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3BAC4767-9C18-4F09-809B-94BE048519CF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8572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6324F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ข้อจำกัดและข้อเสนอแนะ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3A2DC4C-4E04-4F58-AD8A-A39A1DBFDDA1}"/>
              </a:ext>
            </a:extLst>
          </p:cNvPr>
          <p:cNvSpPr>
            <a:spLocks noGrp="1"/>
          </p:cNvSpPr>
          <p:nvPr/>
        </p:nvSpPr>
        <p:spPr>
          <a:xfrm>
            <a:off x="552450" y="8763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ประเด็นที่ควรระวังเมื่อนำผลไปใช้งานจริง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E383516-F09A-47CA-94B6-6F7A1427FE1B}"/>
              </a:ext>
            </a:extLst>
          </p:cNvPr>
          <p:cNvSpPr>
            <a:spLocks noGrp="1"/>
          </p:cNvSpPr>
          <p:nvPr/>
        </p:nvSpPr>
        <p:spPr>
          <a:xfrm>
            <a:off x="552450" y="1219200"/>
            <a:ext cx="10477500" cy="28575"/>
          </a:xfrm>
          <a:prstGeom prst="rect">
            <a:avLst/>
          </a:prstGeom>
          <a:solidFill>
            <a:srgbClr val="C6923B"/>
          </a:solidFill>
          <a:ln w="0">
            <a:solidFill>
              <a:srgbClr val="C6923B"/>
            </a:solidFill>
          </a:ln>
        </p:spPr>
        <p:txBody>
          <a:bodyPr/>
          <a:lstStyle/>
          <a:p>
            <a:endParaRPr lang="en-TH">
              <a:latin typeface="Aptos" panose="020B0004020202020204" pitchFamily="34" charset="0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C5C995D-DBEF-48D0-8C27-ADE82DB69584}"/>
              </a:ext>
            </a:extLst>
          </p:cNvPr>
          <p:cNvSpPr>
            <a:spLocks noGrp="1"/>
          </p:cNvSpPr>
          <p:nvPr/>
        </p:nvSpPr>
        <p:spPr>
          <a:xfrm>
            <a:off x="714375" y="1571625"/>
            <a:ext cx="4762500" cy="314325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7C9AD"/>
            </a:solidFill>
            <a:prstDash val="solid"/>
          </a:ln>
        </p:spPr>
        <p:txBody>
          <a:bodyPr/>
          <a:lstStyle/>
          <a:p>
            <a:endParaRPr lang="en-TH">
              <a:latin typeface="Aptos" panose="020B00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8B6BBA6-0080-423D-A447-E71D5AA57A3E}"/>
              </a:ext>
            </a:extLst>
          </p:cNvPr>
          <p:cNvSpPr>
            <a:spLocks noGrp="1"/>
          </p:cNvSpPr>
          <p:nvPr/>
        </p:nvSpPr>
        <p:spPr>
          <a:xfrm>
            <a:off x="990600" y="1809750"/>
            <a:ext cx="2095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8333" lnSpcReduction="20000"/>
          </a:bodyPr>
          <a:lstStyle/>
          <a:p>
            <a:pPr>
              <a:defRPr sz="180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6324F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ข้อจำกัด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BF9CBA-0E8F-4EF5-86B1-B53A014AFEFA}"/>
              </a:ext>
            </a:extLst>
          </p:cNvPr>
          <p:cNvSpPr>
            <a:spLocks noGrp="1"/>
          </p:cNvSpPr>
          <p:nvPr/>
        </p:nvSpPr>
        <p:spPr>
          <a:xfrm>
            <a:off x="1000125" y="2238375"/>
            <a:ext cx="4000500" cy="2000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F2A35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• ข้อมูล MOOC มี class imbalance สูง จึงควรดู recall, F1 และ PR-AUC มากกว่า accuracy เพียงอย่างเดียว</a:t>
            </a:r>
          </a:p>
          <a:p>
            <a:pPr>
              <a:def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F2A35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• การแปลพฤติกรรมเป็นข้อความใน LLM track ขึ้นกับ template ประโยคที่ออกแบบ</a:t>
            </a:r>
          </a:p>
          <a:p>
            <a:pPr>
              <a:def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F2A35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• K ใน clustering เป็นผลจากเกณฑ์เชิงประจักษ์และการตีความ Persona ไม่ใช่ label จริงจากผู้สอน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2EC4E3B-5163-4577-9714-AB266FBFB041}"/>
              </a:ext>
            </a:extLst>
          </p:cNvPr>
          <p:cNvSpPr>
            <a:spLocks noGrp="1"/>
          </p:cNvSpPr>
          <p:nvPr/>
        </p:nvSpPr>
        <p:spPr>
          <a:xfrm>
            <a:off x="6000750" y="1571625"/>
            <a:ext cx="4762500" cy="314325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7C9AD"/>
            </a:solidFill>
            <a:prstDash val="solid"/>
          </a:ln>
        </p:spPr>
        <p:txBody>
          <a:bodyPr/>
          <a:lstStyle/>
          <a:p>
            <a:endParaRPr lang="en-TH">
              <a:latin typeface="Aptos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A8B0737-E5EE-4586-B294-9BBF0F426CE8}"/>
              </a:ext>
            </a:extLst>
          </p:cNvPr>
          <p:cNvSpPr>
            <a:spLocks noGrp="1"/>
          </p:cNvSpPr>
          <p:nvPr/>
        </p:nvSpPr>
        <p:spPr>
          <a:xfrm>
            <a:off x="6286500" y="1809750"/>
            <a:ext cx="2095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8333" lnSpcReduction="20000"/>
          </a:bodyPr>
          <a:lstStyle/>
          <a:p>
            <a:pPr>
              <a:defRPr sz="180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6324F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ข้อเสนอแนะ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1AF35CA-A6CE-48A5-818E-5782278F14D5}"/>
              </a:ext>
            </a:extLst>
          </p:cNvPr>
          <p:cNvSpPr>
            <a:spLocks noGrp="1"/>
          </p:cNvSpPr>
          <p:nvPr/>
        </p:nvSpPr>
        <p:spPr>
          <a:xfrm>
            <a:off x="6286500" y="2238375"/>
            <a:ext cx="4000500" cy="2000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F2A35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• ใช้ Persona เพื่อออกแบบการช่วยเหลือผู้เรียนต่างกลุ่ม เช่น กลุ่มกิจกรรมต่ำและกลุ่มดูเนื้อหาไม่ต่อเนื่อง</a:t>
            </a:r>
          </a:p>
          <a:p>
            <a:pPr>
              <a:def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F2A35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• ใช้ supervised champion เป็น baseline สำหรับระบบแจ้งเตือนความเสี่ยง</a:t>
            </a:r>
          </a:p>
          <a:p>
            <a:pPr>
              <a:def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F2A35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• ติดตาม drift ของฟีเจอร์และ retrain เมื่อพฤติกรรมผู้เรียนเปลี่ยนจากชุดข้อมูลเดิม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47CF7D-363E-4890-9170-016B94D09FC1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49530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288" lnSpcReduction="10000"/>
          </a:bodyPr>
          <a:lstStyle/>
          <a:p>
            <a:pPr>
              <a:def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4748B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MOOC Student Analytics, 2012–2013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E7FA342-7E65-4D21-BD9E-724A9E40A0B7}"/>
              </a:ext>
            </a:extLst>
          </p:cNvPr>
          <p:cNvSpPr>
            <a:spLocks noGrp="1"/>
          </p:cNvSpPr>
          <p:nvPr/>
        </p:nvSpPr>
        <p:spPr>
          <a:xfrm>
            <a:off x="11182350" y="6477000"/>
            <a:ext cx="4572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111" lnSpcReduction="10000"/>
          </a:bodyPr>
          <a:lstStyle/>
          <a:p>
            <a:pPr algn="r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5734722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88</TotalTime>
  <Words>2081</Words>
  <Application>Microsoft Macintosh PowerPoint</Application>
  <DocSecurity>0</DocSecurity>
  <PresentationFormat>Widescreen</PresentationFormat>
  <Paragraphs>304</Paragraphs>
  <Slides>21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Aptos</vt:lpstr>
      <vt:lpstr>Aptos Display</vt:lpstr>
      <vt:lpstr>Arial</vt:lpstr>
      <vt:lpstr>Calibri</vt:lpstr>
      <vt:lpstr>Cambria Math</vt:lpstr>
      <vt:lpstr>Google Sans Text</vt:lpstr>
      <vt:lpstr>Helvetica Neue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Chutimon NUNTHASENA</cp:lastModifiedBy>
  <cp:revision>2</cp:revision>
  <dcterms:created xsi:type="dcterms:W3CDTF">2026-09-30T03:34:51Z</dcterms:created>
  <dcterms:modified xsi:type="dcterms:W3CDTF">2026-09-30T05:24:54Z</dcterms:modified>
</cp:coreProperties>
</file>