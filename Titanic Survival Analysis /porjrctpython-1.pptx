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31"/>
  </p:notesMasterIdLst>
  <p:sldIdLst>
    <p:sldId id="265" r:id="rId5"/>
    <p:sldId id="302" r:id="rId6"/>
    <p:sldId id="273" r:id="rId7"/>
    <p:sldId id="274" r:id="rId8"/>
    <p:sldId id="311" r:id="rId9"/>
    <p:sldId id="312" r:id="rId10"/>
    <p:sldId id="313" r:id="rId11"/>
    <p:sldId id="314" r:id="rId12"/>
    <p:sldId id="315" r:id="rId13"/>
    <p:sldId id="318" r:id="rId14"/>
    <p:sldId id="316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2" r:id="rId27"/>
    <p:sldId id="330" r:id="rId28"/>
    <p:sldId id="331" r:id="rId29"/>
    <p:sldId id="26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0F2"/>
    <a:srgbClr val="E7DCF6"/>
    <a:srgbClr val="A259FF"/>
    <a:srgbClr val="26EA7F"/>
    <a:srgbClr val="E9BFFF"/>
    <a:srgbClr val="C5BAFF"/>
    <a:srgbClr val="10A957"/>
    <a:srgbClr val="F14E1C"/>
    <a:srgbClr val="FFD505"/>
    <a:srgbClr val="E49F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33725-309C-4605-BD1E-E77737306CCA}" v="31" dt="2023-10-16T00:31:23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867" autoAdjust="0"/>
  </p:normalViewPr>
  <p:slideViewPr>
    <p:cSldViewPr snapToGrid="0" showGuides="1">
      <p:cViewPr varScale="1">
        <p:scale>
          <a:sx n="151" d="100"/>
          <a:sy n="151" d="100"/>
        </p:scale>
        <p:origin x="68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5T23:04:11.83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1,'927'0,"-909"0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5T23:04:17.581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0,'861'0,"-842"0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5T23:04:44.935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0,'1193'0,"-1138"4,-29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5T23:05:08.094"/>
    </inkml:context>
    <inkml:brush xml:id="br0">
      <inkml:brushProperty name="width" value="0.3" units="cm"/>
      <inkml:brushProperty name="height" value="0.6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1,'818'0,"-799"0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5T23:05:34.922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1,'539'0,"-520"0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5T23:05:38.217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1,'409'0,"-390"0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5T23:05:40.880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1,'473'0,"-454"0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15T23:05:45.603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1,'3'2,"0"1,0-1,0 0,1 0,-1-1,1 1,-1-1,1 1,0-1,0 0,-1-1,7 2,50 0,-44-2,697-1,-695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0729F-817A-4ABF-A907-83E03501D813}" type="datetimeFigureOut">
              <a:rPr lang="en-ID" smtClean="0"/>
              <a:t>15/10/2023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01D78-6EF9-4ACA-92CE-4C4F46E5A5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030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446D3C-7248-4466-83D3-3CA300DE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448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8EE67-7A75-494E-98A3-D8E57C5B2CB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199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B110-D243-1EB1-8EE5-16B54BB601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B55B3-CF09-16F5-ECB9-343FFC2A3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F8CFA-12EC-090D-EC6D-9A6D3D4AD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37A25-69F9-44A1-B3C5-F3AC6EA26AA8}" type="datetime1">
              <a:rPr lang="en-ID" smtClean="0"/>
              <a:t>15/10/2023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078BC-0AEE-C65D-8829-B2755DE5E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4ED11-6CDA-791D-01F2-5310BB2F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061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F7D0-5BB3-244E-88AD-7EA8B9EC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D7DDD-E815-62E1-C45A-7EA628B50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28399-54C5-375C-B31C-B0F6361A6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1683C-E8F4-4AB2-8661-8D348FB20FE6}" type="datetime1">
              <a:rPr lang="en-ID" smtClean="0"/>
              <a:t>15/10/2023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2C515-66A0-3B46-9A6C-24D56231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99A70-A88E-8029-8969-35A6FBD5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0121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E874F-23A2-47AB-42C2-351225CD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0EE9A-0A18-0C7C-160A-DF9E7627C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446BB-F1D4-2CCB-02F9-27D939B9B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D0FE2-0EC8-451C-A77C-AB0906B826B2}" type="datetime1">
              <a:rPr lang="en-ID" smtClean="0"/>
              <a:t>15/10/2023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671C2-7C43-F570-0D99-667F3E7E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A1219-03A2-C151-E653-C5734126E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8464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D4BF-EBF8-E67C-4416-4BD3FA27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8FD83-D381-9AFE-27A9-C092BE6E67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54438-9D48-EF38-DD53-21CE78602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D5840-4EE1-1750-4B81-7954F2DF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B6DA4-0F08-4209-BAEF-DE26D07A9352}" type="datetime1">
              <a:rPr lang="en-ID" smtClean="0"/>
              <a:t>15/10/2023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36A05-911F-4EDC-0309-D1C7C2AE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B037D-BDEB-552D-2D1D-FE1B40B1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033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303F6-D46C-C835-5108-44D19714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D21AA-1A71-E609-6807-DAE865BF3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AEB329-9B10-6CCC-1DCE-037B4F689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2DF813-B6A8-0A64-E339-6F5321072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A8263-CBC3-F405-3A75-CA2DB2688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BF5391-A270-47E7-DDC2-6330159F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EA752-E90C-4440-AAE9-630E6C197D57}" type="datetime1">
              <a:rPr lang="en-ID" smtClean="0"/>
              <a:t>15/10/2023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9E5AE-F660-31CD-937E-2FDC7BAF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B605E-F934-07B2-8FC6-00E059D35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7449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80FC-F778-06C2-FADA-8FDAF391E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6C6D6-5EA2-A469-4AC8-76A3A59D3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2FCD2-FEAB-453D-B309-1B37826B9726}" type="datetime1">
              <a:rPr lang="en-ID" smtClean="0"/>
              <a:t>15/10/2023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F2CEA-9E9A-B002-0706-C2F97001C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142E5-261A-C52D-BC38-A922CE2F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9964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80FC-F778-06C2-FADA-8FDAF391E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15" y="365125"/>
            <a:ext cx="10898171" cy="832079"/>
          </a:xfrm>
        </p:spPr>
        <p:txBody>
          <a:bodyPr>
            <a:normAutofit/>
          </a:bodyPr>
          <a:lstStyle>
            <a:lvl1pPr>
              <a:defRPr sz="36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95D384-2914-AB2B-021B-67E33C796D4E}"/>
              </a:ext>
            </a:extLst>
          </p:cNvPr>
          <p:cNvSpPr/>
          <p:nvPr/>
        </p:nvSpPr>
        <p:spPr>
          <a:xfrm>
            <a:off x="0" y="6790362"/>
            <a:ext cx="12192000" cy="770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834D17-24D0-4B69-B5A5-9210E69403F9}"/>
              </a:ext>
            </a:extLst>
          </p:cNvPr>
          <p:cNvSpPr/>
          <p:nvPr/>
        </p:nvSpPr>
        <p:spPr>
          <a:xfrm>
            <a:off x="11545088" y="6306695"/>
            <a:ext cx="414780" cy="4147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1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142E5-261A-C52D-BC38-A922CE2F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5086" y="6331523"/>
            <a:ext cx="414781" cy="365125"/>
          </a:xfr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5416579-C300-48E2-BD77-DE4054BCAD8D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A4CD6-0910-C223-77B3-31879C7DC3AB}"/>
              </a:ext>
            </a:extLst>
          </p:cNvPr>
          <p:cNvSpPr/>
          <p:nvPr userDrawn="1"/>
        </p:nvSpPr>
        <p:spPr>
          <a:xfrm>
            <a:off x="0" y="6790362"/>
            <a:ext cx="12192000" cy="770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223964F-5277-3A2F-C851-DCF3348FCF5A}"/>
              </a:ext>
            </a:extLst>
          </p:cNvPr>
          <p:cNvSpPr/>
          <p:nvPr userDrawn="1"/>
        </p:nvSpPr>
        <p:spPr>
          <a:xfrm>
            <a:off x="11545088" y="6306695"/>
            <a:ext cx="414780" cy="4147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100"/>
          </a:p>
        </p:txBody>
      </p:sp>
    </p:spTree>
    <p:extLst>
      <p:ext uri="{BB962C8B-B14F-4D97-AF65-F5344CB8AC3E}">
        <p14:creationId xmlns:p14="http://schemas.microsoft.com/office/powerpoint/2010/main" val="2767225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01406B-FC9E-6CAE-3157-643D3C47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040C3-93E9-4660-8C86-0FB05877BF31}" type="datetime1">
              <a:rPr lang="en-ID" smtClean="0"/>
              <a:t>15/10/2023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C39EB-6C21-6419-A95D-6D062B50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21748-1FDA-CC78-6A6A-3324D4F5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66393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3A6E-0718-ACFF-084B-88EEB887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757C1-E4EF-AA18-F21A-6D6770211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A7750-8E56-25AF-5410-9F773E29E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83B31-CB12-07F1-C82A-5D68CB1D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94ADA-00C8-4361-A567-1F22C00DB7ED}" type="datetime1">
              <a:rPr lang="en-ID" smtClean="0"/>
              <a:t>15/10/2023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AED6B-1DD3-512F-C1CA-F42D9ED4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5B663-F4E1-5624-6368-CD7B3761F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277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C904-CBD2-32F1-6BF5-7ACA1B10D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3B85D-6C2D-BD6D-9AD4-F1833C914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A7E70-586F-DBFC-1F92-6E2FF78C6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2C8DB-C390-F684-6DC6-9B5586882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03422-AE79-4023-9C00-7C2590692991}" type="datetime1">
              <a:rPr lang="en-ID" smtClean="0"/>
              <a:t>15/10/2023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22109-9C8C-88EA-6811-FEF9EC42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03E04-98B8-EA26-A876-9C16CFFB1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4792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FE8A6-E6F7-481B-9592-6BCCCA19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8B76A-9CC8-3873-1BD5-EC10D4D85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29B2F-60C1-5BAD-90C8-974DE4429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ACB0-0159-4FCA-BED8-8B2B78E7D3E7}" type="datetime1">
              <a:rPr lang="en-ID" smtClean="0"/>
              <a:t>15/10/2023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AA452-EA56-E1DF-12AD-4D5CC41A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3D425-E026-2013-F3E5-F52EFB76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91869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D942F-EDD0-50AB-BD1F-59AC08C09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943B2-AA34-2031-275F-E85F86373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D756B-99BA-1DB0-AE56-B5CC677C8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0480-0400-4D29-8A9B-33FEC154889E}" type="datetime1">
              <a:rPr lang="en-ID" smtClean="0"/>
              <a:t>15/10/2023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01416-8DC6-175A-9126-4B0EA393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7E2C1-2E49-6CAC-6E1A-A0790A9C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581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710ECA-9F5D-D9B2-3359-747DB526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8F732-2CA9-AE0A-3CAC-91AE71CAF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1CB0F-4D1F-1D88-727F-1CA1D80DF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7329C-E448-455F-9DFA-3D9EB2931244}" type="datetime1">
              <a:rPr lang="en-ID" smtClean="0"/>
              <a:t>15/10/2023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E1A7B-4913-C594-FA65-9968905C9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EA28-A277-257F-270B-E2B5E5614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16579-C300-48E2-BD77-DE4054BCAD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1891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customXml" Target="../ink/ink6.xml"/><Relationship Id="rId18" Type="http://schemas.openxmlformats.org/officeDocument/2006/relationships/image" Target="../media/image3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8.png"/><Relationship Id="rId17" Type="http://schemas.openxmlformats.org/officeDocument/2006/relationships/customXml" Target="../ink/ink8.xml"/><Relationship Id="rId2" Type="http://schemas.openxmlformats.org/officeDocument/2006/relationships/image" Target="../media/image23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customXml" Target="../ink/ink4.xml"/><Relationship Id="rId1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B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20C50B0-2BF5-938B-CC88-014AB9E1F1D8}"/>
              </a:ext>
            </a:extLst>
          </p:cNvPr>
          <p:cNvSpPr/>
          <p:nvPr/>
        </p:nvSpPr>
        <p:spPr>
          <a:xfrm>
            <a:off x="8499793" y="-1"/>
            <a:ext cx="205394" cy="12506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E228221-C424-27E7-2BD4-C1C883CA77A7}"/>
              </a:ext>
            </a:extLst>
          </p:cNvPr>
          <p:cNvGrpSpPr/>
          <p:nvPr/>
        </p:nvGrpSpPr>
        <p:grpSpPr>
          <a:xfrm rot="10800000">
            <a:off x="0" y="4305380"/>
            <a:ext cx="2177080" cy="2552619"/>
            <a:chOff x="8678550" y="0"/>
            <a:chExt cx="3513449" cy="411950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6C7F7D2-F071-9554-E03B-0CED0AA755A1}"/>
                </a:ext>
              </a:extLst>
            </p:cNvPr>
            <p:cNvSpPr/>
            <p:nvPr/>
          </p:nvSpPr>
          <p:spPr>
            <a:xfrm>
              <a:off x="10117276" y="1"/>
              <a:ext cx="2074723" cy="1762812"/>
            </a:xfrm>
            <a:prstGeom prst="rect">
              <a:avLst/>
            </a:prstGeom>
            <a:solidFill>
              <a:srgbClr val="FF85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39C58C8-6933-47D9-0C17-18E50FB2E34B}"/>
                </a:ext>
              </a:extLst>
            </p:cNvPr>
            <p:cNvSpPr/>
            <p:nvPr/>
          </p:nvSpPr>
          <p:spPr>
            <a:xfrm>
              <a:off x="8678550" y="0"/>
              <a:ext cx="1438726" cy="2724346"/>
            </a:xfrm>
            <a:prstGeom prst="rect">
              <a:avLst/>
            </a:prstGeom>
            <a:solidFill>
              <a:srgbClr val="A25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B16F0B7-D4F7-AB17-8A05-89A265EB2814}"/>
                </a:ext>
              </a:extLst>
            </p:cNvPr>
            <p:cNvSpPr/>
            <p:nvPr/>
          </p:nvSpPr>
          <p:spPr>
            <a:xfrm>
              <a:off x="10117276" y="1759233"/>
              <a:ext cx="2074723" cy="2360275"/>
            </a:xfrm>
            <a:prstGeom prst="rect">
              <a:avLst/>
            </a:prstGeom>
            <a:gradFill flip="none" rotWithShape="1">
              <a:gsLst>
                <a:gs pos="8000">
                  <a:srgbClr val="FFC700"/>
                </a:gs>
                <a:gs pos="100000">
                  <a:srgbClr val="FC867A">
                    <a:alpha val="55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F2631CB-631F-2B8B-9F09-8AEECE7F83A7}"/>
              </a:ext>
            </a:extLst>
          </p:cNvPr>
          <p:cNvGrpSpPr/>
          <p:nvPr/>
        </p:nvGrpSpPr>
        <p:grpSpPr>
          <a:xfrm>
            <a:off x="8678550" y="0"/>
            <a:ext cx="3513449" cy="5533530"/>
            <a:chOff x="8678550" y="0"/>
            <a:chExt cx="3513449" cy="55335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5758F6F-99D9-6734-AD4E-B78BEC9E43BE}"/>
                </a:ext>
              </a:extLst>
            </p:cNvPr>
            <p:cNvSpPr/>
            <p:nvPr/>
          </p:nvSpPr>
          <p:spPr>
            <a:xfrm>
              <a:off x="10117276" y="1"/>
              <a:ext cx="2074723" cy="1762812"/>
            </a:xfrm>
            <a:prstGeom prst="rect">
              <a:avLst/>
            </a:prstGeom>
            <a:solidFill>
              <a:srgbClr val="FF857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8FD634C-C72B-56D4-669C-B9EE84AABE1F}"/>
                </a:ext>
              </a:extLst>
            </p:cNvPr>
            <p:cNvSpPr/>
            <p:nvPr/>
          </p:nvSpPr>
          <p:spPr>
            <a:xfrm>
              <a:off x="8678550" y="0"/>
              <a:ext cx="1438726" cy="2724346"/>
            </a:xfrm>
            <a:prstGeom prst="rect">
              <a:avLst/>
            </a:prstGeom>
            <a:solidFill>
              <a:srgbClr val="A25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8CB2F50-CDEC-466F-3D77-6FF6B03379AF}"/>
                </a:ext>
              </a:extLst>
            </p:cNvPr>
            <p:cNvSpPr/>
            <p:nvPr/>
          </p:nvSpPr>
          <p:spPr>
            <a:xfrm>
              <a:off x="10117276" y="1759233"/>
              <a:ext cx="2074723" cy="3774297"/>
            </a:xfrm>
            <a:prstGeom prst="rect">
              <a:avLst/>
            </a:prstGeom>
            <a:gradFill flip="none" rotWithShape="1">
              <a:gsLst>
                <a:gs pos="0">
                  <a:srgbClr val="FFC700"/>
                </a:gs>
                <a:gs pos="100000">
                  <a:srgbClr val="E49FAE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072448E7-467E-B185-8405-88CE60455C49}"/>
              </a:ext>
            </a:extLst>
          </p:cNvPr>
          <p:cNvSpPr/>
          <p:nvPr/>
        </p:nvSpPr>
        <p:spPr>
          <a:xfrm>
            <a:off x="1848628" y="4657662"/>
            <a:ext cx="1504285" cy="1504285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B204B-699D-3FE9-071C-72725A14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pPr/>
              <a:t>1</a:t>
            </a:fld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53736-4887-CC00-7E1B-7E044AE5B310}"/>
              </a:ext>
            </a:extLst>
          </p:cNvPr>
          <p:cNvSpPr txBox="1"/>
          <p:nvPr/>
        </p:nvSpPr>
        <p:spPr>
          <a:xfrm>
            <a:off x="1372743" y="992704"/>
            <a:ext cx="5979773" cy="304698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ANALYSIS</a:t>
            </a:r>
          </a:p>
          <a:p>
            <a:pPr algn="ctr"/>
            <a:r>
              <a:rPr lang="en-ID" sz="9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TITANIC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BF80546-E24D-05AB-BC6A-FE611897C5EB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11593986" y="6225310"/>
            <a:ext cx="2741891" cy="89825"/>
          </a:xfrm>
          <a:prstGeom prst="line">
            <a:avLst/>
          </a:prstGeom>
          <a:ln w="25400" cap="rnd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B234B2-6F63-96D6-6B59-23A30E7887C3}"/>
              </a:ext>
            </a:extLst>
          </p:cNvPr>
          <p:cNvSpPr/>
          <p:nvPr/>
        </p:nvSpPr>
        <p:spPr>
          <a:xfrm>
            <a:off x="7904679" y="5988229"/>
            <a:ext cx="3689307" cy="653811"/>
          </a:xfrm>
          <a:prstGeom prst="roundRect">
            <a:avLst>
              <a:gd name="adj" fmla="val 50000"/>
            </a:avLst>
          </a:prstGeom>
          <a:solidFill>
            <a:srgbClr val="FFC7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rgbClr val="FFC70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F0E0D4-E66F-B4F5-BEBB-E179A3AE0788}"/>
              </a:ext>
            </a:extLst>
          </p:cNvPr>
          <p:cNvSpPr/>
          <p:nvPr/>
        </p:nvSpPr>
        <p:spPr>
          <a:xfrm>
            <a:off x="7336202" y="1677420"/>
            <a:ext cx="205393" cy="2053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03FED7-53C3-017B-C33D-1CE010A116D2}"/>
              </a:ext>
            </a:extLst>
          </p:cNvPr>
          <p:cNvSpPr/>
          <p:nvPr/>
        </p:nvSpPr>
        <p:spPr>
          <a:xfrm>
            <a:off x="7620441" y="1677420"/>
            <a:ext cx="205393" cy="2053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7C5A503-50BA-FA7B-7F6A-3E2E0AD5F340}"/>
              </a:ext>
            </a:extLst>
          </p:cNvPr>
          <p:cNvSpPr/>
          <p:nvPr/>
        </p:nvSpPr>
        <p:spPr>
          <a:xfrm>
            <a:off x="7904680" y="1677420"/>
            <a:ext cx="205393" cy="2053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89BCD1-78F0-12EE-8E55-D86CC5EC2DDD}"/>
              </a:ext>
            </a:extLst>
          </p:cNvPr>
          <p:cNvSpPr/>
          <p:nvPr/>
        </p:nvSpPr>
        <p:spPr>
          <a:xfrm>
            <a:off x="8188919" y="1677420"/>
            <a:ext cx="205393" cy="2053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E45849-A5E0-CBB7-B612-4AA7F0741D82}"/>
              </a:ext>
            </a:extLst>
          </p:cNvPr>
          <p:cNvSpPr/>
          <p:nvPr/>
        </p:nvSpPr>
        <p:spPr>
          <a:xfrm>
            <a:off x="8473157" y="1677420"/>
            <a:ext cx="205393" cy="2053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0CA58922-FCBF-5BF8-43C0-7D2156D5EEA7}"/>
              </a:ext>
            </a:extLst>
          </p:cNvPr>
          <p:cNvSpPr>
            <a:spLocks noEditPoints="1"/>
          </p:cNvSpPr>
          <p:nvPr/>
        </p:nvSpPr>
        <p:spPr bwMode="auto">
          <a:xfrm>
            <a:off x="10970014" y="6042745"/>
            <a:ext cx="534875" cy="537231"/>
          </a:xfrm>
          <a:custGeom>
            <a:avLst/>
            <a:gdLst>
              <a:gd name="T0" fmla="*/ 48 w 96"/>
              <a:gd name="T1" fmla="*/ 0 h 96"/>
              <a:gd name="T2" fmla="*/ 0 w 96"/>
              <a:gd name="T3" fmla="*/ 48 h 96"/>
              <a:gd name="T4" fmla="*/ 48 w 96"/>
              <a:gd name="T5" fmla="*/ 96 h 96"/>
              <a:gd name="T6" fmla="*/ 96 w 96"/>
              <a:gd name="T7" fmla="*/ 48 h 96"/>
              <a:gd name="T8" fmla="*/ 48 w 96"/>
              <a:gd name="T9" fmla="*/ 0 h 96"/>
              <a:gd name="T10" fmla="*/ 66 w 96"/>
              <a:gd name="T11" fmla="*/ 30 h 96"/>
              <a:gd name="T12" fmla="*/ 76 w 96"/>
              <a:gd name="T13" fmla="*/ 40 h 96"/>
              <a:gd name="T14" fmla="*/ 74 w 96"/>
              <a:gd name="T15" fmla="*/ 42 h 96"/>
              <a:gd name="T16" fmla="*/ 72 w 96"/>
              <a:gd name="T17" fmla="*/ 40 h 96"/>
              <a:gd name="T18" fmla="*/ 66 w 96"/>
              <a:gd name="T19" fmla="*/ 34 h 96"/>
              <a:gd name="T20" fmla="*/ 60 w 96"/>
              <a:gd name="T21" fmla="*/ 40 h 96"/>
              <a:gd name="T22" fmla="*/ 58 w 96"/>
              <a:gd name="T23" fmla="*/ 42 h 96"/>
              <a:gd name="T24" fmla="*/ 56 w 96"/>
              <a:gd name="T25" fmla="*/ 40 h 96"/>
              <a:gd name="T26" fmla="*/ 66 w 96"/>
              <a:gd name="T27" fmla="*/ 30 h 96"/>
              <a:gd name="T28" fmla="*/ 30 w 96"/>
              <a:gd name="T29" fmla="*/ 30 h 96"/>
              <a:gd name="T30" fmla="*/ 40 w 96"/>
              <a:gd name="T31" fmla="*/ 40 h 96"/>
              <a:gd name="T32" fmla="*/ 38 w 96"/>
              <a:gd name="T33" fmla="*/ 42 h 96"/>
              <a:gd name="T34" fmla="*/ 36 w 96"/>
              <a:gd name="T35" fmla="*/ 40 h 96"/>
              <a:gd name="T36" fmla="*/ 30 w 96"/>
              <a:gd name="T37" fmla="*/ 34 h 96"/>
              <a:gd name="T38" fmla="*/ 24 w 96"/>
              <a:gd name="T39" fmla="*/ 40 h 96"/>
              <a:gd name="T40" fmla="*/ 22 w 96"/>
              <a:gd name="T41" fmla="*/ 42 h 96"/>
              <a:gd name="T42" fmla="*/ 20 w 96"/>
              <a:gd name="T43" fmla="*/ 40 h 96"/>
              <a:gd name="T44" fmla="*/ 30 w 96"/>
              <a:gd name="T45" fmla="*/ 30 h 96"/>
              <a:gd name="T46" fmla="*/ 48 w 96"/>
              <a:gd name="T47" fmla="*/ 84 h 96"/>
              <a:gd name="T48" fmla="*/ 16 w 96"/>
              <a:gd name="T49" fmla="*/ 52 h 96"/>
              <a:gd name="T50" fmla="*/ 18 w 96"/>
              <a:gd name="T51" fmla="*/ 50 h 96"/>
              <a:gd name="T52" fmla="*/ 20 w 96"/>
              <a:gd name="T53" fmla="*/ 52 h 96"/>
              <a:gd name="T54" fmla="*/ 48 w 96"/>
              <a:gd name="T55" fmla="*/ 80 h 96"/>
              <a:gd name="T56" fmla="*/ 76 w 96"/>
              <a:gd name="T57" fmla="*/ 52 h 96"/>
              <a:gd name="T58" fmla="*/ 78 w 96"/>
              <a:gd name="T59" fmla="*/ 50 h 96"/>
              <a:gd name="T60" fmla="*/ 80 w 96"/>
              <a:gd name="T61" fmla="*/ 52 h 96"/>
              <a:gd name="T62" fmla="*/ 48 w 96"/>
              <a:gd name="T63" fmla="*/ 84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6" h="96">
                <a:moveTo>
                  <a:pt x="48" y="0"/>
                </a:moveTo>
                <a:cubicBezTo>
                  <a:pt x="22" y="0"/>
                  <a:pt x="0" y="22"/>
                  <a:pt x="0" y="48"/>
                </a:cubicBezTo>
                <a:cubicBezTo>
                  <a:pt x="0" y="74"/>
                  <a:pt x="22" y="96"/>
                  <a:pt x="48" y="96"/>
                </a:cubicBezTo>
                <a:cubicBezTo>
                  <a:pt x="74" y="96"/>
                  <a:pt x="96" y="74"/>
                  <a:pt x="96" y="48"/>
                </a:cubicBezTo>
                <a:cubicBezTo>
                  <a:pt x="96" y="22"/>
                  <a:pt x="74" y="0"/>
                  <a:pt x="48" y="0"/>
                </a:cubicBezTo>
                <a:close/>
                <a:moveTo>
                  <a:pt x="66" y="30"/>
                </a:moveTo>
                <a:cubicBezTo>
                  <a:pt x="72" y="30"/>
                  <a:pt x="76" y="34"/>
                  <a:pt x="76" y="40"/>
                </a:cubicBezTo>
                <a:cubicBezTo>
                  <a:pt x="76" y="41"/>
                  <a:pt x="75" y="42"/>
                  <a:pt x="74" y="42"/>
                </a:cubicBezTo>
                <a:cubicBezTo>
                  <a:pt x="73" y="42"/>
                  <a:pt x="72" y="41"/>
                  <a:pt x="72" y="40"/>
                </a:cubicBezTo>
                <a:cubicBezTo>
                  <a:pt x="72" y="37"/>
                  <a:pt x="69" y="34"/>
                  <a:pt x="66" y="34"/>
                </a:cubicBezTo>
                <a:cubicBezTo>
                  <a:pt x="63" y="34"/>
                  <a:pt x="60" y="37"/>
                  <a:pt x="60" y="40"/>
                </a:cubicBezTo>
                <a:cubicBezTo>
                  <a:pt x="60" y="41"/>
                  <a:pt x="59" y="42"/>
                  <a:pt x="58" y="42"/>
                </a:cubicBezTo>
                <a:cubicBezTo>
                  <a:pt x="57" y="42"/>
                  <a:pt x="56" y="41"/>
                  <a:pt x="56" y="40"/>
                </a:cubicBezTo>
                <a:cubicBezTo>
                  <a:pt x="56" y="34"/>
                  <a:pt x="60" y="30"/>
                  <a:pt x="66" y="30"/>
                </a:cubicBezTo>
                <a:close/>
                <a:moveTo>
                  <a:pt x="30" y="30"/>
                </a:moveTo>
                <a:cubicBezTo>
                  <a:pt x="36" y="30"/>
                  <a:pt x="40" y="34"/>
                  <a:pt x="40" y="40"/>
                </a:cubicBezTo>
                <a:cubicBezTo>
                  <a:pt x="40" y="41"/>
                  <a:pt x="39" y="42"/>
                  <a:pt x="38" y="42"/>
                </a:cubicBezTo>
                <a:cubicBezTo>
                  <a:pt x="37" y="42"/>
                  <a:pt x="36" y="41"/>
                  <a:pt x="36" y="40"/>
                </a:cubicBezTo>
                <a:cubicBezTo>
                  <a:pt x="36" y="37"/>
                  <a:pt x="33" y="34"/>
                  <a:pt x="30" y="34"/>
                </a:cubicBezTo>
                <a:cubicBezTo>
                  <a:pt x="27" y="34"/>
                  <a:pt x="24" y="37"/>
                  <a:pt x="24" y="40"/>
                </a:cubicBezTo>
                <a:cubicBezTo>
                  <a:pt x="24" y="41"/>
                  <a:pt x="23" y="42"/>
                  <a:pt x="22" y="42"/>
                </a:cubicBezTo>
                <a:cubicBezTo>
                  <a:pt x="21" y="42"/>
                  <a:pt x="20" y="41"/>
                  <a:pt x="20" y="40"/>
                </a:cubicBezTo>
                <a:cubicBezTo>
                  <a:pt x="20" y="34"/>
                  <a:pt x="24" y="30"/>
                  <a:pt x="30" y="30"/>
                </a:cubicBezTo>
                <a:close/>
                <a:moveTo>
                  <a:pt x="48" y="84"/>
                </a:moveTo>
                <a:cubicBezTo>
                  <a:pt x="30" y="84"/>
                  <a:pt x="16" y="70"/>
                  <a:pt x="16" y="52"/>
                </a:cubicBezTo>
                <a:cubicBezTo>
                  <a:pt x="16" y="51"/>
                  <a:pt x="17" y="50"/>
                  <a:pt x="18" y="50"/>
                </a:cubicBezTo>
                <a:cubicBezTo>
                  <a:pt x="19" y="50"/>
                  <a:pt x="20" y="51"/>
                  <a:pt x="20" y="52"/>
                </a:cubicBezTo>
                <a:cubicBezTo>
                  <a:pt x="20" y="67"/>
                  <a:pt x="33" y="80"/>
                  <a:pt x="48" y="80"/>
                </a:cubicBezTo>
                <a:cubicBezTo>
                  <a:pt x="63" y="80"/>
                  <a:pt x="76" y="67"/>
                  <a:pt x="76" y="52"/>
                </a:cubicBezTo>
                <a:cubicBezTo>
                  <a:pt x="76" y="51"/>
                  <a:pt x="77" y="50"/>
                  <a:pt x="78" y="50"/>
                </a:cubicBezTo>
                <a:cubicBezTo>
                  <a:pt x="79" y="50"/>
                  <a:pt x="80" y="51"/>
                  <a:pt x="80" y="52"/>
                </a:cubicBezTo>
                <a:cubicBezTo>
                  <a:pt x="80" y="70"/>
                  <a:pt x="66" y="84"/>
                  <a:pt x="48" y="84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A3A4A2-4A40-FD2B-713A-136F6739CA95}"/>
              </a:ext>
            </a:extLst>
          </p:cNvPr>
          <p:cNvSpPr/>
          <p:nvPr/>
        </p:nvSpPr>
        <p:spPr>
          <a:xfrm>
            <a:off x="0" y="6790362"/>
            <a:ext cx="12192000" cy="770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D1A9764-6DED-37D3-5C58-13502B05BCB3}"/>
              </a:ext>
            </a:extLst>
          </p:cNvPr>
          <p:cNvSpPr/>
          <p:nvPr/>
        </p:nvSpPr>
        <p:spPr>
          <a:xfrm>
            <a:off x="9710047" y="1351072"/>
            <a:ext cx="814454" cy="814454"/>
          </a:xfrm>
          <a:prstGeom prst="ellipse">
            <a:avLst/>
          </a:prstGeom>
          <a:gradFill flip="none" rotWithShape="1">
            <a:gsLst>
              <a:gs pos="0">
                <a:srgbClr val="FC6645"/>
              </a:gs>
              <a:gs pos="100000">
                <a:srgbClr val="A259FF"/>
              </a:gs>
            </a:gsLst>
            <a:lin ang="2700000" scaled="1"/>
            <a:tileRect/>
          </a:gradFill>
          <a:ln w="22225" cap="rnd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B71C33-1F6D-EC34-A2AE-DBC3CB7F5DE1}"/>
              </a:ext>
            </a:extLst>
          </p:cNvPr>
          <p:cNvSpPr/>
          <p:nvPr/>
        </p:nvSpPr>
        <p:spPr>
          <a:xfrm>
            <a:off x="2560804" y="5886651"/>
            <a:ext cx="440208" cy="440208"/>
          </a:xfrm>
          <a:prstGeom prst="rect">
            <a:avLst/>
          </a:prstGeom>
          <a:gradFill>
            <a:gsLst>
              <a:gs pos="0">
                <a:srgbClr val="FC6645"/>
              </a:gs>
              <a:gs pos="100000">
                <a:srgbClr val="A259FF"/>
              </a:gs>
            </a:gsLst>
            <a:lin ang="2700000" scaled="1"/>
          </a:gra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3FF90EF-EEC7-4B44-CBDD-25291DE95005}"/>
              </a:ext>
            </a:extLst>
          </p:cNvPr>
          <p:cNvSpPr/>
          <p:nvPr/>
        </p:nvSpPr>
        <p:spPr>
          <a:xfrm>
            <a:off x="1285584" y="5541321"/>
            <a:ext cx="141663" cy="12490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00AB2C6D-9ED7-6B53-A2F7-2D5D47325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840634">
            <a:off x="1611288" y="3540875"/>
            <a:ext cx="610618" cy="6106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4D4586-0557-7D13-6100-167E8222EAE8}"/>
              </a:ext>
            </a:extLst>
          </p:cNvPr>
          <p:cNvSpPr txBox="1"/>
          <p:nvPr/>
        </p:nvSpPr>
        <p:spPr>
          <a:xfrm>
            <a:off x="8218217" y="6135680"/>
            <a:ext cx="2688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dirty="0">
                <a:latin typeface="Abadi" panose="020F0502020204030204" pitchFamily="34" charset="0"/>
              </a:rPr>
              <a:t>จัดทำโดย นางสาวชุติมน นันทะเสนา</a:t>
            </a:r>
            <a:endParaRPr lang="en-US" b="1" dirty="0"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36715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714A87C3-3EFB-4722-BF0D-17138DEB6B2B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C99197A-1F6B-4498-BD1A-1E735D7E4EB6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F9C80C8E-5A49-482B-8FB1-2FEACFCA5ACA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73714BC-1D6D-47E8-BDBC-A4EE1D7C9B24}"/>
              </a:ext>
            </a:extLst>
          </p:cNvPr>
          <p:cNvSpPr/>
          <p:nvPr/>
        </p:nvSpPr>
        <p:spPr>
          <a:xfrm>
            <a:off x="3928821" y="145725"/>
            <a:ext cx="3981232" cy="6893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1" i="0" u="none" strike="noStrike" kern="1200" cap="none" spc="0" normalizeH="0" baseline="0" noProof="0" dirty="0">
                <a:ln>
                  <a:noFill/>
                </a:ln>
                <a:solidFill>
                  <a:srgbClr val="A259FF"/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ข้อมูลที่นำมาวิเคราะห์ 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A259FF"/>
              </a:solidFill>
              <a:effectLst/>
              <a:uLnTx/>
              <a:uFillTx/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74503B-5122-4623-AB9F-1245C2B01E9D}"/>
              </a:ext>
            </a:extLst>
          </p:cNvPr>
          <p:cNvSpPr/>
          <p:nvPr/>
        </p:nvSpPr>
        <p:spPr>
          <a:xfrm>
            <a:off x="3897825" y="145725"/>
            <a:ext cx="4196163" cy="6893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ข้อมูลที่นำมาวิเคราะห์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Segoe UI" panose="020B0502040204020203" pitchFamily="34" charset="0"/>
              <a:ea typeface="Open Sans" panose="020B06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0BE0A7-358B-C5A1-4695-A65E2DDFE205}"/>
              </a:ext>
            </a:extLst>
          </p:cNvPr>
          <p:cNvSpPr txBox="1"/>
          <p:nvPr/>
        </p:nvSpPr>
        <p:spPr>
          <a:xfrm>
            <a:off x="1142801" y="1359386"/>
            <a:ext cx="47766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1.จำนวนผู้รอดชีวิต และผู้เสียชีวิต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2.จำนวนคนในแต่ละชั้น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3.จำนวนผู้ที่แต่งงานแล้ว,ยังไม่แต่งงานและระบุไม่ได้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4.จำนวนเพศชายหญิง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5.จำนวนเด็ก,ผู้ใหญ่และที่ระบุไม่ได้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6.จำนวนคนโสด,มีคู่สมรส </a:t>
            </a:r>
            <a:r>
              <a:rPr lang="th-TH" sz="2000" b="0" i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หรือพี่น้อง 1 คนหรือมากกว่า 1 คน</a:t>
            </a:r>
            <a:endParaRPr lang="en-US" sz="2000" b="0" i="0" dirty="0">
              <a:effectLst/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7.จำนวน</a:t>
            </a:r>
            <a:r>
              <a:rPr lang="th-TH" sz="2000" b="0" i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ผู้ที่มีผู้ปกครองหรือลูก</a:t>
            </a:r>
            <a:endParaRPr lang="en-US" sz="2000" b="0" i="0" dirty="0">
              <a:effectLst/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8.ราคาตั๋ว ที่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น้อยกว่า 10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$,10$ 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ถึง 50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$,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50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 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ถึง 100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 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และมากกว่า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100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9.จำนวนผู้ที่มีห้องโดยสาร และไม่มีห้องโดยสาร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1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0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.จำนวนผู้โดยสารแต่ละท่าเรือ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AE0824-7C81-0C06-B598-7054BDE16560}"/>
              </a:ext>
            </a:extLst>
          </p:cNvPr>
          <p:cNvSpPr txBox="1"/>
          <p:nvPr/>
        </p:nvSpPr>
        <p:spPr>
          <a:xfrm>
            <a:off x="5871104" y="1303155"/>
            <a:ext cx="58562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1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1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 และเสียชีวิตในแต่ละชั้น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1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2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.จำนวนผู้รอดชีวิตและผู้เสียชีวิต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ที่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แต่งงานแล้ว</a:t>
            </a:r>
            <a:r>
              <a:rPr lang="en-US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,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ยังไม่แต่งงาน 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หรือ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ระบุไม่ได้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1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3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 และเสียชีวิต ในแต่ละเพศ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1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4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 และเสียชีวิต ในเด็กและผู้ใหญ่ หรือระบุไม่ได้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1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5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.จำนวนผู้รอดชีวิตและเสียชีวิต ต่อจำนวนคนโสด,มีคู่สมรส</a:t>
            </a:r>
            <a:r>
              <a:rPr lang="th-TH" sz="2000" b="0" i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หรือพี่น้อง 1 คนหรือมากกว่า 1 คน</a:t>
            </a:r>
            <a:endParaRPr lang="en-US" sz="2000" b="0" i="0" dirty="0">
              <a:effectLst/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1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6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.จำนวนผู้รอดชีวิตและเสียชีวิต </a:t>
            </a:r>
            <a:r>
              <a:rPr lang="th-TH" sz="2000" b="0" i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ต่อผู้ที่มีผู้ปกครองหรือลูก</a:t>
            </a:r>
            <a:endParaRPr lang="en-US" sz="2000" b="0" i="0" dirty="0">
              <a:effectLst/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1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7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.จำนวนผู้รอดชีวิตและเสียชีวิต ที่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น้อยกว่า 10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$,10$ 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ถึง 50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$,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50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 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ถึง 100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 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และมากกว่า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100</a:t>
            </a:r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$</a:t>
            </a:r>
          </a:p>
          <a:p>
            <a:r>
              <a:rPr lang="en-US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18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.จำนวนผู้รอดชีวิตและเสียชีวิต ต่อจำนวนผู้ที่มีห้องโดยสารและไม่มีห้องโดยสาร</a:t>
            </a:r>
          </a:p>
          <a:p>
            <a:r>
              <a:rPr lang="en-US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19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.จำนวนผู้รอดชีวิตและเสียชีวิต ต่อจำนวนผู้โดยสารแต่ละท่าเรือ</a:t>
            </a:r>
          </a:p>
          <a:p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2</a:t>
            </a:r>
            <a:r>
              <a:rPr lang="th-TH" sz="2000" dirty="0">
                <a:latin typeface="Browallia New" panose="020B0604020202020204" pitchFamily="34" charset="-34"/>
                <a:cs typeface="Browallia New" panose="020B0604020202020204" pitchFamily="34" charset="-34"/>
              </a:rPr>
              <a:t>0</a:t>
            </a:r>
            <a:r>
              <a:rPr lang="th-TH" sz="2000" b="0" dirty="0">
                <a:effectLst/>
                <a:latin typeface="Browallia New" panose="020B0604020202020204" pitchFamily="34" charset="-34"/>
                <a:cs typeface="Browallia New" panose="020B0604020202020204" pitchFamily="34" charset="-34"/>
              </a:rPr>
              <a:t>.จำนวนผู้รอดชีวิตและเสียชีวิต ในแต่ละชั้นเป็นเพศหญิงหรือเพศชาย</a:t>
            </a:r>
            <a:endParaRPr lang="en-US" dirty="0"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5593300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26519E81-C48F-4DC1-8447-5AA3137BE5EE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3259A-E411-0963-9625-156792E76E84}"/>
              </a:ext>
            </a:extLst>
          </p:cNvPr>
          <p:cNvSpPr txBox="1"/>
          <p:nvPr/>
        </p:nvSpPr>
        <p:spPr>
          <a:xfrm>
            <a:off x="754137" y="433555"/>
            <a:ext cx="41175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1.จำนวนผู้รอดชีวิต และผู้เสียชีวิต</a:t>
            </a:r>
            <a:endParaRPr lang="th-TH" sz="2800" b="1" i="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Survived </a:t>
            </a:r>
            <a:endParaRPr lang="th-TH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549 </a:t>
            </a:r>
            <a:endParaRPr lang="th-TH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342</a:t>
            </a:r>
            <a:endParaRPr lang="th-TH" sz="240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F2F2E3A-DEEE-4C50-AA04-026C9B48D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4079" y="6418800"/>
            <a:ext cx="414781" cy="365125"/>
          </a:xfrm>
        </p:spPr>
        <p:txBody>
          <a:bodyPr/>
          <a:lstStyle/>
          <a:p>
            <a:fld id="{75416579-C300-48E2-BD77-DE4054BCAD8D}" type="slidenum">
              <a:rPr lang="en-ID" smtClean="0"/>
              <a:t>3</a:t>
            </a:fld>
            <a:endParaRPr lang="en-ID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986397-FD37-FA38-2229-FFAC9A01EDBE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A6F50C8-E223-7DD4-EADD-669D573B74F6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251B76FD-3974-74DB-19C6-BF6C424944F2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8194" name="Picture 2">
            <a:extLst>
              <a:ext uri="{FF2B5EF4-FFF2-40B4-BE49-F238E27FC236}">
                <a16:creationId xmlns:a16="http://schemas.microsoft.com/office/drawing/2014/main" id="{B1954D59-DC5B-5EAD-60A0-45247D54B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832" y="704046"/>
            <a:ext cx="52578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07AEBC-CE09-8A58-FB33-A4E2F4DAC6CA}"/>
              </a:ext>
            </a:extLst>
          </p:cNvPr>
          <p:cNvSpPr txBox="1"/>
          <p:nvPr/>
        </p:nvSpPr>
        <p:spPr>
          <a:xfrm>
            <a:off x="877537" y="2710482"/>
            <a:ext cx="4117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จำนวนผู้เสียชีวิตทั้งหมด คือ 549 คน </a:t>
            </a:r>
            <a:r>
              <a:rPr lang="th-TH" dirty="0">
                <a:solidFill>
                  <a:srgbClr val="FF0000"/>
                </a:solidFill>
              </a:rPr>
              <a:t>คิดเป็น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th-TH" dirty="0">
                <a:solidFill>
                  <a:srgbClr val="FF0000"/>
                </a:solidFill>
              </a:rPr>
              <a:t>61.62 %</a:t>
            </a:r>
          </a:p>
          <a:p>
            <a:r>
              <a:rPr lang="th-TH" dirty="0"/>
              <a:t>จำนวนผู้รอดชีวิต  342 คน </a:t>
            </a:r>
            <a:r>
              <a:rPr lang="th-TH" dirty="0">
                <a:solidFill>
                  <a:srgbClr val="FF0000"/>
                </a:solidFill>
              </a:rPr>
              <a:t>คิดเป็น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38.38 %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2092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ounded Rectangle 109">
            <a:extLst>
              <a:ext uri="{FF2B5EF4-FFF2-40B4-BE49-F238E27FC236}">
                <a16:creationId xmlns:a16="http://schemas.microsoft.com/office/drawing/2014/main" id="{FE924B0A-EE56-47DC-A2B2-4E228E4169C0}"/>
              </a:ext>
            </a:extLst>
          </p:cNvPr>
          <p:cNvSpPr/>
          <p:nvPr/>
        </p:nvSpPr>
        <p:spPr>
          <a:xfrm>
            <a:off x="10744964" y="6914539"/>
            <a:ext cx="2094671" cy="354514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5653BD-C47E-BFA3-2727-B83F093D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887" y="6492875"/>
            <a:ext cx="414781" cy="365125"/>
          </a:xfrm>
        </p:spPr>
        <p:txBody>
          <a:bodyPr/>
          <a:lstStyle/>
          <a:p>
            <a:fld id="{75416579-C300-48E2-BD77-DE4054BCAD8D}" type="slidenum">
              <a:rPr lang="en-ID" smtClean="0"/>
              <a:t>4</a:t>
            </a:fld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B97A6-E9D1-A4E7-F420-46B6EDA59D1D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4E883C-00C6-3088-E3EF-4CF7C700D2E5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85FECEF-7266-9C97-8E9D-448F0B8273E4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77A9F4-136B-A9B4-8B18-873904425111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DD429DD-FAA9-8A6B-C1EF-490A2EC898E8}"/>
              </a:ext>
            </a:extLst>
          </p:cNvPr>
          <p:cNvSpPr txBox="1"/>
          <p:nvPr/>
        </p:nvSpPr>
        <p:spPr>
          <a:xfrm>
            <a:off x="1019544" y="504437"/>
            <a:ext cx="291631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2.จำนวนคนในแต่ละชั้น</a:t>
            </a:r>
            <a:endParaRPr lang="th-TH" sz="2800" b="1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400" i="0" dirty="0" err="1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Pclass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endParaRPr lang="th-TH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216</a:t>
            </a:r>
            <a:endParaRPr lang="th-TH" sz="24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2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184 </a:t>
            </a:r>
            <a:endParaRPr lang="th-TH" sz="24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491</a:t>
            </a:r>
            <a:endParaRPr lang="en-US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4226C11-8BEF-B38E-81DC-F490FF220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289" y="547372"/>
            <a:ext cx="5445078" cy="4290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ACA12A-A641-4E3C-A11C-C7FDE583C0DC}"/>
              </a:ext>
            </a:extLst>
          </p:cNvPr>
          <p:cNvSpPr txBox="1"/>
          <p:nvPr/>
        </p:nvSpPr>
        <p:spPr>
          <a:xfrm>
            <a:off x="741431" y="3052358"/>
            <a:ext cx="56354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ชั้นที่ 1  มีจำนวน  216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24.24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ชั้นที่ 2 จำนวน  184 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20.65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ชั้นที่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3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 จำนวน 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491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 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55.11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7815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E5E852-921B-94BA-16BD-CF499D8F1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5</a:t>
            </a:fld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1C1561-411A-3D80-522F-1C4D9266488F}"/>
              </a:ext>
            </a:extLst>
          </p:cNvPr>
          <p:cNvSpPr txBox="1"/>
          <p:nvPr/>
        </p:nvSpPr>
        <p:spPr>
          <a:xfrm>
            <a:off x="112327" y="536957"/>
            <a:ext cx="5876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3.จำนวนผู้ที่แต่งงานแล้ว,ยังไม่แต่งงานและระบุไม่ได้</a:t>
            </a: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จำนวนผู้แต่งงานแล้ว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129 </a:t>
            </a: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จำนวนผู้ยังไม่แต่งงาน </a:t>
            </a:r>
            <a:r>
              <a:rPr lang="en-US" sz="2400" dirty="0"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220 </a:t>
            </a: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จำนวนผู้ระบุไม่ได้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542</a:t>
            </a:r>
            <a:endParaRPr lang="th-TH" sz="240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B3DADD9-4C5B-C64E-CF59-E0BE0842629A}"/>
              </a:ext>
            </a:extLst>
          </p:cNvPr>
          <p:cNvSpPr txBox="1">
            <a:spLocks/>
          </p:cNvSpPr>
          <p:nvPr/>
        </p:nvSpPr>
        <p:spPr>
          <a:xfrm>
            <a:off x="11661323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5</a:t>
            </a:fld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23BB76-BC60-AB5E-D677-D8C40C50E822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37E179-43E0-8CB3-1FC3-E50D456BED6D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87147CF-A068-A5CB-74E8-61DD1A00FCC2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F0959EE-B768-EAE2-FD9B-69632F6AEF7A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244" name="Picture 4">
            <a:extLst>
              <a:ext uri="{FF2B5EF4-FFF2-40B4-BE49-F238E27FC236}">
                <a16:creationId xmlns:a16="http://schemas.microsoft.com/office/drawing/2014/main" id="{AE568784-57B8-54E1-A5BC-E33315EF5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523" y="851060"/>
            <a:ext cx="52578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CB2CF53-88F1-FB4B-6DF1-343A2116C6F5}"/>
              </a:ext>
            </a:extLst>
          </p:cNvPr>
          <p:cNvSpPr txBox="1"/>
          <p:nvPr/>
        </p:nvSpPr>
        <p:spPr>
          <a:xfrm>
            <a:off x="1065900" y="2922747"/>
            <a:ext cx="39695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แต่งงานแล้ว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129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14.48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ยังไม่แต่งงาน </a:t>
            </a:r>
            <a:r>
              <a:rPr lang="en-US" sz="1800" dirty="0"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220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24.70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sz="1800" i="0" dirty="0">
              <a:solidFill>
                <a:srgbClr val="FF0000"/>
              </a:solidFill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ระบุไม่ได้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542</a:t>
            </a:r>
            <a:r>
              <a:rPr lang="en-US" i="0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60.83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182403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4C7C39-12C9-66C2-7E54-51EF61DA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6</a:t>
            </a:fld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EA9F2-C57E-E452-1072-E6E579313180}"/>
              </a:ext>
            </a:extLst>
          </p:cNvPr>
          <p:cNvSpPr txBox="1"/>
          <p:nvPr/>
        </p:nvSpPr>
        <p:spPr>
          <a:xfrm>
            <a:off x="668323" y="392936"/>
            <a:ext cx="323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4.จำนวนเพศชายและหญิง</a:t>
            </a:r>
          </a:p>
          <a:p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Sex</a:t>
            </a:r>
            <a:endParaRPr lang="th-TH" sz="24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female : 314 </a:t>
            </a:r>
            <a:endParaRPr lang="th-TH" sz="24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male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577</a:t>
            </a:r>
            <a:endParaRPr lang="th-TH" sz="240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F1D052E-5811-AB1A-BF52-B566320FDF78}"/>
              </a:ext>
            </a:extLst>
          </p:cNvPr>
          <p:cNvSpPr txBox="1">
            <a:spLocks/>
          </p:cNvSpPr>
          <p:nvPr/>
        </p:nvSpPr>
        <p:spPr>
          <a:xfrm>
            <a:off x="11653574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6</a:t>
            </a:fld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1326F2-EDD7-7B33-40D9-C5ACBB0EAEAF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CA5FC4-2CC4-CE87-AEF6-78E34E85D359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CFC49C0-5714-92CC-49D0-1778579514A4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C167B0E-D111-A795-B9C5-2B87410E79C6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266" name="Picture 2">
            <a:extLst>
              <a:ext uri="{FF2B5EF4-FFF2-40B4-BE49-F238E27FC236}">
                <a16:creationId xmlns:a16="http://schemas.microsoft.com/office/drawing/2014/main" id="{5A5480FB-2861-C0E1-168D-5663CDE4D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240" y="605229"/>
            <a:ext cx="52578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04F3D4-A8B6-4B92-BA34-D6C6F8E614AA}"/>
              </a:ext>
            </a:extLst>
          </p:cNvPr>
          <p:cNvSpPr txBox="1"/>
          <p:nvPr/>
        </p:nvSpPr>
        <p:spPr>
          <a:xfrm>
            <a:off x="607305" y="2547565"/>
            <a:ext cx="4620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เพศหญิงจำนวน 314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35.24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เพศชายจำนวน 577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64.76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78516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3A5B4A-49D3-38D4-1897-355FF2E84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7</a:t>
            </a:fld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8926C-EE78-764D-9620-50CE97A8D60A}"/>
              </a:ext>
            </a:extLst>
          </p:cNvPr>
          <p:cNvSpPr txBox="1"/>
          <p:nvPr/>
        </p:nvSpPr>
        <p:spPr>
          <a:xfrm>
            <a:off x="404281" y="612913"/>
            <a:ext cx="418875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5.จำนวนเด็ก,ผู้ใหญ่และที่ระบุไม่ได้</a:t>
            </a: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เด็ก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 113 </a:t>
            </a: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ผู้ใหญ่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601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ระบุไม่ได้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 177</a:t>
            </a:r>
            <a:endParaRPr lang="en-US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3FFBDE42-FF1A-26B6-A3E5-EB952B72C885}"/>
              </a:ext>
            </a:extLst>
          </p:cNvPr>
          <p:cNvSpPr txBox="1">
            <a:spLocks/>
          </p:cNvSpPr>
          <p:nvPr/>
        </p:nvSpPr>
        <p:spPr>
          <a:xfrm>
            <a:off x="11728887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7</a:t>
            </a:fld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BE7C0-637E-3194-5FC6-1904D83D84E2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92889F0-420E-8CAC-88B9-6697AA1B19B4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E438E22-01D1-4325-A873-5782389372DD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B9119C5-8B39-333D-366C-8D0ED06477EF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4D0D25C-BF34-5721-CCD6-EA75C559D04C}"/>
              </a:ext>
            </a:extLst>
          </p:cNvPr>
          <p:cNvSpPr txBox="1"/>
          <p:nvPr/>
        </p:nvSpPr>
        <p:spPr>
          <a:xfrm>
            <a:off x="522973" y="2613864"/>
            <a:ext cx="39513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เป็นเด็กจำนวน 113 คน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12.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68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เป็นผู้ใหญ่จำนวน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601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 คน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67.45 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ระบุไม่ได้จำนวน 177 คน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19.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87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468086-008B-7835-B54A-FDE207477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087" y="866596"/>
            <a:ext cx="52578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51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F17A7A-70DC-C985-96DE-56358170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8</a:t>
            </a:fld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FF8767-16E9-5A27-F271-BAC668E6277B}"/>
              </a:ext>
            </a:extLst>
          </p:cNvPr>
          <p:cNvSpPr txBox="1"/>
          <p:nvPr/>
        </p:nvSpPr>
        <p:spPr>
          <a:xfrm>
            <a:off x="164988" y="924945"/>
            <a:ext cx="56003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6. จำนวนคนโสด,มีคู่สมรส 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หรือพี่น้อง 1 คนหรือมากกว่า 1 คน</a:t>
            </a:r>
            <a:endParaRPr lang="en-US" sz="2800" b="1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th-TH" sz="22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จำนวนคนโสด : 608 </a:t>
            </a:r>
          </a:p>
          <a:p>
            <a:r>
              <a:rPr lang="th-TH" sz="22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จำนวนคู่สมรสหรือพี่น้อง 1 คน  : 209 </a:t>
            </a:r>
          </a:p>
          <a:p>
            <a:r>
              <a:rPr lang="th-TH" sz="22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จำนวนคู่สมรสหรือพี่น้องมากกว่า 1 คน</a:t>
            </a:r>
            <a:r>
              <a:rPr lang="th-TH" sz="2200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2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 74</a:t>
            </a:r>
            <a:endParaRPr lang="th-TH" sz="220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99ED1BF-9BD6-D709-1F26-EABC9E07BBFD}"/>
              </a:ext>
            </a:extLst>
          </p:cNvPr>
          <p:cNvSpPr txBox="1">
            <a:spLocks/>
          </p:cNvSpPr>
          <p:nvPr/>
        </p:nvSpPr>
        <p:spPr>
          <a:xfrm>
            <a:off x="11728887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8</a:t>
            </a:fld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BE70D3-E8C7-4721-A57F-2B6C6F5FBC62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F5A1BF-6A80-C233-6B08-A350AFF1F89B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1E079AC-5444-4D7E-9CD3-B0A044BBEDDD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2BA6D4B-AFAB-0ECB-87A5-824A8987232D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3314" name="Picture 2">
            <a:extLst>
              <a:ext uri="{FF2B5EF4-FFF2-40B4-BE49-F238E27FC236}">
                <a16:creationId xmlns:a16="http://schemas.microsoft.com/office/drawing/2014/main" id="{CF97A542-234C-B3F4-ECEC-49AFB2928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421" y="924945"/>
            <a:ext cx="5267325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56F76E2-3E9E-1505-ABEC-7D9A8C773C7A}"/>
              </a:ext>
            </a:extLst>
          </p:cNvPr>
          <p:cNvSpPr txBox="1"/>
          <p:nvPr/>
        </p:nvSpPr>
        <p:spPr>
          <a:xfrm>
            <a:off x="367799" y="3229636"/>
            <a:ext cx="61179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จำนวนคนโสด : 608 </a:t>
            </a:r>
            <a:r>
              <a:rPr lang="th-TH" dirty="0"/>
              <a:t>คน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68.24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จำนวนคู่สมรสหรือพี่น้อง 1 คน  : 209 </a:t>
            </a:r>
            <a:r>
              <a:rPr lang="th-TH" dirty="0"/>
              <a:t>คน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23.46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จำนวนคู่สมรสหรือพี่น้องมากกว่า 1 คน</a:t>
            </a:r>
            <a:r>
              <a:rPr lang="th-TH" sz="1800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 74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/>
              <a:t>คน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8.30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48715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58FAFD-0940-91ED-91B0-59E5A62F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9</a:t>
            </a:fld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76412A-3667-433A-91AE-DEFB0D8B2705}"/>
              </a:ext>
            </a:extLst>
          </p:cNvPr>
          <p:cNvSpPr txBox="1"/>
          <p:nvPr/>
        </p:nvSpPr>
        <p:spPr>
          <a:xfrm>
            <a:off x="321794" y="953025"/>
            <a:ext cx="548053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7.จำนวน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ผู้ที่มีผู้ปกครอง</a:t>
            </a:r>
            <a:r>
              <a:rPr lang="en-US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หรือลูก</a:t>
            </a:r>
            <a:endParaRPr lang="en-US" sz="2800" b="1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จำนวน</a:t>
            </a:r>
            <a:r>
              <a:rPr lang="th-TH" sz="2400" dirty="0">
                <a:latin typeface="FreesiaUPC" panose="020B0604020202020204" pitchFamily="34" charset="-34"/>
                <a:cs typeface="FreesiaUPC" panose="020B0604020202020204" pitchFamily="34" charset="-34"/>
              </a:rPr>
              <a:t>ผู้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ที่มีผู้ปกครอง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หรือลูก : 213</a:t>
            </a:r>
            <a:endParaRPr lang="en-US" sz="24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จำนวนผู้ที่ไม่มีผู้ปกครอง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หรือลูก : 678</a:t>
            </a:r>
            <a:endParaRPr lang="th-TH" sz="240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706A6D3-90DA-7A14-DD2B-8507DFE3073B}"/>
              </a:ext>
            </a:extLst>
          </p:cNvPr>
          <p:cNvSpPr txBox="1">
            <a:spLocks/>
          </p:cNvSpPr>
          <p:nvPr/>
        </p:nvSpPr>
        <p:spPr>
          <a:xfrm>
            <a:off x="11728887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9</a:t>
            </a:fld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1C3F43-CEEA-FAC5-5E5C-1445961B157C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857F60-0AAD-60CC-655E-57E5C2F4E017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781A39D-A975-5429-3BBA-BAA8BC1D0C77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658A040-D207-C680-24DA-A8628C334119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677FFA5-4686-CFDD-EABB-83A3D4D46FCD}"/>
              </a:ext>
            </a:extLst>
          </p:cNvPr>
          <p:cNvSpPr txBox="1"/>
          <p:nvPr/>
        </p:nvSpPr>
        <p:spPr>
          <a:xfrm>
            <a:off x="392092" y="2725679"/>
            <a:ext cx="6117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</a:t>
            </a:r>
            <a:r>
              <a:rPr lang="th-TH" sz="1800" dirty="0">
                <a:latin typeface="FreesiaUPC" panose="020B0604020202020204" pitchFamily="34" charset="-34"/>
                <a:cs typeface="FreesiaUPC" panose="020B0604020202020204" pitchFamily="34" charset="-34"/>
              </a:rPr>
              <a:t>ผู้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ที่มีผู้ปกครอง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หรือลูก : 213</a:t>
            </a:r>
            <a:r>
              <a:rPr lang="th-TH" dirty="0"/>
              <a:t> คน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23.90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จำนวนผู้ที่ไม่มีผู้ปกครอง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หรือลูก : 678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76.10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6D4D19ED-1EC6-0193-24F7-2056E0CCA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240" y="1079009"/>
            <a:ext cx="52578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291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1A3A36-4C44-8E79-FAEE-6A64F2F3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10</a:t>
            </a:fld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72806-2028-7C67-EA72-78448787DDA2}"/>
              </a:ext>
            </a:extLst>
          </p:cNvPr>
          <p:cNvSpPr txBox="1"/>
          <p:nvPr/>
        </p:nvSpPr>
        <p:spPr>
          <a:xfrm>
            <a:off x="393213" y="742993"/>
            <a:ext cx="51438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8.ราคาตั๋ว ที่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น้อยกว่า 10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$,10$ 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ถึง 50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$,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 50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ถึง 100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และมากกว่า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100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</a:t>
            </a:r>
          </a:p>
          <a:p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0-10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321 </a:t>
            </a:r>
            <a:endParaRPr lang="th-TH" sz="2000" b="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10-50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395 </a:t>
            </a:r>
            <a:endParaRPr lang="th-TH" sz="2000" b="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50-100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107 </a:t>
            </a:r>
            <a:endParaRPr lang="th-TH" sz="20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100-1000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53</a:t>
            </a:r>
            <a:endParaRPr lang="th-TH" sz="2000" b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AE8AD5A-5AA9-76C3-1F47-A996AE4B3FC1}"/>
              </a:ext>
            </a:extLst>
          </p:cNvPr>
          <p:cNvSpPr txBox="1">
            <a:spLocks/>
          </p:cNvSpPr>
          <p:nvPr/>
        </p:nvSpPr>
        <p:spPr>
          <a:xfrm>
            <a:off x="11728887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10</a:t>
            </a:fld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CBD5DB-4A7B-61CE-C357-24F92E4151CF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F4E26B-8287-7825-21FF-32B0C38193D7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96C246-0DFB-F111-928D-C671BCB79399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62A24C-91C7-C2AB-1F3D-0559584B046D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4100" name="Picture 4">
            <a:extLst>
              <a:ext uri="{FF2B5EF4-FFF2-40B4-BE49-F238E27FC236}">
                <a16:creationId xmlns:a16="http://schemas.microsoft.com/office/drawing/2014/main" id="{E71A0BFF-C183-ABE9-85E1-11565D1EE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551" y="861134"/>
            <a:ext cx="5380489" cy="424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DABE2F-4EBA-20FF-9D78-617B6F0A505A}"/>
              </a:ext>
            </a:extLst>
          </p:cNvPr>
          <p:cNvSpPr txBox="1"/>
          <p:nvPr/>
        </p:nvSpPr>
        <p:spPr>
          <a:xfrm>
            <a:off x="307092" y="3312618"/>
            <a:ext cx="54335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ราคาตั๋ว ที่อยู่ในช่วง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0-10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321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36.03 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ราคาตั๋ว ที่อยู่ในช่วง 1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0-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95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44.33 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ราคาตั๋ว ที่อยู่ในช่วง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50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-1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107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12.00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ราคาตั๋ว ที่อยู่ในช่วง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100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-10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00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5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</a:t>
            </a:r>
            <a:r>
              <a:rPr lang="th-TH" sz="1800" i="0" dirty="0">
                <a:solidFill>
                  <a:srgbClr val="FF000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7.64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16681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B850E1-E11B-7881-2610-1593A64B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11</a:t>
            </a:fld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A1A637-6A79-D289-F47D-5EA010627D7B}"/>
              </a:ext>
            </a:extLst>
          </p:cNvPr>
          <p:cNvSpPr txBox="1"/>
          <p:nvPr/>
        </p:nvSpPr>
        <p:spPr>
          <a:xfrm>
            <a:off x="314284" y="692964"/>
            <a:ext cx="565830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9. จำนวนผู้ที่มีห้องโดยสารและไม่มีห้องโดยสาร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จำนวนผู้ที่มีห้องโดยสาร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  204 </a:t>
            </a:r>
            <a:endParaRPr lang="en-US" sz="24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จำนวนผู้ที่ไม่มีห้องโดยสาร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:  687</a:t>
            </a:r>
            <a:endParaRPr lang="th-TH" sz="240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2E2D6F6-28E9-D8CD-CB73-0818CF0C3B46}"/>
              </a:ext>
            </a:extLst>
          </p:cNvPr>
          <p:cNvSpPr txBox="1">
            <a:spLocks/>
          </p:cNvSpPr>
          <p:nvPr/>
        </p:nvSpPr>
        <p:spPr>
          <a:xfrm>
            <a:off x="11728887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11</a:t>
            </a:fld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934C49-8B55-2515-FBCF-90673EA20F37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AD5CB6-4C62-EBE4-19AD-588A8D7D88C2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25E190-26A1-E331-B673-79F19A90AD15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D52C36B-8881-ED37-7EC4-199669FEB64E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5362" name="Picture 2">
            <a:extLst>
              <a:ext uri="{FF2B5EF4-FFF2-40B4-BE49-F238E27FC236}">
                <a16:creationId xmlns:a16="http://schemas.microsoft.com/office/drawing/2014/main" id="{E6A59DDE-4F4B-7F55-DDFB-674F02798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240" y="948940"/>
            <a:ext cx="52578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3AEC06-0F34-F1A4-AB5D-94D25128AA96}"/>
              </a:ext>
            </a:extLst>
          </p:cNvPr>
          <p:cNvSpPr txBox="1"/>
          <p:nvPr/>
        </p:nvSpPr>
        <p:spPr>
          <a:xfrm>
            <a:off x="314284" y="2505670"/>
            <a:ext cx="61179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จำนวนผู้ที่มีห้องโดยสาร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204 </a:t>
            </a:r>
            <a:r>
              <a:rPr lang="th-TH" dirty="0"/>
              <a:t>คน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22.90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จำนวนผู้ที่ไม่มีห้องโดยสาร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687 </a:t>
            </a:r>
            <a:r>
              <a:rPr lang="th-TH" dirty="0"/>
              <a:t>คน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77.10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endParaRPr lang="th-TH" sz="180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48404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19E92-5F89-9DEB-E1A4-B8AAD71B2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12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67735-3147-B941-EF5A-4D58C971ACF0}"/>
              </a:ext>
            </a:extLst>
          </p:cNvPr>
          <p:cNvSpPr txBox="1"/>
          <p:nvPr/>
        </p:nvSpPr>
        <p:spPr>
          <a:xfrm>
            <a:off x="511445" y="396950"/>
            <a:ext cx="41577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.จำนวนผู้โดยสารแต่ละท่าเรือ</a:t>
            </a:r>
          </a:p>
          <a:p>
            <a:r>
              <a:rPr lang="en-US" sz="2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4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Embarked</a:t>
            </a:r>
          </a:p>
          <a:p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C       168</a:t>
            </a:r>
          </a:p>
          <a:p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Q         77 </a:t>
            </a:r>
          </a:p>
          <a:p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S       644</a:t>
            </a:r>
            <a:endParaRPr lang="en-US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C7522C-6418-F1EE-25AE-0C9D2923C149}"/>
              </a:ext>
            </a:extLst>
          </p:cNvPr>
          <p:cNvSpPr txBox="1">
            <a:spLocks/>
          </p:cNvSpPr>
          <p:nvPr/>
        </p:nvSpPr>
        <p:spPr>
          <a:xfrm>
            <a:off x="11728887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12</a:t>
            </a:fld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57C973-B38D-CDB7-5A30-E67B8F38FD07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F254BA-D049-0438-594A-4BF9F644F02D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151BC2-D6C2-0F3A-EC68-500B3B0328FD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FD6CA49-A935-E1CD-1E95-E1E3CEFF7F63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640F117-61A4-C9EA-01D1-B7901F715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077" y="866596"/>
            <a:ext cx="5257800" cy="414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DC1ACC-F72F-7263-C064-708FF7228ECB}"/>
              </a:ext>
            </a:extLst>
          </p:cNvPr>
          <p:cNvSpPr txBox="1"/>
          <p:nvPr/>
        </p:nvSpPr>
        <p:spPr>
          <a:xfrm>
            <a:off x="688559" y="2657368"/>
            <a:ext cx="42776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จำนวนผู้ที่ขึ้น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</a:t>
            </a:r>
            <a:r>
              <a:rPr lang="th-TH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ท่าเรือ  </a:t>
            </a:r>
            <a:r>
              <a:rPr lang="en-US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C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: 168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 คน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18.85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จำนวนผู้ที่ขึ้น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</a:t>
            </a:r>
            <a:r>
              <a:rPr lang="th-TH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ท่าเรือ</a:t>
            </a:r>
            <a:r>
              <a:rPr lang="en-US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Q : 77 </a:t>
            </a:r>
            <a:r>
              <a:rPr lang="th-TH" dirty="0"/>
              <a:t>คน</a:t>
            </a:r>
            <a:r>
              <a:rPr lang="en-US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8.64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จำนวนผู้ที่ขึ้น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</a:t>
            </a:r>
            <a:r>
              <a:rPr lang="th-TH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ท่าเรือ</a:t>
            </a:r>
            <a:r>
              <a:rPr lang="en-US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S : 644</a:t>
            </a:r>
            <a:r>
              <a:rPr lang="th-TH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/>
              <a:t>คน</a:t>
            </a:r>
            <a:r>
              <a:rPr lang="th-TH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8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72.78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endParaRPr lang="en-US" sz="18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80637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19198-B203-2B30-641B-024C41B7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13</a:t>
            </a:fld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32EBE-5854-53F4-ACC0-F90447D5684E}"/>
              </a:ext>
            </a:extLst>
          </p:cNvPr>
          <p:cNvSpPr txBox="1"/>
          <p:nvPr/>
        </p:nvSpPr>
        <p:spPr>
          <a:xfrm>
            <a:off x="328323" y="470442"/>
            <a:ext cx="512256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1</a:t>
            </a:r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.จำนวนผู้รอดชีวิต และเสียชีวิตในแต่ละชั้น</a:t>
            </a:r>
          </a:p>
          <a:p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sz="2000" b="0" i="0" dirty="0" err="1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Pclass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Survived     Count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1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0           80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1  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1          136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2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0            97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2 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1            87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3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0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372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3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1           119</a:t>
            </a:r>
            <a:endParaRPr lang="en-US" sz="20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E83554-C637-12DA-0FAA-D48B57808597}"/>
              </a:ext>
            </a:extLst>
          </p:cNvPr>
          <p:cNvSpPr txBox="1">
            <a:spLocks/>
          </p:cNvSpPr>
          <p:nvPr/>
        </p:nvSpPr>
        <p:spPr>
          <a:xfrm>
            <a:off x="11728887" y="6417502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13</a:t>
            </a:fld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2C34FA-104E-321C-999C-7E3F8A8D8E63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4DE833-A8D7-03CE-D644-6B49DB31AF30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8800410-4262-BB2A-5A15-C478CBD77771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FF8CEDF-2969-E961-DFA5-7E91B90E4627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74622E51-388F-2EE4-A035-7CE6581AB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112" y="818180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C0FFFC-213A-06C5-A22A-44D9D521F54E}"/>
              </a:ext>
            </a:extLst>
          </p:cNvPr>
          <p:cNvSpPr txBox="1"/>
          <p:nvPr/>
        </p:nvSpPr>
        <p:spPr>
          <a:xfrm>
            <a:off x="705163" y="3209653"/>
            <a:ext cx="43678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จำนวนผู้เสียชีวิต ในชั้น 1 </a:t>
            </a:r>
            <a:r>
              <a:rPr lang="en-US" dirty="0"/>
              <a:t>:</a:t>
            </a:r>
            <a:r>
              <a:rPr lang="th-TH" dirty="0"/>
              <a:t>   80 คน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8.98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/>
              <a:t>จำนวนผู้รอดชีวิต ในชั้น 1 </a:t>
            </a:r>
            <a:r>
              <a:rPr lang="en-US" dirty="0"/>
              <a:t>:</a:t>
            </a:r>
            <a:r>
              <a:rPr lang="th-TH" dirty="0"/>
              <a:t>  13</a:t>
            </a:r>
            <a:r>
              <a:rPr lang="en-US" dirty="0"/>
              <a:t>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1.46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จำนวนผู้เสียชีวิต ในชั้น 2 </a:t>
            </a:r>
            <a:r>
              <a:rPr lang="en-US" dirty="0"/>
              <a:t>:</a:t>
            </a:r>
            <a:r>
              <a:rPr lang="th-TH" dirty="0"/>
              <a:t>   97</a:t>
            </a:r>
            <a:r>
              <a:rPr lang="en-US" dirty="0"/>
              <a:t>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10.88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ในชั้น 2 </a:t>
            </a:r>
            <a:r>
              <a:rPr lang="en-US" dirty="0"/>
              <a:t>:</a:t>
            </a:r>
            <a:r>
              <a:rPr lang="th-TH" dirty="0"/>
              <a:t>   87</a:t>
            </a:r>
            <a:r>
              <a:rPr lang="en-US" dirty="0"/>
              <a:t>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9.76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จำนวนผู้เสียชีวิต ในชั้น 3 </a:t>
            </a:r>
            <a:r>
              <a:rPr lang="en-US" dirty="0"/>
              <a:t>:</a:t>
            </a:r>
            <a:r>
              <a:rPr lang="th-TH" dirty="0"/>
              <a:t>   372</a:t>
            </a:r>
            <a:r>
              <a:rPr lang="en-US" dirty="0"/>
              <a:t>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41.75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ในชั้น 3 </a:t>
            </a:r>
            <a:r>
              <a:rPr lang="en-US" dirty="0"/>
              <a:t>:</a:t>
            </a:r>
            <a:r>
              <a:rPr lang="th-TH" dirty="0"/>
              <a:t>  119</a:t>
            </a:r>
            <a:r>
              <a:rPr lang="en-US" dirty="0"/>
              <a:t>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27.17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12107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DA0B1-32FA-540E-DBA8-C95E2A44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14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A544B-A26E-5888-D1EC-9124736EDAC4}"/>
              </a:ext>
            </a:extLst>
          </p:cNvPr>
          <p:cNvSpPr txBox="1"/>
          <p:nvPr/>
        </p:nvSpPr>
        <p:spPr>
          <a:xfrm>
            <a:off x="309214" y="416868"/>
            <a:ext cx="57867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2</a:t>
            </a:r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.จำนวนผู้รอดชีวิตและผู้เสียชีวิตที่แต่งงานแล้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ว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,</a:t>
            </a:r>
          </a:p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ยังไม่แต่งงาน หรือระบุไม่ได้</a:t>
            </a:r>
          </a:p>
          <a:p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 err="1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MarriedStatus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Survived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Count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Married                   0     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26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Married                   1                101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Single                     0    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72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Single                     1                150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Unknown                 0                451 </a:t>
            </a:r>
          </a:p>
          <a:p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Unknown                 1                  91</a:t>
            </a:r>
            <a:endParaRPr lang="en-US" sz="20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7265EA-F114-E711-1151-5CB34895D00B}"/>
              </a:ext>
            </a:extLst>
          </p:cNvPr>
          <p:cNvSpPr txBox="1">
            <a:spLocks/>
          </p:cNvSpPr>
          <p:nvPr/>
        </p:nvSpPr>
        <p:spPr>
          <a:xfrm>
            <a:off x="11728887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14</a:t>
            </a:fld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CC91BF-AA50-AE64-6107-48FD95D796F8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B3AC3EF-98EB-196E-18A0-13EC894F6847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43662DB-190A-B2A9-F601-20844FFA665E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6F73C35-4F2C-0012-A7B8-34AC7A1DAABA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6E6E393D-EAA3-C7C5-C6A9-7860ECE6F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112" y="794970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179D744-913C-40F6-F36F-B86D926B4B48}"/>
              </a:ext>
            </a:extLst>
          </p:cNvPr>
          <p:cNvSpPr txBox="1"/>
          <p:nvPr/>
        </p:nvSpPr>
        <p:spPr>
          <a:xfrm>
            <a:off x="617995" y="3752956"/>
            <a:ext cx="61179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จำนวนผู้เสียชีวิต ที่แต่งงานแล้ว  26 </a:t>
            </a:r>
            <a:r>
              <a:rPr lang="en-US" dirty="0"/>
              <a:t>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2.92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/>
              <a:t>จำนวนผู้รอดชีวิต ที่แต่งงานแล้ว  101</a:t>
            </a:r>
            <a:r>
              <a:rPr lang="en-US" dirty="0"/>
              <a:t> </a:t>
            </a:r>
            <a:r>
              <a:rPr lang="th-TH" dirty="0"/>
              <a:t>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11.34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จำนวนผู้เสียชีวิต ที่โสด  72 คน 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8.08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ที่โสด  150</a:t>
            </a:r>
            <a:r>
              <a:rPr lang="en-US" dirty="0"/>
              <a:t>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16.83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จำนวนผู้เสียชีวิต  ที่ระบุสาถานะไม่ได้   451 คน</a:t>
            </a:r>
            <a:r>
              <a:rPr lang="en-US" dirty="0"/>
              <a:t>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50.62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 ที่ระบุสาถานะไม่ได้   91 คน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10.21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825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04C56-11A9-4C83-6B64-7F2336C5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15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178F7D-78F6-B406-A293-0CC65AAF72FD}"/>
              </a:ext>
            </a:extLst>
          </p:cNvPr>
          <p:cNvSpPr txBox="1"/>
          <p:nvPr/>
        </p:nvSpPr>
        <p:spPr>
          <a:xfrm>
            <a:off x="375835" y="463896"/>
            <a:ext cx="517861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3</a:t>
            </a:r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.จำนวนผู้รอดชีวิตและเสียชีวิต ในแต่ละเพศ</a:t>
            </a:r>
          </a:p>
          <a:p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Sex         Survived       Count </a:t>
            </a:r>
          </a:p>
          <a:p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female         0               81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female         1             233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male           0             468 </a:t>
            </a:r>
          </a:p>
          <a:p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male           1             109</a:t>
            </a:r>
            <a:endParaRPr lang="en-US" sz="20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B32A1F-2F38-1859-DEC3-783E6DDE6280}"/>
              </a:ext>
            </a:extLst>
          </p:cNvPr>
          <p:cNvSpPr txBox="1">
            <a:spLocks/>
          </p:cNvSpPr>
          <p:nvPr/>
        </p:nvSpPr>
        <p:spPr>
          <a:xfrm>
            <a:off x="11728887" y="6538912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15</a:t>
            </a:fld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BDD5D5-B94A-60D8-1B6F-7DCD286098C0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84C7F04-31AF-189D-FE45-A6751CAA2A18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7DF98A3-F5B0-BD2F-26B7-91543557D997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7378860-1CC8-0C45-1C05-EDF547C29DDA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076" name="Picture 4">
            <a:extLst>
              <a:ext uri="{FF2B5EF4-FFF2-40B4-BE49-F238E27FC236}">
                <a16:creationId xmlns:a16="http://schemas.microsoft.com/office/drawing/2014/main" id="{84AD7C52-EDA8-9862-034E-2B182D91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112" y="738281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1E0E0B-2F60-9361-002B-778A692FD658}"/>
              </a:ext>
            </a:extLst>
          </p:cNvPr>
          <p:cNvSpPr txBox="1"/>
          <p:nvPr/>
        </p:nvSpPr>
        <p:spPr>
          <a:xfrm>
            <a:off x="556001" y="2932790"/>
            <a:ext cx="46901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จำนวนผู้เสียชีวิต ที่เป็นเพศหญิง   81</a:t>
            </a:r>
            <a:r>
              <a:rPr lang="en-US" dirty="0"/>
              <a:t> </a:t>
            </a:r>
            <a:r>
              <a:rPr lang="th-TH" dirty="0"/>
              <a:t>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9.09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/>
              <a:t>จำนวนผู้รอดชีวิต ที่เป็นเพศหญิง  233</a:t>
            </a:r>
            <a:r>
              <a:rPr lang="en-US" dirty="0"/>
              <a:t>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26.15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จำนวนผู้เสียชีวิต ที่เป็นเพศชาย   468  คน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52.52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ที่เป็นเพศชาย   109</a:t>
            </a:r>
            <a:r>
              <a:rPr lang="en-US" dirty="0"/>
              <a:t> </a:t>
            </a:r>
            <a:r>
              <a:rPr lang="th-TH" dirty="0"/>
              <a:t>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12.24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189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7F79C-9560-D7CA-0EED-19E6327B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16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46F1B-8A3E-4E6F-12DE-6D1C7C8CD043}"/>
              </a:ext>
            </a:extLst>
          </p:cNvPr>
          <p:cNvSpPr txBox="1"/>
          <p:nvPr/>
        </p:nvSpPr>
        <p:spPr>
          <a:xfrm>
            <a:off x="345025" y="504898"/>
            <a:ext cx="558525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14</a:t>
            </a:r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.จำนวนผู้รอดชีวิตและเสียชีวิต ในเด็กและผู้ใหญ่ หรือระบุไม่ได้</a:t>
            </a:r>
          </a:p>
          <a:p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sz="2000" i="0" dirty="0" err="1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AgeStatus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Survived          Count </a:t>
            </a:r>
            <a:endParaRPr lang="th-TH" sz="20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Adult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372 </a:t>
            </a:r>
            <a:endParaRPr lang="th-TH" sz="20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Adult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229 </a:t>
            </a:r>
            <a:endParaRPr lang="th-TH" sz="20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Child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52 </a:t>
            </a:r>
            <a:endParaRPr lang="th-TH" sz="20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Child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61 </a:t>
            </a:r>
            <a:endParaRPr lang="th-TH" sz="20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Unknown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125 </a:t>
            </a:r>
            <a:endParaRPr lang="th-TH" sz="20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Unknown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</a:t>
            </a:r>
            <a:r>
              <a:rPr lang="th-TH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        </a:t>
            </a:r>
            <a:r>
              <a:rPr lang="en-US" sz="20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52</a:t>
            </a:r>
            <a:endParaRPr lang="th-TH" sz="200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3F75DB-A6EB-FCD1-8B5F-D29B3DE99F6B}"/>
              </a:ext>
            </a:extLst>
          </p:cNvPr>
          <p:cNvSpPr txBox="1">
            <a:spLocks/>
          </p:cNvSpPr>
          <p:nvPr/>
        </p:nvSpPr>
        <p:spPr>
          <a:xfrm>
            <a:off x="11753053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16</a:t>
            </a:fld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177D8-91D7-192A-29C4-D3A349B93D20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C8D965D-4AED-54E1-9AA2-111F95724AA7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E50F61D-E560-6586-D172-42F60BAA724C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644028D-2023-9895-CA62-DAA6A0F880C6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5124" name="Picture 4">
            <a:extLst>
              <a:ext uri="{FF2B5EF4-FFF2-40B4-BE49-F238E27FC236}">
                <a16:creationId xmlns:a16="http://schemas.microsoft.com/office/drawing/2014/main" id="{99085615-C76F-7ED2-0065-B86FCF3A0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100" y="835935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E20658B-99DB-57AC-D758-350B910E4BF7}"/>
              </a:ext>
            </a:extLst>
          </p:cNvPr>
          <p:cNvSpPr txBox="1"/>
          <p:nvPr/>
        </p:nvSpPr>
        <p:spPr>
          <a:xfrm>
            <a:off x="509125" y="3704491"/>
            <a:ext cx="61179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จำนวนผู้เสียชีวิต ที่เป็นผู้ใหญ่  372</a:t>
            </a:r>
            <a:r>
              <a:rPr lang="en-US" dirty="0"/>
              <a:t> </a:t>
            </a:r>
            <a:r>
              <a:rPr lang="th-TH" dirty="0"/>
              <a:t>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41.75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/>
              <a:t>จำนวนผู้รอดชีวิต ที่เป็นผู้ใหญ่  229</a:t>
            </a:r>
            <a:r>
              <a:rPr lang="en-US" dirty="0"/>
              <a:t>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25.70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จำนวนผู้เสียชีวิต ที่เป็นเด็ก  52  คน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5.83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ที่เป็นเด็ก  61</a:t>
            </a:r>
            <a:r>
              <a:rPr lang="en-US" dirty="0"/>
              <a:t> </a:t>
            </a:r>
            <a:r>
              <a:rPr lang="th-TH" dirty="0"/>
              <a:t>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6.86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dirty="0"/>
              <a:t>จำนวนผู้เสียชีวิต ที่ระบุไม่ได้  125  คน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14.03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ที่ระบุไม่ได้   52</a:t>
            </a:r>
            <a:r>
              <a:rPr lang="en-US" dirty="0"/>
              <a:t> </a:t>
            </a:r>
            <a:r>
              <a:rPr lang="th-TH" dirty="0"/>
              <a:t> 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5.83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396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908E9-8819-B86E-A6F4-CBBA7654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17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62F45-C63A-A47E-AD22-0E76A39C6292}"/>
              </a:ext>
            </a:extLst>
          </p:cNvPr>
          <p:cNvSpPr txBox="1"/>
          <p:nvPr/>
        </p:nvSpPr>
        <p:spPr>
          <a:xfrm>
            <a:off x="257452" y="486014"/>
            <a:ext cx="564866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1</a:t>
            </a:r>
            <a:r>
              <a:rPr lang="th-TH" sz="2800" b="1" dirty="0"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5</a:t>
            </a:r>
            <a:r>
              <a:rPr lang="th-TH" sz="2800" b="1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.จำนวนผู้รอดชีวิตและเสียชีวิต ต่อจำนวนคนโส</a:t>
            </a:r>
            <a:r>
              <a:rPr lang="th-TH" sz="2800" b="1" dirty="0"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ด</a:t>
            </a:r>
            <a:r>
              <a:rPr lang="th-TH" sz="2800" b="1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,มีคู่สมรส </a:t>
            </a:r>
            <a:r>
              <a:rPr lang="th-TH" sz="2800" b="1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หรือพี่น้อง 1 คนหรือมากกว่า 1 คน</a:t>
            </a:r>
            <a:endParaRPr lang="en-US" sz="2800" b="1" i="0" dirty="0">
              <a:effectLst/>
              <a:latin typeface="FreesiaUPC" panose="020B0604020202020204" pitchFamily="34" charset="-34"/>
              <a:ea typeface="Batang" panose="020B0503020000020004" pitchFamily="18" charset="-127"/>
              <a:cs typeface="FreesiaUPC" panose="020B0604020202020204" pitchFamily="34" charset="-34"/>
            </a:endParaRPr>
          </a:p>
          <a:p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 </a:t>
            </a:r>
            <a:r>
              <a:rPr lang="en-US" b="0" i="0" dirty="0" err="1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SibSpStatus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Survived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Count </a:t>
            </a:r>
          </a:p>
          <a:p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Couple 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0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</a:t>
            </a:r>
            <a:r>
              <a:rPr lang="th-TH" dirty="0"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97 </a:t>
            </a:r>
          </a:p>
          <a:p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Couple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1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112</a:t>
            </a:r>
          </a:p>
          <a:p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Multiple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0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54 </a:t>
            </a:r>
          </a:p>
          <a:p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Multiple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1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20 </a:t>
            </a:r>
          </a:p>
          <a:p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Single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0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398 </a:t>
            </a:r>
          </a:p>
          <a:p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Single 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 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1         </a:t>
            </a:r>
            <a:r>
              <a:rPr lang="th-TH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</a:t>
            </a:r>
            <a:r>
              <a:rPr lang="en-US" b="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210</a:t>
            </a:r>
            <a:endParaRPr lang="en-US" dirty="0">
              <a:latin typeface="FreesiaUPC" panose="020B0604020202020204" pitchFamily="34" charset="-34"/>
              <a:ea typeface="Batang" panose="020B0503020000020004" pitchFamily="18" charset="-127"/>
              <a:cs typeface="FreesiaUPC" panose="020B06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1CBA31-B229-BCBE-4BBE-F27D46A6244B}"/>
              </a:ext>
            </a:extLst>
          </p:cNvPr>
          <p:cNvSpPr txBox="1">
            <a:spLocks/>
          </p:cNvSpPr>
          <p:nvPr/>
        </p:nvSpPr>
        <p:spPr>
          <a:xfrm>
            <a:off x="11728887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17</a:t>
            </a:fld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9974DE-93F1-C37C-05F2-D96D233C2895}"/>
              </a:ext>
            </a:extLst>
          </p:cNvPr>
          <p:cNvSpPr/>
          <p:nvPr/>
        </p:nvSpPr>
        <p:spPr>
          <a:xfrm>
            <a:off x="5906117" y="0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8537E7-E5CB-8836-BE4C-11522644F368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DEF0B2-AB5D-8176-0DB7-A008CFA16355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4C44797-2DBF-DDFD-CC6E-1F6D0188A66E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6150" name="Picture 6">
            <a:extLst>
              <a:ext uri="{FF2B5EF4-FFF2-40B4-BE49-F238E27FC236}">
                <a16:creationId xmlns:a16="http://schemas.microsoft.com/office/drawing/2014/main" id="{4225F5AC-8DD3-9280-90D3-532AFCB81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345" y="829543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6C5F20-DB2D-33E6-C1A5-B0DF03224B67}"/>
              </a:ext>
            </a:extLst>
          </p:cNvPr>
          <p:cNvSpPr txBox="1"/>
          <p:nvPr/>
        </p:nvSpPr>
        <p:spPr>
          <a:xfrm>
            <a:off x="257452" y="3431193"/>
            <a:ext cx="80610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จำนวนผู้เสียชีวิต ที่</a:t>
            </a:r>
            <a:r>
              <a:rPr lang="th-TH" sz="180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มีคู่สมรส </a:t>
            </a:r>
            <a:r>
              <a:rPr lang="th-TH" sz="180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หรือพี่น้อง 1 คน </a:t>
            </a:r>
            <a:r>
              <a:rPr lang="th-TH" dirty="0"/>
              <a:t> 97  คน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10.89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ที่</a:t>
            </a:r>
            <a:r>
              <a:rPr lang="th-TH" sz="180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มีคู่สมรส </a:t>
            </a:r>
            <a:r>
              <a:rPr lang="th-TH" sz="180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หรือพี่น้อง 1 คน  112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12.60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จำนวนผู้เสียชีวิต ที่</a:t>
            </a:r>
            <a:r>
              <a:rPr lang="th-TH" sz="180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มีคู่สมรส </a:t>
            </a:r>
            <a:r>
              <a:rPr lang="th-TH" sz="180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หรือพี่น้อง มากกว่า 1 คน</a:t>
            </a:r>
            <a:r>
              <a:rPr lang="th-TH" dirty="0"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54</a:t>
            </a:r>
            <a:r>
              <a:rPr lang="th-TH" dirty="0"/>
              <a:t>  คน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6.06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ที่</a:t>
            </a:r>
            <a:r>
              <a:rPr lang="th-TH" sz="180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มีคู่สมรส </a:t>
            </a:r>
            <a:r>
              <a:rPr lang="th-TH" sz="180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หรือพี่น้อง มากกว่า 1 คน</a:t>
            </a:r>
            <a:r>
              <a:rPr lang="th-TH" dirty="0"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20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2.18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จำนวนผู้เสียชีวิต ที่โสด    398   คน</a:t>
            </a:r>
            <a:r>
              <a:rPr lang="en-US" dirty="0"/>
              <a:t>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44.7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ที่โสด  210</a:t>
            </a:r>
            <a:r>
              <a:rPr lang="en-US" dirty="0"/>
              <a:t> </a:t>
            </a:r>
            <a:r>
              <a:rPr lang="th-TH" dirty="0"/>
              <a:t> คน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23.57 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82118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5DF44-07CF-755D-F98F-FD55DCB2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18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E0D7F-B1F1-CBBC-00B0-0BBAA1CD5DFD}"/>
              </a:ext>
            </a:extLst>
          </p:cNvPr>
          <p:cNvSpPr txBox="1"/>
          <p:nvPr/>
        </p:nvSpPr>
        <p:spPr>
          <a:xfrm>
            <a:off x="181185" y="302142"/>
            <a:ext cx="574909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6</a:t>
            </a:r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.จำนวนผู้รอดชีวิตและเสียชีวิต 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ต่อผู้ที่มีผู้ปกครองหรือลูก หรือไม่มีผู้ที่มีผู้ปกครองหรือลูก</a:t>
            </a:r>
            <a:endParaRPr lang="en-US" sz="2800" b="1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400" b="0" i="0" dirty="0" err="1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ParchStatus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Survived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Count </a:t>
            </a:r>
          </a:p>
          <a:p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False        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0     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445 </a:t>
            </a:r>
          </a:p>
          <a:p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False        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1     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233 </a:t>
            </a:r>
          </a:p>
          <a:p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True         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    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104 </a:t>
            </a:r>
          </a:p>
          <a:p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True         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1     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109</a:t>
            </a:r>
            <a:endParaRPr lang="en-US" sz="24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3CB3D7-A511-C911-5283-F9211AD64A4D}"/>
              </a:ext>
            </a:extLst>
          </p:cNvPr>
          <p:cNvSpPr txBox="1">
            <a:spLocks/>
          </p:cNvSpPr>
          <p:nvPr/>
        </p:nvSpPr>
        <p:spPr>
          <a:xfrm>
            <a:off x="11728887" y="6492875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18</a:t>
            </a:fld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2060C7-FC0B-A569-3E3D-6E98E7AFAF38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29DAB5-D8E5-E166-EB42-B628B45E30BC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1B8C35C-C9CB-9C9C-A532-6636AF1B47E6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8B138B3-2B27-AEC5-18DB-BCCE08C8CA13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7410" name="Picture 2">
            <a:extLst>
              <a:ext uri="{FF2B5EF4-FFF2-40B4-BE49-F238E27FC236}">
                <a16:creationId xmlns:a16="http://schemas.microsoft.com/office/drawing/2014/main" id="{4C98B53D-C4A7-A822-74F6-39E7E2DA6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112" y="676096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BAD8B2-8BFC-FC1F-FE20-353B5E30749B}"/>
              </a:ext>
            </a:extLst>
          </p:cNvPr>
          <p:cNvSpPr txBox="1"/>
          <p:nvPr/>
        </p:nvSpPr>
        <p:spPr>
          <a:xfrm>
            <a:off x="257452" y="3431193"/>
            <a:ext cx="8061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/>
              <a:t>จำนวนผู้เสียชีวิต ที่</a:t>
            </a:r>
            <a:r>
              <a:rPr lang="th-TH" sz="180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มี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ผู้ที่ไม่มีผู้ปกครองหรือลูก 445</a:t>
            </a:r>
            <a:r>
              <a:rPr lang="th-TH" dirty="0"/>
              <a:t>  คน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49.94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ที่</a:t>
            </a:r>
            <a:r>
              <a:rPr lang="th-TH" sz="180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มี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ผู้ที่ไม่มีผู้ปกครองหรือลูก </a:t>
            </a:r>
            <a:r>
              <a:rPr lang="th-TH" sz="180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233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26.15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จำนวนผู้เสียชีวิต ที่</a:t>
            </a:r>
            <a:r>
              <a:rPr lang="th-TH" sz="180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มี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ผู้ที่มีผู้ปกครองหรือลูก</a:t>
            </a:r>
            <a:r>
              <a:rPr lang="th-TH" dirty="0"/>
              <a:t>คน  104  คน</a:t>
            </a:r>
            <a:r>
              <a:rPr lang="en-US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11.68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dirty="0"/>
              <a:t>จำนวนผู้รอดชีวิต ที่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ผู้ที่มีผู้ปกครองหรือลูก</a:t>
            </a:r>
            <a:r>
              <a:rPr lang="th-TH" sz="1800" i="0" dirty="0">
                <a:effectLst/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น</a:t>
            </a:r>
            <a:r>
              <a:rPr lang="th-TH" dirty="0">
                <a:latin typeface="FreesiaUPC" panose="020B0604020202020204" pitchFamily="34" charset="-34"/>
                <a:ea typeface="Batang" panose="020B0503020000020004" pitchFamily="18" charset="-127"/>
                <a:cs typeface="FreesiaUPC" panose="020B0604020202020204" pitchFamily="34" charset="-34"/>
              </a:rPr>
              <a:t>  109 </a:t>
            </a:r>
            <a:r>
              <a:rPr lang="th-TH" dirty="0"/>
              <a:t>คน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12.23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3668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04BD-9D2B-1744-D725-44185525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19</a:t>
            </a:fld>
            <a:endParaRPr lang="en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12C95-13A4-59FB-1366-09F88C55C1D9}"/>
              </a:ext>
            </a:extLst>
          </p:cNvPr>
          <p:cNvSpPr txBox="1">
            <a:spLocks/>
          </p:cNvSpPr>
          <p:nvPr/>
        </p:nvSpPr>
        <p:spPr>
          <a:xfrm>
            <a:off x="11593995" y="6417502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19</a:t>
            </a:fld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C64126-A521-AF13-4906-AA71C370826A}"/>
              </a:ext>
            </a:extLst>
          </p:cNvPr>
          <p:cNvSpPr txBox="1"/>
          <p:nvPr/>
        </p:nvSpPr>
        <p:spPr>
          <a:xfrm>
            <a:off x="262042" y="300990"/>
            <a:ext cx="489746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1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7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.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จำนวนผู้รอดชีวิตและเสียชีวิต ที่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น้อยกว่า 10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$,10$ 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ถึง 50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$,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 50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ถึง 100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และมากกว่า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100</a:t>
            </a:r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$</a:t>
            </a:r>
          </a:p>
          <a:p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Fare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Survived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Count</a:t>
            </a:r>
          </a:p>
          <a:p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0-10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255 </a:t>
            </a:r>
          </a:p>
          <a:p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0-10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66 </a:t>
            </a:r>
          </a:p>
          <a:p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10-50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229 </a:t>
            </a:r>
          </a:p>
          <a:p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10-50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166 </a:t>
            </a:r>
          </a:p>
          <a:p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50-100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37 </a:t>
            </a:r>
          </a:p>
          <a:p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50-100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70 </a:t>
            </a:r>
          </a:p>
          <a:p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100-1000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14 </a:t>
            </a:r>
          </a:p>
          <a:p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100-1000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39</a:t>
            </a:r>
            <a:endParaRPr lang="en-US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5B913B-A867-0BCA-62F8-6A77E66CBD12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2EF3D6-9191-58B5-6F35-EF1683D90262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5EECFB6-793E-2A08-0378-801A07ECB91D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AA0A8C8-14ED-3954-D9A3-F4347A1F66B8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8434" name="Picture 2">
            <a:extLst>
              <a:ext uri="{FF2B5EF4-FFF2-40B4-BE49-F238E27FC236}">
                <a16:creationId xmlns:a16="http://schemas.microsoft.com/office/drawing/2014/main" id="{B3B16C64-60B0-664D-4476-3204B431E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610" y="782668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CEAE50-B841-66D0-1F6E-4473490AF47C}"/>
              </a:ext>
            </a:extLst>
          </p:cNvPr>
          <p:cNvSpPr txBox="1"/>
          <p:nvPr/>
        </p:nvSpPr>
        <p:spPr>
          <a:xfrm>
            <a:off x="476419" y="4240652"/>
            <a:ext cx="698657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6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 ที่ซื้อตั๋ว ในราคา 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0-10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</a:t>
            </a:r>
            <a:r>
              <a:rPr lang="th-TH" sz="1600" dirty="0">
                <a:latin typeface="FreesiaUPC" panose="020B0604020202020204" pitchFamily="34" charset="-34"/>
                <a:cs typeface="FreesiaUPC" panose="020B0604020202020204" pitchFamily="34" charset="-34"/>
              </a:rPr>
              <a:t>255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25.25</a:t>
            </a:r>
            <a:r>
              <a:rPr lang="th-TH" sz="1600" dirty="0">
                <a:solidFill>
                  <a:srgbClr val="FF0000"/>
                </a:solidFill>
              </a:rPr>
              <a:t>%</a:t>
            </a:r>
            <a:endParaRPr lang="th-TH" sz="1600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6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ที่ซื้อตั๋ว ในราคา 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0-10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</a:t>
            </a:r>
            <a:r>
              <a:rPr lang="th-TH" sz="1600" dirty="0">
                <a:latin typeface="FreesiaUPC" panose="020B0604020202020204" pitchFamily="34" charset="-34"/>
                <a:cs typeface="FreesiaUPC" panose="020B0604020202020204" pitchFamily="34" charset="-34"/>
              </a:rPr>
              <a:t>66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7.41</a:t>
            </a:r>
            <a:r>
              <a:rPr lang="th-TH" sz="1600" dirty="0">
                <a:solidFill>
                  <a:srgbClr val="FF0000"/>
                </a:solidFill>
              </a:rPr>
              <a:t>%</a:t>
            </a:r>
            <a:endParaRPr lang="en-US" sz="1600" dirty="0"/>
          </a:p>
          <a:p>
            <a:r>
              <a:rPr lang="th-TH" sz="16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  ที่ซื้อตั๋ว ในราคา 1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0-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229</a:t>
            </a:r>
            <a:r>
              <a:rPr lang="th-TH" sz="1600" dirty="0"/>
              <a:t> </a:t>
            </a:r>
            <a:r>
              <a:rPr lang="th-TH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25.70</a:t>
            </a:r>
            <a:r>
              <a:rPr lang="th-TH" sz="1600" dirty="0">
                <a:solidFill>
                  <a:srgbClr val="FF0000"/>
                </a:solidFill>
              </a:rPr>
              <a:t>%</a:t>
            </a:r>
            <a:endParaRPr lang="th-TH" sz="1600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6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ที่ซื้อตั๋ว ในราคา 1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0-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5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</a:t>
            </a:r>
            <a:r>
              <a:rPr lang="th-TH" sz="1600" dirty="0">
                <a:latin typeface="FreesiaUPC" panose="020B0604020202020204" pitchFamily="34" charset="-34"/>
                <a:cs typeface="FreesiaUPC" panose="020B0604020202020204" pitchFamily="34" charset="-34"/>
              </a:rPr>
              <a:t>166</a:t>
            </a:r>
            <a:r>
              <a:rPr lang="th-TH" sz="1600" dirty="0"/>
              <a:t> </a:t>
            </a:r>
            <a:r>
              <a:rPr lang="th-TH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18.63</a:t>
            </a:r>
            <a:r>
              <a:rPr lang="th-TH" sz="1600" dirty="0">
                <a:solidFill>
                  <a:srgbClr val="FF0000"/>
                </a:solidFill>
              </a:rPr>
              <a:t>%</a:t>
            </a:r>
            <a:endParaRPr lang="th-TH" sz="16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6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  ที่ซื้อตั๋ว ในราคา </a:t>
            </a:r>
            <a:r>
              <a:rPr lang="th-TH" sz="1600" dirty="0">
                <a:latin typeface="FreesiaUPC" panose="020B0604020202020204" pitchFamily="34" charset="-34"/>
                <a:cs typeface="FreesiaUPC" panose="020B0604020202020204" pitchFamily="34" charset="-34"/>
              </a:rPr>
              <a:t>50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-1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37</a:t>
            </a:r>
            <a:r>
              <a:rPr lang="th-TH" sz="1600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4.15</a:t>
            </a:r>
            <a:r>
              <a:rPr lang="th-TH" sz="1600" dirty="0">
                <a:solidFill>
                  <a:srgbClr val="FF0000"/>
                </a:solidFill>
              </a:rPr>
              <a:t>%</a:t>
            </a:r>
            <a:endParaRPr lang="th-TH" sz="1600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6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ที่ซื้อตั๋ว ในราคา </a:t>
            </a:r>
            <a:r>
              <a:rPr lang="th-TH" sz="1600" dirty="0">
                <a:latin typeface="FreesiaUPC" panose="020B0604020202020204" pitchFamily="34" charset="-34"/>
                <a:cs typeface="FreesiaUPC" panose="020B0604020202020204" pitchFamily="34" charset="-34"/>
              </a:rPr>
              <a:t>50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-1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70</a:t>
            </a:r>
            <a:r>
              <a:rPr lang="th-TH" sz="1600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7.85</a:t>
            </a:r>
            <a:r>
              <a:rPr lang="th-TH" sz="1600" dirty="0">
                <a:solidFill>
                  <a:srgbClr val="FF0000"/>
                </a:solidFill>
              </a:rPr>
              <a:t>%</a:t>
            </a:r>
            <a:endParaRPr lang="th-TH" sz="16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6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  ที่ซื้อตั๋ว ในราคา </a:t>
            </a:r>
            <a:r>
              <a:rPr lang="th-TH" sz="1600" dirty="0">
                <a:latin typeface="FreesiaUPC" panose="020B0604020202020204" pitchFamily="34" charset="-34"/>
                <a:cs typeface="FreesiaUPC" panose="020B0604020202020204" pitchFamily="34" charset="-34"/>
              </a:rPr>
              <a:t>100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-10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00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14</a:t>
            </a:r>
            <a:r>
              <a:rPr lang="th-TH" sz="1600" i="0" dirty="0">
                <a:solidFill>
                  <a:srgbClr val="FF000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6.64</a:t>
            </a:r>
            <a:r>
              <a:rPr lang="th-TH" sz="1600" dirty="0">
                <a:solidFill>
                  <a:srgbClr val="FF0000"/>
                </a:solidFill>
              </a:rPr>
              <a:t>%</a:t>
            </a:r>
            <a:endParaRPr lang="th-TH" sz="1600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6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ที่ซื้อตั๋ว ในราคา </a:t>
            </a:r>
            <a:r>
              <a:rPr lang="th-TH" sz="1600" dirty="0">
                <a:latin typeface="FreesiaUPC" panose="020B0604020202020204" pitchFamily="34" charset="-34"/>
                <a:cs typeface="FreesiaUPC" panose="020B0604020202020204" pitchFamily="34" charset="-34"/>
              </a:rPr>
              <a:t>100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-10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00 </a:t>
            </a:r>
            <a:r>
              <a:rPr lang="en-US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$ </a:t>
            </a:r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มีจำนวน  39</a:t>
            </a:r>
            <a:r>
              <a:rPr lang="th-TH" sz="1600" i="0" dirty="0">
                <a:solidFill>
                  <a:srgbClr val="FF0000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sz="1600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4.37</a:t>
            </a:r>
            <a:r>
              <a:rPr lang="th-TH" sz="1600" dirty="0">
                <a:solidFill>
                  <a:srgbClr val="FF0000"/>
                </a:solidFill>
              </a:rPr>
              <a:t>%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81792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04BD-9D2B-1744-D725-44185525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20</a:t>
            </a:fld>
            <a:endParaRPr lang="en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12C95-13A4-59FB-1366-09F88C55C1D9}"/>
              </a:ext>
            </a:extLst>
          </p:cNvPr>
          <p:cNvSpPr txBox="1">
            <a:spLocks/>
          </p:cNvSpPr>
          <p:nvPr/>
        </p:nvSpPr>
        <p:spPr>
          <a:xfrm>
            <a:off x="11593995" y="6417502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20</a:t>
            </a:fld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615A9-D383-8CBE-F897-F7123AE99872}"/>
              </a:ext>
            </a:extLst>
          </p:cNvPr>
          <p:cNvSpPr txBox="1"/>
          <p:nvPr/>
        </p:nvSpPr>
        <p:spPr>
          <a:xfrm>
            <a:off x="316209" y="335160"/>
            <a:ext cx="54476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1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8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.จำนวนผู้รอดชีวิตและเสียชีวิต ต่อจำนวนผู้ที่มีห้องโดยสารและไม่มีห้องโดยสาร</a:t>
            </a:r>
            <a:endParaRPr lang="en-US" sz="2800" b="1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24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000" b="0" i="0" dirty="0" err="1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CabinStatus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Survived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Count </a:t>
            </a:r>
          </a:p>
          <a:p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False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0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481 </a:t>
            </a:r>
          </a:p>
          <a:p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False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1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206 </a:t>
            </a:r>
          </a:p>
          <a:p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True 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68 </a:t>
            </a:r>
          </a:p>
          <a:p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True     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      </a:t>
            </a:r>
            <a:r>
              <a:rPr lang="th-TH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sz="20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136</a:t>
            </a:r>
            <a:endParaRPr lang="en-US" sz="20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47007-0A36-34AC-F749-8460C0DC8C1F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38AA3F-97FD-D4C4-EA19-CFA006324B86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9BA5E81-F71A-FE68-3A8F-ABD621C6F102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27FB7CF-5B51-7C68-1A44-5C56A7E769ED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9460" name="Picture 4">
            <a:extLst>
              <a:ext uri="{FF2B5EF4-FFF2-40B4-BE49-F238E27FC236}">
                <a16:creationId xmlns:a16="http://schemas.microsoft.com/office/drawing/2014/main" id="{A0772EE3-AC14-A899-3B53-429E7A3FD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752" y="676095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566BD5-469E-18B9-B4A8-387E0E2186D3}"/>
              </a:ext>
            </a:extLst>
          </p:cNvPr>
          <p:cNvSpPr txBox="1"/>
          <p:nvPr/>
        </p:nvSpPr>
        <p:spPr>
          <a:xfrm>
            <a:off x="134607" y="3024503"/>
            <a:ext cx="69865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 ที่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ไม่มีห้องโดยสารมีจำนวน  481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53.98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ที่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ไม่มีห้องโดยสารมีจำนวน  206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23.12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  ที่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มีห้องโดยสารมีจำนวน  68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7.64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ที่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มีห้องโดยสารมีจำนวน 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136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15.26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sz="18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16959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04BD-9D2B-1744-D725-44185525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21</a:t>
            </a:fld>
            <a:endParaRPr lang="en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12C95-13A4-59FB-1366-09F88C55C1D9}"/>
              </a:ext>
            </a:extLst>
          </p:cNvPr>
          <p:cNvSpPr txBox="1">
            <a:spLocks/>
          </p:cNvSpPr>
          <p:nvPr/>
        </p:nvSpPr>
        <p:spPr>
          <a:xfrm>
            <a:off x="11593995" y="6417502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21</a:t>
            </a:fld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E1631-F1D4-47D9-1FEE-576641E36BD5}"/>
              </a:ext>
            </a:extLst>
          </p:cNvPr>
          <p:cNvSpPr txBox="1"/>
          <p:nvPr/>
        </p:nvSpPr>
        <p:spPr>
          <a:xfrm>
            <a:off x="281352" y="427256"/>
            <a:ext cx="536757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19.จำนวนผู้รอดชีวิตและเสียชีวิต ต่อจำนวนผู้โดยสารแต่ละท่าเรือ</a:t>
            </a:r>
            <a:endParaRPr lang="en-US" sz="2800" b="1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Embarked     Survived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Count </a:t>
            </a:r>
          </a:p>
          <a:p>
            <a:pPr algn="just"/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C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0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75 </a:t>
            </a:r>
          </a:p>
          <a:p>
            <a:pPr algn="just"/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C  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1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93 </a:t>
            </a:r>
          </a:p>
          <a:p>
            <a:pPr algn="just"/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Q  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0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47 </a:t>
            </a:r>
          </a:p>
          <a:p>
            <a:pPr algn="just"/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Q   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30 </a:t>
            </a:r>
          </a:p>
          <a:p>
            <a:pPr algn="just"/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   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0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427 </a:t>
            </a:r>
          </a:p>
          <a:p>
            <a:pPr algn="just"/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S    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1        </a:t>
            </a:r>
            <a:r>
              <a:rPr lang="th-TH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en-US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217</a:t>
            </a:r>
            <a:endParaRPr lang="en-US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F6F196-E7C2-762D-2A12-D6E55F30A0D0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14AFA02-EEBB-14BF-D9F1-B9A22C92FD4A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5A88DDE-60BC-7119-0BB2-BDF421499789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C8D23F5-6EC8-D9C2-EACB-D96AC6B7DA0B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0482" name="Picture 2">
            <a:extLst>
              <a:ext uri="{FF2B5EF4-FFF2-40B4-BE49-F238E27FC236}">
                <a16:creationId xmlns:a16="http://schemas.microsoft.com/office/drawing/2014/main" id="{97D32C1C-B1A4-530D-39B4-7BE95BADD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610" y="800164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D2721C-B1B6-633B-3F87-961F70D1A1DD}"/>
              </a:ext>
            </a:extLst>
          </p:cNvPr>
          <p:cNvSpPr txBox="1"/>
          <p:nvPr/>
        </p:nvSpPr>
        <p:spPr>
          <a:xfrm>
            <a:off x="390615" y="3429000"/>
            <a:ext cx="698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 ที่ขึ้นจากท่าเรือ 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C  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มีจำนวน 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75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8.42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ที่ขึ้นจากท่าเรือ 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C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มีจำนวน  93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10.44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ที่ขึ้นจากท่าเรือ 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Q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มีจำนวน 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47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5.29</a:t>
            </a:r>
            <a:r>
              <a:rPr lang="th-TH" dirty="0">
                <a:solidFill>
                  <a:srgbClr val="FF0000"/>
                </a:solidFill>
              </a:rPr>
              <a:t>%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ที่ขึ้นจากท่าเรือ 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Q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มีจำนวน 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30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3.37</a:t>
            </a:r>
            <a:r>
              <a:rPr lang="th-TH" dirty="0">
                <a:solidFill>
                  <a:srgbClr val="FF0000"/>
                </a:solidFill>
              </a:rPr>
              <a:t>%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ที่ขึ้นจากท่าเรือ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s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มีจำนวน  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427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47.92</a:t>
            </a:r>
            <a:r>
              <a:rPr lang="th-TH" dirty="0">
                <a:solidFill>
                  <a:srgbClr val="FF0000"/>
                </a:solidFill>
              </a:rPr>
              <a:t>%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ที่ขึ้นจากท่าเรือ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s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มีจำนวน  </a:t>
            </a:r>
            <a:r>
              <a:rPr lang="en-US" dirty="0">
                <a:latin typeface="FreesiaUPC" panose="020B0604020202020204" pitchFamily="34" charset="-34"/>
                <a:cs typeface="FreesiaUPC" panose="020B0604020202020204" pitchFamily="34" charset="-34"/>
              </a:rPr>
              <a:t>217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24.56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sz="1800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378349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04BD-9D2B-1744-D725-44185525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22</a:t>
            </a:fld>
            <a:endParaRPr lang="en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12C95-13A4-59FB-1366-09F88C55C1D9}"/>
              </a:ext>
            </a:extLst>
          </p:cNvPr>
          <p:cNvSpPr txBox="1">
            <a:spLocks/>
          </p:cNvSpPr>
          <p:nvPr/>
        </p:nvSpPr>
        <p:spPr>
          <a:xfrm>
            <a:off x="11593995" y="6417502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22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05BDE-B126-D86A-FA9C-729312B9140D}"/>
              </a:ext>
            </a:extLst>
          </p:cNvPr>
          <p:cNvSpPr txBox="1"/>
          <p:nvPr/>
        </p:nvSpPr>
        <p:spPr>
          <a:xfrm>
            <a:off x="236471" y="314678"/>
            <a:ext cx="569381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2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</a:t>
            </a:r>
            <a:r>
              <a:rPr lang="th-TH" sz="2800" b="1" i="0" dirty="0">
                <a:solidFill>
                  <a:srgbClr val="D5D5D5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จำนวนผู้รอดชีวิตและเสียชีวิต ในแต่ละชั้นเป็นเพศหญิงหรือเพศชาย</a:t>
            </a:r>
            <a:endParaRPr lang="en-US" sz="2800" b="1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Period    Survived    Count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C1   F        0            3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C1   F        1           91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C1   M       0           77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C1   M       1           45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C2   F        0             6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C2   F        1           70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C2   M       0           91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C2   M       1           17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C3   F        0           72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C3   F        1           72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C3   M       0         300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C3   M       1           47</a:t>
            </a:r>
            <a:endParaRPr lang="en-US" sz="16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93181-1947-5158-58FC-0B5259763878}"/>
              </a:ext>
            </a:extLst>
          </p:cNvPr>
          <p:cNvSpPr/>
          <p:nvPr/>
        </p:nvSpPr>
        <p:spPr>
          <a:xfrm>
            <a:off x="5978615" y="5668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3B2F1F-E21D-892F-AA54-721BBAD21202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39DF421-6740-8101-A6F2-D286FEBF057D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EE1CCE0-BFF6-6BA6-0F33-E45AEEDB3743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C425161-BA91-E1BD-5EFD-E5B7B7ABDF7B}"/>
              </a:ext>
            </a:extLst>
          </p:cNvPr>
          <p:cNvSpPr txBox="1"/>
          <p:nvPr/>
        </p:nvSpPr>
        <p:spPr>
          <a:xfrm>
            <a:off x="6226329" y="1187191"/>
            <a:ext cx="69865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ที่เป็นเพศชาย อยู่ชั้นที่ 1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มีจำนวน  3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0.34 </a:t>
            </a:r>
            <a:r>
              <a:rPr lang="th-TH" dirty="0">
                <a:solidFill>
                  <a:srgbClr val="FF0000"/>
                </a:solidFill>
              </a:rPr>
              <a:t>%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ที่เป็นเพศชาย อยู่ชั้นที่ 1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มีจำนวน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91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10.21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ที่เป็นเพศหญิง อยู่ชั้นที่ 1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มีจำนวน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7</a:t>
            </a:r>
            <a:r>
              <a:rPr lang="en-US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7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8.64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ที่เป็นเพศหญิง อยู่ชั้นที่ 1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มีจำนวน 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45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5.05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ที่เป็นเพศชาย อยู่ชั้นที่ 2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มีจำนวน  6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0.67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ที่เป็นเพศชาย อยู่ชั้นที่ 2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มีจำนวน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70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7.85</a:t>
            </a:r>
            <a:r>
              <a:rPr lang="th-TH" dirty="0">
                <a:solidFill>
                  <a:srgbClr val="FF0000"/>
                </a:solidFill>
              </a:rPr>
              <a:t>%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ที่เป็นเพศหญิง อยู่ชั้นที่ 2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มีจำนวน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91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10.21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ที่เป็นเพศหญิง อยู่ชั้นที่ 2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มีจำนวน 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17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1.91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ที่เป็นเพศชาย อยู่ชั้นที่ 3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มีจำนวน  72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8.08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ที่เป็นเพศชาย อยู่ชั้นที่ 3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มีจำนวน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72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8.08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/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จำนวนผู้เสียชีวิต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ที่เป็นเพศหญิง อยู่ชั้นที่ 3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มีจำนวน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300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33.67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th-TH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</a:t>
            </a:r>
            <a:r>
              <a:rPr lang="en-US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ที่เป็นเพศหญิง อยู่ชั้นที่ 3</a:t>
            </a:r>
            <a:r>
              <a:rPr lang="th-TH" sz="180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18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มีจำนวน  </a:t>
            </a:r>
            <a:r>
              <a:rPr lang="th-TH" dirty="0">
                <a:latin typeface="FreesiaUPC" panose="020B0604020202020204" pitchFamily="34" charset="-34"/>
                <a:cs typeface="FreesiaUPC" panose="020B0604020202020204" pitchFamily="34" charset="-34"/>
              </a:rPr>
              <a:t>47 </a:t>
            </a:r>
            <a:r>
              <a:rPr lang="th-TH" dirty="0"/>
              <a:t> </a:t>
            </a:r>
            <a:r>
              <a:rPr lang="th-TH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คิดเป็น</a:t>
            </a:r>
            <a:r>
              <a:rPr lang="en-US" dirty="0">
                <a:solidFill>
                  <a:srgbClr val="FF0000"/>
                </a:solidFill>
                <a:latin typeface="FreesiaUPC" panose="020B0604020202020204" pitchFamily="34" charset="-34"/>
                <a:cs typeface="FreesiaUPC" panose="020B0604020202020204" pitchFamily="34" charset="-34"/>
              </a:rPr>
              <a:t> 5.29</a:t>
            </a:r>
            <a:r>
              <a:rPr lang="th-TH" dirty="0">
                <a:solidFill>
                  <a:srgbClr val="FF0000"/>
                </a:solidFill>
              </a:rPr>
              <a:t>%</a:t>
            </a:r>
            <a:endParaRPr lang="en-US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endParaRPr lang="en-US" dirty="0">
              <a:solidFill>
                <a:srgbClr val="FF0000"/>
              </a:solidFill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11400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04BD-9D2B-1744-D725-44185525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23</a:t>
            </a:fld>
            <a:endParaRPr lang="en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12C95-13A4-59FB-1366-09F88C55C1D9}"/>
              </a:ext>
            </a:extLst>
          </p:cNvPr>
          <p:cNvSpPr txBox="1">
            <a:spLocks/>
          </p:cNvSpPr>
          <p:nvPr/>
        </p:nvSpPr>
        <p:spPr>
          <a:xfrm>
            <a:off x="11593995" y="6417502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23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05BDE-B126-D86A-FA9C-729312B9140D}"/>
              </a:ext>
            </a:extLst>
          </p:cNvPr>
          <p:cNvSpPr txBox="1"/>
          <p:nvPr/>
        </p:nvSpPr>
        <p:spPr>
          <a:xfrm>
            <a:off x="236471" y="314678"/>
            <a:ext cx="569381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2</a:t>
            </a:r>
            <a:r>
              <a:rPr lang="th-TH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0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</a:t>
            </a:r>
            <a:r>
              <a:rPr lang="th-TH" sz="2800" b="1" i="0" dirty="0">
                <a:solidFill>
                  <a:srgbClr val="D5D5D5"/>
                </a:solidFill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จำนวนผู้รอดชีวิตและเสียชีวิต ในแต่ละชั้นเป็นเพศหญิงหรือเพศชาย</a:t>
            </a:r>
            <a:endParaRPr lang="en-US" sz="2800" b="1" i="0" dirty="0">
              <a:effectLst/>
              <a:latin typeface="FreesiaUPC" panose="020B0604020202020204" pitchFamily="34" charset="-34"/>
              <a:cs typeface="FreesiaUPC" panose="020B0604020202020204" pitchFamily="34" charset="-34"/>
            </a:endParaRPr>
          </a:p>
          <a:p>
            <a:r>
              <a:rPr lang="th-TH" sz="160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</a:t>
            </a:r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Period    Survived    Count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C1   F        0            3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C1   F        1           91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C1   M       0           77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C1   M       1           45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C2   F        0             6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C2   F        1           70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C2   M       0           91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C2   M       1           17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C3   F        0           72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C3   F        1           72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C3   M       0         300 </a:t>
            </a:r>
          </a:p>
          <a:p>
            <a:r>
              <a:rPr lang="en-US" sz="1600" b="0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      C3   M       1           47</a:t>
            </a:r>
            <a:endParaRPr lang="en-US" sz="1600" dirty="0">
              <a:latin typeface="FreesiaUPC" panose="020B0604020202020204" pitchFamily="34" charset="-34"/>
              <a:cs typeface="FreesiaUPC" panose="020B0604020202020204" pitchFamily="34" charset="-3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93181-1947-5158-58FC-0B5259763878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3B2F1F-E21D-892F-AA54-721BBAD21202}"/>
              </a:ext>
            </a:extLst>
          </p:cNvPr>
          <p:cNvGrpSpPr/>
          <p:nvPr/>
        </p:nvGrpSpPr>
        <p:grpSpPr>
          <a:xfrm>
            <a:off x="-48332" y="5009971"/>
            <a:ext cx="12240332" cy="1939858"/>
            <a:chOff x="-22488" y="4182657"/>
            <a:chExt cx="12240332" cy="193985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39DF421-6740-8101-A6F2-D286FEBF057D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EE1CCE0-BFF6-6BA6-0F33-E45AEEDB3743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1508" name="Picture 4">
            <a:extLst>
              <a:ext uri="{FF2B5EF4-FFF2-40B4-BE49-F238E27FC236}">
                <a16:creationId xmlns:a16="http://schemas.microsoft.com/office/drawing/2014/main" id="{D6FA655E-224E-B24D-CEE3-B3932B318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759" y="547833"/>
            <a:ext cx="5438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1987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04BD-9D2B-1744-D725-44185525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24</a:t>
            </a:fld>
            <a:endParaRPr lang="en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12C95-13A4-59FB-1366-09F88C55C1D9}"/>
              </a:ext>
            </a:extLst>
          </p:cNvPr>
          <p:cNvSpPr txBox="1">
            <a:spLocks/>
          </p:cNvSpPr>
          <p:nvPr/>
        </p:nvSpPr>
        <p:spPr>
          <a:xfrm>
            <a:off x="11593995" y="6417502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24</a:t>
            </a:fld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05BDE-B126-D86A-FA9C-729312B9140D}"/>
              </a:ext>
            </a:extLst>
          </p:cNvPr>
          <p:cNvSpPr txBox="1"/>
          <p:nvPr/>
        </p:nvSpPr>
        <p:spPr>
          <a:xfrm>
            <a:off x="236471" y="314678"/>
            <a:ext cx="56938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21</a:t>
            </a:r>
            <a:r>
              <a:rPr lang="th-TH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 จำนวนผู้รอดชีวิตและเสียชีวิต ในแต่ละชั้นเป็นเพศหญิงหรือเพศชาย</a:t>
            </a:r>
            <a:r>
              <a:rPr lang="en-US" sz="28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8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และเป็นเด็กหรือผู้ใหญ่ หรือระบุไม่ได้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93181-1947-5158-58FC-0B5259763878}"/>
              </a:ext>
            </a:extLst>
          </p:cNvPr>
          <p:cNvSpPr/>
          <p:nvPr/>
        </p:nvSpPr>
        <p:spPr>
          <a:xfrm>
            <a:off x="5906116" y="-33956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3B2F1F-E21D-892F-AA54-721BBAD21202}"/>
              </a:ext>
            </a:extLst>
          </p:cNvPr>
          <p:cNvGrpSpPr/>
          <p:nvPr/>
        </p:nvGrpSpPr>
        <p:grpSpPr>
          <a:xfrm>
            <a:off x="-48333" y="5087462"/>
            <a:ext cx="12240332" cy="1939858"/>
            <a:chOff x="-22488" y="4182657"/>
            <a:chExt cx="12240332" cy="193985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39DF421-6740-8101-A6F2-D286FEBF057D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EE1CCE0-BFF6-6BA6-0F33-E45AEEDB3743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FFB5F87-D534-99B7-33B2-1B44302244E4}"/>
              </a:ext>
            </a:extLst>
          </p:cNvPr>
          <p:cNvSpPr txBox="1"/>
          <p:nvPr/>
        </p:nvSpPr>
        <p:spPr>
          <a:xfrm>
            <a:off x="222142" y="1733278"/>
            <a:ext cx="671851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สรุป</a:t>
            </a:r>
          </a:p>
          <a:p>
            <a:r>
              <a:rPr lang="th-TH" dirty="0"/>
              <a:t>มีจำนวน 75 คนเป็นผู้รอดชีวิตชั้น เฟิร์สคลาส เป็นเพศหญิงและเป็นผู้ใหญ่</a:t>
            </a:r>
            <a:r>
              <a:rPr lang="th-TH" dirty="0">
                <a:solidFill>
                  <a:srgbClr val="FF0000"/>
                </a:solidFill>
              </a:rPr>
              <a:t>คิดเป็น 8.42% </a:t>
            </a:r>
          </a:p>
          <a:p>
            <a:r>
              <a:rPr lang="th-TH" dirty="0"/>
              <a:t>ของจำนวนคนทั้งหมดซึ่งเป็นอัตราผู้รอดชีวิตที่สูงที่สุด</a:t>
            </a:r>
          </a:p>
          <a:p>
            <a:endParaRPr lang="th-TH" dirty="0"/>
          </a:p>
          <a:p>
            <a:r>
              <a:rPr lang="th-TH" dirty="0"/>
              <a:t>มีจำนวน  4 คนเป็นผู้รอดชีวิตชั้น เฟิร์สคลาส เป็นเพศชายและเป็นเด็ก</a:t>
            </a:r>
            <a:r>
              <a:rPr lang="th-TH" dirty="0">
                <a:solidFill>
                  <a:srgbClr val="FF0000"/>
                </a:solidFill>
              </a:rPr>
              <a:t>คิดเป็น 0.45% </a:t>
            </a:r>
          </a:p>
          <a:p>
            <a:r>
              <a:rPr lang="th-TH" dirty="0"/>
              <a:t>ของจำนวนคนทั้งหมดซึ่งเป็นอัตราผู้รอดชีวิตที่ต่ำที่สุด</a:t>
            </a:r>
          </a:p>
          <a:p>
            <a:endParaRPr lang="th-TH" dirty="0"/>
          </a:p>
          <a:p>
            <a:endParaRPr lang="th-TH" dirty="0"/>
          </a:p>
          <a:p>
            <a:r>
              <a:rPr lang="th-TH" dirty="0"/>
              <a:t>มีจำนวน  182 คนเป็นผู้เสียชีวิตชั้น เดิสคลาส เป็นเพศชายและเป็นผู้ใหญ่</a:t>
            </a:r>
            <a:r>
              <a:rPr lang="th-TH" dirty="0">
                <a:solidFill>
                  <a:srgbClr val="FF0000"/>
                </a:solidFill>
              </a:rPr>
              <a:t>คิดเป็น 20.43% </a:t>
            </a:r>
          </a:p>
          <a:p>
            <a:r>
              <a:rPr lang="th-TH" dirty="0"/>
              <a:t>ของจำนวนคนทั้งหมดซึ่งเป็นอัตราผู้เสียชีวิตที่สูงที่สุด</a:t>
            </a:r>
          </a:p>
          <a:p>
            <a:endParaRPr lang="th-TH" dirty="0"/>
          </a:p>
          <a:p>
            <a:r>
              <a:rPr lang="th-TH" dirty="0"/>
              <a:t>มีจำนวน  1 คนเป็นผู้เสียชีวิตชั้น เฟิร์สคลาส เป็นเพศหญิงและเป็นเด็ก</a:t>
            </a:r>
            <a:r>
              <a:rPr lang="th-TH" dirty="0">
                <a:solidFill>
                  <a:srgbClr val="FF0000"/>
                </a:solidFill>
              </a:rPr>
              <a:t>คิดเป็น 0.11 % </a:t>
            </a:r>
          </a:p>
          <a:p>
            <a:r>
              <a:rPr lang="th-TH" dirty="0"/>
              <a:t>ของจำนวนคนทั้งหมดซึ่งเป็นอัตราผู้เสียชีวิตที่ต่ำที่สุด</a:t>
            </a:r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th-TH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2BF9A8-0B56-E254-E092-55BFD487F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378" y="383725"/>
            <a:ext cx="5522659" cy="568891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4B6CD3C-BB5C-537E-6F8D-A33B64C0678B}"/>
                  </a:ext>
                </a:extLst>
              </p14:cNvPr>
              <p14:cNvContentPartPr/>
              <p14:nvPr/>
            </p14:nvContentPartPr>
            <p14:xfrm>
              <a:off x="9034963" y="859863"/>
              <a:ext cx="34056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4B6CD3C-BB5C-537E-6F8D-A33B64C067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81323" y="752223"/>
                <a:ext cx="4482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07A9381-3C04-E9DD-D32D-619EEF55CA55}"/>
                  </a:ext>
                </a:extLst>
              </p14:cNvPr>
              <p14:cNvContentPartPr/>
              <p14:nvPr/>
            </p14:nvContentPartPr>
            <p14:xfrm>
              <a:off x="9074203" y="1696863"/>
              <a:ext cx="3171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07A9381-3C04-E9DD-D32D-619EEF55CA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20563" y="1588863"/>
                <a:ext cx="424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C7E1051-96E8-9332-7E81-A16A9B01B1F6}"/>
                  </a:ext>
                </a:extLst>
              </p14:cNvPr>
              <p14:cNvContentPartPr/>
              <p14:nvPr/>
            </p14:nvContentPartPr>
            <p14:xfrm>
              <a:off x="8926963" y="4424583"/>
              <a:ext cx="459000" cy="3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C7E1051-96E8-9332-7E81-A16A9B01B1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73323" y="4316583"/>
                <a:ext cx="5666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0ADBFBC-03E4-46BB-C624-C64455027E4F}"/>
                  </a:ext>
                </a:extLst>
              </p14:cNvPr>
              <p14:cNvContentPartPr/>
              <p14:nvPr/>
            </p14:nvContentPartPr>
            <p14:xfrm>
              <a:off x="9066283" y="1332543"/>
              <a:ext cx="30168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0ADBFBC-03E4-46BB-C624-C64455027E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12643" y="1224903"/>
                <a:ext cx="4093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A608FF8-C041-E142-C0D5-985AD345AFDB}"/>
                  </a:ext>
                </a:extLst>
              </p14:cNvPr>
              <p14:cNvContentPartPr/>
              <p14:nvPr/>
            </p14:nvContentPartPr>
            <p14:xfrm>
              <a:off x="7989163" y="836463"/>
              <a:ext cx="20088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A608FF8-C041-E142-C0D5-985AD345AFD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35163" y="728823"/>
                <a:ext cx="3085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80255B6-234C-2582-290A-2E6FDE81BE3A}"/>
                  </a:ext>
                </a:extLst>
              </p14:cNvPr>
              <p14:cNvContentPartPr/>
              <p14:nvPr/>
            </p14:nvContentPartPr>
            <p14:xfrm>
              <a:off x="8035603" y="1340463"/>
              <a:ext cx="15444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80255B6-234C-2582-290A-2E6FDE81BE3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81963" y="1232823"/>
                <a:ext cx="262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8E28FCC-BB54-0F5F-53A5-6BA8FFE5F32D}"/>
                  </a:ext>
                </a:extLst>
              </p14:cNvPr>
              <p14:cNvContentPartPr/>
              <p14:nvPr/>
            </p14:nvContentPartPr>
            <p14:xfrm>
              <a:off x="8043523" y="1727823"/>
              <a:ext cx="17748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8E28FCC-BB54-0F5F-53A5-6BA8FFE5F32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89883" y="1620183"/>
                <a:ext cx="285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62AF9D7-38FD-9A83-B6B5-9177939B01D3}"/>
                  </a:ext>
                </a:extLst>
              </p14:cNvPr>
              <p14:cNvContentPartPr/>
              <p14:nvPr/>
            </p14:nvContentPartPr>
            <p14:xfrm>
              <a:off x="7888363" y="4385703"/>
              <a:ext cx="309240" cy="86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62AF9D7-38FD-9A83-B6B5-9177939B01D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34723" y="4278063"/>
                <a:ext cx="416880" cy="22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602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904BD-9D2B-1744-D725-44185525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16579-C300-48E2-BD77-DE4054BCAD8D}" type="slidenum">
              <a:rPr lang="en-ID" smtClean="0"/>
              <a:t>25</a:t>
            </a:fld>
            <a:endParaRPr lang="en-ID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612C95-13A4-59FB-1366-09F88C55C1D9}"/>
              </a:ext>
            </a:extLst>
          </p:cNvPr>
          <p:cNvSpPr txBox="1">
            <a:spLocks/>
          </p:cNvSpPr>
          <p:nvPr/>
        </p:nvSpPr>
        <p:spPr>
          <a:xfrm>
            <a:off x="11593995" y="6417502"/>
            <a:ext cx="414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416579-C300-48E2-BD77-DE4054BCAD8D}" type="slidenum">
              <a:rPr lang="en-ID" smtClean="0"/>
              <a:pPr/>
              <a:t>25</a:t>
            </a:fld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493181-1947-5158-58FC-0B5259763878}"/>
              </a:ext>
            </a:extLst>
          </p:cNvPr>
          <p:cNvSpPr/>
          <p:nvPr/>
        </p:nvSpPr>
        <p:spPr>
          <a:xfrm>
            <a:off x="5930282" y="-1"/>
            <a:ext cx="6261717" cy="6919109"/>
          </a:xfrm>
          <a:prstGeom prst="rect">
            <a:avLst/>
          </a:prstGeom>
          <a:solidFill>
            <a:srgbClr val="E9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BAF8D86-6E9B-5C87-3E60-0BBCDCF59992}"/>
              </a:ext>
            </a:extLst>
          </p:cNvPr>
          <p:cNvGrpSpPr/>
          <p:nvPr/>
        </p:nvGrpSpPr>
        <p:grpSpPr>
          <a:xfrm>
            <a:off x="-48333" y="5091588"/>
            <a:ext cx="12240332" cy="1939858"/>
            <a:chOff x="-22488" y="4182657"/>
            <a:chExt cx="12240332" cy="19398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E9F00F1-398A-9386-063B-DFFA7235FD76}"/>
                </a:ext>
              </a:extLst>
            </p:cNvPr>
            <p:cNvSpPr/>
            <p:nvPr/>
          </p:nvSpPr>
          <p:spPr>
            <a:xfrm>
              <a:off x="25844" y="4182657"/>
              <a:ext cx="12192000" cy="1909138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B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2FACF69-E5E0-56F8-1C46-18DEC72CCD7A}"/>
                </a:ext>
              </a:extLst>
            </p:cNvPr>
            <p:cNvSpPr/>
            <p:nvPr/>
          </p:nvSpPr>
          <p:spPr>
            <a:xfrm>
              <a:off x="-22488" y="4828368"/>
              <a:ext cx="12192000" cy="1294147"/>
            </a:xfrm>
            <a:custGeom>
              <a:avLst/>
              <a:gdLst>
                <a:gd name="connsiteX0" fmla="*/ 0 w 12192000"/>
                <a:gd name="connsiteY0" fmla="*/ 0 h 1909138"/>
                <a:gd name="connsiteX1" fmla="*/ 227719 w 12192000"/>
                <a:gd name="connsiteY1" fmla="*/ 142350 h 1909138"/>
                <a:gd name="connsiteX2" fmla="*/ 6096001 w 12192000"/>
                <a:gd name="connsiteY2" fmla="*/ 1628919 h 1909138"/>
                <a:gd name="connsiteX3" fmla="*/ 11964283 w 12192000"/>
                <a:gd name="connsiteY3" fmla="*/ 142350 h 1909138"/>
                <a:gd name="connsiteX4" fmla="*/ 12192000 w 12192000"/>
                <a:gd name="connsiteY4" fmla="*/ 1 h 1909138"/>
                <a:gd name="connsiteX5" fmla="*/ 12192000 w 12192000"/>
                <a:gd name="connsiteY5" fmla="*/ 1909138 h 1909138"/>
                <a:gd name="connsiteX6" fmla="*/ 0 w 12192000"/>
                <a:gd name="connsiteY6" fmla="*/ 1909138 h 1909138"/>
                <a:gd name="connsiteX7" fmla="*/ 0 w 12192000"/>
                <a:gd name="connsiteY7" fmla="*/ 0 h 190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909138">
                  <a:moveTo>
                    <a:pt x="0" y="0"/>
                  </a:moveTo>
                  <a:lnTo>
                    <a:pt x="227719" y="142350"/>
                  </a:lnTo>
                  <a:cubicBezTo>
                    <a:pt x="1777640" y="1065981"/>
                    <a:pt x="3836554" y="1628919"/>
                    <a:pt x="6096001" y="1628919"/>
                  </a:cubicBezTo>
                  <a:cubicBezTo>
                    <a:pt x="8355448" y="1628919"/>
                    <a:pt x="10414362" y="1065981"/>
                    <a:pt x="11964283" y="142350"/>
                  </a:cubicBezTo>
                  <a:lnTo>
                    <a:pt x="12192000" y="1"/>
                  </a:lnTo>
                  <a:lnTo>
                    <a:pt x="12192000" y="1909138"/>
                  </a:lnTo>
                  <a:lnTo>
                    <a:pt x="0" y="1909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EA7F">
                <a:alpha val="11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2530" name="Picture 2">
            <a:extLst>
              <a:ext uri="{FF2B5EF4-FFF2-40B4-BE49-F238E27FC236}">
                <a16:creationId xmlns:a16="http://schemas.microsoft.com/office/drawing/2014/main" id="{3C483E95-1047-B8C0-9276-2953A7F89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84" y="787478"/>
            <a:ext cx="11144830" cy="599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C73655-DE3C-3187-3951-F27293BAFD6F}"/>
              </a:ext>
            </a:extLst>
          </p:cNvPr>
          <p:cNvSpPr txBox="1"/>
          <p:nvPr/>
        </p:nvSpPr>
        <p:spPr>
          <a:xfrm>
            <a:off x="1266184" y="252354"/>
            <a:ext cx="103278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FreesiaUPC" panose="020B0604020202020204" pitchFamily="34" charset="-34"/>
                <a:cs typeface="FreesiaUPC" panose="020B0604020202020204" pitchFamily="34" charset="-34"/>
              </a:rPr>
              <a:t>21</a:t>
            </a:r>
            <a:r>
              <a:rPr lang="th-TH" sz="24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. จำนวนผู้รอดชีวิตและเสียชีวิต ในแต่ละชั้นเป็นเพศหญิงหรือเพศชาย</a:t>
            </a:r>
            <a:r>
              <a:rPr lang="en-US" sz="2400" b="1" i="0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 </a:t>
            </a:r>
            <a:r>
              <a:rPr lang="th-TH" sz="2400" b="1" dirty="0">
                <a:effectLst/>
                <a:latin typeface="FreesiaUPC" panose="020B0604020202020204" pitchFamily="34" charset="-34"/>
                <a:cs typeface="FreesiaUPC" panose="020B0604020202020204" pitchFamily="34" charset="-34"/>
              </a:rPr>
              <a:t>และเป็นเด็กหรือผู้ใหญ่ หรือระบุไม่ได้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1501627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B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AF09AA-E9F1-21AA-DDD3-EE0A0C41A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114" y="1626323"/>
            <a:ext cx="4242269" cy="2920516"/>
          </a:xfrm>
        </p:spPr>
        <p:txBody>
          <a:bodyPr>
            <a:normAutofit/>
          </a:bodyPr>
          <a:lstStyle/>
          <a:p>
            <a:r>
              <a:rPr lang="th-TH" sz="7200" dirty="0"/>
              <a:t>ขอบคุณค่ะ</a:t>
            </a:r>
            <a:endParaRPr lang="en-ID" sz="7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497813-5545-4A31-03EE-C8E7B0D5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0584" y="6318061"/>
            <a:ext cx="414781" cy="365125"/>
          </a:xfrm>
        </p:spPr>
        <p:txBody>
          <a:bodyPr/>
          <a:lstStyle/>
          <a:p>
            <a:fld id="{75416579-C300-48E2-BD77-DE4054BCAD8D}" type="slidenum">
              <a:rPr lang="en-ID" smtClean="0"/>
              <a:t>26</a:t>
            </a:fld>
            <a:endParaRPr lang="en-ID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D878423-55F3-1C6A-EE5F-882D04DA0309}"/>
              </a:ext>
            </a:extLst>
          </p:cNvPr>
          <p:cNvSpPr/>
          <p:nvPr/>
        </p:nvSpPr>
        <p:spPr>
          <a:xfrm>
            <a:off x="8721492" y="0"/>
            <a:ext cx="3470508" cy="2073848"/>
          </a:xfrm>
          <a:custGeom>
            <a:avLst/>
            <a:gdLst>
              <a:gd name="connsiteX0" fmla="*/ 36187 w 3742442"/>
              <a:gd name="connsiteY0" fmla="*/ 0 h 2236346"/>
              <a:gd name="connsiteX1" fmla="*/ 3706256 w 3742442"/>
              <a:gd name="connsiteY1" fmla="*/ 0 h 2236346"/>
              <a:gd name="connsiteX2" fmla="*/ 3732781 w 3742442"/>
              <a:gd name="connsiteY2" fmla="*/ 173804 h 2236346"/>
              <a:gd name="connsiteX3" fmla="*/ 3742442 w 3742442"/>
              <a:gd name="connsiteY3" fmla="*/ 365125 h 2236346"/>
              <a:gd name="connsiteX4" fmla="*/ 1871221 w 3742442"/>
              <a:gd name="connsiteY4" fmla="*/ 2236346 h 2236346"/>
              <a:gd name="connsiteX5" fmla="*/ 0 w 3742442"/>
              <a:gd name="connsiteY5" fmla="*/ 365125 h 2236346"/>
              <a:gd name="connsiteX6" fmla="*/ 9661 w 3742442"/>
              <a:gd name="connsiteY6" fmla="*/ 173804 h 223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42442" h="2236346">
                <a:moveTo>
                  <a:pt x="36187" y="0"/>
                </a:moveTo>
                <a:lnTo>
                  <a:pt x="3706256" y="0"/>
                </a:lnTo>
                <a:lnTo>
                  <a:pt x="3732781" y="173804"/>
                </a:lnTo>
                <a:cubicBezTo>
                  <a:pt x="3739169" y="236708"/>
                  <a:pt x="3742442" y="300535"/>
                  <a:pt x="3742442" y="365125"/>
                </a:cubicBezTo>
                <a:cubicBezTo>
                  <a:pt x="3742442" y="1398572"/>
                  <a:pt x="2904668" y="2236346"/>
                  <a:pt x="1871221" y="2236346"/>
                </a:cubicBezTo>
                <a:cubicBezTo>
                  <a:pt x="837774" y="2236346"/>
                  <a:pt x="0" y="1398572"/>
                  <a:pt x="0" y="365125"/>
                </a:cubicBezTo>
                <a:cubicBezTo>
                  <a:pt x="0" y="300535"/>
                  <a:pt x="3273" y="236708"/>
                  <a:pt x="9661" y="173804"/>
                </a:cubicBezTo>
                <a:close/>
              </a:path>
            </a:pathLst>
          </a:custGeom>
          <a:gradFill>
            <a:gsLst>
              <a:gs pos="0">
                <a:srgbClr val="FC6645">
                  <a:alpha val="25000"/>
                </a:srgbClr>
              </a:gs>
              <a:gs pos="100000">
                <a:srgbClr val="A259FF">
                  <a:alpha val="5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D5C9DF8-00FD-75D3-0437-A87F4AA67503}"/>
              </a:ext>
            </a:extLst>
          </p:cNvPr>
          <p:cNvSpPr/>
          <p:nvPr/>
        </p:nvSpPr>
        <p:spPr>
          <a:xfrm>
            <a:off x="344221" y="1194029"/>
            <a:ext cx="736600" cy="736600"/>
          </a:xfrm>
          <a:prstGeom prst="ellipse">
            <a:avLst/>
          </a:prstGeom>
          <a:solidFill>
            <a:srgbClr val="A259F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949F842-44D7-2502-8C25-B3F3CC67AA33}"/>
              </a:ext>
            </a:extLst>
          </p:cNvPr>
          <p:cNvSpPr/>
          <p:nvPr/>
        </p:nvSpPr>
        <p:spPr>
          <a:xfrm>
            <a:off x="317360" y="2938169"/>
            <a:ext cx="736600" cy="736600"/>
          </a:xfrm>
          <a:prstGeom prst="ellipse">
            <a:avLst/>
          </a:prstGeom>
          <a:solidFill>
            <a:srgbClr val="10A957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2E88A19-5C7E-7177-6C98-B5AFC3302A98}"/>
              </a:ext>
            </a:extLst>
          </p:cNvPr>
          <p:cNvSpPr/>
          <p:nvPr/>
        </p:nvSpPr>
        <p:spPr>
          <a:xfrm>
            <a:off x="317360" y="2066099"/>
            <a:ext cx="736600" cy="736600"/>
          </a:xfrm>
          <a:prstGeom prst="ellipse">
            <a:avLst/>
          </a:prstGeom>
          <a:solidFill>
            <a:srgbClr val="FC6645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2FEE7BF-1982-F969-247C-BB4CA0921081}"/>
              </a:ext>
            </a:extLst>
          </p:cNvPr>
          <p:cNvSpPr/>
          <p:nvPr/>
        </p:nvSpPr>
        <p:spPr>
          <a:xfrm>
            <a:off x="278615" y="3810239"/>
            <a:ext cx="736600" cy="736600"/>
          </a:xfrm>
          <a:prstGeom prst="ellipse">
            <a:avLst/>
          </a:prstGeom>
          <a:solidFill>
            <a:srgbClr val="FFC7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505128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595192D9E95746BD4E4A8B4F5AD1EC" ma:contentTypeVersion="7" ma:contentTypeDescription="Create a new document." ma:contentTypeScope="" ma:versionID="17d33e65823a8a28c21f93df35c23b42">
  <xsd:schema xmlns:xsd="http://www.w3.org/2001/XMLSchema" xmlns:xs="http://www.w3.org/2001/XMLSchema" xmlns:p="http://schemas.microsoft.com/office/2006/metadata/properties" xmlns:ns3="4a4382c3-8534-422b-8a62-97dbebfa0653" xmlns:ns4="1d508deb-595b-4f62-86d4-2c85d2b591b0" targetNamespace="http://schemas.microsoft.com/office/2006/metadata/properties" ma:root="true" ma:fieldsID="6b75758c5ad41c8e8460869a00f7997d" ns3:_="" ns4:_="">
    <xsd:import namespace="4a4382c3-8534-422b-8a62-97dbebfa0653"/>
    <xsd:import namespace="1d508deb-595b-4f62-86d4-2c85d2b591b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4382c3-8534-422b-8a62-97dbebfa06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508deb-595b-4f62-86d4-2c85d2b591b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a4382c3-8534-422b-8a62-97dbebfa0653" xsi:nil="true"/>
  </documentManagement>
</p:properties>
</file>

<file path=customXml/itemProps1.xml><?xml version="1.0" encoding="utf-8"?>
<ds:datastoreItem xmlns:ds="http://schemas.openxmlformats.org/officeDocument/2006/customXml" ds:itemID="{99E4CBC5-1BDB-4D44-8061-2C34C03FDD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4382c3-8534-422b-8a62-97dbebfa0653"/>
    <ds:schemaRef ds:uri="1d508deb-595b-4f62-86d4-2c85d2b591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2AE6E2-C108-49C8-BD39-227F8717AF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4FED47-2A04-4075-AAD9-55721117136A}">
  <ds:schemaRefs>
    <ds:schemaRef ds:uri="http://purl.org/dc/terms/"/>
    <ds:schemaRef ds:uri="1d508deb-595b-4f62-86d4-2c85d2b591b0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4a4382c3-8534-422b-8a62-97dbebfa0653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UX Research Report Ppt - playful</Template>
  <TotalTime>1708</TotalTime>
  <Words>2505</Words>
  <Application>Microsoft Office PowerPoint</Application>
  <PresentationFormat>Widescreen</PresentationFormat>
  <Paragraphs>322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Abadi</vt:lpstr>
      <vt:lpstr>Arial</vt:lpstr>
      <vt:lpstr>Browallia New</vt:lpstr>
      <vt:lpstr>Calibri</vt:lpstr>
      <vt:lpstr>Calibri Light</vt:lpstr>
      <vt:lpstr>FreesiaUPC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ขอบคุณค่ะ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murdianrenny@gmail.com</dc:creator>
  <cp:lastModifiedBy>Chutimon NUNTHASENA</cp:lastModifiedBy>
  <cp:revision>34</cp:revision>
  <dcterms:created xsi:type="dcterms:W3CDTF">2022-10-07T06:11:57Z</dcterms:created>
  <dcterms:modified xsi:type="dcterms:W3CDTF">2023-10-16T00:33:13Z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0x01010019595192D9E95746BD4E4A8B4F5AD1EC</vt:lpwstr>
  </property>
</Properties>
</file>